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2"/>
  </p:notesMasterIdLst>
  <p:sldIdLst>
    <p:sldId id="256" r:id="rId3"/>
    <p:sldId id="2142533084" r:id="rId4"/>
    <p:sldId id="258" r:id="rId5"/>
    <p:sldId id="259" r:id="rId6"/>
    <p:sldId id="260" r:id="rId7"/>
    <p:sldId id="261" r:id="rId8"/>
    <p:sldId id="262" r:id="rId9"/>
    <p:sldId id="263" r:id="rId10"/>
    <p:sldId id="264" r:id="rId11"/>
    <p:sldId id="266" r:id="rId12"/>
    <p:sldId id="267" r:id="rId13"/>
    <p:sldId id="268" r:id="rId14"/>
    <p:sldId id="269" r:id="rId15"/>
    <p:sldId id="265" r:id="rId16"/>
    <p:sldId id="273" r:id="rId17"/>
    <p:sldId id="274" r:id="rId18"/>
    <p:sldId id="272" r:id="rId19"/>
    <p:sldId id="271" r:id="rId20"/>
    <p:sldId id="270"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24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0" autoAdjust="0"/>
    <p:restoredTop sz="88862" autoAdjust="0"/>
  </p:normalViewPr>
  <p:slideViewPr>
    <p:cSldViewPr snapToGrid="0" snapToObjects="1">
      <p:cViewPr>
        <p:scale>
          <a:sx n="100" d="100"/>
          <a:sy n="100" d="100"/>
        </p:scale>
        <p:origin x="33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Marie DelValle" userId="732432f2-89f8-4f01-8500-01ff8cad4533" providerId="ADAL" clId="{42F8CA7C-B7F4-4176-AF97-2AD6D5C83C41}"/>
    <pc:docChg chg="modSld">
      <pc:chgData name="Ella Marie DelValle" userId="732432f2-89f8-4f01-8500-01ff8cad4533" providerId="ADAL" clId="{42F8CA7C-B7F4-4176-AF97-2AD6D5C83C41}" dt="2026-08-27T16:36:30.422" v="0" actId="34476"/>
      <pc:docMkLst>
        <pc:docMk/>
      </pc:docMkLst>
      <pc:sldChg chg="mod modShow">
        <pc:chgData name="Ella Marie DelValle" userId="732432f2-89f8-4f01-8500-01ff8cad4533" providerId="ADAL" clId="{42F8CA7C-B7F4-4176-AF97-2AD6D5C83C41}" dt="2026-08-27T16:36:30.422" v="0" actId="34476"/>
        <pc:sldMkLst>
          <pc:docMk/>
          <pc:sldMk cId="0"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37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Royal Cyber is a global IT consultant and digital transformation company with over 20 years of experience. We have over 2000 employees worldwide and more than 450 certified consultants. As well as delivery teams operating across Europe, North America, the Middle East and APAC. We support more than 600 clients currently globally and I will also share which customers we have worked with in the </a:t>
            </a:r>
            <a:r>
              <a:rPr lang="en-US" sz="1200" b="0" i="0" kern="1200" err="1">
                <a:solidFill>
                  <a:schemeClr val="tx1"/>
                </a:solidFill>
                <a:effectLst/>
                <a:latin typeface="+mn-lt"/>
                <a:ea typeface="+mn-ea"/>
                <a:cs typeface="+mn-cs"/>
              </a:rPr>
              <a:t>commercetools</a:t>
            </a:r>
            <a:r>
              <a:rPr lang="en-US" sz="1200" b="0" i="0" kern="1200">
                <a:solidFill>
                  <a:schemeClr val="tx1"/>
                </a:solidFill>
                <a:effectLst/>
                <a:latin typeface="+mn-lt"/>
                <a:ea typeface="+mn-ea"/>
                <a:cs typeface="+mn-cs"/>
              </a:rPr>
              <a:t> space. But this global footprint actually allows us to support enterprise scale initiatives with both speed and scalability.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DD6A57-49AE-5647-928F-A330C3359C4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6775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provides bakery, dessert, and culinary products to restaurants, retailers, and foodservice providers</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B2B</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For Rich’s, Royal Cyber helped modernize their platform to be faster, more scalable, and more consistent. We centralized product information into a single platform, cutting down on duplication and ensuring data is accurate across all channels. By implementing a composable architecture, we helped Rich’s break free from monolithic constraints, so the platform can scale easily across products, regions, and business units. And with faster deployment cycles, they can bring new features and offerings to market more quickly, staying ahead of customer needs.</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known for producing popular confectionery brands like M&amp;M's, Snickers, and Twix</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D2C</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For Mars, Royal Cyber helped make the digital experience more engaging and efficient. We added enhanced personalization, like customizable M&amp;M’s, to boost customer satisfaction and interaction. On the backend, we streamlined catalog management, making it easier to keep product information consistent and up to date across all channels. And we enabled </a:t>
            </a:r>
            <a:r>
              <a:rPr lang="en-US" sz="1200" b="0" i="0" u="none" strike="noStrike" kern="1200" dirty="0" err="1">
                <a:solidFill>
                  <a:schemeClr val="tx1"/>
                </a:solidFill>
                <a:effectLst/>
                <a:latin typeface="+mn-lt"/>
                <a:ea typeface="+mn-ea"/>
                <a:cs typeface="+mn-cs"/>
              </a:rPr>
              <a:t>multibrand</a:t>
            </a:r>
            <a:r>
              <a:rPr lang="en-US" sz="1200" b="0" i="0" u="none" strike="noStrike" kern="1200" dirty="0">
                <a:solidFill>
                  <a:schemeClr val="tx1"/>
                </a:solidFill>
                <a:effectLst/>
                <a:latin typeface="+mn-lt"/>
                <a:ea typeface="+mn-ea"/>
                <a:cs typeface="+mn-cs"/>
              </a:rPr>
              <a:t> management, so multiple Mars brands could be handled on a single platform — keeping each brand’s unique identity while speeding up operations and time-to-</a:t>
            </a:r>
            <a:r>
              <a:rPr lang="en-US" sz="1200" b="0" i="0" u="none" strike="noStrike" kern="1200" dirty="0" err="1">
                <a:solidFill>
                  <a:schemeClr val="tx1"/>
                </a:solidFill>
                <a:effectLst/>
                <a:latin typeface="+mn-lt"/>
                <a:ea typeface="+mn-ea"/>
                <a:cs typeface="+mn-cs"/>
              </a:rPr>
              <a:t>marke</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Breville Group Limited is an Australian multinational company specializing in the design, development, and marketing of small kitchen appliances, including espresso machines, blenders, toasters, and ovens. B2C, We focused on making the customer experience smarter and more flexible. We implemented advanced product bundling and subscription options, so customers can mix one-time purchases with recurring subscriptions all in a single checkout. We also integrated </a:t>
            </a:r>
            <a:r>
              <a:rPr lang="en-US" sz="1200" b="0" i="0" u="none" strike="noStrike" kern="1200" dirty="0" err="1">
                <a:solidFill>
                  <a:schemeClr val="tx1"/>
                </a:solidFill>
                <a:effectLst/>
                <a:latin typeface="+mn-lt"/>
                <a:ea typeface="+mn-ea"/>
                <a:cs typeface="+mn-cs"/>
              </a:rPr>
              <a:t>Voucherify</a:t>
            </a:r>
            <a:r>
              <a:rPr lang="en-US" sz="1200" b="0" i="0" u="none" strike="noStrike" kern="1200" dirty="0">
                <a:solidFill>
                  <a:schemeClr val="tx1"/>
                </a:solidFill>
                <a:effectLst/>
                <a:latin typeface="+mn-lt"/>
                <a:ea typeface="+mn-ea"/>
                <a:cs typeface="+mn-cs"/>
              </a:rPr>
              <a:t> with </a:t>
            </a:r>
            <a:r>
              <a:rPr lang="en-US" sz="1200" b="0" i="0" u="none" strike="noStrike" kern="1200" dirty="0" err="1">
                <a:solidFill>
                  <a:schemeClr val="tx1"/>
                </a:solidFill>
                <a:effectLst/>
                <a:latin typeface="+mn-lt"/>
                <a:ea typeface="+mn-ea"/>
                <a:cs typeface="+mn-cs"/>
              </a:rPr>
              <a:t>commercetools</a:t>
            </a:r>
            <a:r>
              <a:rPr lang="en-US" sz="1200" b="0" i="0" u="none" strike="noStrike" kern="1200" dirty="0">
                <a:solidFill>
                  <a:schemeClr val="tx1"/>
                </a:solidFill>
                <a:effectLst/>
                <a:latin typeface="+mn-lt"/>
                <a:ea typeface="+mn-ea"/>
                <a:cs typeface="+mn-cs"/>
              </a:rPr>
              <a:t> to run complex, cross-brand promotions — for example, offering coffee bean discounts when you buy a coffee machine. And to make it truly personalized, we added features like the ‘coffee quiz’ on Beanz.com, giving tailored product recommendations based on each customer’s taste </a:t>
            </a:r>
            <a:r>
              <a:rPr lang="en-US" sz="1200" b="0" i="0" u="none" strike="noStrike" kern="1200" dirty="0" err="1">
                <a:solidFill>
                  <a:schemeClr val="tx1"/>
                </a:solidFill>
                <a:effectLst/>
                <a:latin typeface="+mn-lt"/>
                <a:ea typeface="+mn-ea"/>
                <a:cs typeface="+mn-cs"/>
              </a:rPr>
              <a:t>profil</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dirty="0">
                <a:solidFill>
                  <a:schemeClr val="tx1"/>
                </a:solidFill>
                <a:effectLst/>
                <a:latin typeface="+mn-lt"/>
                <a:ea typeface="+mn-ea"/>
                <a:cs typeface="+mn-cs"/>
              </a:rPr>
              <a:t>GWA Group Limited</a:t>
            </a:r>
            <a:r>
              <a:rPr lang="en-US" sz="1200" b="0" i="0" u="none" strike="noStrike" kern="1200" dirty="0">
                <a:solidFill>
                  <a:schemeClr val="tx1"/>
                </a:solidFill>
                <a:effectLst/>
                <a:latin typeface="+mn-lt"/>
                <a:ea typeface="+mn-ea"/>
                <a:cs typeface="+mn-cs"/>
              </a:rPr>
              <a:t>, a leading Australian supplier of sustainable water solutions and supplies for bathrooms, kitchens, and laundries.</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For GWA, Royal Cyber helped empower merchants with more control and flexibility. We built a self-service B2B portal where merchants can manage orders, access personalized pricing, and track inventory in real time — all without relying on sales reps. We also implemented a composable multi-brand CMS to streamline updates across multiple brand sites while preserving each brand’s identity. And to enhance transparency and personalization, we enabled dynamic price toggling, so merchants see customer-specific, tiered, or promotional pricing based on their profile and purchase volume</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JSW Group is a $24 billion Indian multinational conglomerate headquartered in Mumbai, operating across sectors like steel, energy, infrastructure, cement, paints….“ For their B2B platform, Royal Cyber helped simplify a really complex buying experience. We enabled configurable product variants so buyers could select steel by weight, grade, and length. We added dynamic pricing that adjusts by customer type and order volume, and built a unified omnichannel platform for both distributors and retailers. On top of that, AI and machine learning drive personalized product recommendations, making the whole experience smarter and easier for every buyer.”</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dirty="0">
                <a:solidFill>
                  <a:schemeClr val="tx1"/>
                </a:solidFill>
                <a:effectLst/>
                <a:latin typeface="+mn-lt"/>
                <a:ea typeface="+mn-ea"/>
                <a:cs typeface="+mn-cs"/>
              </a:rPr>
              <a:t>Wild Fork</a:t>
            </a:r>
            <a:r>
              <a:rPr lang="en-US" sz="1200" b="0" i="0" u="none" strike="noStrike" kern="1200" dirty="0">
                <a:solidFill>
                  <a:schemeClr val="tx1"/>
                </a:solidFill>
                <a:effectLst/>
                <a:latin typeface="+mn-lt"/>
                <a:ea typeface="+mn-ea"/>
                <a:cs typeface="+mn-cs"/>
              </a:rPr>
              <a:t> is a specialty food retailer focused on delivering high-quality frozen meats and seafood directly to consumers</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For </a:t>
            </a:r>
            <a:r>
              <a:rPr lang="en-US" sz="1200" b="0" i="0" u="none" strike="noStrike" kern="1200" dirty="0" err="1">
                <a:solidFill>
                  <a:schemeClr val="tx1"/>
                </a:solidFill>
                <a:effectLst/>
                <a:latin typeface="+mn-lt"/>
                <a:ea typeface="+mn-ea"/>
                <a:cs typeface="+mn-cs"/>
              </a:rPr>
              <a:t>WildFork</a:t>
            </a:r>
            <a:r>
              <a:rPr lang="en-US" sz="1200" b="0" i="0" u="none" strike="noStrike" kern="1200" dirty="0">
                <a:solidFill>
                  <a:schemeClr val="tx1"/>
                </a:solidFill>
                <a:effectLst/>
                <a:latin typeface="+mn-lt"/>
                <a:ea typeface="+mn-ea"/>
                <a:cs typeface="+mn-cs"/>
              </a:rPr>
              <a:t>, Royal Cyber focused on improving the customer experience while boosting operational efficiency. We enabled assisted service capabilities, letting CS agents securely log in as customers to help with purchases, login issues, or cart abandonment in real time. We also integrated a multichannel ticketing system to track and resolve customer issues efficiently across email, chat, and phone. On top of that, we deployed smart fraud detection using behavioral analytics, which cut fraudulent orders by 50% in just three months</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For Dr. Reddy’s, Royal Cyber helped transform pharmaceutical procurement into a more efficient and compliant process. We built a multi-vendor marketplace that supports RFQs, dynamic pricing, and complex order workflows across more than 10,000 SKUs, streamlining operations for hospitals, pharmacies, and wholesalers. We also deployed a dynamic compliance engine to track regulatory alerts and patent expirations, ensuring sourcing meets global regulations. And with a composable, region-aware architecture, the platform delivers localized experiences and role-based access across the US, EU, and India</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dirty="0">
                <a:solidFill>
                  <a:schemeClr val="tx1"/>
                </a:solidFill>
                <a:effectLst/>
                <a:latin typeface="+mn-lt"/>
                <a:ea typeface="+mn-ea"/>
                <a:cs typeface="+mn-cs"/>
              </a:rPr>
              <a:t>Dragon Shield</a:t>
            </a:r>
            <a:r>
              <a:rPr lang="en-US" sz="1200" b="0" i="0" u="none" strike="noStrike" kern="1200" dirty="0">
                <a:solidFill>
                  <a:schemeClr val="tx1"/>
                </a:solidFill>
                <a:effectLst/>
                <a:latin typeface="+mn-lt"/>
                <a:ea typeface="+mn-ea"/>
                <a:cs typeface="+mn-cs"/>
              </a:rPr>
              <a:t> is a premium brand known for producing high-quality card sleeves and accessories for trading card game enthusiasts.</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D2C</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For Dragon Shield, Royal Cyber helped streamline how user-generated content is managed. We built a custom CSR moderation workflow directly into the Merchant Center, so customer service reps can efficiently review post-order images, reducing legal and IP risks. At the same time, we integrated seamlessly with existing systems like Printess and HP </a:t>
            </a:r>
            <a:r>
              <a:rPr lang="en-US" sz="1200" b="0" i="0" u="none" strike="noStrike" kern="1200" dirty="0" err="1">
                <a:solidFill>
                  <a:schemeClr val="tx1"/>
                </a:solidFill>
                <a:effectLst/>
                <a:latin typeface="+mn-lt"/>
                <a:ea typeface="+mn-ea"/>
                <a:cs typeface="+mn-cs"/>
              </a:rPr>
              <a:t>Siteflow</a:t>
            </a:r>
            <a:r>
              <a:rPr lang="en-US" sz="1200" b="0" i="0" u="none" strike="noStrike" kern="1200" dirty="0">
                <a:solidFill>
                  <a:schemeClr val="tx1"/>
                </a:solidFill>
                <a:effectLst/>
                <a:latin typeface="+mn-lt"/>
                <a:ea typeface="+mn-ea"/>
                <a:cs typeface="+mn-cs"/>
              </a:rPr>
              <a:t>, adding new capabilities without disrupting operations. And to keep customers informed, we implemented automated email alerts for rejected uploads, improving transparency and the overall user experience.</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5" Type="http://schemas.openxmlformats.org/officeDocument/2006/relationships/image" Target="../media/image4.jpe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7" Type="http://schemas.microsoft.com/office/2007/relationships/hdphoto" Target="../media/hdphoto1.wdp"/><Relationship Id="rId2" Type="http://schemas.openxmlformats.org/officeDocument/2006/relationships/slideMaster" Target="../slideMasters/slideMaster2.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6.xml"/><Relationship Id="rId5" Type="http://schemas.openxmlformats.org/officeDocument/2006/relationships/image" Target="../media/image8.png"/><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7.xml"/><Relationship Id="rId5" Type="http://schemas.openxmlformats.org/officeDocument/2006/relationships/image" Target="../media/image8.png"/><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8.xml"/><Relationship Id="rId5" Type="http://schemas.openxmlformats.org/officeDocument/2006/relationships/image" Target="../media/image8.png"/><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oleObject" Target="../embeddings/oleObject7.bin"/><Relationship Id="rId7" Type="http://schemas.microsoft.com/office/2007/relationships/hdphoto" Target="../media/hdphoto2.wdp"/><Relationship Id="rId2" Type="http://schemas.openxmlformats.org/officeDocument/2006/relationships/slideMaster" Target="../slideMasters/slideMaster2.xml"/><Relationship Id="rId1" Type="http://schemas.openxmlformats.org/officeDocument/2006/relationships/tags" Target="../tags/tag9.xml"/><Relationship Id="rId6" Type="http://schemas.openxmlformats.org/officeDocument/2006/relationships/image" Target="../media/image7.png"/><Relationship Id="rId11" Type="http://schemas.openxmlformats.org/officeDocument/2006/relationships/image" Target="../media/image16.svg"/><Relationship Id="rId5" Type="http://schemas.openxmlformats.org/officeDocument/2006/relationships/image" Target="../media/image12.tiff"/><Relationship Id="rId10" Type="http://schemas.openxmlformats.org/officeDocument/2006/relationships/image" Target="../media/image15.svg"/><Relationship Id="rId4" Type="http://schemas.openxmlformats.org/officeDocument/2006/relationships/image" Target="../media/image11.emf"/><Relationship Id="rId9" Type="http://schemas.openxmlformats.org/officeDocument/2006/relationships/image" Target="../media/image1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Master" Target="../slideMasters/slideMaster2.xml"/><Relationship Id="rId4" Type="http://schemas.microsoft.com/office/2007/relationships/hdphoto" Target="../media/hdphoto3.wdp"/></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Master" Target="../slideMasters/slideMaster2.xml"/><Relationship Id="rId4" Type="http://schemas.microsoft.com/office/2007/relationships/hdphoto" Target="../media/hdphoto3.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Master" Target="../slideMasters/slideMaster2.xml"/><Relationship Id="rId4" Type="http://schemas.microsoft.com/office/2007/relationships/hdphoto" Target="../media/hdphoto3.wdp"/></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10.xml"/><Relationship Id="rId5" Type="http://schemas.openxmlformats.org/officeDocument/2006/relationships/image" Target="../media/image8.png"/><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11.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9.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75B6B812-BFE2-554F-9063-CDB72A20E0E1}"/>
              </a:ext>
            </a:extLst>
          </p:cNvPr>
          <p:cNvGraphicFramePr>
            <a:graphicFrameLocks noChangeAspect="1"/>
          </p:cNvGraphicFramePr>
          <p:nvPr userDrawn="1">
            <p:custDataLst>
              <p:tags r:id="rId1"/>
            </p:custDataLst>
            <p:extLst>
              <p:ext uri="{D42A27DB-BD31-4B8C-83A1-F6EECF244321}">
                <p14:modId xmlns:p14="http://schemas.microsoft.com/office/powerpoint/2010/main" val="2991535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7" name="Object 16" hidden="1">
                        <a:extLst>
                          <a:ext uri="{FF2B5EF4-FFF2-40B4-BE49-F238E27FC236}">
                            <a16:creationId xmlns:a16="http://schemas.microsoft.com/office/drawing/2014/main" id="{75B6B812-BFE2-554F-9063-CDB72A20E0E1}"/>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9" name="Rectangle 18">
            <a:extLst>
              <a:ext uri="{FF2B5EF4-FFF2-40B4-BE49-F238E27FC236}">
                <a16:creationId xmlns:a16="http://schemas.microsoft.com/office/drawing/2014/main" id="{440667CB-936A-3344-8EC3-42322DCD43CF}"/>
              </a:ext>
            </a:extLst>
          </p:cNvPr>
          <p:cNvSpPr/>
          <p:nvPr/>
        </p:nvSpPr>
        <p:spPr>
          <a:xfrm>
            <a:off x="-1" y="0"/>
            <a:ext cx="7686262" cy="6858000"/>
          </a:xfrm>
          <a:prstGeom prst="rect">
            <a:avLst/>
          </a:prstGeom>
          <a:gradFill flip="none" rotWithShape="1">
            <a:gsLst>
              <a:gs pos="0">
                <a:schemeClr val="accent1"/>
              </a:gs>
              <a:gs pos="100000">
                <a:srgbClr val="001E36"/>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6">
            <a:extLst>
              <a:ext uri="{FF2B5EF4-FFF2-40B4-BE49-F238E27FC236}">
                <a16:creationId xmlns:a16="http://schemas.microsoft.com/office/drawing/2014/main" id="{33FB4D37-5DB5-804A-AB23-58A35CA24F07}"/>
              </a:ext>
            </a:extLst>
          </p:cNvPr>
          <p:cNvSpPr/>
          <p:nvPr/>
        </p:nvSpPr>
        <p:spPr>
          <a:xfrm flipH="1">
            <a:off x="4717447" y="0"/>
            <a:ext cx="7315527" cy="6858000"/>
          </a:xfrm>
          <a:custGeom>
            <a:avLst/>
            <a:gdLst>
              <a:gd name="connsiteX0" fmla="*/ 0 w 6811617"/>
              <a:gd name="connsiteY0" fmla="*/ 0 h 6858000"/>
              <a:gd name="connsiteX1" fmla="*/ 6811617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876800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2013"/>
              <a:gd name="connsiteY0" fmla="*/ 0 h 6858000"/>
              <a:gd name="connsiteX1" fmla="*/ 4370864 w 6812013"/>
              <a:gd name="connsiteY1" fmla="*/ 0 h 6858000"/>
              <a:gd name="connsiteX2" fmla="*/ 6811617 w 6812013"/>
              <a:gd name="connsiteY2" fmla="*/ 6858000 h 6858000"/>
              <a:gd name="connsiteX3" fmla="*/ 0 w 6812013"/>
              <a:gd name="connsiteY3" fmla="*/ 6858000 h 6858000"/>
              <a:gd name="connsiteX4" fmla="*/ 0 w 6812013"/>
              <a:gd name="connsiteY4" fmla="*/ 0 h 6858000"/>
              <a:gd name="connsiteX0" fmla="*/ 0 w 6811901"/>
              <a:gd name="connsiteY0" fmla="*/ 0 h 6858000"/>
              <a:gd name="connsiteX1" fmla="*/ 4370864 w 6811901"/>
              <a:gd name="connsiteY1" fmla="*/ 0 h 6858000"/>
              <a:gd name="connsiteX2" fmla="*/ 6811617 w 6811901"/>
              <a:gd name="connsiteY2" fmla="*/ 6858000 h 6858000"/>
              <a:gd name="connsiteX3" fmla="*/ 0 w 6811901"/>
              <a:gd name="connsiteY3" fmla="*/ 6858000 h 6858000"/>
              <a:gd name="connsiteX4" fmla="*/ 0 w 6811901"/>
              <a:gd name="connsiteY4" fmla="*/ 0 h 6858000"/>
              <a:gd name="connsiteX0" fmla="*/ 0 w 6811927"/>
              <a:gd name="connsiteY0" fmla="*/ 0 h 6858000"/>
              <a:gd name="connsiteX1" fmla="*/ 4370864 w 6811927"/>
              <a:gd name="connsiteY1" fmla="*/ 0 h 6858000"/>
              <a:gd name="connsiteX2" fmla="*/ 6811617 w 6811927"/>
              <a:gd name="connsiteY2" fmla="*/ 6858000 h 6858000"/>
              <a:gd name="connsiteX3" fmla="*/ 0 w 6811927"/>
              <a:gd name="connsiteY3" fmla="*/ 6858000 h 6858000"/>
              <a:gd name="connsiteX4" fmla="*/ 0 w 6811927"/>
              <a:gd name="connsiteY4" fmla="*/ 0 h 6858000"/>
              <a:gd name="connsiteX0" fmla="*/ 0 w 6811921"/>
              <a:gd name="connsiteY0" fmla="*/ 0 h 6858000"/>
              <a:gd name="connsiteX1" fmla="*/ 4309164 w 6811921"/>
              <a:gd name="connsiteY1" fmla="*/ 0 h 6858000"/>
              <a:gd name="connsiteX2" fmla="*/ 6811617 w 6811921"/>
              <a:gd name="connsiteY2" fmla="*/ 6858000 h 6858000"/>
              <a:gd name="connsiteX3" fmla="*/ 0 w 6811921"/>
              <a:gd name="connsiteY3" fmla="*/ 6858000 h 6858000"/>
              <a:gd name="connsiteX4" fmla="*/ 0 w 681192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921" h="6858000">
                <a:moveTo>
                  <a:pt x="0" y="0"/>
                </a:moveTo>
                <a:lnTo>
                  <a:pt x="4309164" y="0"/>
                </a:lnTo>
                <a:cubicBezTo>
                  <a:pt x="3345805" y="3346174"/>
                  <a:pt x="6849485" y="3525078"/>
                  <a:pt x="6811617" y="6858000"/>
                </a:cubicBezTo>
                <a:lnTo>
                  <a:pt x="0" y="6858000"/>
                </a:lnTo>
                <a:lnTo>
                  <a:pt x="0" y="0"/>
                </a:lnTo>
                <a:close/>
              </a:path>
            </a:pathLst>
          </a:custGeom>
          <a:gradFill>
            <a:gsLst>
              <a:gs pos="0">
                <a:schemeClr val="accent2">
                  <a:lumMod val="20000"/>
                  <a:lumOff val="80000"/>
                  <a:alpha val="0"/>
                </a:schemeClr>
              </a:gs>
              <a:gs pos="100000">
                <a:schemeClr val="accent2">
                  <a:lumMod val="40000"/>
                  <a:lumOff val="60000"/>
                </a:schemeClr>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6">
            <a:extLst>
              <a:ext uri="{FF2B5EF4-FFF2-40B4-BE49-F238E27FC236}">
                <a16:creationId xmlns:a16="http://schemas.microsoft.com/office/drawing/2014/main" id="{0A86ECAC-0E21-61CB-8405-0DCCF91516A2}"/>
              </a:ext>
            </a:extLst>
          </p:cNvPr>
          <p:cNvSpPr/>
          <p:nvPr userDrawn="1"/>
        </p:nvSpPr>
        <p:spPr>
          <a:xfrm flipH="1">
            <a:off x="4876467" y="0"/>
            <a:ext cx="7315533" cy="6858000"/>
          </a:xfrm>
          <a:custGeom>
            <a:avLst/>
            <a:gdLst>
              <a:gd name="connsiteX0" fmla="*/ 0 w 6811617"/>
              <a:gd name="connsiteY0" fmla="*/ 0 h 6858000"/>
              <a:gd name="connsiteX1" fmla="*/ 6811617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876800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2013"/>
              <a:gd name="connsiteY0" fmla="*/ 0 h 6858000"/>
              <a:gd name="connsiteX1" fmla="*/ 4370864 w 6812013"/>
              <a:gd name="connsiteY1" fmla="*/ 0 h 6858000"/>
              <a:gd name="connsiteX2" fmla="*/ 6811617 w 6812013"/>
              <a:gd name="connsiteY2" fmla="*/ 6858000 h 6858000"/>
              <a:gd name="connsiteX3" fmla="*/ 0 w 6812013"/>
              <a:gd name="connsiteY3" fmla="*/ 6858000 h 6858000"/>
              <a:gd name="connsiteX4" fmla="*/ 0 w 6812013"/>
              <a:gd name="connsiteY4" fmla="*/ 0 h 6858000"/>
              <a:gd name="connsiteX0" fmla="*/ 0 w 6811901"/>
              <a:gd name="connsiteY0" fmla="*/ 0 h 6858000"/>
              <a:gd name="connsiteX1" fmla="*/ 4370864 w 6811901"/>
              <a:gd name="connsiteY1" fmla="*/ 0 h 6858000"/>
              <a:gd name="connsiteX2" fmla="*/ 6811617 w 6811901"/>
              <a:gd name="connsiteY2" fmla="*/ 6858000 h 6858000"/>
              <a:gd name="connsiteX3" fmla="*/ 0 w 6811901"/>
              <a:gd name="connsiteY3" fmla="*/ 6858000 h 6858000"/>
              <a:gd name="connsiteX4" fmla="*/ 0 w 6811901"/>
              <a:gd name="connsiteY4" fmla="*/ 0 h 6858000"/>
              <a:gd name="connsiteX0" fmla="*/ 0 w 6811927"/>
              <a:gd name="connsiteY0" fmla="*/ 0 h 6858000"/>
              <a:gd name="connsiteX1" fmla="*/ 4370864 w 6811927"/>
              <a:gd name="connsiteY1" fmla="*/ 0 h 6858000"/>
              <a:gd name="connsiteX2" fmla="*/ 6811617 w 6811927"/>
              <a:gd name="connsiteY2" fmla="*/ 6858000 h 6858000"/>
              <a:gd name="connsiteX3" fmla="*/ 0 w 6811927"/>
              <a:gd name="connsiteY3" fmla="*/ 6858000 h 6858000"/>
              <a:gd name="connsiteX4" fmla="*/ 0 w 681192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927" h="6858000">
                <a:moveTo>
                  <a:pt x="0" y="0"/>
                </a:moveTo>
                <a:lnTo>
                  <a:pt x="4370864" y="0"/>
                </a:lnTo>
                <a:cubicBezTo>
                  <a:pt x="3407505" y="3346174"/>
                  <a:pt x="6849485" y="3525078"/>
                  <a:pt x="6811617" y="6858000"/>
                </a:cubicBezTo>
                <a:lnTo>
                  <a:pt x="0" y="6858000"/>
                </a:lnTo>
                <a:lnTo>
                  <a:pt x="0" y="0"/>
                </a:lnTo>
                <a:close/>
              </a:path>
            </a:pathLst>
          </a:custGeom>
          <a:blipFill dpi="0" rotWithShape="0">
            <a:blip r:embed="rId5"/>
            <a:srcRect/>
            <a:stretch>
              <a:fillRect l="-41647" t="-821" r="-1153" b="-821"/>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8513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75B6B812-BFE2-554F-9063-CDB72A20E0E1}"/>
              </a:ext>
            </a:extLst>
          </p:cNvPr>
          <p:cNvGraphicFramePr>
            <a:graphicFrameLocks noChangeAspect="1"/>
          </p:cNvGraphicFramePr>
          <p:nvPr userDrawn="1">
            <p:custDataLst>
              <p:tags r:id="rId1"/>
            </p:custDataLst>
            <p:extLst>
              <p:ext uri="{D42A27DB-BD31-4B8C-83A1-F6EECF244321}">
                <p14:modId xmlns:p14="http://schemas.microsoft.com/office/powerpoint/2010/main" val="2991535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7" name="Object 16" hidden="1">
                        <a:extLst>
                          <a:ext uri="{FF2B5EF4-FFF2-40B4-BE49-F238E27FC236}">
                            <a16:creationId xmlns:a16="http://schemas.microsoft.com/office/drawing/2014/main" id="{75B6B812-BFE2-554F-9063-CDB72A20E0E1}"/>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grpSp>
        <p:nvGrpSpPr>
          <p:cNvPr id="18" name="Group 17">
            <a:extLst>
              <a:ext uri="{FF2B5EF4-FFF2-40B4-BE49-F238E27FC236}">
                <a16:creationId xmlns:a16="http://schemas.microsoft.com/office/drawing/2014/main" id="{D4BB3440-4853-4E4A-B506-A6CED2BE8CBE}"/>
              </a:ext>
            </a:extLst>
          </p:cNvPr>
          <p:cNvGrpSpPr/>
          <p:nvPr userDrawn="1"/>
        </p:nvGrpSpPr>
        <p:grpSpPr>
          <a:xfrm>
            <a:off x="-1" y="0"/>
            <a:ext cx="12192001" cy="6858000"/>
            <a:chOff x="-1" y="0"/>
            <a:chExt cx="12192001" cy="6858000"/>
          </a:xfrm>
        </p:grpSpPr>
        <p:sp>
          <p:nvSpPr>
            <p:cNvPr id="19" name="Rectangle 18">
              <a:extLst>
                <a:ext uri="{FF2B5EF4-FFF2-40B4-BE49-F238E27FC236}">
                  <a16:creationId xmlns:a16="http://schemas.microsoft.com/office/drawing/2014/main" id="{440667CB-936A-3344-8EC3-42322DCD43CF}"/>
                </a:ext>
              </a:extLst>
            </p:cNvPr>
            <p:cNvSpPr/>
            <p:nvPr/>
          </p:nvSpPr>
          <p:spPr>
            <a:xfrm>
              <a:off x="-1" y="0"/>
              <a:ext cx="7686262" cy="6858000"/>
            </a:xfrm>
            <a:prstGeom prst="rect">
              <a:avLst/>
            </a:prstGeom>
            <a:gradFill flip="none" rotWithShape="1">
              <a:gsLst>
                <a:gs pos="0">
                  <a:schemeClr val="accent1"/>
                </a:gs>
                <a:gs pos="100000">
                  <a:srgbClr val="001E36"/>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6">
              <a:extLst>
                <a:ext uri="{FF2B5EF4-FFF2-40B4-BE49-F238E27FC236}">
                  <a16:creationId xmlns:a16="http://schemas.microsoft.com/office/drawing/2014/main" id="{33FB4D37-5DB5-804A-AB23-58A35CA24F07}"/>
                </a:ext>
              </a:extLst>
            </p:cNvPr>
            <p:cNvSpPr/>
            <p:nvPr/>
          </p:nvSpPr>
          <p:spPr>
            <a:xfrm flipH="1">
              <a:off x="4717447" y="0"/>
              <a:ext cx="7315527" cy="6858000"/>
            </a:xfrm>
            <a:custGeom>
              <a:avLst/>
              <a:gdLst>
                <a:gd name="connsiteX0" fmla="*/ 0 w 6811617"/>
                <a:gd name="connsiteY0" fmla="*/ 0 h 6858000"/>
                <a:gd name="connsiteX1" fmla="*/ 6811617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876800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2013"/>
                <a:gd name="connsiteY0" fmla="*/ 0 h 6858000"/>
                <a:gd name="connsiteX1" fmla="*/ 4370864 w 6812013"/>
                <a:gd name="connsiteY1" fmla="*/ 0 h 6858000"/>
                <a:gd name="connsiteX2" fmla="*/ 6811617 w 6812013"/>
                <a:gd name="connsiteY2" fmla="*/ 6858000 h 6858000"/>
                <a:gd name="connsiteX3" fmla="*/ 0 w 6812013"/>
                <a:gd name="connsiteY3" fmla="*/ 6858000 h 6858000"/>
                <a:gd name="connsiteX4" fmla="*/ 0 w 6812013"/>
                <a:gd name="connsiteY4" fmla="*/ 0 h 6858000"/>
                <a:gd name="connsiteX0" fmla="*/ 0 w 6811901"/>
                <a:gd name="connsiteY0" fmla="*/ 0 h 6858000"/>
                <a:gd name="connsiteX1" fmla="*/ 4370864 w 6811901"/>
                <a:gd name="connsiteY1" fmla="*/ 0 h 6858000"/>
                <a:gd name="connsiteX2" fmla="*/ 6811617 w 6811901"/>
                <a:gd name="connsiteY2" fmla="*/ 6858000 h 6858000"/>
                <a:gd name="connsiteX3" fmla="*/ 0 w 6811901"/>
                <a:gd name="connsiteY3" fmla="*/ 6858000 h 6858000"/>
                <a:gd name="connsiteX4" fmla="*/ 0 w 6811901"/>
                <a:gd name="connsiteY4" fmla="*/ 0 h 6858000"/>
                <a:gd name="connsiteX0" fmla="*/ 0 w 6811927"/>
                <a:gd name="connsiteY0" fmla="*/ 0 h 6858000"/>
                <a:gd name="connsiteX1" fmla="*/ 4370864 w 6811927"/>
                <a:gd name="connsiteY1" fmla="*/ 0 h 6858000"/>
                <a:gd name="connsiteX2" fmla="*/ 6811617 w 6811927"/>
                <a:gd name="connsiteY2" fmla="*/ 6858000 h 6858000"/>
                <a:gd name="connsiteX3" fmla="*/ 0 w 6811927"/>
                <a:gd name="connsiteY3" fmla="*/ 6858000 h 6858000"/>
                <a:gd name="connsiteX4" fmla="*/ 0 w 6811927"/>
                <a:gd name="connsiteY4" fmla="*/ 0 h 6858000"/>
                <a:gd name="connsiteX0" fmla="*/ 0 w 6811921"/>
                <a:gd name="connsiteY0" fmla="*/ 0 h 6858000"/>
                <a:gd name="connsiteX1" fmla="*/ 4309164 w 6811921"/>
                <a:gd name="connsiteY1" fmla="*/ 0 h 6858000"/>
                <a:gd name="connsiteX2" fmla="*/ 6811617 w 6811921"/>
                <a:gd name="connsiteY2" fmla="*/ 6858000 h 6858000"/>
                <a:gd name="connsiteX3" fmla="*/ 0 w 6811921"/>
                <a:gd name="connsiteY3" fmla="*/ 6858000 h 6858000"/>
                <a:gd name="connsiteX4" fmla="*/ 0 w 681192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921" h="6858000">
                  <a:moveTo>
                    <a:pt x="0" y="0"/>
                  </a:moveTo>
                  <a:lnTo>
                    <a:pt x="4309164" y="0"/>
                  </a:lnTo>
                  <a:cubicBezTo>
                    <a:pt x="3345805" y="3346174"/>
                    <a:pt x="6849485" y="3525078"/>
                    <a:pt x="6811617" y="6858000"/>
                  </a:cubicBezTo>
                  <a:lnTo>
                    <a:pt x="0" y="6858000"/>
                  </a:lnTo>
                  <a:lnTo>
                    <a:pt x="0" y="0"/>
                  </a:lnTo>
                  <a:close/>
                </a:path>
              </a:pathLst>
            </a:custGeom>
            <a:gradFill>
              <a:gsLst>
                <a:gs pos="0">
                  <a:schemeClr val="accent2">
                    <a:lumMod val="20000"/>
                    <a:lumOff val="80000"/>
                    <a:alpha val="0"/>
                  </a:schemeClr>
                </a:gs>
                <a:gs pos="100000">
                  <a:schemeClr val="accent2">
                    <a:lumMod val="40000"/>
                    <a:lumOff val="60000"/>
                  </a:schemeClr>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6">
              <a:extLst>
                <a:ext uri="{FF2B5EF4-FFF2-40B4-BE49-F238E27FC236}">
                  <a16:creationId xmlns:a16="http://schemas.microsoft.com/office/drawing/2014/main" id="{F252DC6B-73EA-4C44-9C99-3108A0E42AF1}"/>
                </a:ext>
              </a:extLst>
            </p:cNvPr>
            <p:cNvSpPr/>
            <p:nvPr/>
          </p:nvSpPr>
          <p:spPr>
            <a:xfrm flipH="1">
              <a:off x="4876467" y="0"/>
              <a:ext cx="7315533" cy="6858000"/>
            </a:xfrm>
            <a:custGeom>
              <a:avLst/>
              <a:gdLst>
                <a:gd name="connsiteX0" fmla="*/ 0 w 6811617"/>
                <a:gd name="connsiteY0" fmla="*/ 0 h 6858000"/>
                <a:gd name="connsiteX1" fmla="*/ 6811617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876800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1617"/>
                <a:gd name="connsiteY0" fmla="*/ 0 h 6858000"/>
                <a:gd name="connsiteX1" fmla="*/ 4370864 w 6811617"/>
                <a:gd name="connsiteY1" fmla="*/ 0 h 6858000"/>
                <a:gd name="connsiteX2" fmla="*/ 6811617 w 6811617"/>
                <a:gd name="connsiteY2" fmla="*/ 6858000 h 6858000"/>
                <a:gd name="connsiteX3" fmla="*/ 0 w 6811617"/>
                <a:gd name="connsiteY3" fmla="*/ 6858000 h 6858000"/>
                <a:gd name="connsiteX4" fmla="*/ 0 w 6811617"/>
                <a:gd name="connsiteY4" fmla="*/ 0 h 6858000"/>
                <a:gd name="connsiteX0" fmla="*/ 0 w 6812013"/>
                <a:gd name="connsiteY0" fmla="*/ 0 h 6858000"/>
                <a:gd name="connsiteX1" fmla="*/ 4370864 w 6812013"/>
                <a:gd name="connsiteY1" fmla="*/ 0 h 6858000"/>
                <a:gd name="connsiteX2" fmla="*/ 6811617 w 6812013"/>
                <a:gd name="connsiteY2" fmla="*/ 6858000 h 6858000"/>
                <a:gd name="connsiteX3" fmla="*/ 0 w 6812013"/>
                <a:gd name="connsiteY3" fmla="*/ 6858000 h 6858000"/>
                <a:gd name="connsiteX4" fmla="*/ 0 w 6812013"/>
                <a:gd name="connsiteY4" fmla="*/ 0 h 6858000"/>
                <a:gd name="connsiteX0" fmla="*/ 0 w 6811901"/>
                <a:gd name="connsiteY0" fmla="*/ 0 h 6858000"/>
                <a:gd name="connsiteX1" fmla="*/ 4370864 w 6811901"/>
                <a:gd name="connsiteY1" fmla="*/ 0 h 6858000"/>
                <a:gd name="connsiteX2" fmla="*/ 6811617 w 6811901"/>
                <a:gd name="connsiteY2" fmla="*/ 6858000 h 6858000"/>
                <a:gd name="connsiteX3" fmla="*/ 0 w 6811901"/>
                <a:gd name="connsiteY3" fmla="*/ 6858000 h 6858000"/>
                <a:gd name="connsiteX4" fmla="*/ 0 w 6811901"/>
                <a:gd name="connsiteY4" fmla="*/ 0 h 6858000"/>
                <a:gd name="connsiteX0" fmla="*/ 0 w 6811927"/>
                <a:gd name="connsiteY0" fmla="*/ 0 h 6858000"/>
                <a:gd name="connsiteX1" fmla="*/ 4370864 w 6811927"/>
                <a:gd name="connsiteY1" fmla="*/ 0 h 6858000"/>
                <a:gd name="connsiteX2" fmla="*/ 6811617 w 6811927"/>
                <a:gd name="connsiteY2" fmla="*/ 6858000 h 6858000"/>
                <a:gd name="connsiteX3" fmla="*/ 0 w 6811927"/>
                <a:gd name="connsiteY3" fmla="*/ 6858000 h 6858000"/>
                <a:gd name="connsiteX4" fmla="*/ 0 w 681192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927" h="6858000">
                  <a:moveTo>
                    <a:pt x="0" y="0"/>
                  </a:moveTo>
                  <a:lnTo>
                    <a:pt x="4370864" y="0"/>
                  </a:lnTo>
                  <a:cubicBezTo>
                    <a:pt x="3407505" y="3346174"/>
                    <a:pt x="6849485" y="3525078"/>
                    <a:pt x="6811617" y="6858000"/>
                  </a:cubicBezTo>
                  <a:lnTo>
                    <a:pt x="0" y="6858000"/>
                  </a:lnTo>
                  <a:lnTo>
                    <a:pt x="0" y="0"/>
                  </a:lnTo>
                  <a:close/>
                </a:path>
              </a:pathLst>
            </a:custGeom>
            <a:blipFill>
              <a:blip r:embed="rId5" cstate="screen">
                <a:extLst>
                  <a:ext uri="{28A0092B-C50C-407E-A947-70E740481C1C}">
                    <a14:useLocalDpi xmlns:a14="http://schemas.microsoft.com/office/drawing/2010/main"/>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118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break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8C1805-0023-0C10-3457-F191B0CD57F7}"/>
              </a:ext>
            </a:extLst>
          </p:cNvPr>
          <p:cNvPicPr>
            <a:picLocks noChangeAspect="1"/>
          </p:cNvPicPr>
          <p:nvPr userDrawn="1"/>
        </p:nvPicPr>
        <p:blipFill>
          <a:blip r:embed="rId3"/>
          <a:stretch>
            <a:fillRect/>
          </a:stretch>
        </p:blipFill>
        <p:spPr>
          <a:xfrm>
            <a:off x="0" y="0"/>
            <a:ext cx="12258675" cy="7266172"/>
          </a:xfrm>
          <a:prstGeom prst="rect">
            <a:avLst/>
          </a:prstGeom>
        </p:spPr>
      </p:pic>
      <p:graphicFrame>
        <p:nvGraphicFramePr>
          <p:cNvPr id="3" name="Object 2" hidden="1">
            <a:extLst>
              <a:ext uri="{FF2B5EF4-FFF2-40B4-BE49-F238E27FC236}">
                <a16:creationId xmlns:a16="http://schemas.microsoft.com/office/drawing/2014/main" id="{C8349BA0-EFEF-CF47-AE9F-9B0569C92FE5}"/>
              </a:ext>
            </a:extLst>
          </p:cNvPr>
          <p:cNvGraphicFramePr>
            <a:graphicFrameLocks noChangeAspect="1"/>
          </p:cNvGraphicFramePr>
          <p:nvPr userDrawn="1">
            <p:custDataLst>
              <p:tags r:id="rId1"/>
            </p:custDataLst>
            <p:extLst>
              <p:ext uri="{D42A27DB-BD31-4B8C-83A1-F6EECF244321}">
                <p14:modId xmlns:p14="http://schemas.microsoft.com/office/powerpoint/2010/main" val="12486076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Object 2" hidden="1">
                        <a:extLst>
                          <a:ext uri="{FF2B5EF4-FFF2-40B4-BE49-F238E27FC236}">
                            <a16:creationId xmlns:a16="http://schemas.microsoft.com/office/drawing/2014/main" id="{C8349BA0-EFEF-CF47-AE9F-9B0569C92FE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37F17555-F485-584F-94BF-33889BFA4326}"/>
              </a:ext>
            </a:extLst>
          </p:cNvPr>
          <p:cNvSpPr/>
          <p:nvPr/>
        </p:nvSpPr>
        <p:spPr>
          <a:xfrm>
            <a:off x="-1" y="0"/>
            <a:ext cx="12258675" cy="7496175"/>
          </a:xfrm>
          <a:prstGeom prst="rect">
            <a:avLst/>
          </a:prstGeom>
          <a:gradFill flip="none" rotWithShape="1">
            <a:gsLst>
              <a:gs pos="0">
                <a:schemeClr val="accent1">
                  <a:alpha val="97160"/>
                </a:schemeClr>
              </a:gs>
              <a:gs pos="100000">
                <a:srgbClr val="001E36">
                  <a:alpha val="91058"/>
                </a:srgb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Footer Placeholder 4">
            <a:extLst>
              <a:ext uri="{FF2B5EF4-FFF2-40B4-BE49-F238E27FC236}">
                <a16:creationId xmlns:a16="http://schemas.microsoft.com/office/drawing/2014/main" id="{973F23C3-CB46-EC4E-90C3-C98B510F582B}"/>
              </a:ext>
            </a:extLst>
          </p:cNvPr>
          <p:cNvSpPr>
            <a:spLocks noGrp="1"/>
          </p:cNvSpPr>
          <p:nvPr userDrawn="1">
            <p:ph type="ftr" sz="quarter" idx="11"/>
          </p:nvPr>
        </p:nvSpPr>
        <p:spPr>
          <a:xfrm>
            <a:off x="4038600" y="6474103"/>
            <a:ext cx="4114800" cy="259972"/>
          </a:xfrm>
        </p:spPr>
        <p:txBody>
          <a:bodyPr/>
          <a:lstStyle>
            <a:lvl1pPr>
              <a:defRPr sz="900">
                <a:solidFill>
                  <a:schemeClr val="tx2">
                    <a:lumMod val="40000"/>
                    <a:lumOff val="60000"/>
                  </a:schemeClr>
                </a:solidFill>
              </a:defRPr>
            </a:lvl1pPr>
          </a:lstStyle>
          <a:p>
            <a:r>
              <a:rPr lang="en-US"/>
              <a:t>Copyright © 2022 Royal Cyber.  All rights reserved.</a:t>
            </a:r>
          </a:p>
        </p:txBody>
      </p:sp>
      <p:sp>
        <p:nvSpPr>
          <p:cNvPr id="6" name="Slide Number Placeholder 5">
            <a:extLst>
              <a:ext uri="{FF2B5EF4-FFF2-40B4-BE49-F238E27FC236}">
                <a16:creationId xmlns:a16="http://schemas.microsoft.com/office/drawing/2014/main" id="{EBBBC56A-FDE3-044C-89E7-0ED177F46A29}"/>
              </a:ext>
            </a:extLst>
          </p:cNvPr>
          <p:cNvSpPr>
            <a:spLocks noGrp="1"/>
          </p:cNvSpPr>
          <p:nvPr userDrawn="1">
            <p:ph type="sldNum" sz="quarter" idx="12"/>
          </p:nvPr>
        </p:nvSpPr>
        <p:spPr>
          <a:xfrm>
            <a:off x="361950" y="6417399"/>
            <a:ext cx="458806" cy="373381"/>
          </a:xfrm>
        </p:spPr>
        <p:txBody>
          <a:bodyPr/>
          <a:lstStyle>
            <a:lvl1pPr algn="l">
              <a:defRPr>
                <a:solidFill>
                  <a:schemeClr val="tx2">
                    <a:lumMod val="40000"/>
                    <a:lumOff val="60000"/>
                  </a:schemeClr>
                </a:solidFill>
              </a:defRPr>
            </a:lvl1pPr>
          </a:lstStyle>
          <a:p>
            <a:fld id="{1AF3B2EA-3484-6741-9EDF-7404652DB13C}" type="slidenum">
              <a:rPr lang="en-US" smtClean="0"/>
              <a:pPr/>
              <a:t>‹#›</a:t>
            </a:fld>
            <a:endParaRPr lang="en-US"/>
          </a:p>
        </p:txBody>
      </p:sp>
      <p:pic>
        <p:nvPicPr>
          <p:cNvPr id="18" name="Picture 17">
            <a:extLst>
              <a:ext uri="{FF2B5EF4-FFF2-40B4-BE49-F238E27FC236}">
                <a16:creationId xmlns:a16="http://schemas.microsoft.com/office/drawing/2014/main" id="{B205A03E-7D23-904C-AB92-0A2BCDAF6011}"/>
              </a:ext>
            </a:extLst>
          </p:cNvPr>
          <p:cNvPicPr>
            <a:picLocks noChangeAspect="1"/>
          </p:cNvPicPr>
          <p:nvPr/>
        </p:nvPicPr>
        <p:blipFill>
          <a:blip r:embed="rId6">
            <a:alphaModFix amt="70000"/>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65052" y="6484655"/>
            <a:ext cx="955473" cy="238869"/>
          </a:xfrm>
          <a:prstGeom prst="rect">
            <a:avLst/>
          </a:prstGeom>
        </p:spPr>
      </p:pic>
    </p:spTree>
    <p:extLst>
      <p:ext uri="{BB962C8B-B14F-4D97-AF65-F5344CB8AC3E}">
        <p14:creationId xmlns:p14="http://schemas.microsoft.com/office/powerpoint/2010/main" val="3739498437"/>
      </p:ext>
    </p:extLst>
  </p:cSld>
  <p:clrMapOvr>
    <a:masterClrMapping/>
  </p:clrMapOvr>
  <p:extLst>
    <p:ext uri="{DCECCB84-F9BA-43D5-87BE-67443E8EF086}">
      <p15:sldGuideLst xmlns:p15="http://schemas.microsoft.com/office/powerpoint/2012/main">
        <p15:guide id="1" pos="226">
          <p15:clr>
            <a:srgbClr val="FBAE40"/>
          </p15:clr>
        </p15:guide>
        <p15:guide id="2" pos="7446">
          <p15:clr>
            <a:srgbClr val="FBAE40"/>
          </p15:clr>
        </p15:guide>
        <p15:guide id="3" orient="horz" pos="3816">
          <p15:clr>
            <a:srgbClr val="FBAE40"/>
          </p15:clr>
        </p15:guide>
        <p15:guide id="4" orient="horz" pos="62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Agenda breaker">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CAF19E7-5860-5043-BDC8-EB75835F8A3D}"/>
              </a:ext>
            </a:extLst>
          </p:cNvPr>
          <p:cNvSpPr/>
          <p:nvPr userDrawn="1"/>
        </p:nvSpPr>
        <p:spPr>
          <a:xfrm rot="5400000">
            <a:off x="5842091" y="508088"/>
            <a:ext cx="507820" cy="12192002"/>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3" name="Object 2" hidden="1">
            <a:extLst>
              <a:ext uri="{FF2B5EF4-FFF2-40B4-BE49-F238E27FC236}">
                <a16:creationId xmlns:a16="http://schemas.microsoft.com/office/drawing/2014/main" id="{C8349BA0-EFEF-CF47-AE9F-9B0569C92FE5}"/>
              </a:ext>
            </a:extLst>
          </p:cNvPr>
          <p:cNvGraphicFramePr>
            <a:graphicFrameLocks noChangeAspect="1"/>
          </p:cNvGraphicFramePr>
          <p:nvPr userDrawn="1">
            <p:custDataLst>
              <p:tags r:id="rId1"/>
            </p:custDataLst>
            <p:extLst>
              <p:ext uri="{D42A27DB-BD31-4B8C-83A1-F6EECF244321}">
                <p14:modId xmlns:p14="http://schemas.microsoft.com/office/powerpoint/2010/main" val="357193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Object 2" hidden="1">
                        <a:extLst>
                          <a:ext uri="{FF2B5EF4-FFF2-40B4-BE49-F238E27FC236}">
                            <a16:creationId xmlns:a16="http://schemas.microsoft.com/office/drawing/2014/main" id="{C8349BA0-EFEF-CF47-AE9F-9B0569C92FE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3" name="Rectangle 12">
            <a:extLst>
              <a:ext uri="{FF2B5EF4-FFF2-40B4-BE49-F238E27FC236}">
                <a16:creationId xmlns:a16="http://schemas.microsoft.com/office/drawing/2014/main" id="{C0F6D155-6449-EA44-A2A5-66B5F43EDF04}"/>
              </a:ext>
            </a:extLst>
          </p:cNvPr>
          <p:cNvSpPr/>
          <p:nvPr userDrawn="1"/>
        </p:nvSpPr>
        <p:spPr>
          <a:xfrm>
            <a:off x="1" y="0"/>
            <a:ext cx="4114800" cy="6858000"/>
          </a:xfrm>
          <a:prstGeom prst="rect">
            <a:avLst/>
          </a:prstGeom>
          <a:gradFill flip="none" rotWithShape="1">
            <a:gsLst>
              <a:gs pos="0">
                <a:schemeClr val="accent1"/>
              </a:gs>
              <a:gs pos="100000">
                <a:srgbClr val="001E36"/>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Footer Placeholder 4">
            <a:extLst>
              <a:ext uri="{FF2B5EF4-FFF2-40B4-BE49-F238E27FC236}">
                <a16:creationId xmlns:a16="http://schemas.microsoft.com/office/drawing/2014/main" id="{973F23C3-CB46-EC4E-90C3-C98B510F582B}"/>
              </a:ext>
            </a:extLst>
          </p:cNvPr>
          <p:cNvSpPr>
            <a:spLocks noGrp="1"/>
          </p:cNvSpPr>
          <p:nvPr userDrawn="1">
            <p:ph type="ftr" sz="quarter" idx="11"/>
          </p:nvPr>
        </p:nvSpPr>
        <p:spPr>
          <a:xfrm>
            <a:off x="5283906" y="6474105"/>
            <a:ext cx="4114800" cy="259972"/>
          </a:xfrm>
        </p:spPr>
        <p:txBody>
          <a:bodyPr/>
          <a:lstStyle>
            <a:lvl1pPr algn="l">
              <a:defRPr sz="900">
                <a:solidFill>
                  <a:schemeClr val="bg1">
                    <a:lumMod val="50000"/>
                  </a:schemeClr>
                </a:solidFill>
              </a:defRPr>
            </a:lvl1pPr>
          </a:lstStyle>
          <a:p>
            <a:r>
              <a:rPr lang="en-US"/>
              <a:t>Copyright © 2022 Royal Cyber.  All rights reserved.</a:t>
            </a:r>
          </a:p>
        </p:txBody>
      </p:sp>
      <p:sp>
        <p:nvSpPr>
          <p:cNvPr id="6" name="Slide Number Placeholder 5">
            <a:extLst>
              <a:ext uri="{FF2B5EF4-FFF2-40B4-BE49-F238E27FC236}">
                <a16:creationId xmlns:a16="http://schemas.microsoft.com/office/drawing/2014/main" id="{EBBBC56A-FDE3-044C-89E7-0ED177F46A29}"/>
              </a:ext>
            </a:extLst>
          </p:cNvPr>
          <p:cNvSpPr>
            <a:spLocks noGrp="1"/>
          </p:cNvSpPr>
          <p:nvPr>
            <p:ph type="sldNum" sz="quarter" idx="12"/>
          </p:nvPr>
        </p:nvSpPr>
        <p:spPr>
          <a:xfrm>
            <a:off x="361950" y="6417401"/>
            <a:ext cx="458806" cy="373381"/>
          </a:xfrm>
        </p:spPr>
        <p:txBody>
          <a:bodyPr/>
          <a:lstStyle>
            <a:lvl1pPr algn="l">
              <a:defRPr>
                <a:solidFill>
                  <a:schemeClr val="bg1">
                    <a:lumMod val="50000"/>
                  </a:schemeClr>
                </a:solidFill>
              </a:defRPr>
            </a:lvl1pPr>
          </a:lstStyle>
          <a:p>
            <a:fld id="{1AF3B2EA-3484-6741-9EDF-7404652DB13C}" type="slidenum">
              <a:rPr lang="en-US" smtClean="0"/>
              <a:pPr/>
              <a:t>‹#›</a:t>
            </a:fld>
            <a:endParaRPr lang="en-US"/>
          </a:p>
        </p:txBody>
      </p:sp>
      <p:pic>
        <p:nvPicPr>
          <p:cNvPr id="11" name="Picture 10">
            <a:extLst>
              <a:ext uri="{FF2B5EF4-FFF2-40B4-BE49-F238E27FC236}">
                <a16:creationId xmlns:a16="http://schemas.microsoft.com/office/drawing/2014/main" id="{61D8B3FC-F6D5-D84C-BCCF-7919908BF170}"/>
              </a:ext>
            </a:extLst>
          </p:cNvPr>
          <p:cNvPicPr>
            <a:picLocks noChangeAspect="1"/>
          </p:cNvPicPr>
          <p:nvPr userDrawn="1"/>
        </p:nvPicPr>
        <p:blipFill>
          <a:blip r:embed="rId5"/>
          <a:stretch>
            <a:fillRect/>
          </a:stretch>
        </p:blipFill>
        <p:spPr>
          <a:xfrm>
            <a:off x="10865052" y="6484655"/>
            <a:ext cx="955473" cy="238869"/>
          </a:xfrm>
          <a:prstGeom prst="rect">
            <a:avLst/>
          </a:prstGeom>
        </p:spPr>
      </p:pic>
    </p:spTree>
    <p:extLst>
      <p:ext uri="{BB962C8B-B14F-4D97-AF65-F5344CB8AC3E}">
        <p14:creationId xmlns:p14="http://schemas.microsoft.com/office/powerpoint/2010/main" val="3101060351"/>
      </p:ext>
    </p:extLst>
  </p:cSld>
  <p:clrMapOvr>
    <a:masterClrMapping/>
  </p:clrMapOvr>
  <p:extLst>
    <p:ext uri="{DCECCB84-F9BA-43D5-87BE-67443E8EF086}">
      <p15:sldGuideLst xmlns:p15="http://schemas.microsoft.com/office/powerpoint/2012/main">
        <p15:guide id="1" pos="226">
          <p15:clr>
            <a:srgbClr val="FBAE40"/>
          </p15:clr>
        </p15:guide>
        <p15:guide id="2" pos="7446">
          <p15:clr>
            <a:srgbClr val="FBAE40"/>
          </p15:clr>
        </p15:guide>
        <p15:guide id="3" orient="horz" pos="3816">
          <p15:clr>
            <a:srgbClr val="FBAE40"/>
          </p15:clr>
        </p15:guide>
        <p15:guide id="4" orient="horz" pos="62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DB414D8-175C-AC4C-8487-6A2D832988EA}"/>
              </a:ext>
            </a:extLst>
          </p:cNvPr>
          <p:cNvSpPr/>
          <p:nvPr userDrawn="1"/>
        </p:nvSpPr>
        <p:spPr>
          <a:xfrm rot="5400000">
            <a:off x="5842091" y="644487"/>
            <a:ext cx="507820" cy="12192002"/>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4" name="Object 3" hidden="1">
            <a:extLst>
              <a:ext uri="{FF2B5EF4-FFF2-40B4-BE49-F238E27FC236}">
                <a16:creationId xmlns:a16="http://schemas.microsoft.com/office/drawing/2014/main" id="{697CF693-D819-5549-A8DD-C32810FE3195}"/>
              </a:ext>
            </a:extLst>
          </p:cNvPr>
          <p:cNvGraphicFramePr>
            <a:graphicFrameLocks noChangeAspect="1"/>
          </p:cNvGraphicFramePr>
          <p:nvPr userDrawn="1">
            <p:custDataLst>
              <p:tags r:id="rId1"/>
            </p:custDataLst>
            <p:extLst>
              <p:ext uri="{D42A27DB-BD31-4B8C-83A1-F6EECF244321}">
                <p14:modId xmlns:p14="http://schemas.microsoft.com/office/powerpoint/2010/main" val="14769710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Object 3" hidden="1">
                        <a:extLst>
                          <a:ext uri="{FF2B5EF4-FFF2-40B4-BE49-F238E27FC236}">
                            <a16:creationId xmlns:a16="http://schemas.microsoft.com/office/drawing/2014/main" id="{697CF693-D819-5549-A8DD-C32810FE319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85BD76A-6E39-2F4E-BA2A-176FB9CBD472}"/>
              </a:ext>
            </a:extLst>
          </p:cNvPr>
          <p:cNvSpPr>
            <a:spLocks noGrp="1"/>
          </p:cNvSpPr>
          <p:nvPr userDrawn="1">
            <p:ph type="title" hasCustomPrompt="1"/>
          </p:nvPr>
        </p:nvSpPr>
        <p:spPr>
          <a:xfrm>
            <a:off x="374754" y="353588"/>
            <a:ext cx="11442492" cy="523220"/>
          </a:xfrm>
        </p:spPr>
        <p:txBody>
          <a:bodyPr vert="horz" lIns="0" tIns="45720" rIns="0" bIns="45720" rtlCol="0" anchor="t">
            <a:spAutoFit/>
          </a:bodyPr>
          <a:lstStyle>
            <a:lvl1pPr algn="ctr">
              <a:lnSpc>
                <a:spcPct val="100000"/>
              </a:lnSpc>
              <a:defRPr lang="en-US" sz="2800" dirty="0">
                <a:solidFill>
                  <a:schemeClr val="accent1"/>
                </a:solidFill>
              </a:defRPr>
            </a:lvl1pPr>
          </a:lstStyle>
          <a:p>
            <a:pPr lvl="0"/>
            <a:r>
              <a:rPr lang="en-US"/>
              <a:t>Click to edit master title style</a:t>
            </a:r>
          </a:p>
        </p:txBody>
      </p:sp>
      <p:sp>
        <p:nvSpPr>
          <p:cNvPr id="10" name="Text Placeholder 9">
            <a:extLst>
              <a:ext uri="{FF2B5EF4-FFF2-40B4-BE49-F238E27FC236}">
                <a16:creationId xmlns:a16="http://schemas.microsoft.com/office/drawing/2014/main" id="{BE6BAF1E-22A3-6149-8E7F-65B0228F01F8}"/>
              </a:ext>
            </a:extLst>
          </p:cNvPr>
          <p:cNvSpPr>
            <a:spLocks noGrp="1"/>
          </p:cNvSpPr>
          <p:nvPr userDrawn="1">
            <p:ph type="body" sz="quarter" idx="13"/>
          </p:nvPr>
        </p:nvSpPr>
        <p:spPr>
          <a:xfrm>
            <a:off x="374754" y="1001486"/>
            <a:ext cx="11442492" cy="1298817"/>
          </a:xfrm>
        </p:spPr>
        <p:txBody>
          <a:bodyPr>
            <a:spAutoFit/>
          </a:bodyPr>
          <a:lstStyle>
            <a:lvl2pPr marL="228600" indent="-228600">
              <a:lnSpc>
                <a:spcPct val="100000"/>
              </a:lnSpc>
              <a:spcBef>
                <a:spcPts val="0"/>
              </a:spcBef>
              <a:buFont typeface="Courier New" panose="02070309020205020404" pitchFamily="49" charset="0"/>
              <a:buChar char="o"/>
              <a:defRPr/>
            </a:lvl2pPr>
            <a:lvl3pPr marL="457200" indent="-228600">
              <a:lnSpc>
                <a:spcPct val="100000"/>
              </a:lnSpc>
              <a:spcBef>
                <a:spcPts val="0"/>
              </a:spcBef>
              <a:buFont typeface="Courier New" panose="02070309020205020404" pitchFamily="49" charset="0"/>
              <a:buChar char="o"/>
              <a:defRPr/>
            </a:lvl3pPr>
            <a:lvl4pPr marL="685800" indent="-228600">
              <a:lnSpc>
                <a:spcPct val="100000"/>
              </a:lnSpc>
              <a:spcBef>
                <a:spcPts val="0"/>
              </a:spcBef>
              <a:buFont typeface="Courier New" panose="02070309020205020404" pitchFamily="49" charset="0"/>
              <a:buChar char="o"/>
              <a:defRPr/>
            </a:lvl4pPr>
            <a:lvl5pPr marL="914400" indent="-228600">
              <a:lnSpc>
                <a:spcPct val="100000"/>
              </a:lnSpc>
              <a:spcBef>
                <a:spcPts val="0"/>
              </a:spcBef>
              <a:buFont typeface="Courier New" panose="02070309020205020404" pitchFamily="49" charset="0"/>
              <a:buChar char="o"/>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973F23C3-CB46-EC4E-90C3-C98B510F582B}"/>
              </a:ext>
            </a:extLst>
          </p:cNvPr>
          <p:cNvSpPr>
            <a:spLocks noGrp="1"/>
          </p:cNvSpPr>
          <p:nvPr userDrawn="1">
            <p:ph type="ftr" sz="quarter" idx="11"/>
          </p:nvPr>
        </p:nvSpPr>
        <p:spPr>
          <a:xfrm>
            <a:off x="4038600" y="6551911"/>
            <a:ext cx="4114800" cy="259972"/>
          </a:xfrm>
        </p:spPr>
        <p:txBody>
          <a:bodyPr/>
          <a:lstStyle>
            <a:lvl1pPr>
              <a:defRPr sz="900">
                <a:solidFill>
                  <a:schemeClr val="bg1">
                    <a:lumMod val="50000"/>
                  </a:schemeClr>
                </a:solidFill>
              </a:defRPr>
            </a:lvl1pPr>
          </a:lstStyle>
          <a:p>
            <a:r>
              <a:rPr lang="en-US"/>
              <a:t>Copyright © 2022 Royal Cyber.  All rights reserved.</a:t>
            </a:r>
          </a:p>
        </p:txBody>
      </p:sp>
      <p:sp>
        <p:nvSpPr>
          <p:cNvPr id="6" name="Slide Number Placeholder 5">
            <a:extLst>
              <a:ext uri="{FF2B5EF4-FFF2-40B4-BE49-F238E27FC236}">
                <a16:creationId xmlns:a16="http://schemas.microsoft.com/office/drawing/2014/main" id="{EBBBC56A-FDE3-044C-89E7-0ED177F46A29}"/>
              </a:ext>
            </a:extLst>
          </p:cNvPr>
          <p:cNvSpPr>
            <a:spLocks noGrp="1"/>
          </p:cNvSpPr>
          <p:nvPr>
            <p:ph type="sldNum" sz="quarter" idx="12"/>
          </p:nvPr>
        </p:nvSpPr>
        <p:spPr>
          <a:xfrm>
            <a:off x="374754" y="6438502"/>
            <a:ext cx="458806" cy="373381"/>
          </a:xfrm>
        </p:spPr>
        <p:txBody>
          <a:bodyPr/>
          <a:lstStyle>
            <a:lvl1pPr algn="l">
              <a:defRPr>
                <a:solidFill>
                  <a:schemeClr val="bg1">
                    <a:lumMod val="50000"/>
                  </a:schemeClr>
                </a:solidFill>
              </a:defRPr>
            </a:lvl1pPr>
          </a:lstStyle>
          <a:p>
            <a:fld id="{1AF3B2EA-3484-6741-9EDF-7404652DB13C}" type="slidenum">
              <a:rPr lang="en-US" smtClean="0"/>
              <a:pPr/>
              <a:t>‹#›</a:t>
            </a:fld>
            <a:endParaRPr lang="en-US"/>
          </a:p>
        </p:txBody>
      </p:sp>
      <p:pic>
        <p:nvPicPr>
          <p:cNvPr id="13" name="Picture 12">
            <a:extLst>
              <a:ext uri="{FF2B5EF4-FFF2-40B4-BE49-F238E27FC236}">
                <a16:creationId xmlns:a16="http://schemas.microsoft.com/office/drawing/2014/main" id="{1E6A2CB6-58BC-8842-A9DA-75CAC08F7D54}"/>
              </a:ext>
            </a:extLst>
          </p:cNvPr>
          <p:cNvPicPr>
            <a:picLocks noChangeAspect="1"/>
          </p:cNvPicPr>
          <p:nvPr userDrawn="1"/>
        </p:nvPicPr>
        <p:blipFill>
          <a:blip r:embed="rId5"/>
          <a:stretch>
            <a:fillRect/>
          </a:stretch>
        </p:blipFill>
        <p:spPr>
          <a:xfrm>
            <a:off x="10861773" y="6551911"/>
            <a:ext cx="955473" cy="238869"/>
          </a:xfrm>
          <a:prstGeom prst="rect">
            <a:avLst/>
          </a:prstGeom>
        </p:spPr>
      </p:pic>
    </p:spTree>
    <p:extLst>
      <p:ext uri="{BB962C8B-B14F-4D97-AF65-F5344CB8AC3E}">
        <p14:creationId xmlns:p14="http://schemas.microsoft.com/office/powerpoint/2010/main" val="2551939996"/>
      </p:ext>
    </p:extLst>
  </p:cSld>
  <p:clrMapOvr>
    <a:masterClrMapping/>
  </p:clrMapOvr>
  <p:extLst>
    <p:ext uri="{DCECCB84-F9BA-43D5-87BE-67443E8EF086}">
      <p15:sldGuideLst xmlns:p15="http://schemas.microsoft.com/office/powerpoint/2012/main">
        <p15:guide id="1" pos="226">
          <p15:clr>
            <a:srgbClr val="FBAE40"/>
          </p15:clr>
        </p15:guide>
        <p15:guide id="2" pos="7446">
          <p15:clr>
            <a:srgbClr val="FBAE40"/>
          </p15:clr>
        </p15:guide>
        <p15:guide id="3" orient="horz" pos="3835">
          <p15:clr>
            <a:srgbClr val="FBAE40"/>
          </p15:clr>
        </p15:guide>
        <p15:guide id="4" orient="horz"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A9A6067-D75A-784F-BEDF-3E03D2A95D46}"/>
              </a:ext>
            </a:extLst>
          </p:cNvPr>
          <p:cNvSpPr/>
          <p:nvPr userDrawn="1"/>
        </p:nvSpPr>
        <p:spPr>
          <a:xfrm rot="5400000">
            <a:off x="5842091" y="508088"/>
            <a:ext cx="507820" cy="12192002"/>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7" name="Object 6" hidden="1">
            <a:extLst>
              <a:ext uri="{FF2B5EF4-FFF2-40B4-BE49-F238E27FC236}">
                <a16:creationId xmlns:a16="http://schemas.microsoft.com/office/drawing/2014/main" id="{1BF05FA9-402F-A447-9202-12D2AEF61154}"/>
              </a:ext>
            </a:extLst>
          </p:cNvPr>
          <p:cNvGraphicFramePr>
            <a:graphicFrameLocks noChangeAspect="1"/>
          </p:cNvGraphicFramePr>
          <p:nvPr userDrawn="1">
            <p:custDataLst>
              <p:tags r:id="rId1"/>
            </p:custDataLst>
            <p:extLst>
              <p:ext uri="{D42A27DB-BD31-4B8C-83A1-F6EECF244321}">
                <p14:modId xmlns:p14="http://schemas.microsoft.com/office/powerpoint/2010/main" val="41371181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1BF05FA9-402F-A447-9202-12D2AEF6115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4C143CC-B660-7A41-858A-CB375C91AEDD}"/>
              </a:ext>
            </a:extLst>
          </p:cNvPr>
          <p:cNvSpPr>
            <a:spLocks noGrp="1"/>
          </p:cNvSpPr>
          <p:nvPr>
            <p:ph type="title" hasCustomPrompt="1"/>
          </p:nvPr>
        </p:nvSpPr>
        <p:spPr>
          <a:xfrm>
            <a:off x="374754" y="353588"/>
            <a:ext cx="11442492" cy="523220"/>
          </a:xfrm>
        </p:spPr>
        <p:txBody>
          <a:bodyPr vert="horz" lIns="0" tIns="45720" rIns="0" bIns="45720" rtlCol="0" anchor="t">
            <a:spAutoFit/>
          </a:bodyPr>
          <a:lstStyle>
            <a:lvl1pPr algn="ctr">
              <a:lnSpc>
                <a:spcPct val="100000"/>
              </a:lnSpc>
              <a:defRPr lang="en-US" sz="2800" dirty="0">
                <a:solidFill>
                  <a:schemeClr val="accent1"/>
                </a:solidFill>
              </a:defRPr>
            </a:lvl1pPr>
          </a:lstStyle>
          <a:p>
            <a:pPr lvl="0"/>
            <a:r>
              <a:rPr lang="en-US"/>
              <a:t>Click to edit master title style</a:t>
            </a:r>
          </a:p>
        </p:txBody>
      </p:sp>
      <p:sp>
        <p:nvSpPr>
          <p:cNvPr id="3" name="Footer Placeholder 2">
            <a:extLst>
              <a:ext uri="{FF2B5EF4-FFF2-40B4-BE49-F238E27FC236}">
                <a16:creationId xmlns:a16="http://schemas.microsoft.com/office/drawing/2014/main" id="{C087B4A9-4F9D-B144-8D08-06067D3A35C0}"/>
              </a:ext>
            </a:extLst>
          </p:cNvPr>
          <p:cNvSpPr>
            <a:spLocks noGrp="1"/>
          </p:cNvSpPr>
          <p:nvPr>
            <p:ph type="ftr" sz="quarter" idx="10"/>
          </p:nvPr>
        </p:nvSpPr>
        <p:spPr>
          <a:xfrm>
            <a:off x="4038600" y="6474103"/>
            <a:ext cx="4114800" cy="259972"/>
          </a:xfrm>
        </p:spPr>
        <p:txBody>
          <a:bodyPr/>
          <a:lstStyle>
            <a:lvl1pPr>
              <a:defRPr>
                <a:solidFill>
                  <a:schemeClr val="bg1">
                    <a:lumMod val="50000"/>
                  </a:schemeClr>
                </a:solidFill>
              </a:defRPr>
            </a:lvl1pPr>
          </a:lstStyle>
          <a:p>
            <a:r>
              <a:rPr lang="en-US"/>
              <a:t>Copyright © 2022 Royal Cyber.  All rights reserved.</a:t>
            </a:r>
          </a:p>
        </p:txBody>
      </p:sp>
      <p:sp>
        <p:nvSpPr>
          <p:cNvPr id="4" name="Slide Number Placeholder 3">
            <a:extLst>
              <a:ext uri="{FF2B5EF4-FFF2-40B4-BE49-F238E27FC236}">
                <a16:creationId xmlns:a16="http://schemas.microsoft.com/office/drawing/2014/main" id="{D0DEFB0B-90DC-A949-91C0-486CE4A8AB2B}"/>
              </a:ext>
            </a:extLst>
          </p:cNvPr>
          <p:cNvSpPr>
            <a:spLocks noGrp="1"/>
          </p:cNvSpPr>
          <p:nvPr>
            <p:ph type="sldNum" sz="quarter" idx="11"/>
          </p:nvPr>
        </p:nvSpPr>
        <p:spPr>
          <a:xfrm>
            <a:off x="361950" y="6417398"/>
            <a:ext cx="458806" cy="373382"/>
          </a:xfrm>
        </p:spPr>
        <p:txBody>
          <a:bodyPr/>
          <a:lstStyle>
            <a:lvl1pPr algn="l">
              <a:defRPr>
                <a:solidFill>
                  <a:schemeClr val="bg1">
                    <a:lumMod val="50000"/>
                  </a:schemeClr>
                </a:solidFill>
              </a:defRPr>
            </a:lvl1pPr>
          </a:lstStyle>
          <a:p>
            <a:fld id="{1AF3B2EA-3484-6741-9EDF-7404652DB13C}" type="slidenum">
              <a:rPr lang="en-US" smtClean="0"/>
              <a:pPr/>
              <a:t>‹#›</a:t>
            </a:fld>
            <a:endParaRPr lang="en-US"/>
          </a:p>
        </p:txBody>
      </p:sp>
      <p:sp>
        <p:nvSpPr>
          <p:cNvPr id="5" name="Text Placeholder 9">
            <a:extLst>
              <a:ext uri="{FF2B5EF4-FFF2-40B4-BE49-F238E27FC236}">
                <a16:creationId xmlns:a16="http://schemas.microsoft.com/office/drawing/2014/main" id="{65293051-21C5-3E4E-B123-E3D6A23C82BD}"/>
              </a:ext>
            </a:extLst>
          </p:cNvPr>
          <p:cNvSpPr>
            <a:spLocks noGrp="1"/>
          </p:cNvSpPr>
          <p:nvPr>
            <p:ph type="body" sz="quarter" idx="13"/>
          </p:nvPr>
        </p:nvSpPr>
        <p:spPr>
          <a:xfrm>
            <a:off x="374754" y="1319134"/>
            <a:ext cx="11442492" cy="1298817"/>
          </a:xfrm>
        </p:spPr>
        <p:txBody>
          <a:bodyPr vert="horz" lIns="0" tIns="45720" rIns="0" bIns="4572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DC7F927D-288C-E448-9477-D78962FF259A}"/>
              </a:ext>
            </a:extLst>
          </p:cNvPr>
          <p:cNvSpPr>
            <a:spLocks noGrp="1"/>
          </p:cNvSpPr>
          <p:nvPr>
            <p:ph type="body" sz="quarter" idx="14" hasCustomPrompt="1"/>
          </p:nvPr>
        </p:nvSpPr>
        <p:spPr>
          <a:xfrm>
            <a:off x="374754" y="907659"/>
            <a:ext cx="11442596" cy="276999"/>
          </a:xfrm>
        </p:spPr>
        <p:txBody>
          <a:bodyPr tIns="0" bIns="0" anchor="t"/>
          <a:lstStyle>
            <a:lvl1pPr algn="ctr">
              <a:lnSpc>
                <a:spcPct val="100000"/>
              </a:lnSpc>
              <a:defRPr sz="1800">
                <a:solidFill>
                  <a:schemeClr val="accent2"/>
                </a:solidFill>
              </a:defRPr>
            </a:lvl1pPr>
          </a:lstStyle>
          <a:p>
            <a:pPr lvl="0"/>
            <a:r>
              <a:rPr lang="en-US"/>
              <a:t>Subtitle</a:t>
            </a:r>
          </a:p>
        </p:txBody>
      </p:sp>
      <p:pic>
        <p:nvPicPr>
          <p:cNvPr id="16" name="Picture 15">
            <a:extLst>
              <a:ext uri="{FF2B5EF4-FFF2-40B4-BE49-F238E27FC236}">
                <a16:creationId xmlns:a16="http://schemas.microsoft.com/office/drawing/2014/main" id="{60BAC29F-CE5D-DA47-9152-F92D07469EB3}"/>
              </a:ext>
            </a:extLst>
          </p:cNvPr>
          <p:cNvPicPr>
            <a:picLocks noChangeAspect="1"/>
          </p:cNvPicPr>
          <p:nvPr userDrawn="1"/>
        </p:nvPicPr>
        <p:blipFill>
          <a:blip r:embed="rId5"/>
          <a:stretch>
            <a:fillRect/>
          </a:stretch>
        </p:blipFill>
        <p:spPr>
          <a:xfrm>
            <a:off x="10865052" y="6484655"/>
            <a:ext cx="955473" cy="238869"/>
          </a:xfrm>
          <a:prstGeom prst="rect">
            <a:avLst/>
          </a:prstGeom>
        </p:spPr>
      </p:pic>
    </p:spTree>
    <p:extLst>
      <p:ext uri="{BB962C8B-B14F-4D97-AF65-F5344CB8AC3E}">
        <p14:creationId xmlns:p14="http://schemas.microsoft.com/office/powerpoint/2010/main" val="1071189263"/>
      </p:ext>
    </p:extLst>
  </p:cSld>
  <p:clrMapOvr>
    <a:masterClrMapping/>
  </p:clrMapOvr>
  <p:extLst>
    <p:ext uri="{DCECCB84-F9BA-43D5-87BE-67443E8EF086}">
      <p15:sldGuideLst xmlns:p15="http://schemas.microsoft.com/office/powerpoint/2012/main">
        <p15:guide id="1" pos="226">
          <p15:clr>
            <a:srgbClr val="FBAE40"/>
          </p15:clr>
        </p15:guide>
        <p15:guide id="2" pos="7454">
          <p15:clr>
            <a:srgbClr val="FBAE40"/>
          </p15:clr>
        </p15:guide>
        <p15:guide id="3" orient="horz" pos="823">
          <p15:clr>
            <a:srgbClr val="FBAE40"/>
          </p15:clr>
        </p15:guide>
        <p15:guide id="4" orient="horz" pos="383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561F991-2E0F-304D-A9C5-1D297F56DEFC}"/>
              </a:ext>
            </a:extLst>
          </p:cNvPr>
          <p:cNvGraphicFramePr>
            <a:graphicFrameLocks noChangeAspect="1"/>
          </p:cNvGraphicFramePr>
          <p:nvPr userDrawn="1">
            <p:custDataLst>
              <p:tags r:id="rId1"/>
            </p:custDataLst>
            <p:extLst>
              <p:ext uri="{D42A27DB-BD31-4B8C-83A1-F6EECF244321}">
                <p14:modId xmlns:p14="http://schemas.microsoft.com/office/powerpoint/2010/main" val="386408068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Object 1" hidden="1">
                        <a:extLst>
                          <a:ext uri="{FF2B5EF4-FFF2-40B4-BE49-F238E27FC236}">
                            <a16:creationId xmlns:a16="http://schemas.microsoft.com/office/drawing/2014/main" id="{D561F991-2E0F-304D-A9C5-1D297F56DEFC}"/>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82" name="Picture 81">
            <a:extLst>
              <a:ext uri="{FF2B5EF4-FFF2-40B4-BE49-F238E27FC236}">
                <a16:creationId xmlns:a16="http://schemas.microsoft.com/office/drawing/2014/main" id="{386703A7-4024-214F-A45D-1217006764A4}"/>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1"/>
            <a:ext cx="12192000" cy="3404857"/>
          </a:xfrm>
          <a:prstGeom prst="rect">
            <a:avLst/>
          </a:prstGeom>
        </p:spPr>
      </p:pic>
      <p:sp>
        <p:nvSpPr>
          <p:cNvPr id="9" name="Rectangle 8">
            <a:extLst>
              <a:ext uri="{FF2B5EF4-FFF2-40B4-BE49-F238E27FC236}">
                <a16:creationId xmlns:a16="http://schemas.microsoft.com/office/drawing/2014/main" id="{97782E5A-A8E0-CF45-8B2B-9362F80E3E23}"/>
              </a:ext>
            </a:extLst>
          </p:cNvPr>
          <p:cNvSpPr/>
          <p:nvPr userDrawn="1"/>
        </p:nvSpPr>
        <p:spPr>
          <a:xfrm>
            <a:off x="0" y="0"/>
            <a:ext cx="12192000" cy="3321293"/>
          </a:xfrm>
          <a:prstGeom prst="rect">
            <a:avLst/>
          </a:prstGeom>
          <a:solidFill>
            <a:schemeClr val="tx1">
              <a:alpha val="1623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70A729ED-628F-3043-A787-EA56200B4046}"/>
              </a:ext>
            </a:extLst>
          </p:cNvPr>
          <p:cNvSpPr/>
          <p:nvPr userDrawn="1"/>
        </p:nvSpPr>
        <p:spPr>
          <a:xfrm>
            <a:off x="2124172" y="1395663"/>
            <a:ext cx="1405264" cy="1405264"/>
          </a:xfrm>
          <a:prstGeom prst="rect">
            <a:avLst/>
          </a:prstGeom>
          <a:solidFill>
            <a:schemeClr val="bg1">
              <a:alpha val="772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8" name="Rectangle 87">
            <a:extLst>
              <a:ext uri="{FF2B5EF4-FFF2-40B4-BE49-F238E27FC236}">
                <a16:creationId xmlns:a16="http://schemas.microsoft.com/office/drawing/2014/main" id="{E8C4D64D-C0FB-444F-8259-7DADCD0DAAC9}"/>
              </a:ext>
            </a:extLst>
          </p:cNvPr>
          <p:cNvSpPr/>
          <p:nvPr userDrawn="1"/>
        </p:nvSpPr>
        <p:spPr>
          <a:xfrm>
            <a:off x="3758771" y="1395663"/>
            <a:ext cx="1405264" cy="1405264"/>
          </a:xfrm>
          <a:prstGeom prst="rect">
            <a:avLst/>
          </a:prstGeom>
          <a:solidFill>
            <a:schemeClr val="bg1">
              <a:alpha val="772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9" name="Rectangle 88">
            <a:extLst>
              <a:ext uri="{FF2B5EF4-FFF2-40B4-BE49-F238E27FC236}">
                <a16:creationId xmlns:a16="http://schemas.microsoft.com/office/drawing/2014/main" id="{F8E5A928-9E8A-8741-8B11-80039ADDFF9F}"/>
              </a:ext>
            </a:extLst>
          </p:cNvPr>
          <p:cNvSpPr/>
          <p:nvPr userDrawn="1"/>
        </p:nvSpPr>
        <p:spPr>
          <a:xfrm>
            <a:off x="5393369" y="1395663"/>
            <a:ext cx="1405264" cy="1405264"/>
          </a:xfrm>
          <a:prstGeom prst="rect">
            <a:avLst/>
          </a:prstGeom>
          <a:solidFill>
            <a:schemeClr val="bg1">
              <a:alpha val="772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0" name="Rectangle 89">
            <a:extLst>
              <a:ext uri="{FF2B5EF4-FFF2-40B4-BE49-F238E27FC236}">
                <a16:creationId xmlns:a16="http://schemas.microsoft.com/office/drawing/2014/main" id="{E1026CCE-6413-FE4D-B984-ACB47C4117DF}"/>
              </a:ext>
            </a:extLst>
          </p:cNvPr>
          <p:cNvSpPr/>
          <p:nvPr userDrawn="1"/>
        </p:nvSpPr>
        <p:spPr>
          <a:xfrm>
            <a:off x="7027968" y="1395663"/>
            <a:ext cx="1405264" cy="1405264"/>
          </a:xfrm>
          <a:prstGeom prst="rect">
            <a:avLst/>
          </a:prstGeom>
          <a:solidFill>
            <a:schemeClr val="bg1">
              <a:alpha val="772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1" name="Rectangle 90">
            <a:extLst>
              <a:ext uri="{FF2B5EF4-FFF2-40B4-BE49-F238E27FC236}">
                <a16:creationId xmlns:a16="http://schemas.microsoft.com/office/drawing/2014/main" id="{AA7F7026-5ED8-C845-8840-84FB2473A3F0}"/>
              </a:ext>
            </a:extLst>
          </p:cNvPr>
          <p:cNvSpPr/>
          <p:nvPr userDrawn="1"/>
        </p:nvSpPr>
        <p:spPr>
          <a:xfrm>
            <a:off x="8662566" y="1395663"/>
            <a:ext cx="1405264" cy="1405264"/>
          </a:xfrm>
          <a:prstGeom prst="rect">
            <a:avLst/>
          </a:prstGeom>
          <a:solidFill>
            <a:schemeClr val="bg1">
              <a:alpha val="772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nvGrpSpPr>
          <p:cNvPr id="43" name="Group 42">
            <a:extLst>
              <a:ext uri="{FF2B5EF4-FFF2-40B4-BE49-F238E27FC236}">
                <a16:creationId xmlns:a16="http://schemas.microsoft.com/office/drawing/2014/main" id="{AE8F4395-C616-0A46-AF82-F59116D15358}"/>
              </a:ext>
            </a:extLst>
          </p:cNvPr>
          <p:cNvGrpSpPr/>
          <p:nvPr userDrawn="1"/>
        </p:nvGrpSpPr>
        <p:grpSpPr>
          <a:xfrm>
            <a:off x="2573384" y="1733114"/>
            <a:ext cx="503985" cy="504118"/>
            <a:chOff x="2524463" y="4766967"/>
            <a:chExt cx="618725" cy="618888"/>
          </a:xfrm>
          <a:solidFill>
            <a:schemeClr val="accent1"/>
          </a:solidFill>
        </p:grpSpPr>
        <p:sp>
          <p:nvSpPr>
            <p:cNvPr id="44" name="Freeform 43">
              <a:extLst>
                <a:ext uri="{FF2B5EF4-FFF2-40B4-BE49-F238E27FC236}">
                  <a16:creationId xmlns:a16="http://schemas.microsoft.com/office/drawing/2014/main" id="{6E074193-EB51-E64A-A2ED-FE07FB958A1E}"/>
                </a:ext>
              </a:extLst>
            </p:cNvPr>
            <p:cNvSpPr>
              <a:spLocks noChangeArrowheads="1"/>
            </p:cNvSpPr>
            <p:nvPr/>
          </p:nvSpPr>
          <p:spPr bwMode="auto">
            <a:xfrm>
              <a:off x="2704225" y="4779511"/>
              <a:ext cx="117056" cy="117086"/>
            </a:xfrm>
            <a:custGeom>
              <a:avLst/>
              <a:gdLst>
                <a:gd name="T0" fmla="*/ 0 w 123"/>
                <a:gd name="T1" fmla="*/ 122 h 123"/>
                <a:gd name="T2" fmla="*/ 0 w 123"/>
                <a:gd name="T3" fmla="*/ 122 h 123"/>
                <a:gd name="T4" fmla="*/ 122 w 123"/>
                <a:gd name="T5" fmla="*/ 122 h 123"/>
                <a:gd name="T6" fmla="*/ 122 w 123"/>
                <a:gd name="T7" fmla="*/ 0 h 123"/>
                <a:gd name="T8" fmla="*/ 0 w 123"/>
                <a:gd name="T9" fmla="*/ 122 h 123"/>
              </a:gdLst>
              <a:ahLst/>
              <a:cxnLst>
                <a:cxn ang="0">
                  <a:pos x="T0" y="T1"/>
                </a:cxn>
                <a:cxn ang="0">
                  <a:pos x="T2" y="T3"/>
                </a:cxn>
                <a:cxn ang="0">
                  <a:pos x="T4" y="T5"/>
                </a:cxn>
                <a:cxn ang="0">
                  <a:pos x="T6" y="T7"/>
                </a:cxn>
                <a:cxn ang="0">
                  <a:pos x="T8" y="T9"/>
                </a:cxn>
              </a:cxnLst>
              <a:rect l="0" t="0" r="r" b="b"/>
              <a:pathLst>
                <a:path w="123" h="123">
                  <a:moveTo>
                    <a:pt x="0" y="122"/>
                  </a:moveTo>
                  <a:lnTo>
                    <a:pt x="0" y="122"/>
                  </a:lnTo>
                  <a:cubicBezTo>
                    <a:pt x="122" y="122"/>
                    <a:pt x="122" y="122"/>
                    <a:pt x="122" y="122"/>
                  </a:cubicBezTo>
                  <a:cubicBezTo>
                    <a:pt x="122" y="0"/>
                    <a:pt x="122" y="0"/>
                    <a:pt x="122" y="0"/>
                  </a:cubicBezTo>
                  <a:cubicBezTo>
                    <a:pt x="68" y="0"/>
                    <a:pt x="26" y="54"/>
                    <a:pt x="0" y="122"/>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45" name="Freeform 44">
              <a:extLst>
                <a:ext uri="{FF2B5EF4-FFF2-40B4-BE49-F238E27FC236}">
                  <a16:creationId xmlns:a16="http://schemas.microsoft.com/office/drawing/2014/main" id="{8D84C21C-A5E6-864E-BA5D-0F688C3E5918}"/>
                </a:ext>
              </a:extLst>
            </p:cNvPr>
            <p:cNvSpPr>
              <a:spLocks noChangeArrowheads="1"/>
            </p:cNvSpPr>
            <p:nvPr/>
          </p:nvSpPr>
          <p:spPr bwMode="auto">
            <a:xfrm>
              <a:off x="2666603" y="4934235"/>
              <a:ext cx="154681" cy="129630"/>
            </a:xfrm>
            <a:custGeom>
              <a:avLst/>
              <a:gdLst>
                <a:gd name="T0" fmla="*/ 163 w 164"/>
                <a:gd name="T1" fmla="*/ 136 h 137"/>
                <a:gd name="T2" fmla="*/ 163 w 164"/>
                <a:gd name="T3" fmla="*/ 136 h 137"/>
                <a:gd name="T4" fmla="*/ 163 w 164"/>
                <a:gd name="T5" fmla="*/ 0 h 137"/>
                <a:gd name="T6" fmla="*/ 27 w 164"/>
                <a:gd name="T7" fmla="*/ 0 h 137"/>
                <a:gd name="T8" fmla="*/ 0 w 164"/>
                <a:gd name="T9" fmla="*/ 136 h 137"/>
                <a:gd name="T10" fmla="*/ 163 w 164"/>
                <a:gd name="T11" fmla="*/ 136 h 137"/>
              </a:gdLst>
              <a:ahLst/>
              <a:cxnLst>
                <a:cxn ang="0">
                  <a:pos x="T0" y="T1"/>
                </a:cxn>
                <a:cxn ang="0">
                  <a:pos x="T2" y="T3"/>
                </a:cxn>
                <a:cxn ang="0">
                  <a:pos x="T4" y="T5"/>
                </a:cxn>
                <a:cxn ang="0">
                  <a:pos x="T6" y="T7"/>
                </a:cxn>
                <a:cxn ang="0">
                  <a:pos x="T8" y="T9"/>
                </a:cxn>
                <a:cxn ang="0">
                  <a:pos x="T10" y="T11"/>
                </a:cxn>
              </a:cxnLst>
              <a:rect l="0" t="0" r="r" b="b"/>
              <a:pathLst>
                <a:path w="164" h="137">
                  <a:moveTo>
                    <a:pt x="163" y="136"/>
                  </a:moveTo>
                  <a:lnTo>
                    <a:pt x="163" y="136"/>
                  </a:lnTo>
                  <a:cubicBezTo>
                    <a:pt x="163" y="0"/>
                    <a:pt x="163" y="0"/>
                    <a:pt x="163" y="0"/>
                  </a:cubicBezTo>
                  <a:cubicBezTo>
                    <a:pt x="27" y="0"/>
                    <a:pt x="27" y="0"/>
                    <a:pt x="27" y="0"/>
                  </a:cubicBezTo>
                  <a:cubicBezTo>
                    <a:pt x="13" y="40"/>
                    <a:pt x="0" y="82"/>
                    <a:pt x="0" y="136"/>
                  </a:cubicBezTo>
                  <a:lnTo>
                    <a:pt x="163" y="136"/>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46" name="Freeform 45">
              <a:extLst>
                <a:ext uri="{FF2B5EF4-FFF2-40B4-BE49-F238E27FC236}">
                  <a16:creationId xmlns:a16="http://schemas.microsoft.com/office/drawing/2014/main" id="{D952D4F9-2C57-E94D-8272-D016379836EA}"/>
                </a:ext>
              </a:extLst>
            </p:cNvPr>
            <p:cNvSpPr>
              <a:spLocks noChangeArrowheads="1"/>
            </p:cNvSpPr>
            <p:nvPr/>
          </p:nvSpPr>
          <p:spPr bwMode="auto">
            <a:xfrm>
              <a:off x="2850546" y="4779511"/>
              <a:ext cx="117056" cy="117086"/>
            </a:xfrm>
            <a:custGeom>
              <a:avLst/>
              <a:gdLst>
                <a:gd name="T0" fmla="*/ 0 w 122"/>
                <a:gd name="T1" fmla="*/ 0 h 123"/>
                <a:gd name="T2" fmla="*/ 0 w 122"/>
                <a:gd name="T3" fmla="*/ 0 h 123"/>
                <a:gd name="T4" fmla="*/ 0 w 122"/>
                <a:gd name="T5" fmla="*/ 122 h 123"/>
                <a:gd name="T6" fmla="*/ 121 w 122"/>
                <a:gd name="T7" fmla="*/ 122 h 123"/>
                <a:gd name="T8" fmla="*/ 0 w 122"/>
                <a:gd name="T9" fmla="*/ 0 h 123"/>
              </a:gdLst>
              <a:ahLst/>
              <a:cxnLst>
                <a:cxn ang="0">
                  <a:pos x="T0" y="T1"/>
                </a:cxn>
                <a:cxn ang="0">
                  <a:pos x="T2" y="T3"/>
                </a:cxn>
                <a:cxn ang="0">
                  <a:pos x="T4" y="T5"/>
                </a:cxn>
                <a:cxn ang="0">
                  <a:pos x="T6" y="T7"/>
                </a:cxn>
                <a:cxn ang="0">
                  <a:pos x="T8" y="T9"/>
                </a:cxn>
              </a:cxnLst>
              <a:rect l="0" t="0" r="r" b="b"/>
              <a:pathLst>
                <a:path w="122" h="123">
                  <a:moveTo>
                    <a:pt x="0" y="0"/>
                  </a:moveTo>
                  <a:lnTo>
                    <a:pt x="0" y="0"/>
                  </a:lnTo>
                  <a:cubicBezTo>
                    <a:pt x="0" y="122"/>
                    <a:pt x="0" y="122"/>
                    <a:pt x="0" y="122"/>
                  </a:cubicBezTo>
                  <a:cubicBezTo>
                    <a:pt x="121" y="122"/>
                    <a:pt x="121" y="122"/>
                    <a:pt x="121" y="122"/>
                  </a:cubicBezTo>
                  <a:cubicBezTo>
                    <a:pt x="95" y="54"/>
                    <a:pt x="41" y="0"/>
                    <a:pt x="0"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47" name="Freeform 46">
              <a:extLst>
                <a:ext uri="{FF2B5EF4-FFF2-40B4-BE49-F238E27FC236}">
                  <a16:creationId xmlns:a16="http://schemas.microsoft.com/office/drawing/2014/main" id="{ACEA9374-EC47-7E49-AF12-17386A76F0E6}"/>
                </a:ext>
              </a:extLst>
            </p:cNvPr>
            <p:cNvSpPr>
              <a:spLocks noChangeArrowheads="1"/>
            </p:cNvSpPr>
            <p:nvPr/>
          </p:nvSpPr>
          <p:spPr bwMode="auto">
            <a:xfrm>
              <a:off x="2524463" y="5088955"/>
              <a:ext cx="142140" cy="142175"/>
            </a:xfrm>
            <a:custGeom>
              <a:avLst/>
              <a:gdLst>
                <a:gd name="T0" fmla="*/ 122 w 151"/>
                <a:gd name="T1" fmla="*/ 0 h 150"/>
                <a:gd name="T2" fmla="*/ 122 w 151"/>
                <a:gd name="T3" fmla="*/ 0 h 150"/>
                <a:gd name="T4" fmla="*/ 0 w 151"/>
                <a:gd name="T5" fmla="*/ 0 h 150"/>
                <a:gd name="T6" fmla="*/ 42 w 151"/>
                <a:gd name="T7" fmla="*/ 149 h 150"/>
                <a:gd name="T8" fmla="*/ 42 w 151"/>
                <a:gd name="T9" fmla="*/ 149 h 150"/>
                <a:gd name="T10" fmla="*/ 150 w 151"/>
                <a:gd name="T11" fmla="*/ 149 h 150"/>
                <a:gd name="T12" fmla="*/ 122 w 15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151" h="150">
                  <a:moveTo>
                    <a:pt x="122" y="0"/>
                  </a:moveTo>
                  <a:lnTo>
                    <a:pt x="122" y="0"/>
                  </a:lnTo>
                  <a:cubicBezTo>
                    <a:pt x="0" y="0"/>
                    <a:pt x="0" y="0"/>
                    <a:pt x="0" y="0"/>
                  </a:cubicBezTo>
                  <a:cubicBezTo>
                    <a:pt x="0" y="54"/>
                    <a:pt x="14" y="109"/>
                    <a:pt x="42" y="149"/>
                  </a:cubicBezTo>
                  <a:lnTo>
                    <a:pt x="42" y="149"/>
                  </a:lnTo>
                  <a:cubicBezTo>
                    <a:pt x="150" y="149"/>
                    <a:pt x="150" y="149"/>
                    <a:pt x="150" y="149"/>
                  </a:cubicBezTo>
                  <a:cubicBezTo>
                    <a:pt x="136" y="109"/>
                    <a:pt x="122" y="54"/>
                    <a:pt x="122"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48" name="Freeform 47">
              <a:extLst>
                <a:ext uri="{FF2B5EF4-FFF2-40B4-BE49-F238E27FC236}">
                  <a16:creationId xmlns:a16="http://schemas.microsoft.com/office/drawing/2014/main" id="{4D36023C-6C64-CA4C-B952-DB57E61FE45A}"/>
                </a:ext>
              </a:extLst>
            </p:cNvPr>
            <p:cNvSpPr>
              <a:spLocks noChangeArrowheads="1"/>
            </p:cNvSpPr>
            <p:nvPr/>
          </p:nvSpPr>
          <p:spPr bwMode="auto">
            <a:xfrm>
              <a:off x="3001048" y="5088955"/>
              <a:ext cx="142140" cy="142175"/>
            </a:xfrm>
            <a:custGeom>
              <a:avLst/>
              <a:gdLst>
                <a:gd name="T0" fmla="*/ 14 w 150"/>
                <a:gd name="T1" fmla="*/ 0 h 150"/>
                <a:gd name="T2" fmla="*/ 14 w 150"/>
                <a:gd name="T3" fmla="*/ 0 h 150"/>
                <a:gd name="T4" fmla="*/ 0 w 150"/>
                <a:gd name="T5" fmla="*/ 149 h 150"/>
                <a:gd name="T6" fmla="*/ 95 w 150"/>
                <a:gd name="T7" fmla="*/ 149 h 150"/>
                <a:gd name="T8" fmla="*/ 109 w 150"/>
                <a:gd name="T9" fmla="*/ 149 h 150"/>
                <a:gd name="T10" fmla="*/ 149 w 150"/>
                <a:gd name="T11" fmla="*/ 0 h 150"/>
                <a:gd name="T12" fmla="*/ 14 w 150"/>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150" h="150">
                  <a:moveTo>
                    <a:pt x="14" y="0"/>
                  </a:moveTo>
                  <a:lnTo>
                    <a:pt x="14" y="0"/>
                  </a:lnTo>
                  <a:cubicBezTo>
                    <a:pt x="14" y="54"/>
                    <a:pt x="0" y="109"/>
                    <a:pt x="0" y="149"/>
                  </a:cubicBezTo>
                  <a:cubicBezTo>
                    <a:pt x="95" y="149"/>
                    <a:pt x="95" y="149"/>
                    <a:pt x="95" y="149"/>
                  </a:cubicBezTo>
                  <a:lnTo>
                    <a:pt x="109" y="149"/>
                  </a:lnTo>
                  <a:cubicBezTo>
                    <a:pt x="122" y="109"/>
                    <a:pt x="149" y="54"/>
                    <a:pt x="149" y="0"/>
                  </a:cubicBezTo>
                  <a:lnTo>
                    <a:pt x="14" y="0"/>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49" name="Freeform 48">
              <a:extLst>
                <a:ext uri="{FF2B5EF4-FFF2-40B4-BE49-F238E27FC236}">
                  <a16:creationId xmlns:a16="http://schemas.microsoft.com/office/drawing/2014/main" id="{78BEF4F1-4168-7648-971D-4DF9989CA054}"/>
                </a:ext>
              </a:extLst>
            </p:cNvPr>
            <p:cNvSpPr>
              <a:spLocks noChangeArrowheads="1"/>
            </p:cNvSpPr>
            <p:nvPr/>
          </p:nvSpPr>
          <p:spPr bwMode="auto">
            <a:xfrm>
              <a:off x="2666603" y="5088955"/>
              <a:ext cx="154681" cy="142175"/>
            </a:xfrm>
            <a:custGeom>
              <a:avLst/>
              <a:gdLst>
                <a:gd name="T0" fmla="*/ 163 w 164"/>
                <a:gd name="T1" fmla="*/ 0 h 150"/>
                <a:gd name="T2" fmla="*/ 163 w 164"/>
                <a:gd name="T3" fmla="*/ 0 h 150"/>
                <a:gd name="T4" fmla="*/ 0 w 164"/>
                <a:gd name="T5" fmla="*/ 0 h 150"/>
                <a:gd name="T6" fmla="*/ 27 w 164"/>
                <a:gd name="T7" fmla="*/ 149 h 150"/>
                <a:gd name="T8" fmla="*/ 163 w 164"/>
                <a:gd name="T9" fmla="*/ 149 h 150"/>
                <a:gd name="T10" fmla="*/ 163 w 164"/>
                <a:gd name="T11" fmla="*/ 0 h 150"/>
              </a:gdLst>
              <a:ahLst/>
              <a:cxnLst>
                <a:cxn ang="0">
                  <a:pos x="T0" y="T1"/>
                </a:cxn>
                <a:cxn ang="0">
                  <a:pos x="T2" y="T3"/>
                </a:cxn>
                <a:cxn ang="0">
                  <a:pos x="T4" y="T5"/>
                </a:cxn>
                <a:cxn ang="0">
                  <a:pos x="T6" y="T7"/>
                </a:cxn>
                <a:cxn ang="0">
                  <a:pos x="T8" y="T9"/>
                </a:cxn>
                <a:cxn ang="0">
                  <a:pos x="T10" y="T11"/>
                </a:cxn>
              </a:cxnLst>
              <a:rect l="0" t="0" r="r" b="b"/>
              <a:pathLst>
                <a:path w="164" h="150">
                  <a:moveTo>
                    <a:pt x="163" y="0"/>
                  </a:moveTo>
                  <a:lnTo>
                    <a:pt x="163" y="0"/>
                  </a:lnTo>
                  <a:cubicBezTo>
                    <a:pt x="0" y="0"/>
                    <a:pt x="0" y="0"/>
                    <a:pt x="0" y="0"/>
                  </a:cubicBezTo>
                  <a:cubicBezTo>
                    <a:pt x="0" y="54"/>
                    <a:pt x="13" y="109"/>
                    <a:pt x="27" y="149"/>
                  </a:cubicBezTo>
                  <a:cubicBezTo>
                    <a:pt x="163" y="149"/>
                    <a:pt x="163" y="149"/>
                    <a:pt x="163" y="149"/>
                  </a:cubicBezTo>
                  <a:lnTo>
                    <a:pt x="163" y="0"/>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0" name="Freeform 49">
              <a:extLst>
                <a:ext uri="{FF2B5EF4-FFF2-40B4-BE49-F238E27FC236}">
                  <a16:creationId xmlns:a16="http://schemas.microsoft.com/office/drawing/2014/main" id="{8D2F96A0-DB19-E144-B836-8077B73571BF}"/>
                </a:ext>
              </a:extLst>
            </p:cNvPr>
            <p:cNvSpPr>
              <a:spLocks noChangeArrowheads="1"/>
            </p:cNvSpPr>
            <p:nvPr/>
          </p:nvSpPr>
          <p:spPr bwMode="auto">
            <a:xfrm>
              <a:off x="2524463" y="4921688"/>
              <a:ext cx="142140" cy="142175"/>
            </a:xfrm>
            <a:custGeom>
              <a:avLst/>
              <a:gdLst>
                <a:gd name="T0" fmla="*/ 122 w 151"/>
                <a:gd name="T1" fmla="*/ 150 h 151"/>
                <a:gd name="T2" fmla="*/ 122 w 151"/>
                <a:gd name="T3" fmla="*/ 150 h 151"/>
                <a:gd name="T4" fmla="*/ 150 w 151"/>
                <a:gd name="T5" fmla="*/ 14 h 151"/>
                <a:gd name="T6" fmla="*/ 42 w 151"/>
                <a:gd name="T7" fmla="*/ 14 h 151"/>
                <a:gd name="T8" fmla="*/ 42 w 151"/>
                <a:gd name="T9" fmla="*/ 0 h 151"/>
                <a:gd name="T10" fmla="*/ 0 w 151"/>
                <a:gd name="T11" fmla="*/ 150 h 151"/>
                <a:gd name="T12" fmla="*/ 122 w 151"/>
                <a:gd name="T13" fmla="*/ 150 h 151"/>
              </a:gdLst>
              <a:ahLst/>
              <a:cxnLst>
                <a:cxn ang="0">
                  <a:pos x="T0" y="T1"/>
                </a:cxn>
                <a:cxn ang="0">
                  <a:pos x="T2" y="T3"/>
                </a:cxn>
                <a:cxn ang="0">
                  <a:pos x="T4" y="T5"/>
                </a:cxn>
                <a:cxn ang="0">
                  <a:pos x="T6" y="T7"/>
                </a:cxn>
                <a:cxn ang="0">
                  <a:pos x="T8" y="T9"/>
                </a:cxn>
                <a:cxn ang="0">
                  <a:pos x="T10" y="T11"/>
                </a:cxn>
                <a:cxn ang="0">
                  <a:pos x="T12" y="T13"/>
                </a:cxn>
              </a:cxnLst>
              <a:rect l="0" t="0" r="r" b="b"/>
              <a:pathLst>
                <a:path w="151" h="151">
                  <a:moveTo>
                    <a:pt x="122" y="150"/>
                  </a:moveTo>
                  <a:lnTo>
                    <a:pt x="122" y="150"/>
                  </a:lnTo>
                  <a:cubicBezTo>
                    <a:pt x="122" y="96"/>
                    <a:pt x="136" y="54"/>
                    <a:pt x="150" y="14"/>
                  </a:cubicBezTo>
                  <a:cubicBezTo>
                    <a:pt x="42" y="14"/>
                    <a:pt x="42" y="14"/>
                    <a:pt x="42" y="14"/>
                  </a:cubicBezTo>
                  <a:lnTo>
                    <a:pt x="42" y="0"/>
                  </a:lnTo>
                  <a:cubicBezTo>
                    <a:pt x="14" y="54"/>
                    <a:pt x="0" y="96"/>
                    <a:pt x="0" y="150"/>
                  </a:cubicBezTo>
                  <a:lnTo>
                    <a:pt x="122" y="150"/>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1" name="Freeform 50">
              <a:extLst>
                <a:ext uri="{FF2B5EF4-FFF2-40B4-BE49-F238E27FC236}">
                  <a16:creationId xmlns:a16="http://schemas.microsoft.com/office/drawing/2014/main" id="{C734EA13-7937-464C-9C2E-19A81BDFDFCE}"/>
                </a:ext>
              </a:extLst>
            </p:cNvPr>
            <p:cNvSpPr>
              <a:spLocks noChangeArrowheads="1"/>
            </p:cNvSpPr>
            <p:nvPr/>
          </p:nvSpPr>
          <p:spPr bwMode="auto">
            <a:xfrm>
              <a:off x="2850547" y="4934235"/>
              <a:ext cx="142140" cy="129630"/>
            </a:xfrm>
            <a:custGeom>
              <a:avLst/>
              <a:gdLst>
                <a:gd name="T0" fmla="*/ 149 w 150"/>
                <a:gd name="T1" fmla="*/ 136 h 137"/>
                <a:gd name="T2" fmla="*/ 149 w 150"/>
                <a:gd name="T3" fmla="*/ 136 h 137"/>
                <a:gd name="T4" fmla="*/ 121 w 150"/>
                <a:gd name="T5" fmla="*/ 0 h 137"/>
                <a:gd name="T6" fmla="*/ 0 w 150"/>
                <a:gd name="T7" fmla="*/ 0 h 137"/>
                <a:gd name="T8" fmla="*/ 0 w 150"/>
                <a:gd name="T9" fmla="*/ 136 h 137"/>
                <a:gd name="T10" fmla="*/ 149 w 150"/>
                <a:gd name="T11" fmla="*/ 136 h 137"/>
              </a:gdLst>
              <a:ahLst/>
              <a:cxnLst>
                <a:cxn ang="0">
                  <a:pos x="T0" y="T1"/>
                </a:cxn>
                <a:cxn ang="0">
                  <a:pos x="T2" y="T3"/>
                </a:cxn>
                <a:cxn ang="0">
                  <a:pos x="T4" y="T5"/>
                </a:cxn>
                <a:cxn ang="0">
                  <a:pos x="T6" y="T7"/>
                </a:cxn>
                <a:cxn ang="0">
                  <a:pos x="T8" y="T9"/>
                </a:cxn>
                <a:cxn ang="0">
                  <a:pos x="T10" y="T11"/>
                </a:cxn>
              </a:cxnLst>
              <a:rect l="0" t="0" r="r" b="b"/>
              <a:pathLst>
                <a:path w="150" h="137">
                  <a:moveTo>
                    <a:pt x="149" y="136"/>
                  </a:moveTo>
                  <a:lnTo>
                    <a:pt x="149" y="136"/>
                  </a:lnTo>
                  <a:cubicBezTo>
                    <a:pt x="149" y="82"/>
                    <a:pt x="135" y="40"/>
                    <a:pt x="121" y="0"/>
                  </a:cubicBezTo>
                  <a:cubicBezTo>
                    <a:pt x="0" y="0"/>
                    <a:pt x="0" y="0"/>
                    <a:pt x="0" y="0"/>
                  </a:cubicBezTo>
                  <a:cubicBezTo>
                    <a:pt x="0" y="136"/>
                    <a:pt x="0" y="136"/>
                    <a:pt x="0" y="136"/>
                  </a:cubicBezTo>
                  <a:lnTo>
                    <a:pt x="149" y="136"/>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2" name="Freeform 51">
              <a:extLst>
                <a:ext uri="{FF2B5EF4-FFF2-40B4-BE49-F238E27FC236}">
                  <a16:creationId xmlns:a16="http://schemas.microsoft.com/office/drawing/2014/main" id="{EFB2E0D9-50E8-654C-8C72-B81521F1E4BE}"/>
                </a:ext>
              </a:extLst>
            </p:cNvPr>
            <p:cNvSpPr>
              <a:spLocks noChangeArrowheads="1"/>
            </p:cNvSpPr>
            <p:nvPr/>
          </p:nvSpPr>
          <p:spPr bwMode="auto">
            <a:xfrm>
              <a:off x="2574630" y="4766967"/>
              <a:ext cx="183944" cy="129630"/>
            </a:xfrm>
            <a:custGeom>
              <a:avLst/>
              <a:gdLst>
                <a:gd name="T0" fmla="*/ 109 w 192"/>
                <a:gd name="T1" fmla="*/ 136 h 137"/>
                <a:gd name="T2" fmla="*/ 109 w 192"/>
                <a:gd name="T3" fmla="*/ 136 h 137"/>
                <a:gd name="T4" fmla="*/ 191 w 192"/>
                <a:gd name="T5" fmla="*/ 0 h 137"/>
                <a:gd name="T6" fmla="*/ 0 w 192"/>
                <a:gd name="T7" fmla="*/ 136 h 137"/>
                <a:gd name="T8" fmla="*/ 109 w 192"/>
                <a:gd name="T9" fmla="*/ 136 h 137"/>
              </a:gdLst>
              <a:ahLst/>
              <a:cxnLst>
                <a:cxn ang="0">
                  <a:pos x="T0" y="T1"/>
                </a:cxn>
                <a:cxn ang="0">
                  <a:pos x="T2" y="T3"/>
                </a:cxn>
                <a:cxn ang="0">
                  <a:pos x="T4" y="T5"/>
                </a:cxn>
                <a:cxn ang="0">
                  <a:pos x="T6" y="T7"/>
                </a:cxn>
                <a:cxn ang="0">
                  <a:pos x="T8" y="T9"/>
                </a:cxn>
              </a:cxnLst>
              <a:rect l="0" t="0" r="r" b="b"/>
              <a:pathLst>
                <a:path w="192" h="137">
                  <a:moveTo>
                    <a:pt x="109" y="136"/>
                  </a:moveTo>
                  <a:lnTo>
                    <a:pt x="109" y="136"/>
                  </a:lnTo>
                  <a:cubicBezTo>
                    <a:pt x="123" y="82"/>
                    <a:pt x="151" y="28"/>
                    <a:pt x="191" y="0"/>
                  </a:cubicBezTo>
                  <a:cubicBezTo>
                    <a:pt x="109" y="28"/>
                    <a:pt x="42" y="82"/>
                    <a:pt x="0" y="136"/>
                  </a:cubicBezTo>
                  <a:lnTo>
                    <a:pt x="109" y="136"/>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3" name="Freeform 52">
              <a:extLst>
                <a:ext uri="{FF2B5EF4-FFF2-40B4-BE49-F238E27FC236}">
                  <a16:creationId xmlns:a16="http://schemas.microsoft.com/office/drawing/2014/main" id="{8D77B0E9-F505-9D40-8987-80A178CD7047}"/>
                </a:ext>
              </a:extLst>
            </p:cNvPr>
            <p:cNvSpPr>
              <a:spLocks noChangeArrowheads="1"/>
            </p:cNvSpPr>
            <p:nvPr/>
          </p:nvSpPr>
          <p:spPr bwMode="auto">
            <a:xfrm>
              <a:off x="2574630" y="5256222"/>
              <a:ext cx="183944" cy="129633"/>
            </a:xfrm>
            <a:custGeom>
              <a:avLst/>
              <a:gdLst>
                <a:gd name="T0" fmla="*/ 109 w 192"/>
                <a:gd name="T1" fmla="*/ 0 h 136"/>
                <a:gd name="T2" fmla="*/ 109 w 192"/>
                <a:gd name="T3" fmla="*/ 0 h 136"/>
                <a:gd name="T4" fmla="*/ 0 w 192"/>
                <a:gd name="T5" fmla="*/ 0 h 136"/>
                <a:gd name="T6" fmla="*/ 191 w 192"/>
                <a:gd name="T7" fmla="*/ 135 h 136"/>
                <a:gd name="T8" fmla="*/ 109 w 192"/>
                <a:gd name="T9" fmla="*/ 0 h 136"/>
              </a:gdLst>
              <a:ahLst/>
              <a:cxnLst>
                <a:cxn ang="0">
                  <a:pos x="T0" y="T1"/>
                </a:cxn>
                <a:cxn ang="0">
                  <a:pos x="T2" y="T3"/>
                </a:cxn>
                <a:cxn ang="0">
                  <a:pos x="T4" y="T5"/>
                </a:cxn>
                <a:cxn ang="0">
                  <a:pos x="T6" y="T7"/>
                </a:cxn>
                <a:cxn ang="0">
                  <a:pos x="T8" y="T9"/>
                </a:cxn>
              </a:cxnLst>
              <a:rect l="0" t="0" r="r" b="b"/>
              <a:pathLst>
                <a:path w="192" h="136">
                  <a:moveTo>
                    <a:pt x="109" y="0"/>
                  </a:moveTo>
                  <a:lnTo>
                    <a:pt x="109" y="0"/>
                  </a:lnTo>
                  <a:cubicBezTo>
                    <a:pt x="0" y="0"/>
                    <a:pt x="0" y="0"/>
                    <a:pt x="0" y="0"/>
                  </a:cubicBezTo>
                  <a:cubicBezTo>
                    <a:pt x="42" y="67"/>
                    <a:pt x="109" y="121"/>
                    <a:pt x="191" y="135"/>
                  </a:cubicBezTo>
                  <a:cubicBezTo>
                    <a:pt x="151" y="109"/>
                    <a:pt x="123" y="67"/>
                    <a:pt x="109"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4" name="Freeform 53">
              <a:extLst>
                <a:ext uri="{FF2B5EF4-FFF2-40B4-BE49-F238E27FC236}">
                  <a16:creationId xmlns:a16="http://schemas.microsoft.com/office/drawing/2014/main" id="{45410FB0-0D1A-F240-8E6A-05BEC972A8AA}"/>
                </a:ext>
              </a:extLst>
            </p:cNvPr>
            <p:cNvSpPr>
              <a:spLocks noChangeArrowheads="1"/>
            </p:cNvSpPr>
            <p:nvPr/>
          </p:nvSpPr>
          <p:spPr bwMode="auto">
            <a:xfrm>
              <a:off x="2900713" y="4766967"/>
              <a:ext cx="179762" cy="129630"/>
            </a:xfrm>
            <a:custGeom>
              <a:avLst/>
              <a:gdLst>
                <a:gd name="T0" fmla="*/ 95 w 191"/>
                <a:gd name="T1" fmla="*/ 136 h 137"/>
                <a:gd name="T2" fmla="*/ 95 w 191"/>
                <a:gd name="T3" fmla="*/ 136 h 137"/>
                <a:gd name="T4" fmla="*/ 190 w 191"/>
                <a:gd name="T5" fmla="*/ 136 h 137"/>
                <a:gd name="T6" fmla="*/ 0 w 191"/>
                <a:gd name="T7" fmla="*/ 0 h 137"/>
                <a:gd name="T8" fmla="*/ 95 w 191"/>
                <a:gd name="T9" fmla="*/ 136 h 137"/>
              </a:gdLst>
              <a:ahLst/>
              <a:cxnLst>
                <a:cxn ang="0">
                  <a:pos x="T0" y="T1"/>
                </a:cxn>
                <a:cxn ang="0">
                  <a:pos x="T2" y="T3"/>
                </a:cxn>
                <a:cxn ang="0">
                  <a:pos x="T4" y="T5"/>
                </a:cxn>
                <a:cxn ang="0">
                  <a:pos x="T6" y="T7"/>
                </a:cxn>
                <a:cxn ang="0">
                  <a:pos x="T8" y="T9"/>
                </a:cxn>
              </a:cxnLst>
              <a:rect l="0" t="0" r="r" b="b"/>
              <a:pathLst>
                <a:path w="191" h="137">
                  <a:moveTo>
                    <a:pt x="95" y="136"/>
                  </a:moveTo>
                  <a:lnTo>
                    <a:pt x="95" y="136"/>
                  </a:lnTo>
                  <a:cubicBezTo>
                    <a:pt x="190" y="136"/>
                    <a:pt x="190" y="136"/>
                    <a:pt x="190" y="136"/>
                  </a:cubicBezTo>
                  <a:cubicBezTo>
                    <a:pt x="150" y="82"/>
                    <a:pt x="81" y="28"/>
                    <a:pt x="0" y="0"/>
                  </a:cubicBezTo>
                  <a:cubicBezTo>
                    <a:pt x="41" y="28"/>
                    <a:pt x="67" y="82"/>
                    <a:pt x="95" y="136"/>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5" name="Freeform 54">
              <a:extLst>
                <a:ext uri="{FF2B5EF4-FFF2-40B4-BE49-F238E27FC236}">
                  <a16:creationId xmlns:a16="http://schemas.microsoft.com/office/drawing/2014/main" id="{2002D129-F9CC-AB4A-A22C-DE08F8BE54F7}"/>
                </a:ext>
              </a:extLst>
            </p:cNvPr>
            <p:cNvSpPr>
              <a:spLocks noChangeArrowheads="1"/>
            </p:cNvSpPr>
            <p:nvPr/>
          </p:nvSpPr>
          <p:spPr bwMode="auto">
            <a:xfrm>
              <a:off x="2900713" y="5256222"/>
              <a:ext cx="179762" cy="129633"/>
            </a:xfrm>
            <a:custGeom>
              <a:avLst/>
              <a:gdLst>
                <a:gd name="T0" fmla="*/ 95 w 191"/>
                <a:gd name="T1" fmla="*/ 0 h 136"/>
                <a:gd name="T2" fmla="*/ 95 w 191"/>
                <a:gd name="T3" fmla="*/ 0 h 136"/>
                <a:gd name="T4" fmla="*/ 0 w 191"/>
                <a:gd name="T5" fmla="*/ 135 h 136"/>
                <a:gd name="T6" fmla="*/ 190 w 191"/>
                <a:gd name="T7" fmla="*/ 0 h 136"/>
                <a:gd name="T8" fmla="*/ 95 w 191"/>
                <a:gd name="T9" fmla="*/ 0 h 136"/>
              </a:gdLst>
              <a:ahLst/>
              <a:cxnLst>
                <a:cxn ang="0">
                  <a:pos x="T0" y="T1"/>
                </a:cxn>
                <a:cxn ang="0">
                  <a:pos x="T2" y="T3"/>
                </a:cxn>
                <a:cxn ang="0">
                  <a:pos x="T4" y="T5"/>
                </a:cxn>
                <a:cxn ang="0">
                  <a:pos x="T6" y="T7"/>
                </a:cxn>
                <a:cxn ang="0">
                  <a:pos x="T8" y="T9"/>
                </a:cxn>
              </a:cxnLst>
              <a:rect l="0" t="0" r="r" b="b"/>
              <a:pathLst>
                <a:path w="191" h="136">
                  <a:moveTo>
                    <a:pt x="95" y="0"/>
                  </a:moveTo>
                  <a:lnTo>
                    <a:pt x="95" y="0"/>
                  </a:lnTo>
                  <a:cubicBezTo>
                    <a:pt x="67" y="67"/>
                    <a:pt x="41" y="109"/>
                    <a:pt x="0" y="135"/>
                  </a:cubicBezTo>
                  <a:cubicBezTo>
                    <a:pt x="81" y="121"/>
                    <a:pt x="150" y="67"/>
                    <a:pt x="190" y="0"/>
                  </a:cubicBezTo>
                  <a:lnTo>
                    <a:pt x="95" y="0"/>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6" name="Freeform 55">
              <a:extLst>
                <a:ext uri="{FF2B5EF4-FFF2-40B4-BE49-F238E27FC236}">
                  <a16:creationId xmlns:a16="http://schemas.microsoft.com/office/drawing/2014/main" id="{AC376C00-C874-1242-A3F3-EC0F7AD15BAD}"/>
                </a:ext>
              </a:extLst>
            </p:cNvPr>
            <p:cNvSpPr>
              <a:spLocks noChangeArrowheads="1"/>
            </p:cNvSpPr>
            <p:nvPr/>
          </p:nvSpPr>
          <p:spPr bwMode="auto">
            <a:xfrm>
              <a:off x="3001048" y="4921688"/>
              <a:ext cx="142140" cy="142175"/>
            </a:xfrm>
            <a:custGeom>
              <a:avLst/>
              <a:gdLst>
                <a:gd name="T0" fmla="*/ 95 w 150"/>
                <a:gd name="T1" fmla="*/ 14 h 151"/>
                <a:gd name="T2" fmla="*/ 95 w 150"/>
                <a:gd name="T3" fmla="*/ 14 h 151"/>
                <a:gd name="T4" fmla="*/ 0 w 150"/>
                <a:gd name="T5" fmla="*/ 14 h 151"/>
                <a:gd name="T6" fmla="*/ 14 w 150"/>
                <a:gd name="T7" fmla="*/ 150 h 151"/>
                <a:gd name="T8" fmla="*/ 149 w 150"/>
                <a:gd name="T9" fmla="*/ 150 h 151"/>
                <a:gd name="T10" fmla="*/ 109 w 150"/>
                <a:gd name="T11" fmla="*/ 0 h 151"/>
                <a:gd name="T12" fmla="*/ 95 w 150"/>
                <a:gd name="T13" fmla="*/ 14 h 151"/>
              </a:gdLst>
              <a:ahLst/>
              <a:cxnLst>
                <a:cxn ang="0">
                  <a:pos x="T0" y="T1"/>
                </a:cxn>
                <a:cxn ang="0">
                  <a:pos x="T2" y="T3"/>
                </a:cxn>
                <a:cxn ang="0">
                  <a:pos x="T4" y="T5"/>
                </a:cxn>
                <a:cxn ang="0">
                  <a:pos x="T6" y="T7"/>
                </a:cxn>
                <a:cxn ang="0">
                  <a:pos x="T8" y="T9"/>
                </a:cxn>
                <a:cxn ang="0">
                  <a:pos x="T10" y="T11"/>
                </a:cxn>
                <a:cxn ang="0">
                  <a:pos x="T12" y="T13"/>
                </a:cxn>
              </a:cxnLst>
              <a:rect l="0" t="0" r="r" b="b"/>
              <a:pathLst>
                <a:path w="150" h="151">
                  <a:moveTo>
                    <a:pt x="95" y="14"/>
                  </a:moveTo>
                  <a:lnTo>
                    <a:pt x="95" y="14"/>
                  </a:lnTo>
                  <a:cubicBezTo>
                    <a:pt x="0" y="14"/>
                    <a:pt x="0" y="14"/>
                    <a:pt x="0" y="14"/>
                  </a:cubicBezTo>
                  <a:cubicBezTo>
                    <a:pt x="0" y="54"/>
                    <a:pt x="14" y="96"/>
                    <a:pt x="14" y="150"/>
                  </a:cubicBezTo>
                  <a:cubicBezTo>
                    <a:pt x="149" y="150"/>
                    <a:pt x="149" y="150"/>
                    <a:pt x="149" y="150"/>
                  </a:cubicBezTo>
                  <a:cubicBezTo>
                    <a:pt x="149" y="96"/>
                    <a:pt x="122" y="54"/>
                    <a:pt x="109" y="0"/>
                  </a:cubicBezTo>
                  <a:lnTo>
                    <a:pt x="95" y="14"/>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7" name="Freeform 56">
              <a:extLst>
                <a:ext uri="{FF2B5EF4-FFF2-40B4-BE49-F238E27FC236}">
                  <a16:creationId xmlns:a16="http://schemas.microsoft.com/office/drawing/2014/main" id="{3D85DC60-46E9-4144-B3D7-6850758A2D69}"/>
                </a:ext>
              </a:extLst>
            </p:cNvPr>
            <p:cNvSpPr>
              <a:spLocks noChangeArrowheads="1"/>
            </p:cNvSpPr>
            <p:nvPr/>
          </p:nvSpPr>
          <p:spPr bwMode="auto">
            <a:xfrm>
              <a:off x="2850546" y="5256222"/>
              <a:ext cx="117056" cy="129633"/>
            </a:xfrm>
            <a:custGeom>
              <a:avLst/>
              <a:gdLst>
                <a:gd name="T0" fmla="*/ 121 w 122"/>
                <a:gd name="T1" fmla="*/ 0 h 136"/>
                <a:gd name="T2" fmla="*/ 121 w 122"/>
                <a:gd name="T3" fmla="*/ 0 h 136"/>
                <a:gd name="T4" fmla="*/ 0 w 122"/>
                <a:gd name="T5" fmla="*/ 0 h 136"/>
                <a:gd name="T6" fmla="*/ 0 w 122"/>
                <a:gd name="T7" fmla="*/ 135 h 136"/>
                <a:gd name="T8" fmla="*/ 121 w 122"/>
                <a:gd name="T9" fmla="*/ 0 h 136"/>
              </a:gdLst>
              <a:ahLst/>
              <a:cxnLst>
                <a:cxn ang="0">
                  <a:pos x="T0" y="T1"/>
                </a:cxn>
                <a:cxn ang="0">
                  <a:pos x="T2" y="T3"/>
                </a:cxn>
                <a:cxn ang="0">
                  <a:pos x="T4" y="T5"/>
                </a:cxn>
                <a:cxn ang="0">
                  <a:pos x="T6" y="T7"/>
                </a:cxn>
                <a:cxn ang="0">
                  <a:pos x="T8" y="T9"/>
                </a:cxn>
              </a:cxnLst>
              <a:rect l="0" t="0" r="r" b="b"/>
              <a:pathLst>
                <a:path w="122" h="136">
                  <a:moveTo>
                    <a:pt x="121" y="0"/>
                  </a:moveTo>
                  <a:lnTo>
                    <a:pt x="121" y="0"/>
                  </a:lnTo>
                  <a:cubicBezTo>
                    <a:pt x="0" y="0"/>
                    <a:pt x="0" y="0"/>
                    <a:pt x="0" y="0"/>
                  </a:cubicBezTo>
                  <a:cubicBezTo>
                    <a:pt x="0" y="135"/>
                    <a:pt x="0" y="135"/>
                    <a:pt x="0" y="135"/>
                  </a:cubicBezTo>
                  <a:cubicBezTo>
                    <a:pt x="41" y="135"/>
                    <a:pt x="95" y="81"/>
                    <a:pt x="121"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8" name="Freeform 57">
              <a:extLst>
                <a:ext uri="{FF2B5EF4-FFF2-40B4-BE49-F238E27FC236}">
                  <a16:creationId xmlns:a16="http://schemas.microsoft.com/office/drawing/2014/main" id="{8F586F6E-F8DA-E54E-93FB-194FFF830985}"/>
                </a:ext>
              </a:extLst>
            </p:cNvPr>
            <p:cNvSpPr>
              <a:spLocks noChangeArrowheads="1"/>
            </p:cNvSpPr>
            <p:nvPr/>
          </p:nvSpPr>
          <p:spPr bwMode="auto">
            <a:xfrm>
              <a:off x="2850547" y="5088955"/>
              <a:ext cx="142140" cy="142175"/>
            </a:xfrm>
            <a:custGeom>
              <a:avLst/>
              <a:gdLst>
                <a:gd name="T0" fmla="*/ 0 w 150"/>
                <a:gd name="T1" fmla="*/ 0 h 150"/>
                <a:gd name="T2" fmla="*/ 0 w 150"/>
                <a:gd name="T3" fmla="*/ 0 h 150"/>
                <a:gd name="T4" fmla="*/ 0 w 150"/>
                <a:gd name="T5" fmla="*/ 149 h 150"/>
                <a:gd name="T6" fmla="*/ 121 w 150"/>
                <a:gd name="T7" fmla="*/ 149 h 150"/>
                <a:gd name="T8" fmla="*/ 149 w 150"/>
                <a:gd name="T9" fmla="*/ 0 h 150"/>
                <a:gd name="T10" fmla="*/ 0 w 150"/>
                <a:gd name="T11" fmla="*/ 0 h 150"/>
              </a:gdLst>
              <a:ahLst/>
              <a:cxnLst>
                <a:cxn ang="0">
                  <a:pos x="T0" y="T1"/>
                </a:cxn>
                <a:cxn ang="0">
                  <a:pos x="T2" y="T3"/>
                </a:cxn>
                <a:cxn ang="0">
                  <a:pos x="T4" y="T5"/>
                </a:cxn>
                <a:cxn ang="0">
                  <a:pos x="T6" y="T7"/>
                </a:cxn>
                <a:cxn ang="0">
                  <a:pos x="T8" y="T9"/>
                </a:cxn>
                <a:cxn ang="0">
                  <a:pos x="T10" y="T11"/>
                </a:cxn>
              </a:cxnLst>
              <a:rect l="0" t="0" r="r" b="b"/>
              <a:pathLst>
                <a:path w="150" h="150">
                  <a:moveTo>
                    <a:pt x="0" y="0"/>
                  </a:moveTo>
                  <a:lnTo>
                    <a:pt x="0" y="0"/>
                  </a:lnTo>
                  <a:cubicBezTo>
                    <a:pt x="0" y="149"/>
                    <a:pt x="0" y="149"/>
                    <a:pt x="0" y="149"/>
                  </a:cubicBezTo>
                  <a:cubicBezTo>
                    <a:pt x="121" y="149"/>
                    <a:pt x="121" y="149"/>
                    <a:pt x="121" y="149"/>
                  </a:cubicBezTo>
                  <a:cubicBezTo>
                    <a:pt x="135" y="109"/>
                    <a:pt x="149" y="54"/>
                    <a:pt x="149" y="0"/>
                  </a:cubicBezTo>
                  <a:lnTo>
                    <a:pt x="0" y="0"/>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59" name="Freeform 58">
              <a:extLst>
                <a:ext uri="{FF2B5EF4-FFF2-40B4-BE49-F238E27FC236}">
                  <a16:creationId xmlns:a16="http://schemas.microsoft.com/office/drawing/2014/main" id="{E20A30A8-1CB8-DF4A-B1E1-DF7295251237}"/>
                </a:ext>
              </a:extLst>
            </p:cNvPr>
            <p:cNvSpPr>
              <a:spLocks noChangeArrowheads="1"/>
            </p:cNvSpPr>
            <p:nvPr/>
          </p:nvSpPr>
          <p:spPr bwMode="auto">
            <a:xfrm>
              <a:off x="2704225" y="5256222"/>
              <a:ext cx="117056" cy="129633"/>
            </a:xfrm>
            <a:custGeom>
              <a:avLst/>
              <a:gdLst>
                <a:gd name="T0" fmla="*/ 122 w 123"/>
                <a:gd name="T1" fmla="*/ 135 h 136"/>
                <a:gd name="T2" fmla="*/ 122 w 123"/>
                <a:gd name="T3" fmla="*/ 135 h 136"/>
                <a:gd name="T4" fmla="*/ 122 w 123"/>
                <a:gd name="T5" fmla="*/ 0 h 136"/>
                <a:gd name="T6" fmla="*/ 0 w 123"/>
                <a:gd name="T7" fmla="*/ 0 h 136"/>
                <a:gd name="T8" fmla="*/ 122 w 123"/>
                <a:gd name="T9" fmla="*/ 135 h 136"/>
              </a:gdLst>
              <a:ahLst/>
              <a:cxnLst>
                <a:cxn ang="0">
                  <a:pos x="T0" y="T1"/>
                </a:cxn>
                <a:cxn ang="0">
                  <a:pos x="T2" y="T3"/>
                </a:cxn>
                <a:cxn ang="0">
                  <a:pos x="T4" y="T5"/>
                </a:cxn>
                <a:cxn ang="0">
                  <a:pos x="T6" y="T7"/>
                </a:cxn>
                <a:cxn ang="0">
                  <a:pos x="T8" y="T9"/>
                </a:cxn>
              </a:cxnLst>
              <a:rect l="0" t="0" r="r" b="b"/>
              <a:pathLst>
                <a:path w="123" h="136">
                  <a:moveTo>
                    <a:pt x="122" y="135"/>
                  </a:moveTo>
                  <a:lnTo>
                    <a:pt x="122" y="135"/>
                  </a:lnTo>
                  <a:cubicBezTo>
                    <a:pt x="122" y="0"/>
                    <a:pt x="122" y="0"/>
                    <a:pt x="122" y="0"/>
                  </a:cubicBezTo>
                  <a:cubicBezTo>
                    <a:pt x="0" y="0"/>
                    <a:pt x="0" y="0"/>
                    <a:pt x="0" y="0"/>
                  </a:cubicBezTo>
                  <a:cubicBezTo>
                    <a:pt x="26" y="81"/>
                    <a:pt x="68" y="135"/>
                    <a:pt x="122" y="135"/>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grpSp>
      <p:sp>
        <p:nvSpPr>
          <p:cNvPr id="60" name="Freeform 182">
            <a:extLst>
              <a:ext uri="{FF2B5EF4-FFF2-40B4-BE49-F238E27FC236}">
                <a16:creationId xmlns:a16="http://schemas.microsoft.com/office/drawing/2014/main" id="{1901AE04-F80C-6245-823C-35994885E114}"/>
              </a:ext>
            </a:extLst>
          </p:cNvPr>
          <p:cNvSpPr>
            <a:spLocks noChangeArrowheads="1"/>
          </p:cNvSpPr>
          <p:nvPr userDrawn="1"/>
        </p:nvSpPr>
        <p:spPr bwMode="auto">
          <a:xfrm>
            <a:off x="4237872" y="1765769"/>
            <a:ext cx="458165" cy="458285"/>
          </a:xfrm>
          <a:custGeom>
            <a:avLst/>
            <a:gdLst>
              <a:gd name="T0" fmla="*/ 653 w 654"/>
              <a:gd name="T1" fmla="*/ 0 h 654"/>
              <a:gd name="T2" fmla="*/ 0 w 654"/>
              <a:gd name="T3" fmla="*/ 14 h 654"/>
              <a:gd name="T4" fmla="*/ 0 w 654"/>
              <a:gd name="T5" fmla="*/ 653 h 654"/>
              <a:gd name="T6" fmla="*/ 272 w 654"/>
              <a:gd name="T7" fmla="*/ 653 h 654"/>
              <a:gd name="T8" fmla="*/ 380 w 654"/>
              <a:gd name="T9" fmla="*/ 450 h 654"/>
              <a:gd name="T10" fmla="*/ 380 w 654"/>
              <a:gd name="T11" fmla="*/ 653 h 654"/>
              <a:gd name="T12" fmla="*/ 653 w 654"/>
              <a:gd name="T13" fmla="*/ 653 h 654"/>
              <a:gd name="T14" fmla="*/ 653 w 654"/>
              <a:gd name="T15" fmla="*/ 0 h 654"/>
              <a:gd name="T16" fmla="*/ 177 w 654"/>
              <a:gd name="T17" fmla="*/ 450 h 654"/>
              <a:gd name="T18" fmla="*/ 81 w 654"/>
              <a:gd name="T19" fmla="*/ 558 h 654"/>
              <a:gd name="T20" fmla="*/ 177 w 654"/>
              <a:gd name="T21" fmla="*/ 450 h 654"/>
              <a:gd name="T22" fmla="*/ 81 w 654"/>
              <a:gd name="T23" fmla="*/ 368 h 654"/>
              <a:gd name="T24" fmla="*/ 177 w 654"/>
              <a:gd name="T25" fmla="*/ 259 h 654"/>
              <a:gd name="T26" fmla="*/ 81 w 654"/>
              <a:gd name="T27" fmla="*/ 368 h 654"/>
              <a:gd name="T28" fmla="*/ 81 w 654"/>
              <a:gd name="T29" fmla="*/ 177 h 654"/>
              <a:gd name="T30" fmla="*/ 177 w 654"/>
              <a:gd name="T31" fmla="*/ 68 h 654"/>
              <a:gd name="T32" fmla="*/ 81 w 654"/>
              <a:gd name="T33" fmla="*/ 177 h 654"/>
              <a:gd name="T34" fmla="*/ 380 w 654"/>
              <a:gd name="T35" fmla="*/ 259 h 654"/>
              <a:gd name="T36" fmla="*/ 272 w 654"/>
              <a:gd name="T37" fmla="*/ 368 h 654"/>
              <a:gd name="T38" fmla="*/ 380 w 654"/>
              <a:gd name="T39" fmla="*/ 259 h 654"/>
              <a:gd name="T40" fmla="*/ 272 w 654"/>
              <a:gd name="T41" fmla="*/ 177 h 654"/>
              <a:gd name="T42" fmla="*/ 380 w 654"/>
              <a:gd name="T43" fmla="*/ 68 h 654"/>
              <a:gd name="T44" fmla="*/ 272 w 654"/>
              <a:gd name="T45" fmla="*/ 177 h 654"/>
              <a:gd name="T46" fmla="*/ 571 w 654"/>
              <a:gd name="T47" fmla="*/ 450 h 654"/>
              <a:gd name="T48" fmla="*/ 476 w 654"/>
              <a:gd name="T49" fmla="*/ 558 h 654"/>
              <a:gd name="T50" fmla="*/ 571 w 654"/>
              <a:gd name="T51" fmla="*/ 450 h 654"/>
              <a:gd name="T52" fmla="*/ 476 w 654"/>
              <a:gd name="T53" fmla="*/ 368 h 654"/>
              <a:gd name="T54" fmla="*/ 571 w 654"/>
              <a:gd name="T55" fmla="*/ 259 h 654"/>
              <a:gd name="T56" fmla="*/ 476 w 654"/>
              <a:gd name="T57" fmla="*/ 368 h 654"/>
              <a:gd name="T58" fmla="*/ 476 w 654"/>
              <a:gd name="T59" fmla="*/ 177 h 654"/>
              <a:gd name="T60" fmla="*/ 571 w 654"/>
              <a:gd name="T61" fmla="*/ 68 h 654"/>
              <a:gd name="T62" fmla="*/ 476 w 654"/>
              <a:gd name="T63" fmla="*/ 177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54" h="654">
                <a:moveTo>
                  <a:pt x="653" y="0"/>
                </a:moveTo>
                <a:lnTo>
                  <a:pt x="653" y="0"/>
                </a:lnTo>
                <a:cubicBezTo>
                  <a:pt x="0" y="0"/>
                  <a:pt x="0" y="0"/>
                  <a:pt x="0" y="0"/>
                </a:cubicBezTo>
                <a:cubicBezTo>
                  <a:pt x="0" y="0"/>
                  <a:pt x="0" y="0"/>
                  <a:pt x="0" y="14"/>
                </a:cubicBezTo>
                <a:cubicBezTo>
                  <a:pt x="0" y="653"/>
                  <a:pt x="0" y="653"/>
                  <a:pt x="0" y="653"/>
                </a:cubicBezTo>
                <a:lnTo>
                  <a:pt x="0" y="653"/>
                </a:lnTo>
                <a:cubicBezTo>
                  <a:pt x="272" y="653"/>
                  <a:pt x="272" y="653"/>
                  <a:pt x="272" y="653"/>
                </a:cubicBezTo>
                <a:lnTo>
                  <a:pt x="272" y="653"/>
                </a:lnTo>
                <a:cubicBezTo>
                  <a:pt x="272" y="450"/>
                  <a:pt x="272" y="450"/>
                  <a:pt x="272" y="450"/>
                </a:cubicBezTo>
                <a:cubicBezTo>
                  <a:pt x="380" y="450"/>
                  <a:pt x="380" y="450"/>
                  <a:pt x="380" y="450"/>
                </a:cubicBezTo>
                <a:cubicBezTo>
                  <a:pt x="380" y="653"/>
                  <a:pt x="380" y="653"/>
                  <a:pt x="380" y="653"/>
                </a:cubicBezTo>
                <a:lnTo>
                  <a:pt x="380" y="653"/>
                </a:lnTo>
                <a:cubicBezTo>
                  <a:pt x="653" y="653"/>
                  <a:pt x="653" y="653"/>
                  <a:pt x="653" y="653"/>
                </a:cubicBezTo>
                <a:lnTo>
                  <a:pt x="653" y="653"/>
                </a:lnTo>
                <a:cubicBezTo>
                  <a:pt x="653" y="14"/>
                  <a:pt x="653" y="14"/>
                  <a:pt x="653" y="14"/>
                </a:cubicBezTo>
                <a:cubicBezTo>
                  <a:pt x="653" y="0"/>
                  <a:pt x="653" y="0"/>
                  <a:pt x="653" y="0"/>
                </a:cubicBezTo>
                <a:close/>
                <a:moveTo>
                  <a:pt x="177" y="450"/>
                </a:moveTo>
                <a:lnTo>
                  <a:pt x="177" y="450"/>
                </a:lnTo>
                <a:cubicBezTo>
                  <a:pt x="177" y="558"/>
                  <a:pt x="177" y="558"/>
                  <a:pt x="177" y="558"/>
                </a:cubicBezTo>
                <a:cubicBezTo>
                  <a:pt x="81" y="558"/>
                  <a:pt x="81" y="558"/>
                  <a:pt x="81" y="558"/>
                </a:cubicBezTo>
                <a:cubicBezTo>
                  <a:pt x="81" y="450"/>
                  <a:pt x="81" y="450"/>
                  <a:pt x="81" y="450"/>
                </a:cubicBezTo>
                <a:lnTo>
                  <a:pt x="177" y="450"/>
                </a:lnTo>
                <a:close/>
                <a:moveTo>
                  <a:pt x="81" y="368"/>
                </a:moveTo>
                <a:lnTo>
                  <a:pt x="81" y="368"/>
                </a:lnTo>
                <a:cubicBezTo>
                  <a:pt x="81" y="259"/>
                  <a:pt x="81" y="259"/>
                  <a:pt x="81" y="259"/>
                </a:cubicBezTo>
                <a:cubicBezTo>
                  <a:pt x="177" y="259"/>
                  <a:pt x="177" y="259"/>
                  <a:pt x="177" y="259"/>
                </a:cubicBezTo>
                <a:cubicBezTo>
                  <a:pt x="177" y="368"/>
                  <a:pt x="177" y="368"/>
                  <a:pt x="177" y="368"/>
                </a:cubicBezTo>
                <a:lnTo>
                  <a:pt x="81" y="368"/>
                </a:lnTo>
                <a:close/>
                <a:moveTo>
                  <a:pt x="81" y="177"/>
                </a:moveTo>
                <a:lnTo>
                  <a:pt x="81" y="177"/>
                </a:lnTo>
                <a:cubicBezTo>
                  <a:pt x="81" y="68"/>
                  <a:pt x="81" y="68"/>
                  <a:pt x="81" y="68"/>
                </a:cubicBezTo>
                <a:cubicBezTo>
                  <a:pt x="177" y="68"/>
                  <a:pt x="177" y="68"/>
                  <a:pt x="177" y="68"/>
                </a:cubicBezTo>
                <a:cubicBezTo>
                  <a:pt x="177" y="177"/>
                  <a:pt x="177" y="177"/>
                  <a:pt x="177" y="177"/>
                </a:cubicBezTo>
                <a:lnTo>
                  <a:pt x="81" y="177"/>
                </a:lnTo>
                <a:close/>
                <a:moveTo>
                  <a:pt x="380" y="259"/>
                </a:moveTo>
                <a:lnTo>
                  <a:pt x="380" y="259"/>
                </a:lnTo>
                <a:cubicBezTo>
                  <a:pt x="380" y="368"/>
                  <a:pt x="380" y="368"/>
                  <a:pt x="380" y="368"/>
                </a:cubicBezTo>
                <a:cubicBezTo>
                  <a:pt x="272" y="368"/>
                  <a:pt x="272" y="368"/>
                  <a:pt x="272" y="368"/>
                </a:cubicBezTo>
                <a:cubicBezTo>
                  <a:pt x="272" y="259"/>
                  <a:pt x="272" y="259"/>
                  <a:pt x="272" y="259"/>
                </a:cubicBezTo>
                <a:lnTo>
                  <a:pt x="380" y="259"/>
                </a:lnTo>
                <a:close/>
                <a:moveTo>
                  <a:pt x="272" y="177"/>
                </a:moveTo>
                <a:lnTo>
                  <a:pt x="272" y="177"/>
                </a:lnTo>
                <a:cubicBezTo>
                  <a:pt x="272" y="68"/>
                  <a:pt x="272" y="68"/>
                  <a:pt x="272" y="68"/>
                </a:cubicBezTo>
                <a:cubicBezTo>
                  <a:pt x="380" y="68"/>
                  <a:pt x="380" y="68"/>
                  <a:pt x="380" y="68"/>
                </a:cubicBezTo>
                <a:cubicBezTo>
                  <a:pt x="380" y="177"/>
                  <a:pt x="380" y="177"/>
                  <a:pt x="380" y="177"/>
                </a:cubicBezTo>
                <a:lnTo>
                  <a:pt x="272" y="177"/>
                </a:lnTo>
                <a:close/>
                <a:moveTo>
                  <a:pt x="571" y="450"/>
                </a:moveTo>
                <a:lnTo>
                  <a:pt x="571" y="450"/>
                </a:lnTo>
                <a:cubicBezTo>
                  <a:pt x="571" y="558"/>
                  <a:pt x="571" y="558"/>
                  <a:pt x="571" y="558"/>
                </a:cubicBezTo>
                <a:cubicBezTo>
                  <a:pt x="476" y="558"/>
                  <a:pt x="476" y="558"/>
                  <a:pt x="476" y="558"/>
                </a:cubicBezTo>
                <a:cubicBezTo>
                  <a:pt x="476" y="450"/>
                  <a:pt x="476" y="450"/>
                  <a:pt x="476" y="450"/>
                </a:cubicBezTo>
                <a:lnTo>
                  <a:pt x="571" y="450"/>
                </a:lnTo>
                <a:close/>
                <a:moveTo>
                  <a:pt x="476" y="368"/>
                </a:moveTo>
                <a:lnTo>
                  <a:pt x="476" y="368"/>
                </a:lnTo>
                <a:cubicBezTo>
                  <a:pt x="476" y="259"/>
                  <a:pt x="476" y="259"/>
                  <a:pt x="476" y="259"/>
                </a:cubicBezTo>
                <a:cubicBezTo>
                  <a:pt x="571" y="259"/>
                  <a:pt x="571" y="259"/>
                  <a:pt x="571" y="259"/>
                </a:cubicBezTo>
                <a:cubicBezTo>
                  <a:pt x="571" y="368"/>
                  <a:pt x="571" y="368"/>
                  <a:pt x="571" y="368"/>
                </a:cubicBezTo>
                <a:lnTo>
                  <a:pt x="476" y="368"/>
                </a:lnTo>
                <a:close/>
                <a:moveTo>
                  <a:pt x="476" y="177"/>
                </a:moveTo>
                <a:lnTo>
                  <a:pt x="476" y="177"/>
                </a:lnTo>
                <a:cubicBezTo>
                  <a:pt x="476" y="68"/>
                  <a:pt x="476" y="68"/>
                  <a:pt x="476" y="68"/>
                </a:cubicBezTo>
                <a:cubicBezTo>
                  <a:pt x="571" y="68"/>
                  <a:pt x="571" y="68"/>
                  <a:pt x="571" y="68"/>
                </a:cubicBezTo>
                <a:cubicBezTo>
                  <a:pt x="571" y="177"/>
                  <a:pt x="571" y="177"/>
                  <a:pt x="571" y="177"/>
                </a:cubicBezTo>
                <a:lnTo>
                  <a:pt x="476" y="177"/>
                </a:lnTo>
                <a:close/>
              </a:path>
            </a:pathLst>
          </a:custGeom>
          <a:solidFill>
            <a:schemeClr val="accent1"/>
          </a:solid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grpSp>
        <p:nvGrpSpPr>
          <p:cNvPr id="61" name="Group 60">
            <a:extLst>
              <a:ext uri="{FF2B5EF4-FFF2-40B4-BE49-F238E27FC236}">
                <a16:creationId xmlns:a16="http://schemas.microsoft.com/office/drawing/2014/main" id="{1E66979B-18D9-404C-9E53-CE6231E8FAE0}"/>
              </a:ext>
            </a:extLst>
          </p:cNvPr>
          <p:cNvGrpSpPr/>
          <p:nvPr userDrawn="1"/>
        </p:nvGrpSpPr>
        <p:grpSpPr>
          <a:xfrm>
            <a:off x="5882068" y="1764218"/>
            <a:ext cx="439591" cy="461387"/>
            <a:chOff x="6550342" y="10834538"/>
            <a:chExt cx="593638" cy="623070"/>
          </a:xfrm>
          <a:solidFill>
            <a:schemeClr val="accent1"/>
          </a:solidFill>
        </p:grpSpPr>
        <p:sp>
          <p:nvSpPr>
            <p:cNvPr id="62" name="Freeform 220">
              <a:extLst>
                <a:ext uri="{FF2B5EF4-FFF2-40B4-BE49-F238E27FC236}">
                  <a16:creationId xmlns:a16="http://schemas.microsoft.com/office/drawing/2014/main" id="{324DB5E5-C524-7444-A013-5B676DE27248}"/>
                </a:ext>
              </a:extLst>
            </p:cNvPr>
            <p:cNvSpPr>
              <a:spLocks noChangeArrowheads="1"/>
            </p:cNvSpPr>
            <p:nvPr/>
          </p:nvSpPr>
          <p:spPr bwMode="auto">
            <a:xfrm>
              <a:off x="6550342" y="10834540"/>
              <a:ext cx="209028" cy="401438"/>
            </a:xfrm>
            <a:custGeom>
              <a:avLst/>
              <a:gdLst>
                <a:gd name="T0" fmla="*/ 218 w 219"/>
                <a:gd name="T1" fmla="*/ 136 h 423"/>
                <a:gd name="T2" fmla="*/ 218 w 219"/>
                <a:gd name="T3" fmla="*/ 136 h 423"/>
                <a:gd name="T4" fmla="*/ 54 w 219"/>
                <a:gd name="T5" fmla="*/ 0 h 423"/>
                <a:gd name="T6" fmla="*/ 0 w 219"/>
                <a:gd name="T7" fmla="*/ 0 h 423"/>
                <a:gd name="T8" fmla="*/ 0 w 219"/>
                <a:gd name="T9" fmla="*/ 422 h 423"/>
                <a:gd name="T10" fmla="*/ 41 w 219"/>
                <a:gd name="T11" fmla="*/ 381 h 423"/>
                <a:gd name="T12" fmla="*/ 54 w 219"/>
                <a:gd name="T13" fmla="*/ 381 h 423"/>
                <a:gd name="T14" fmla="*/ 218 w 219"/>
                <a:gd name="T15" fmla="*/ 163 h 423"/>
                <a:gd name="T16" fmla="*/ 218 w 219"/>
                <a:gd name="T17" fmla="*/ 136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9" h="423">
                  <a:moveTo>
                    <a:pt x="218" y="136"/>
                  </a:moveTo>
                  <a:lnTo>
                    <a:pt x="218" y="136"/>
                  </a:lnTo>
                  <a:cubicBezTo>
                    <a:pt x="54" y="0"/>
                    <a:pt x="54" y="0"/>
                    <a:pt x="54" y="0"/>
                  </a:cubicBezTo>
                  <a:cubicBezTo>
                    <a:pt x="0" y="0"/>
                    <a:pt x="0" y="0"/>
                    <a:pt x="0" y="0"/>
                  </a:cubicBezTo>
                  <a:cubicBezTo>
                    <a:pt x="0" y="422"/>
                    <a:pt x="0" y="422"/>
                    <a:pt x="0" y="422"/>
                  </a:cubicBezTo>
                  <a:cubicBezTo>
                    <a:pt x="41" y="381"/>
                    <a:pt x="41" y="381"/>
                    <a:pt x="41" y="381"/>
                  </a:cubicBezTo>
                  <a:cubicBezTo>
                    <a:pt x="41" y="381"/>
                    <a:pt x="41" y="381"/>
                    <a:pt x="54" y="381"/>
                  </a:cubicBezTo>
                  <a:cubicBezTo>
                    <a:pt x="218" y="163"/>
                    <a:pt x="218" y="163"/>
                    <a:pt x="218" y="163"/>
                  </a:cubicBezTo>
                  <a:lnTo>
                    <a:pt x="218" y="136"/>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63" name="Freeform 221">
              <a:extLst>
                <a:ext uri="{FF2B5EF4-FFF2-40B4-BE49-F238E27FC236}">
                  <a16:creationId xmlns:a16="http://schemas.microsoft.com/office/drawing/2014/main" id="{C6B3F5A7-6487-C64B-8A69-89B5930CBD13}"/>
                </a:ext>
              </a:extLst>
            </p:cNvPr>
            <p:cNvSpPr>
              <a:spLocks noChangeArrowheads="1"/>
            </p:cNvSpPr>
            <p:nvPr/>
          </p:nvSpPr>
          <p:spPr bwMode="auto">
            <a:xfrm>
              <a:off x="6654855" y="11311249"/>
              <a:ext cx="50167" cy="37636"/>
            </a:xfrm>
            <a:custGeom>
              <a:avLst/>
              <a:gdLst>
                <a:gd name="T0" fmla="*/ 26 w 55"/>
                <a:gd name="T1" fmla="*/ 0 h 41"/>
                <a:gd name="T2" fmla="*/ 26 w 55"/>
                <a:gd name="T3" fmla="*/ 0 h 41"/>
                <a:gd name="T4" fmla="*/ 12 w 55"/>
                <a:gd name="T5" fmla="*/ 0 h 41"/>
                <a:gd name="T6" fmla="*/ 12 w 55"/>
                <a:gd name="T7" fmla="*/ 27 h 41"/>
                <a:gd name="T8" fmla="*/ 40 w 55"/>
                <a:gd name="T9" fmla="*/ 27 h 41"/>
                <a:gd name="T10" fmla="*/ 40 w 55"/>
                <a:gd name="T11" fmla="*/ 0 h 41"/>
                <a:gd name="T12" fmla="*/ 26 w 55"/>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55" h="41">
                  <a:moveTo>
                    <a:pt x="26" y="0"/>
                  </a:moveTo>
                  <a:lnTo>
                    <a:pt x="26" y="0"/>
                  </a:lnTo>
                  <a:lnTo>
                    <a:pt x="12" y="0"/>
                  </a:lnTo>
                  <a:cubicBezTo>
                    <a:pt x="0" y="12"/>
                    <a:pt x="12" y="27"/>
                    <a:pt x="12" y="27"/>
                  </a:cubicBezTo>
                  <a:cubicBezTo>
                    <a:pt x="26" y="40"/>
                    <a:pt x="40" y="40"/>
                    <a:pt x="40" y="27"/>
                  </a:cubicBezTo>
                  <a:cubicBezTo>
                    <a:pt x="54" y="12"/>
                    <a:pt x="54" y="0"/>
                    <a:pt x="40" y="0"/>
                  </a:cubicBezTo>
                  <a:cubicBezTo>
                    <a:pt x="40" y="0"/>
                    <a:pt x="40" y="0"/>
                    <a:pt x="26"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64" name="Freeform 222">
              <a:extLst>
                <a:ext uri="{FF2B5EF4-FFF2-40B4-BE49-F238E27FC236}">
                  <a16:creationId xmlns:a16="http://schemas.microsoft.com/office/drawing/2014/main" id="{435E6008-5F9E-B44D-9360-A5D2B7FDBBC1}"/>
                </a:ext>
              </a:extLst>
            </p:cNvPr>
            <p:cNvSpPr>
              <a:spLocks noChangeArrowheads="1"/>
            </p:cNvSpPr>
            <p:nvPr/>
          </p:nvSpPr>
          <p:spPr bwMode="auto">
            <a:xfrm>
              <a:off x="6604690" y="11261068"/>
              <a:ext cx="54346" cy="54363"/>
            </a:xfrm>
            <a:custGeom>
              <a:avLst/>
              <a:gdLst>
                <a:gd name="T0" fmla="*/ 28 w 57"/>
                <a:gd name="T1" fmla="*/ 0 h 56"/>
                <a:gd name="T2" fmla="*/ 28 w 57"/>
                <a:gd name="T3" fmla="*/ 0 h 56"/>
                <a:gd name="T4" fmla="*/ 14 w 57"/>
                <a:gd name="T5" fmla="*/ 13 h 56"/>
                <a:gd name="T6" fmla="*/ 14 w 57"/>
                <a:gd name="T7" fmla="*/ 41 h 56"/>
                <a:gd name="T8" fmla="*/ 42 w 57"/>
                <a:gd name="T9" fmla="*/ 41 h 56"/>
                <a:gd name="T10" fmla="*/ 42 w 57"/>
                <a:gd name="T11" fmla="*/ 13 h 56"/>
                <a:gd name="T12" fmla="*/ 28 w 57"/>
                <a:gd name="T13" fmla="*/ 0 h 56"/>
              </a:gdLst>
              <a:ahLst/>
              <a:cxnLst>
                <a:cxn ang="0">
                  <a:pos x="T0" y="T1"/>
                </a:cxn>
                <a:cxn ang="0">
                  <a:pos x="T2" y="T3"/>
                </a:cxn>
                <a:cxn ang="0">
                  <a:pos x="T4" y="T5"/>
                </a:cxn>
                <a:cxn ang="0">
                  <a:pos x="T6" y="T7"/>
                </a:cxn>
                <a:cxn ang="0">
                  <a:pos x="T8" y="T9"/>
                </a:cxn>
                <a:cxn ang="0">
                  <a:pos x="T10" y="T11"/>
                </a:cxn>
                <a:cxn ang="0">
                  <a:pos x="T12" y="T13"/>
                </a:cxn>
              </a:cxnLst>
              <a:rect l="0" t="0" r="r" b="b"/>
              <a:pathLst>
                <a:path w="57" h="56">
                  <a:moveTo>
                    <a:pt x="28" y="0"/>
                  </a:moveTo>
                  <a:lnTo>
                    <a:pt x="28" y="0"/>
                  </a:lnTo>
                  <a:lnTo>
                    <a:pt x="14" y="13"/>
                  </a:lnTo>
                  <a:cubicBezTo>
                    <a:pt x="0" y="27"/>
                    <a:pt x="14" y="41"/>
                    <a:pt x="14" y="41"/>
                  </a:cubicBezTo>
                  <a:cubicBezTo>
                    <a:pt x="28" y="55"/>
                    <a:pt x="42" y="55"/>
                    <a:pt x="42" y="41"/>
                  </a:cubicBezTo>
                  <a:cubicBezTo>
                    <a:pt x="56" y="27"/>
                    <a:pt x="56" y="13"/>
                    <a:pt x="42" y="13"/>
                  </a:cubicBezTo>
                  <a:cubicBezTo>
                    <a:pt x="42" y="0"/>
                    <a:pt x="42" y="0"/>
                    <a:pt x="28"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65" name="Freeform 223">
              <a:extLst>
                <a:ext uri="{FF2B5EF4-FFF2-40B4-BE49-F238E27FC236}">
                  <a16:creationId xmlns:a16="http://schemas.microsoft.com/office/drawing/2014/main" id="{1D039FD5-8C5B-CC47-9CE1-3CBCFC7C39AA}"/>
                </a:ext>
              </a:extLst>
            </p:cNvPr>
            <p:cNvSpPr>
              <a:spLocks noChangeArrowheads="1"/>
            </p:cNvSpPr>
            <p:nvPr/>
          </p:nvSpPr>
          <p:spPr bwMode="auto">
            <a:xfrm>
              <a:off x="6964218" y="10834538"/>
              <a:ext cx="179762" cy="334532"/>
            </a:xfrm>
            <a:custGeom>
              <a:avLst/>
              <a:gdLst>
                <a:gd name="T0" fmla="*/ 108 w 191"/>
                <a:gd name="T1" fmla="*/ 0 h 354"/>
                <a:gd name="T2" fmla="*/ 0 w 191"/>
                <a:gd name="T3" fmla="*/ 122 h 354"/>
                <a:gd name="T4" fmla="*/ 190 w 191"/>
                <a:gd name="T5" fmla="*/ 353 h 354"/>
                <a:gd name="T6" fmla="*/ 190 w 191"/>
                <a:gd name="T7" fmla="*/ 0 h 354"/>
                <a:gd name="T8" fmla="*/ 108 w 191"/>
                <a:gd name="T9" fmla="*/ 0 h 354"/>
              </a:gdLst>
              <a:ahLst/>
              <a:cxnLst>
                <a:cxn ang="0">
                  <a:pos x="T0" y="T1"/>
                </a:cxn>
                <a:cxn ang="0">
                  <a:pos x="T2" y="T3"/>
                </a:cxn>
                <a:cxn ang="0">
                  <a:pos x="T4" y="T5"/>
                </a:cxn>
                <a:cxn ang="0">
                  <a:pos x="T6" y="T7"/>
                </a:cxn>
                <a:cxn ang="0">
                  <a:pos x="T8" y="T9"/>
                </a:cxn>
              </a:cxnLst>
              <a:rect l="0" t="0" r="r" b="b"/>
              <a:pathLst>
                <a:path w="191" h="354">
                  <a:moveTo>
                    <a:pt x="108" y="0"/>
                  </a:moveTo>
                  <a:lnTo>
                    <a:pt x="0" y="122"/>
                  </a:lnTo>
                  <a:lnTo>
                    <a:pt x="190" y="353"/>
                  </a:lnTo>
                  <a:lnTo>
                    <a:pt x="190" y="0"/>
                  </a:lnTo>
                  <a:lnTo>
                    <a:pt x="108" y="0"/>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66" name="Freeform 224">
              <a:extLst>
                <a:ext uri="{FF2B5EF4-FFF2-40B4-BE49-F238E27FC236}">
                  <a16:creationId xmlns:a16="http://schemas.microsoft.com/office/drawing/2014/main" id="{F1B4797F-A971-794E-97B8-7A6AED3D87AA}"/>
                </a:ext>
              </a:extLst>
            </p:cNvPr>
            <p:cNvSpPr>
              <a:spLocks noChangeArrowheads="1"/>
            </p:cNvSpPr>
            <p:nvPr/>
          </p:nvSpPr>
          <p:spPr bwMode="auto">
            <a:xfrm>
              <a:off x="6705022" y="11348885"/>
              <a:ext cx="50167" cy="41816"/>
            </a:xfrm>
            <a:custGeom>
              <a:avLst/>
              <a:gdLst>
                <a:gd name="T0" fmla="*/ 26 w 55"/>
                <a:gd name="T1" fmla="*/ 0 h 42"/>
                <a:gd name="T2" fmla="*/ 26 w 55"/>
                <a:gd name="T3" fmla="*/ 0 h 42"/>
                <a:gd name="T4" fmla="*/ 14 w 55"/>
                <a:gd name="T5" fmla="*/ 0 h 42"/>
                <a:gd name="T6" fmla="*/ 14 w 55"/>
                <a:gd name="T7" fmla="*/ 41 h 42"/>
                <a:gd name="T8" fmla="*/ 40 w 55"/>
                <a:gd name="T9" fmla="*/ 28 h 42"/>
                <a:gd name="T10" fmla="*/ 40 w 55"/>
                <a:gd name="T11" fmla="*/ 0 h 42"/>
                <a:gd name="T12" fmla="*/ 26 w 55"/>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55" h="42">
                  <a:moveTo>
                    <a:pt x="26" y="0"/>
                  </a:moveTo>
                  <a:lnTo>
                    <a:pt x="26" y="0"/>
                  </a:lnTo>
                  <a:lnTo>
                    <a:pt x="14" y="0"/>
                  </a:lnTo>
                  <a:cubicBezTo>
                    <a:pt x="0" y="14"/>
                    <a:pt x="14" y="28"/>
                    <a:pt x="14" y="41"/>
                  </a:cubicBezTo>
                  <a:cubicBezTo>
                    <a:pt x="26" y="41"/>
                    <a:pt x="40" y="41"/>
                    <a:pt x="40" y="28"/>
                  </a:cubicBezTo>
                  <a:cubicBezTo>
                    <a:pt x="54" y="28"/>
                    <a:pt x="54" y="14"/>
                    <a:pt x="40" y="0"/>
                  </a:cubicBezTo>
                  <a:cubicBezTo>
                    <a:pt x="40" y="0"/>
                    <a:pt x="40" y="0"/>
                    <a:pt x="26"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67" name="Freeform 225">
              <a:extLst>
                <a:ext uri="{FF2B5EF4-FFF2-40B4-BE49-F238E27FC236}">
                  <a16:creationId xmlns:a16="http://schemas.microsoft.com/office/drawing/2014/main" id="{F4C22C7A-F03C-DA46-8FAF-C688C760DF28}"/>
                </a:ext>
              </a:extLst>
            </p:cNvPr>
            <p:cNvSpPr>
              <a:spLocks noChangeArrowheads="1"/>
            </p:cNvSpPr>
            <p:nvPr/>
          </p:nvSpPr>
          <p:spPr bwMode="auto">
            <a:xfrm>
              <a:off x="6759368" y="10976718"/>
              <a:ext cx="351166" cy="246719"/>
            </a:xfrm>
            <a:custGeom>
              <a:avLst/>
              <a:gdLst>
                <a:gd name="T0" fmla="*/ 14 w 369"/>
                <a:gd name="T1" fmla="*/ 135 h 259"/>
                <a:gd name="T2" fmla="*/ 14 w 369"/>
                <a:gd name="T3" fmla="*/ 135 h 259"/>
                <a:gd name="T4" fmla="*/ 0 w 369"/>
                <a:gd name="T5" fmla="*/ 177 h 259"/>
                <a:gd name="T6" fmla="*/ 41 w 369"/>
                <a:gd name="T7" fmla="*/ 177 h 259"/>
                <a:gd name="T8" fmla="*/ 123 w 369"/>
                <a:gd name="T9" fmla="*/ 109 h 259"/>
                <a:gd name="T10" fmla="*/ 123 w 369"/>
                <a:gd name="T11" fmla="*/ 109 h 259"/>
                <a:gd name="T12" fmla="*/ 135 w 369"/>
                <a:gd name="T13" fmla="*/ 109 h 259"/>
                <a:gd name="T14" fmla="*/ 135 w 369"/>
                <a:gd name="T15" fmla="*/ 109 h 259"/>
                <a:gd name="T16" fmla="*/ 135 w 369"/>
                <a:gd name="T17" fmla="*/ 109 h 259"/>
                <a:gd name="T18" fmla="*/ 135 w 369"/>
                <a:gd name="T19" fmla="*/ 109 h 259"/>
                <a:gd name="T20" fmla="*/ 135 w 369"/>
                <a:gd name="T21" fmla="*/ 109 h 259"/>
                <a:gd name="T22" fmla="*/ 231 w 369"/>
                <a:gd name="T23" fmla="*/ 191 h 259"/>
                <a:gd name="T24" fmla="*/ 231 w 369"/>
                <a:gd name="T25" fmla="*/ 191 h 259"/>
                <a:gd name="T26" fmla="*/ 300 w 369"/>
                <a:gd name="T27" fmla="*/ 258 h 259"/>
                <a:gd name="T28" fmla="*/ 368 w 369"/>
                <a:gd name="T29" fmla="*/ 203 h 259"/>
                <a:gd name="T30" fmla="*/ 204 w 369"/>
                <a:gd name="T31" fmla="*/ 0 h 259"/>
                <a:gd name="T32" fmla="*/ 14 w 369"/>
                <a:gd name="T33" fmla="*/ 135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9" h="259">
                  <a:moveTo>
                    <a:pt x="14" y="135"/>
                  </a:moveTo>
                  <a:lnTo>
                    <a:pt x="14" y="135"/>
                  </a:lnTo>
                  <a:cubicBezTo>
                    <a:pt x="0" y="135"/>
                    <a:pt x="0" y="163"/>
                    <a:pt x="0" y="177"/>
                  </a:cubicBezTo>
                  <a:cubicBezTo>
                    <a:pt x="14" y="177"/>
                    <a:pt x="41" y="177"/>
                    <a:pt x="41" y="177"/>
                  </a:cubicBezTo>
                  <a:cubicBezTo>
                    <a:pt x="55" y="163"/>
                    <a:pt x="109" y="109"/>
                    <a:pt x="123" y="109"/>
                  </a:cubicBezTo>
                  <a:lnTo>
                    <a:pt x="123" y="109"/>
                  </a:lnTo>
                  <a:cubicBezTo>
                    <a:pt x="123" y="109"/>
                    <a:pt x="123" y="109"/>
                    <a:pt x="135" y="109"/>
                  </a:cubicBezTo>
                  <a:lnTo>
                    <a:pt x="135" y="109"/>
                  </a:lnTo>
                  <a:lnTo>
                    <a:pt x="135" y="109"/>
                  </a:lnTo>
                  <a:lnTo>
                    <a:pt x="135" y="109"/>
                  </a:lnTo>
                  <a:lnTo>
                    <a:pt x="135" y="109"/>
                  </a:lnTo>
                  <a:cubicBezTo>
                    <a:pt x="231" y="191"/>
                    <a:pt x="231" y="191"/>
                    <a:pt x="231" y="191"/>
                  </a:cubicBezTo>
                  <a:lnTo>
                    <a:pt x="231" y="191"/>
                  </a:lnTo>
                  <a:cubicBezTo>
                    <a:pt x="300" y="258"/>
                    <a:pt x="300" y="258"/>
                    <a:pt x="300" y="258"/>
                  </a:cubicBezTo>
                  <a:cubicBezTo>
                    <a:pt x="368" y="203"/>
                    <a:pt x="368" y="203"/>
                    <a:pt x="368" y="203"/>
                  </a:cubicBezTo>
                  <a:cubicBezTo>
                    <a:pt x="204" y="0"/>
                    <a:pt x="204" y="0"/>
                    <a:pt x="204" y="0"/>
                  </a:cubicBezTo>
                  <a:cubicBezTo>
                    <a:pt x="177" y="13"/>
                    <a:pt x="55" y="67"/>
                    <a:pt x="14" y="135"/>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68" name="Freeform 226">
              <a:extLst>
                <a:ext uri="{FF2B5EF4-FFF2-40B4-BE49-F238E27FC236}">
                  <a16:creationId xmlns:a16="http://schemas.microsoft.com/office/drawing/2014/main" id="{BCB3706C-E968-4441-9C62-FE46199D3B2F}"/>
                </a:ext>
              </a:extLst>
            </p:cNvPr>
            <p:cNvSpPr>
              <a:spLocks noChangeArrowheads="1"/>
            </p:cNvSpPr>
            <p:nvPr/>
          </p:nvSpPr>
          <p:spPr bwMode="auto">
            <a:xfrm>
              <a:off x="6629773" y="11001807"/>
              <a:ext cx="438957" cy="426529"/>
            </a:xfrm>
            <a:custGeom>
              <a:avLst/>
              <a:gdLst>
                <a:gd name="T0" fmla="*/ 259 w 463"/>
                <a:gd name="T1" fmla="*/ 108 h 450"/>
                <a:gd name="T2" fmla="*/ 259 w 463"/>
                <a:gd name="T3" fmla="*/ 108 h 450"/>
                <a:gd name="T4" fmla="*/ 204 w 463"/>
                <a:gd name="T5" fmla="*/ 164 h 450"/>
                <a:gd name="T6" fmla="*/ 122 w 463"/>
                <a:gd name="T7" fmla="*/ 164 h 450"/>
                <a:gd name="T8" fmla="*/ 122 w 463"/>
                <a:gd name="T9" fmla="*/ 94 h 450"/>
                <a:gd name="T10" fmla="*/ 217 w 463"/>
                <a:gd name="T11" fmla="*/ 0 h 450"/>
                <a:gd name="T12" fmla="*/ 150 w 463"/>
                <a:gd name="T13" fmla="*/ 13 h 450"/>
                <a:gd name="T14" fmla="*/ 0 w 463"/>
                <a:gd name="T15" fmla="*/ 218 h 450"/>
                <a:gd name="T16" fmla="*/ 271 w 463"/>
                <a:gd name="T17" fmla="*/ 449 h 450"/>
                <a:gd name="T18" fmla="*/ 286 w 463"/>
                <a:gd name="T19" fmla="*/ 449 h 450"/>
                <a:gd name="T20" fmla="*/ 286 w 463"/>
                <a:gd name="T21" fmla="*/ 449 h 450"/>
                <a:gd name="T22" fmla="*/ 299 w 463"/>
                <a:gd name="T23" fmla="*/ 449 h 450"/>
                <a:gd name="T24" fmla="*/ 313 w 463"/>
                <a:gd name="T25" fmla="*/ 435 h 450"/>
                <a:gd name="T26" fmla="*/ 299 w 463"/>
                <a:gd name="T27" fmla="*/ 422 h 450"/>
                <a:gd name="T28" fmla="*/ 204 w 463"/>
                <a:gd name="T29" fmla="*/ 339 h 450"/>
                <a:gd name="T30" fmla="*/ 204 w 463"/>
                <a:gd name="T31" fmla="*/ 313 h 450"/>
                <a:gd name="T32" fmla="*/ 231 w 463"/>
                <a:gd name="T33" fmla="*/ 313 h 450"/>
                <a:gd name="T34" fmla="*/ 245 w 463"/>
                <a:gd name="T35" fmla="*/ 327 h 450"/>
                <a:gd name="T36" fmla="*/ 245 w 463"/>
                <a:gd name="T37" fmla="*/ 327 h 450"/>
                <a:gd name="T38" fmla="*/ 327 w 463"/>
                <a:gd name="T39" fmla="*/ 395 h 450"/>
                <a:gd name="T40" fmla="*/ 327 w 463"/>
                <a:gd name="T41" fmla="*/ 395 h 450"/>
                <a:gd name="T42" fmla="*/ 340 w 463"/>
                <a:gd name="T43" fmla="*/ 408 h 450"/>
                <a:gd name="T44" fmla="*/ 354 w 463"/>
                <a:gd name="T45" fmla="*/ 408 h 450"/>
                <a:gd name="T46" fmla="*/ 367 w 463"/>
                <a:gd name="T47" fmla="*/ 408 h 450"/>
                <a:gd name="T48" fmla="*/ 367 w 463"/>
                <a:gd name="T49" fmla="*/ 381 h 450"/>
                <a:gd name="T50" fmla="*/ 271 w 463"/>
                <a:gd name="T51" fmla="*/ 299 h 450"/>
                <a:gd name="T52" fmla="*/ 271 w 463"/>
                <a:gd name="T53" fmla="*/ 272 h 450"/>
                <a:gd name="T54" fmla="*/ 286 w 463"/>
                <a:gd name="T55" fmla="*/ 272 h 450"/>
                <a:gd name="T56" fmla="*/ 299 w 463"/>
                <a:gd name="T57" fmla="*/ 285 h 450"/>
                <a:gd name="T58" fmla="*/ 381 w 463"/>
                <a:gd name="T59" fmla="*/ 354 h 450"/>
                <a:gd name="T60" fmla="*/ 381 w 463"/>
                <a:gd name="T61" fmla="*/ 367 h 450"/>
                <a:gd name="T62" fmla="*/ 394 w 463"/>
                <a:gd name="T63" fmla="*/ 367 h 450"/>
                <a:gd name="T64" fmla="*/ 394 w 463"/>
                <a:gd name="T65" fmla="*/ 367 h 450"/>
                <a:gd name="T66" fmla="*/ 394 w 463"/>
                <a:gd name="T67" fmla="*/ 367 h 450"/>
                <a:gd name="T68" fmla="*/ 394 w 463"/>
                <a:gd name="T69" fmla="*/ 367 h 450"/>
                <a:gd name="T70" fmla="*/ 394 w 463"/>
                <a:gd name="T71" fmla="*/ 367 h 450"/>
                <a:gd name="T72" fmla="*/ 408 w 463"/>
                <a:gd name="T73" fmla="*/ 354 h 450"/>
                <a:gd name="T74" fmla="*/ 408 w 463"/>
                <a:gd name="T75" fmla="*/ 327 h 450"/>
                <a:gd name="T76" fmla="*/ 313 w 463"/>
                <a:gd name="T77" fmla="*/ 245 h 450"/>
                <a:gd name="T78" fmla="*/ 313 w 463"/>
                <a:gd name="T79" fmla="*/ 245 h 450"/>
                <a:gd name="T80" fmla="*/ 313 w 463"/>
                <a:gd name="T81" fmla="*/ 245 h 450"/>
                <a:gd name="T82" fmla="*/ 313 w 463"/>
                <a:gd name="T83" fmla="*/ 218 h 450"/>
                <a:gd name="T84" fmla="*/ 327 w 463"/>
                <a:gd name="T85" fmla="*/ 218 h 450"/>
                <a:gd name="T86" fmla="*/ 422 w 463"/>
                <a:gd name="T87" fmla="*/ 299 h 450"/>
                <a:gd name="T88" fmla="*/ 422 w 463"/>
                <a:gd name="T89" fmla="*/ 299 h 450"/>
                <a:gd name="T90" fmla="*/ 436 w 463"/>
                <a:gd name="T91" fmla="*/ 299 h 450"/>
                <a:gd name="T92" fmla="*/ 436 w 463"/>
                <a:gd name="T93" fmla="*/ 299 h 450"/>
                <a:gd name="T94" fmla="*/ 450 w 463"/>
                <a:gd name="T95" fmla="*/ 299 h 450"/>
                <a:gd name="T96" fmla="*/ 450 w 463"/>
                <a:gd name="T97" fmla="*/ 272 h 450"/>
                <a:gd name="T98" fmla="*/ 259 w 463"/>
                <a:gd name="T99" fmla="*/ 108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63" h="450">
                  <a:moveTo>
                    <a:pt x="259" y="108"/>
                  </a:moveTo>
                  <a:lnTo>
                    <a:pt x="259" y="108"/>
                  </a:lnTo>
                  <a:cubicBezTo>
                    <a:pt x="245" y="122"/>
                    <a:pt x="217" y="136"/>
                    <a:pt x="204" y="164"/>
                  </a:cubicBezTo>
                  <a:cubicBezTo>
                    <a:pt x="177" y="190"/>
                    <a:pt x="150" y="190"/>
                    <a:pt x="122" y="164"/>
                  </a:cubicBezTo>
                  <a:cubicBezTo>
                    <a:pt x="96" y="150"/>
                    <a:pt x="108" y="108"/>
                    <a:pt x="122" y="94"/>
                  </a:cubicBezTo>
                  <a:cubicBezTo>
                    <a:pt x="136" y="54"/>
                    <a:pt x="177" y="27"/>
                    <a:pt x="217" y="0"/>
                  </a:cubicBezTo>
                  <a:cubicBezTo>
                    <a:pt x="150" y="13"/>
                    <a:pt x="150" y="13"/>
                    <a:pt x="150" y="13"/>
                  </a:cubicBezTo>
                  <a:cubicBezTo>
                    <a:pt x="0" y="218"/>
                    <a:pt x="0" y="218"/>
                    <a:pt x="0" y="218"/>
                  </a:cubicBezTo>
                  <a:cubicBezTo>
                    <a:pt x="271" y="449"/>
                    <a:pt x="271" y="449"/>
                    <a:pt x="271" y="449"/>
                  </a:cubicBezTo>
                  <a:cubicBezTo>
                    <a:pt x="286" y="449"/>
                    <a:pt x="286" y="449"/>
                    <a:pt x="286" y="449"/>
                  </a:cubicBezTo>
                  <a:lnTo>
                    <a:pt x="286" y="449"/>
                  </a:lnTo>
                  <a:cubicBezTo>
                    <a:pt x="299" y="449"/>
                    <a:pt x="299" y="449"/>
                    <a:pt x="299" y="449"/>
                  </a:cubicBezTo>
                  <a:cubicBezTo>
                    <a:pt x="313" y="435"/>
                    <a:pt x="313" y="435"/>
                    <a:pt x="313" y="435"/>
                  </a:cubicBezTo>
                  <a:cubicBezTo>
                    <a:pt x="313" y="422"/>
                    <a:pt x="313" y="422"/>
                    <a:pt x="299" y="422"/>
                  </a:cubicBezTo>
                  <a:cubicBezTo>
                    <a:pt x="204" y="339"/>
                    <a:pt x="204" y="339"/>
                    <a:pt x="204" y="339"/>
                  </a:cubicBezTo>
                  <a:cubicBezTo>
                    <a:pt x="204" y="339"/>
                    <a:pt x="204" y="327"/>
                    <a:pt x="204" y="313"/>
                  </a:cubicBezTo>
                  <a:cubicBezTo>
                    <a:pt x="217" y="313"/>
                    <a:pt x="217" y="313"/>
                    <a:pt x="231" y="313"/>
                  </a:cubicBezTo>
                  <a:cubicBezTo>
                    <a:pt x="245" y="327"/>
                    <a:pt x="245" y="327"/>
                    <a:pt x="245" y="327"/>
                  </a:cubicBezTo>
                  <a:lnTo>
                    <a:pt x="245" y="327"/>
                  </a:lnTo>
                  <a:cubicBezTo>
                    <a:pt x="327" y="395"/>
                    <a:pt x="327" y="395"/>
                    <a:pt x="327" y="395"/>
                  </a:cubicBezTo>
                  <a:lnTo>
                    <a:pt x="327" y="395"/>
                  </a:lnTo>
                  <a:cubicBezTo>
                    <a:pt x="340" y="408"/>
                    <a:pt x="340" y="408"/>
                    <a:pt x="340" y="408"/>
                  </a:cubicBezTo>
                  <a:cubicBezTo>
                    <a:pt x="340" y="408"/>
                    <a:pt x="340" y="408"/>
                    <a:pt x="354" y="408"/>
                  </a:cubicBezTo>
                  <a:cubicBezTo>
                    <a:pt x="354" y="408"/>
                    <a:pt x="354" y="408"/>
                    <a:pt x="367" y="408"/>
                  </a:cubicBezTo>
                  <a:cubicBezTo>
                    <a:pt x="367" y="395"/>
                    <a:pt x="367" y="381"/>
                    <a:pt x="367" y="381"/>
                  </a:cubicBezTo>
                  <a:cubicBezTo>
                    <a:pt x="271" y="299"/>
                    <a:pt x="271" y="299"/>
                    <a:pt x="271" y="299"/>
                  </a:cubicBezTo>
                  <a:cubicBezTo>
                    <a:pt x="259" y="285"/>
                    <a:pt x="259" y="285"/>
                    <a:pt x="271" y="272"/>
                  </a:cubicBezTo>
                  <a:lnTo>
                    <a:pt x="286" y="272"/>
                  </a:lnTo>
                  <a:cubicBezTo>
                    <a:pt x="299" y="285"/>
                    <a:pt x="299" y="285"/>
                    <a:pt x="299" y="285"/>
                  </a:cubicBezTo>
                  <a:cubicBezTo>
                    <a:pt x="381" y="354"/>
                    <a:pt x="381" y="354"/>
                    <a:pt x="381" y="354"/>
                  </a:cubicBezTo>
                  <a:cubicBezTo>
                    <a:pt x="381" y="367"/>
                    <a:pt x="381" y="367"/>
                    <a:pt x="381" y="367"/>
                  </a:cubicBezTo>
                  <a:cubicBezTo>
                    <a:pt x="394" y="367"/>
                    <a:pt x="394" y="367"/>
                    <a:pt x="394" y="367"/>
                  </a:cubicBezTo>
                  <a:lnTo>
                    <a:pt x="394" y="367"/>
                  </a:lnTo>
                  <a:lnTo>
                    <a:pt x="394" y="367"/>
                  </a:lnTo>
                  <a:lnTo>
                    <a:pt x="394" y="367"/>
                  </a:lnTo>
                  <a:lnTo>
                    <a:pt x="394" y="367"/>
                  </a:lnTo>
                  <a:cubicBezTo>
                    <a:pt x="408" y="367"/>
                    <a:pt x="408" y="354"/>
                    <a:pt x="408" y="354"/>
                  </a:cubicBezTo>
                  <a:cubicBezTo>
                    <a:pt x="422" y="339"/>
                    <a:pt x="422" y="339"/>
                    <a:pt x="408" y="327"/>
                  </a:cubicBezTo>
                  <a:cubicBezTo>
                    <a:pt x="313" y="245"/>
                    <a:pt x="313" y="245"/>
                    <a:pt x="313" y="245"/>
                  </a:cubicBezTo>
                  <a:lnTo>
                    <a:pt x="313" y="245"/>
                  </a:lnTo>
                  <a:lnTo>
                    <a:pt x="313" y="245"/>
                  </a:lnTo>
                  <a:cubicBezTo>
                    <a:pt x="299" y="231"/>
                    <a:pt x="299" y="231"/>
                    <a:pt x="313" y="218"/>
                  </a:cubicBezTo>
                  <a:lnTo>
                    <a:pt x="327" y="218"/>
                  </a:lnTo>
                  <a:cubicBezTo>
                    <a:pt x="422" y="299"/>
                    <a:pt x="422" y="299"/>
                    <a:pt x="422" y="299"/>
                  </a:cubicBezTo>
                  <a:lnTo>
                    <a:pt x="422" y="299"/>
                  </a:lnTo>
                  <a:lnTo>
                    <a:pt x="436" y="299"/>
                  </a:lnTo>
                  <a:lnTo>
                    <a:pt x="436" y="299"/>
                  </a:lnTo>
                  <a:lnTo>
                    <a:pt x="450" y="299"/>
                  </a:lnTo>
                  <a:cubicBezTo>
                    <a:pt x="462" y="285"/>
                    <a:pt x="450" y="272"/>
                    <a:pt x="450" y="272"/>
                  </a:cubicBezTo>
                  <a:lnTo>
                    <a:pt x="259" y="108"/>
                  </a:ln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69" name="Freeform 227">
              <a:extLst>
                <a:ext uri="{FF2B5EF4-FFF2-40B4-BE49-F238E27FC236}">
                  <a16:creationId xmlns:a16="http://schemas.microsoft.com/office/drawing/2014/main" id="{70A0D7DC-681A-C94A-9E0F-B8FD4BDA9B20}"/>
                </a:ext>
              </a:extLst>
            </p:cNvPr>
            <p:cNvSpPr>
              <a:spLocks noChangeArrowheads="1"/>
            </p:cNvSpPr>
            <p:nvPr/>
          </p:nvSpPr>
          <p:spPr bwMode="auto">
            <a:xfrm>
              <a:off x="6759368" y="11390700"/>
              <a:ext cx="54349" cy="50180"/>
            </a:xfrm>
            <a:custGeom>
              <a:avLst/>
              <a:gdLst>
                <a:gd name="T0" fmla="*/ 27 w 56"/>
                <a:gd name="T1" fmla="*/ 0 h 55"/>
                <a:gd name="T2" fmla="*/ 27 w 56"/>
                <a:gd name="T3" fmla="*/ 0 h 55"/>
                <a:gd name="T4" fmla="*/ 14 w 56"/>
                <a:gd name="T5" fmla="*/ 14 h 55"/>
                <a:gd name="T6" fmla="*/ 14 w 56"/>
                <a:gd name="T7" fmla="*/ 41 h 55"/>
                <a:gd name="T8" fmla="*/ 41 w 56"/>
                <a:gd name="T9" fmla="*/ 41 h 55"/>
                <a:gd name="T10" fmla="*/ 41 w 56"/>
                <a:gd name="T11" fmla="*/ 0 h 55"/>
                <a:gd name="T12" fmla="*/ 27 w 56"/>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56" h="55">
                  <a:moveTo>
                    <a:pt x="27" y="0"/>
                  </a:moveTo>
                  <a:lnTo>
                    <a:pt x="27" y="0"/>
                  </a:lnTo>
                  <a:cubicBezTo>
                    <a:pt x="27" y="0"/>
                    <a:pt x="14" y="0"/>
                    <a:pt x="14" y="14"/>
                  </a:cubicBezTo>
                  <a:cubicBezTo>
                    <a:pt x="0" y="14"/>
                    <a:pt x="14" y="27"/>
                    <a:pt x="14" y="41"/>
                  </a:cubicBezTo>
                  <a:cubicBezTo>
                    <a:pt x="27" y="54"/>
                    <a:pt x="41" y="41"/>
                    <a:pt x="41" y="41"/>
                  </a:cubicBezTo>
                  <a:cubicBezTo>
                    <a:pt x="55" y="27"/>
                    <a:pt x="55" y="14"/>
                    <a:pt x="41" y="0"/>
                  </a:cubicBezTo>
                  <a:cubicBezTo>
                    <a:pt x="41" y="0"/>
                    <a:pt x="41" y="0"/>
                    <a:pt x="27"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70" name="Freeform 228">
              <a:extLst>
                <a:ext uri="{FF2B5EF4-FFF2-40B4-BE49-F238E27FC236}">
                  <a16:creationId xmlns:a16="http://schemas.microsoft.com/office/drawing/2014/main" id="{21E5F033-D469-6245-B83A-C0D364D302B0}"/>
                </a:ext>
              </a:extLst>
            </p:cNvPr>
            <p:cNvSpPr>
              <a:spLocks noChangeArrowheads="1"/>
            </p:cNvSpPr>
            <p:nvPr/>
          </p:nvSpPr>
          <p:spPr bwMode="auto">
            <a:xfrm>
              <a:off x="6901508" y="11453424"/>
              <a:ext cx="4181" cy="4184"/>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grpSp>
      <p:grpSp>
        <p:nvGrpSpPr>
          <p:cNvPr id="71" name="Group 70">
            <a:extLst>
              <a:ext uri="{FF2B5EF4-FFF2-40B4-BE49-F238E27FC236}">
                <a16:creationId xmlns:a16="http://schemas.microsoft.com/office/drawing/2014/main" id="{C4D0BA2C-9AE8-6043-AAAF-12E9F6E060A2}"/>
              </a:ext>
            </a:extLst>
          </p:cNvPr>
          <p:cNvGrpSpPr/>
          <p:nvPr userDrawn="1"/>
        </p:nvGrpSpPr>
        <p:grpSpPr>
          <a:xfrm>
            <a:off x="7502687" y="1784346"/>
            <a:ext cx="470550" cy="421130"/>
            <a:chOff x="13222514" y="10847085"/>
            <a:chExt cx="635447" cy="568706"/>
          </a:xfrm>
          <a:solidFill>
            <a:schemeClr val="accent1"/>
          </a:solidFill>
        </p:grpSpPr>
        <p:sp>
          <p:nvSpPr>
            <p:cNvPr id="72" name="Freeform 245">
              <a:extLst>
                <a:ext uri="{FF2B5EF4-FFF2-40B4-BE49-F238E27FC236}">
                  <a16:creationId xmlns:a16="http://schemas.microsoft.com/office/drawing/2014/main" id="{4C94F352-8E96-DB41-A38A-B8DF26F9E493}"/>
                </a:ext>
              </a:extLst>
            </p:cNvPr>
            <p:cNvSpPr>
              <a:spLocks noChangeArrowheads="1"/>
            </p:cNvSpPr>
            <p:nvPr/>
          </p:nvSpPr>
          <p:spPr bwMode="auto">
            <a:xfrm>
              <a:off x="13276865" y="11323795"/>
              <a:ext cx="41805" cy="41816"/>
            </a:xfrm>
            <a:custGeom>
              <a:avLst/>
              <a:gdLst>
                <a:gd name="T0" fmla="*/ 14 w 42"/>
                <a:gd name="T1" fmla="*/ 42 h 43"/>
                <a:gd name="T2" fmla="*/ 14 w 42"/>
                <a:gd name="T3" fmla="*/ 42 h 43"/>
                <a:gd name="T4" fmla="*/ 41 w 42"/>
                <a:gd name="T5" fmla="*/ 28 h 43"/>
                <a:gd name="T6" fmla="*/ 14 w 42"/>
                <a:gd name="T7" fmla="*/ 0 h 43"/>
                <a:gd name="T8" fmla="*/ 0 w 42"/>
                <a:gd name="T9" fmla="*/ 28 h 43"/>
                <a:gd name="T10" fmla="*/ 14 w 42"/>
                <a:gd name="T11" fmla="*/ 42 h 43"/>
              </a:gdLst>
              <a:ahLst/>
              <a:cxnLst>
                <a:cxn ang="0">
                  <a:pos x="T0" y="T1"/>
                </a:cxn>
                <a:cxn ang="0">
                  <a:pos x="T2" y="T3"/>
                </a:cxn>
                <a:cxn ang="0">
                  <a:pos x="T4" y="T5"/>
                </a:cxn>
                <a:cxn ang="0">
                  <a:pos x="T6" y="T7"/>
                </a:cxn>
                <a:cxn ang="0">
                  <a:pos x="T8" y="T9"/>
                </a:cxn>
                <a:cxn ang="0">
                  <a:pos x="T10" y="T11"/>
                </a:cxn>
              </a:cxnLst>
              <a:rect l="0" t="0" r="r" b="b"/>
              <a:pathLst>
                <a:path w="42" h="43">
                  <a:moveTo>
                    <a:pt x="14" y="42"/>
                  </a:moveTo>
                  <a:lnTo>
                    <a:pt x="14" y="42"/>
                  </a:lnTo>
                  <a:cubicBezTo>
                    <a:pt x="28" y="42"/>
                    <a:pt x="41" y="42"/>
                    <a:pt x="41" y="28"/>
                  </a:cubicBezTo>
                  <a:cubicBezTo>
                    <a:pt x="41" y="15"/>
                    <a:pt x="28" y="0"/>
                    <a:pt x="14" y="0"/>
                  </a:cubicBezTo>
                  <a:cubicBezTo>
                    <a:pt x="14" y="0"/>
                    <a:pt x="0" y="15"/>
                    <a:pt x="0" y="28"/>
                  </a:cubicBezTo>
                  <a:cubicBezTo>
                    <a:pt x="0" y="42"/>
                    <a:pt x="14" y="42"/>
                    <a:pt x="14" y="42"/>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73" name="Freeform 246">
              <a:extLst>
                <a:ext uri="{FF2B5EF4-FFF2-40B4-BE49-F238E27FC236}">
                  <a16:creationId xmlns:a16="http://schemas.microsoft.com/office/drawing/2014/main" id="{7115073E-15F6-B941-93CF-AE2213CBCAD0}"/>
                </a:ext>
              </a:extLst>
            </p:cNvPr>
            <p:cNvSpPr>
              <a:spLocks noChangeArrowheads="1"/>
            </p:cNvSpPr>
            <p:nvPr/>
          </p:nvSpPr>
          <p:spPr bwMode="auto">
            <a:xfrm>
              <a:off x="13222514" y="11068713"/>
              <a:ext cx="167223" cy="347078"/>
            </a:xfrm>
            <a:custGeom>
              <a:avLst/>
              <a:gdLst>
                <a:gd name="T0" fmla="*/ 0 w 177"/>
                <a:gd name="T1" fmla="*/ 367 h 368"/>
                <a:gd name="T2" fmla="*/ 0 w 177"/>
                <a:gd name="T3" fmla="*/ 367 h 368"/>
                <a:gd name="T4" fmla="*/ 176 w 177"/>
                <a:gd name="T5" fmla="*/ 367 h 368"/>
                <a:gd name="T6" fmla="*/ 176 w 177"/>
                <a:gd name="T7" fmla="*/ 0 h 368"/>
                <a:gd name="T8" fmla="*/ 0 w 177"/>
                <a:gd name="T9" fmla="*/ 0 h 368"/>
                <a:gd name="T10" fmla="*/ 0 w 177"/>
                <a:gd name="T11" fmla="*/ 367 h 368"/>
                <a:gd name="T12" fmla="*/ 95 w 177"/>
                <a:gd name="T13" fmla="*/ 26 h 368"/>
                <a:gd name="T14" fmla="*/ 95 w 177"/>
                <a:gd name="T15" fmla="*/ 26 h 368"/>
                <a:gd name="T16" fmla="*/ 122 w 177"/>
                <a:gd name="T17" fmla="*/ 26 h 368"/>
                <a:gd name="T18" fmla="*/ 122 w 177"/>
                <a:gd name="T19" fmla="*/ 231 h 368"/>
                <a:gd name="T20" fmla="*/ 95 w 177"/>
                <a:gd name="T21" fmla="*/ 231 h 368"/>
                <a:gd name="T22" fmla="*/ 95 w 177"/>
                <a:gd name="T23" fmla="*/ 26 h 368"/>
                <a:gd name="T24" fmla="*/ 68 w 177"/>
                <a:gd name="T25" fmla="*/ 245 h 368"/>
                <a:gd name="T26" fmla="*/ 68 w 177"/>
                <a:gd name="T27" fmla="*/ 245 h 368"/>
                <a:gd name="T28" fmla="*/ 122 w 177"/>
                <a:gd name="T29" fmla="*/ 299 h 368"/>
                <a:gd name="T30" fmla="*/ 68 w 177"/>
                <a:gd name="T31" fmla="*/ 340 h 368"/>
                <a:gd name="T32" fmla="*/ 27 w 177"/>
                <a:gd name="T33" fmla="*/ 299 h 368"/>
                <a:gd name="T34" fmla="*/ 68 w 177"/>
                <a:gd name="T35" fmla="*/ 24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368">
                  <a:moveTo>
                    <a:pt x="0" y="367"/>
                  </a:moveTo>
                  <a:lnTo>
                    <a:pt x="0" y="367"/>
                  </a:lnTo>
                  <a:cubicBezTo>
                    <a:pt x="176" y="367"/>
                    <a:pt x="176" y="367"/>
                    <a:pt x="176" y="367"/>
                  </a:cubicBezTo>
                  <a:cubicBezTo>
                    <a:pt x="176" y="0"/>
                    <a:pt x="176" y="0"/>
                    <a:pt x="176" y="0"/>
                  </a:cubicBezTo>
                  <a:cubicBezTo>
                    <a:pt x="0" y="0"/>
                    <a:pt x="0" y="0"/>
                    <a:pt x="0" y="0"/>
                  </a:cubicBezTo>
                  <a:lnTo>
                    <a:pt x="0" y="367"/>
                  </a:lnTo>
                  <a:close/>
                  <a:moveTo>
                    <a:pt x="95" y="26"/>
                  </a:moveTo>
                  <a:lnTo>
                    <a:pt x="95" y="26"/>
                  </a:lnTo>
                  <a:cubicBezTo>
                    <a:pt x="122" y="26"/>
                    <a:pt x="122" y="26"/>
                    <a:pt x="122" y="26"/>
                  </a:cubicBezTo>
                  <a:cubicBezTo>
                    <a:pt x="122" y="231"/>
                    <a:pt x="122" y="231"/>
                    <a:pt x="122" y="231"/>
                  </a:cubicBezTo>
                  <a:cubicBezTo>
                    <a:pt x="95" y="231"/>
                    <a:pt x="95" y="231"/>
                    <a:pt x="95" y="231"/>
                  </a:cubicBezTo>
                  <a:lnTo>
                    <a:pt x="95" y="26"/>
                  </a:lnTo>
                  <a:close/>
                  <a:moveTo>
                    <a:pt x="68" y="245"/>
                  </a:moveTo>
                  <a:lnTo>
                    <a:pt x="68" y="245"/>
                  </a:lnTo>
                  <a:cubicBezTo>
                    <a:pt x="95" y="245"/>
                    <a:pt x="122" y="271"/>
                    <a:pt x="122" y="299"/>
                  </a:cubicBezTo>
                  <a:cubicBezTo>
                    <a:pt x="122" y="327"/>
                    <a:pt x="95" y="340"/>
                    <a:pt x="68" y="340"/>
                  </a:cubicBezTo>
                  <a:cubicBezTo>
                    <a:pt x="41" y="340"/>
                    <a:pt x="27" y="327"/>
                    <a:pt x="27" y="299"/>
                  </a:cubicBezTo>
                  <a:cubicBezTo>
                    <a:pt x="27" y="271"/>
                    <a:pt x="41" y="245"/>
                    <a:pt x="68" y="245"/>
                  </a:cubicBezTo>
                  <a:close/>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74" name="Freeform 247">
              <a:extLst>
                <a:ext uri="{FF2B5EF4-FFF2-40B4-BE49-F238E27FC236}">
                  <a16:creationId xmlns:a16="http://schemas.microsoft.com/office/drawing/2014/main" id="{A46FA711-A860-6741-AD13-E099B3658CF8}"/>
                </a:ext>
              </a:extLst>
            </p:cNvPr>
            <p:cNvSpPr>
              <a:spLocks noChangeArrowheads="1"/>
            </p:cNvSpPr>
            <p:nvPr/>
          </p:nvSpPr>
          <p:spPr bwMode="auto">
            <a:xfrm>
              <a:off x="13419004" y="10847085"/>
              <a:ext cx="438957" cy="518524"/>
            </a:xfrm>
            <a:custGeom>
              <a:avLst/>
              <a:gdLst>
                <a:gd name="T0" fmla="*/ 436 w 464"/>
                <a:gd name="T1" fmla="*/ 300 h 546"/>
                <a:gd name="T2" fmla="*/ 436 w 464"/>
                <a:gd name="T3" fmla="*/ 300 h 546"/>
                <a:gd name="T4" fmla="*/ 463 w 464"/>
                <a:gd name="T5" fmla="*/ 258 h 546"/>
                <a:gd name="T6" fmla="*/ 408 w 464"/>
                <a:gd name="T7" fmla="*/ 218 h 546"/>
                <a:gd name="T8" fmla="*/ 314 w 464"/>
                <a:gd name="T9" fmla="*/ 218 h 546"/>
                <a:gd name="T10" fmla="*/ 394 w 464"/>
                <a:gd name="T11" fmla="*/ 95 h 546"/>
                <a:gd name="T12" fmla="*/ 382 w 464"/>
                <a:gd name="T13" fmla="*/ 27 h 546"/>
                <a:gd name="T14" fmla="*/ 326 w 464"/>
                <a:gd name="T15" fmla="*/ 0 h 546"/>
                <a:gd name="T16" fmla="*/ 326 w 464"/>
                <a:gd name="T17" fmla="*/ 0 h 546"/>
                <a:gd name="T18" fmla="*/ 326 w 464"/>
                <a:gd name="T19" fmla="*/ 0 h 546"/>
                <a:gd name="T20" fmla="*/ 218 w 464"/>
                <a:gd name="T21" fmla="*/ 123 h 546"/>
                <a:gd name="T22" fmla="*/ 41 w 464"/>
                <a:gd name="T23" fmla="*/ 272 h 546"/>
                <a:gd name="T24" fmla="*/ 0 w 464"/>
                <a:gd name="T25" fmla="*/ 272 h 546"/>
                <a:gd name="T26" fmla="*/ 0 w 464"/>
                <a:gd name="T27" fmla="*/ 518 h 546"/>
                <a:gd name="T28" fmla="*/ 0 w 464"/>
                <a:gd name="T29" fmla="*/ 518 h 546"/>
                <a:gd name="T30" fmla="*/ 14 w 464"/>
                <a:gd name="T31" fmla="*/ 518 h 546"/>
                <a:gd name="T32" fmla="*/ 81 w 464"/>
                <a:gd name="T33" fmla="*/ 531 h 546"/>
                <a:gd name="T34" fmla="*/ 135 w 464"/>
                <a:gd name="T35" fmla="*/ 545 h 546"/>
                <a:gd name="T36" fmla="*/ 231 w 464"/>
                <a:gd name="T37" fmla="*/ 531 h 546"/>
                <a:gd name="T38" fmla="*/ 368 w 464"/>
                <a:gd name="T39" fmla="*/ 531 h 546"/>
                <a:gd name="T40" fmla="*/ 408 w 464"/>
                <a:gd name="T41" fmla="*/ 491 h 546"/>
                <a:gd name="T42" fmla="*/ 394 w 464"/>
                <a:gd name="T43" fmla="*/ 449 h 546"/>
                <a:gd name="T44" fmla="*/ 394 w 464"/>
                <a:gd name="T45" fmla="*/ 449 h 546"/>
                <a:gd name="T46" fmla="*/ 449 w 464"/>
                <a:gd name="T47" fmla="*/ 409 h 546"/>
                <a:gd name="T48" fmla="*/ 422 w 464"/>
                <a:gd name="T49" fmla="*/ 382 h 546"/>
                <a:gd name="T50" fmla="*/ 463 w 464"/>
                <a:gd name="T51" fmla="*/ 328 h 546"/>
                <a:gd name="T52" fmla="*/ 436 w 464"/>
                <a:gd name="T53" fmla="*/ 300 h 546"/>
                <a:gd name="T54" fmla="*/ 204 w 464"/>
                <a:gd name="T55" fmla="*/ 204 h 546"/>
                <a:gd name="T56" fmla="*/ 204 w 464"/>
                <a:gd name="T57" fmla="*/ 204 h 546"/>
                <a:gd name="T58" fmla="*/ 123 w 464"/>
                <a:gd name="T59" fmla="*/ 300 h 546"/>
                <a:gd name="T60" fmla="*/ 109 w 464"/>
                <a:gd name="T61" fmla="*/ 314 h 546"/>
                <a:gd name="T62" fmla="*/ 109 w 464"/>
                <a:gd name="T63" fmla="*/ 314 h 546"/>
                <a:gd name="T64" fmla="*/ 95 w 464"/>
                <a:gd name="T65" fmla="*/ 286 h 546"/>
                <a:gd name="T66" fmla="*/ 191 w 464"/>
                <a:gd name="T67" fmla="*/ 191 h 546"/>
                <a:gd name="T68" fmla="*/ 218 w 464"/>
                <a:gd name="T69" fmla="*/ 191 h 546"/>
                <a:gd name="T70" fmla="*/ 204 w 464"/>
                <a:gd name="T71" fmla="*/ 204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4" h="546">
                  <a:moveTo>
                    <a:pt x="436" y="300"/>
                  </a:moveTo>
                  <a:lnTo>
                    <a:pt x="436" y="300"/>
                  </a:lnTo>
                  <a:cubicBezTo>
                    <a:pt x="449" y="286"/>
                    <a:pt x="463" y="272"/>
                    <a:pt x="463" y="258"/>
                  </a:cubicBezTo>
                  <a:cubicBezTo>
                    <a:pt x="463" y="232"/>
                    <a:pt x="436" y="218"/>
                    <a:pt x="408" y="218"/>
                  </a:cubicBezTo>
                  <a:cubicBezTo>
                    <a:pt x="314" y="218"/>
                    <a:pt x="314" y="218"/>
                    <a:pt x="314" y="218"/>
                  </a:cubicBezTo>
                  <a:cubicBezTo>
                    <a:pt x="340" y="191"/>
                    <a:pt x="382" y="150"/>
                    <a:pt x="394" y="95"/>
                  </a:cubicBezTo>
                  <a:cubicBezTo>
                    <a:pt x="394" y="69"/>
                    <a:pt x="394" y="41"/>
                    <a:pt x="382" y="27"/>
                  </a:cubicBezTo>
                  <a:cubicBezTo>
                    <a:pt x="368" y="0"/>
                    <a:pt x="326" y="0"/>
                    <a:pt x="326" y="0"/>
                  </a:cubicBezTo>
                  <a:lnTo>
                    <a:pt x="326" y="0"/>
                  </a:lnTo>
                  <a:lnTo>
                    <a:pt x="326" y="0"/>
                  </a:lnTo>
                  <a:cubicBezTo>
                    <a:pt x="326" y="27"/>
                    <a:pt x="314" y="69"/>
                    <a:pt x="218" y="123"/>
                  </a:cubicBezTo>
                  <a:cubicBezTo>
                    <a:pt x="123" y="191"/>
                    <a:pt x="55" y="258"/>
                    <a:pt x="41" y="272"/>
                  </a:cubicBezTo>
                  <a:cubicBezTo>
                    <a:pt x="0" y="272"/>
                    <a:pt x="0" y="272"/>
                    <a:pt x="0" y="272"/>
                  </a:cubicBezTo>
                  <a:cubicBezTo>
                    <a:pt x="0" y="518"/>
                    <a:pt x="0" y="518"/>
                    <a:pt x="0" y="518"/>
                  </a:cubicBezTo>
                  <a:lnTo>
                    <a:pt x="0" y="518"/>
                  </a:lnTo>
                  <a:cubicBezTo>
                    <a:pt x="0" y="518"/>
                    <a:pt x="0" y="518"/>
                    <a:pt x="14" y="518"/>
                  </a:cubicBezTo>
                  <a:cubicBezTo>
                    <a:pt x="27" y="518"/>
                    <a:pt x="55" y="518"/>
                    <a:pt x="81" y="531"/>
                  </a:cubicBezTo>
                  <a:cubicBezTo>
                    <a:pt x="95" y="531"/>
                    <a:pt x="109" y="545"/>
                    <a:pt x="135" y="545"/>
                  </a:cubicBezTo>
                  <a:cubicBezTo>
                    <a:pt x="177" y="545"/>
                    <a:pt x="231" y="531"/>
                    <a:pt x="231" y="531"/>
                  </a:cubicBezTo>
                  <a:cubicBezTo>
                    <a:pt x="368" y="531"/>
                    <a:pt x="368" y="531"/>
                    <a:pt x="368" y="531"/>
                  </a:cubicBezTo>
                  <a:cubicBezTo>
                    <a:pt x="394" y="531"/>
                    <a:pt x="408" y="518"/>
                    <a:pt x="408" y="491"/>
                  </a:cubicBezTo>
                  <a:cubicBezTo>
                    <a:pt x="408" y="477"/>
                    <a:pt x="408" y="463"/>
                    <a:pt x="394" y="449"/>
                  </a:cubicBezTo>
                  <a:lnTo>
                    <a:pt x="394" y="449"/>
                  </a:lnTo>
                  <a:cubicBezTo>
                    <a:pt x="422" y="449"/>
                    <a:pt x="449" y="436"/>
                    <a:pt x="449" y="409"/>
                  </a:cubicBezTo>
                  <a:cubicBezTo>
                    <a:pt x="449" y="395"/>
                    <a:pt x="436" y="382"/>
                    <a:pt x="422" y="382"/>
                  </a:cubicBezTo>
                  <a:cubicBezTo>
                    <a:pt x="449" y="368"/>
                    <a:pt x="463" y="354"/>
                    <a:pt x="463" y="328"/>
                  </a:cubicBezTo>
                  <a:cubicBezTo>
                    <a:pt x="463" y="314"/>
                    <a:pt x="449" y="300"/>
                    <a:pt x="436" y="300"/>
                  </a:cubicBezTo>
                  <a:close/>
                  <a:moveTo>
                    <a:pt x="204" y="204"/>
                  </a:moveTo>
                  <a:lnTo>
                    <a:pt x="204" y="204"/>
                  </a:lnTo>
                  <a:cubicBezTo>
                    <a:pt x="163" y="246"/>
                    <a:pt x="123" y="300"/>
                    <a:pt x="123" y="300"/>
                  </a:cubicBezTo>
                  <a:cubicBezTo>
                    <a:pt x="123" y="314"/>
                    <a:pt x="123" y="314"/>
                    <a:pt x="109" y="314"/>
                  </a:cubicBezTo>
                  <a:lnTo>
                    <a:pt x="109" y="314"/>
                  </a:lnTo>
                  <a:cubicBezTo>
                    <a:pt x="95" y="300"/>
                    <a:pt x="95" y="300"/>
                    <a:pt x="95" y="286"/>
                  </a:cubicBezTo>
                  <a:cubicBezTo>
                    <a:pt x="95" y="286"/>
                    <a:pt x="135" y="218"/>
                    <a:pt x="191" y="191"/>
                  </a:cubicBezTo>
                  <a:cubicBezTo>
                    <a:pt x="204" y="177"/>
                    <a:pt x="218" y="191"/>
                    <a:pt x="218" y="191"/>
                  </a:cubicBezTo>
                  <a:cubicBezTo>
                    <a:pt x="218" y="204"/>
                    <a:pt x="218" y="204"/>
                    <a:pt x="204" y="204"/>
                  </a:cubicBezTo>
                  <a:close/>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grpSp>
      <p:grpSp>
        <p:nvGrpSpPr>
          <p:cNvPr id="75" name="Group 74">
            <a:extLst>
              <a:ext uri="{FF2B5EF4-FFF2-40B4-BE49-F238E27FC236}">
                <a16:creationId xmlns:a16="http://schemas.microsoft.com/office/drawing/2014/main" id="{29217E69-44CD-804E-9247-062909C9B88A}"/>
              </a:ext>
            </a:extLst>
          </p:cNvPr>
          <p:cNvGrpSpPr/>
          <p:nvPr userDrawn="1"/>
        </p:nvGrpSpPr>
        <p:grpSpPr>
          <a:xfrm>
            <a:off x="9165403" y="1764221"/>
            <a:ext cx="458165" cy="461381"/>
            <a:chOff x="15935700" y="10788544"/>
            <a:chExt cx="618722" cy="623064"/>
          </a:xfrm>
          <a:solidFill>
            <a:schemeClr val="accent1"/>
          </a:solidFill>
        </p:grpSpPr>
        <p:sp>
          <p:nvSpPr>
            <p:cNvPr id="76" name="Freeform 584">
              <a:extLst>
                <a:ext uri="{FF2B5EF4-FFF2-40B4-BE49-F238E27FC236}">
                  <a16:creationId xmlns:a16="http://schemas.microsoft.com/office/drawing/2014/main" id="{97EABC76-A233-8B47-86B5-8042B03890EE}"/>
                </a:ext>
              </a:extLst>
            </p:cNvPr>
            <p:cNvSpPr>
              <a:spLocks noChangeArrowheads="1"/>
            </p:cNvSpPr>
            <p:nvPr/>
          </p:nvSpPr>
          <p:spPr bwMode="auto">
            <a:xfrm>
              <a:off x="15935700" y="10788544"/>
              <a:ext cx="618722" cy="623064"/>
            </a:xfrm>
            <a:custGeom>
              <a:avLst/>
              <a:gdLst>
                <a:gd name="T0" fmla="*/ 641 w 654"/>
                <a:gd name="T1" fmla="*/ 258 h 655"/>
                <a:gd name="T2" fmla="*/ 341 w 654"/>
                <a:gd name="T3" fmla="*/ 13 h 655"/>
                <a:gd name="T4" fmla="*/ 68 w 654"/>
                <a:gd name="T5" fmla="*/ 258 h 655"/>
                <a:gd name="T6" fmla="*/ 0 w 654"/>
                <a:gd name="T7" fmla="*/ 258 h 655"/>
                <a:gd name="T8" fmla="*/ 0 w 654"/>
                <a:gd name="T9" fmla="*/ 654 h 655"/>
                <a:gd name="T10" fmla="*/ 653 w 654"/>
                <a:gd name="T11" fmla="*/ 654 h 655"/>
                <a:gd name="T12" fmla="*/ 641 w 654"/>
                <a:gd name="T13" fmla="*/ 258 h 655"/>
                <a:gd name="T14" fmla="*/ 327 w 654"/>
                <a:gd name="T15" fmla="*/ 55 h 655"/>
                <a:gd name="T16" fmla="*/ 122 w 654"/>
                <a:gd name="T17" fmla="*/ 258 h 655"/>
                <a:gd name="T18" fmla="*/ 96 w 654"/>
                <a:gd name="T19" fmla="*/ 558 h 655"/>
                <a:gd name="T20" fmla="*/ 54 w 654"/>
                <a:gd name="T21" fmla="*/ 545 h 655"/>
                <a:gd name="T22" fmla="*/ 110 w 654"/>
                <a:gd name="T23" fmla="*/ 545 h 655"/>
                <a:gd name="T24" fmla="*/ 110 w 654"/>
                <a:gd name="T25" fmla="*/ 477 h 655"/>
                <a:gd name="T26" fmla="*/ 122 w 654"/>
                <a:gd name="T27" fmla="*/ 381 h 655"/>
                <a:gd name="T28" fmla="*/ 150 w 654"/>
                <a:gd name="T29" fmla="*/ 409 h 655"/>
                <a:gd name="T30" fmla="*/ 82 w 654"/>
                <a:gd name="T31" fmla="*/ 422 h 655"/>
                <a:gd name="T32" fmla="*/ 164 w 654"/>
                <a:gd name="T33" fmla="*/ 504 h 655"/>
                <a:gd name="T34" fmla="*/ 313 w 654"/>
                <a:gd name="T35" fmla="*/ 558 h 655"/>
                <a:gd name="T36" fmla="*/ 287 w 654"/>
                <a:gd name="T37" fmla="*/ 504 h 655"/>
                <a:gd name="T38" fmla="*/ 205 w 654"/>
                <a:gd name="T39" fmla="*/ 558 h 655"/>
                <a:gd name="T40" fmla="*/ 245 w 654"/>
                <a:gd name="T41" fmla="*/ 381 h 655"/>
                <a:gd name="T42" fmla="*/ 341 w 654"/>
                <a:gd name="T43" fmla="*/ 558 h 655"/>
                <a:gd name="T44" fmla="*/ 462 w 654"/>
                <a:gd name="T45" fmla="*/ 558 h 655"/>
                <a:gd name="T46" fmla="*/ 368 w 654"/>
                <a:gd name="T47" fmla="*/ 558 h 655"/>
                <a:gd name="T48" fmla="*/ 382 w 654"/>
                <a:gd name="T49" fmla="*/ 381 h 655"/>
                <a:gd name="T50" fmla="*/ 462 w 654"/>
                <a:gd name="T51" fmla="*/ 545 h 655"/>
                <a:gd name="T52" fmla="*/ 585 w 654"/>
                <a:gd name="T53" fmla="*/ 558 h 655"/>
                <a:gd name="T54" fmla="*/ 490 w 654"/>
                <a:gd name="T55" fmla="*/ 558 h 655"/>
                <a:gd name="T56" fmla="*/ 585 w 654"/>
                <a:gd name="T57" fmla="*/ 381 h 655"/>
                <a:gd name="T58" fmla="*/ 518 w 654"/>
                <a:gd name="T59" fmla="*/ 395 h 655"/>
                <a:gd name="T60" fmla="*/ 585 w 654"/>
                <a:gd name="T61" fmla="*/ 449 h 655"/>
                <a:gd name="T62" fmla="*/ 518 w 654"/>
                <a:gd name="T63" fmla="*/ 477 h 655"/>
                <a:gd name="T64" fmla="*/ 585 w 654"/>
                <a:gd name="T65" fmla="*/ 545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54" h="655">
                  <a:moveTo>
                    <a:pt x="641" y="258"/>
                  </a:moveTo>
                  <a:lnTo>
                    <a:pt x="641" y="258"/>
                  </a:lnTo>
                  <a:cubicBezTo>
                    <a:pt x="585" y="258"/>
                    <a:pt x="585" y="258"/>
                    <a:pt x="585" y="258"/>
                  </a:cubicBezTo>
                  <a:cubicBezTo>
                    <a:pt x="341" y="13"/>
                    <a:pt x="341" y="13"/>
                    <a:pt x="341" y="13"/>
                  </a:cubicBezTo>
                  <a:cubicBezTo>
                    <a:pt x="327" y="0"/>
                    <a:pt x="313" y="0"/>
                    <a:pt x="313" y="13"/>
                  </a:cubicBezTo>
                  <a:cubicBezTo>
                    <a:pt x="68" y="258"/>
                    <a:pt x="68" y="258"/>
                    <a:pt x="68" y="258"/>
                  </a:cubicBezTo>
                  <a:cubicBezTo>
                    <a:pt x="0" y="258"/>
                    <a:pt x="0" y="258"/>
                    <a:pt x="0" y="258"/>
                  </a:cubicBezTo>
                  <a:lnTo>
                    <a:pt x="0" y="258"/>
                  </a:lnTo>
                  <a:cubicBezTo>
                    <a:pt x="0" y="654"/>
                    <a:pt x="0" y="654"/>
                    <a:pt x="0" y="654"/>
                  </a:cubicBezTo>
                  <a:lnTo>
                    <a:pt x="0" y="654"/>
                  </a:lnTo>
                  <a:cubicBezTo>
                    <a:pt x="641" y="654"/>
                    <a:pt x="641" y="654"/>
                    <a:pt x="641" y="654"/>
                  </a:cubicBezTo>
                  <a:cubicBezTo>
                    <a:pt x="653" y="654"/>
                    <a:pt x="653" y="654"/>
                    <a:pt x="653" y="654"/>
                  </a:cubicBezTo>
                  <a:cubicBezTo>
                    <a:pt x="653" y="258"/>
                    <a:pt x="653" y="258"/>
                    <a:pt x="653" y="258"/>
                  </a:cubicBezTo>
                  <a:cubicBezTo>
                    <a:pt x="653" y="258"/>
                    <a:pt x="653" y="258"/>
                    <a:pt x="641" y="258"/>
                  </a:cubicBezTo>
                  <a:close/>
                  <a:moveTo>
                    <a:pt x="327" y="55"/>
                  </a:moveTo>
                  <a:lnTo>
                    <a:pt x="327" y="55"/>
                  </a:lnTo>
                  <a:cubicBezTo>
                    <a:pt x="518" y="258"/>
                    <a:pt x="518" y="258"/>
                    <a:pt x="518" y="258"/>
                  </a:cubicBezTo>
                  <a:cubicBezTo>
                    <a:pt x="122" y="258"/>
                    <a:pt x="122" y="258"/>
                    <a:pt x="122" y="258"/>
                  </a:cubicBezTo>
                  <a:lnTo>
                    <a:pt x="327" y="55"/>
                  </a:lnTo>
                  <a:close/>
                  <a:moveTo>
                    <a:pt x="96" y="558"/>
                  </a:moveTo>
                  <a:lnTo>
                    <a:pt x="96" y="558"/>
                  </a:lnTo>
                  <a:cubicBezTo>
                    <a:pt x="82" y="558"/>
                    <a:pt x="68" y="558"/>
                    <a:pt x="54" y="545"/>
                  </a:cubicBezTo>
                  <a:cubicBezTo>
                    <a:pt x="68" y="531"/>
                    <a:pt x="68" y="531"/>
                    <a:pt x="68" y="531"/>
                  </a:cubicBezTo>
                  <a:cubicBezTo>
                    <a:pt x="68" y="531"/>
                    <a:pt x="82" y="545"/>
                    <a:pt x="110" y="545"/>
                  </a:cubicBezTo>
                  <a:cubicBezTo>
                    <a:pt x="122" y="545"/>
                    <a:pt x="136" y="531"/>
                    <a:pt x="136" y="517"/>
                  </a:cubicBezTo>
                  <a:cubicBezTo>
                    <a:pt x="136" y="489"/>
                    <a:pt x="136" y="489"/>
                    <a:pt x="110" y="477"/>
                  </a:cubicBezTo>
                  <a:cubicBezTo>
                    <a:pt x="82" y="463"/>
                    <a:pt x="54" y="449"/>
                    <a:pt x="54" y="422"/>
                  </a:cubicBezTo>
                  <a:cubicBezTo>
                    <a:pt x="54" y="395"/>
                    <a:pt x="82" y="381"/>
                    <a:pt x="122" y="381"/>
                  </a:cubicBezTo>
                  <a:cubicBezTo>
                    <a:pt x="136" y="381"/>
                    <a:pt x="150" y="381"/>
                    <a:pt x="164" y="381"/>
                  </a:cubicBezTo>
                  <a:cubicBezTo>
                    <a:pt x="150" y="409"/>
                    <a:pt x="150" y="409"/>
                    <a:pt x="150" y="409"/>
                  </a:cubicBezTo>
                  <a:cubicBezTo>
                    <a:pt x="150" y="395"/>
                    <a:pt x="136" y="395"/>
                    <a:pt x="122" y="395"/>
                  </a:cubicBezTo>
                  <a:cubicBezTo>
                    <a:pt x="96" y="395"/>
                    <a:pt x="82" y="409"/>
                    <a:pt x="82" y="422"/>
                  </a:cubicBezTo>
                  <a:cubicBezTo>
                    <a:pt x="82" y="435"/>
                    <a:pt x="96" y="449"/>
                    <a:pt x="122" y="449"/>
                  </a:cubicBezTo>
                  <a:cubicBezTo>
                    <a:pt x="150" y="463"/>
                    <a:pt x="164" y="477"/>
                    <a:pt x="164" y="504"/>
                  </a:cubicBezTo>
                  <a:cubicBezTo>
                    <a:pt x="164" y="531"/>
                    <a:pt x="150" y="558"/>
                    <a:pt x="96" y="558"/>
                  </a:cubicBezTo>
                  <a:close/>
                  <a:moveTo>
                    <a:pt x="313" y="558"/>
                  </a:moveTo>
                  <a:lnTo>
                    <a:pt x="313" y="558"/>
                  </a:lnTo>
                  <a:cubicBezTo>
                    <a:pt x="287" y="504"/>
                    <a:pt x="287" y="504"/>
                    <a:pt x="287" y="504"/>
                  </a:cubicBezTo>
                  <a:cubicBezTo>
                    <a:pt x="231" y="504"/>
                    <a:pt x="231" y="504"/>
                    <a:pt x="231" y="504"/>
                  </a:cubicBezTo>
                  <a:cubicBezTo>
                    <a:pt x="205" y="558"/>
                    <a:pt x="205" y="558"/>
                    <a:pt x="205" y="558"/>
                  </a:cubicBezTo>
                  <a:cubicBezTo>
                    <a:pt x="177" y="558"/>
                    <a:pt x="177" y="558"/>
                    <a:pt x="177" y="558"/>
                  </a:cubicBezTo>
                  <a:cubicBezTo>
                    <a:pt x="245" y="381"/>
                    <a:pt x="245" y="381"/>
                    <a:pt x="245" y="381"/>
                  </a:cubicBezTo>
                  <a:cubicBezTo>
                    <a:pt x="273" y="381"/>
                    <a:pt x="273" y="381"/>
                    <a:pt x="273" y="381"/>
                  </a:cubicBezTo>
                  <a:cubicBezTo>
                    <a:pt x="341" y="558"/>
                    <a:pt x="341" y="558"/>
                    <a:pt x="341" y="558"/>
                  </a:cubicBezTo>
                  <a:lnTo>
                    <a:pt x="313" y="558"/>
                  </a:lnTo>
                  <a:close/>
                  <a:moveTo>
                    <a:pt x="462" y="558"/>
                  </a:moveTo>
                  <a:lnTo>
                    <a:pt x="462" y="558"/>
                  </a:lnTo>
                  <a:cubicBezTo>
                    <a:pt x="368" y="558"/>
                    <a:pt x="368" y="558"/>
                    <a:pt x="368" y="558"/>
                  </a:cubicBezTo>
                  <a:cubicBezTo>
                    <a:pt x="368" y="381"/>
                    <a:pt x="368" y="381"/>
                    <a:pt x="368" y="381"/>
                  </a:cubicBezTo>
                  <a:cubicBezTo>
                    <a:pt x="382" y="381"/>
                    <a:pt x="382" y="381"/>
                    <a:pt x="382" y="381"/>
                  </a:cubicBezTo>
                  <a:cubicBezTo>
                    <a:pt x="382" y="545"/>
                    <a:pt x="382" y="545"/>
                    <a:pt x="382" y="545"/>
                  </a:cubicBezTo>
                  <a:cubicBezTo>
                    <a:pt x="462" y="545"/>
                    <a:pt x="462" y="545"/>
                    <a:pt x="462" y="545"/>
                  </a:cubicBezTo>
                  <a:lnTo>
                    <a:pt x="462" y="558"/>
                  </a:lnTo>
                  <a:close/>
                  <a:moveTo>
                    <a:pt x="585" y="558"/>
                  </a:moveTo>
                  <a:lnTo>
                    <a:pt x="585" y="558"/>
                  </a:lnTo>
                  <a:cubicBezTo>
                    <a:pt x="490" y="558"/>
                    <a:pt x="490" y="558"/>
                    <a:pt x="490" y="558"/>
                  </a:cubicBezTo>
                  <a:cubicBezTo>
                    <a:pt x="490" y="381"/>
                    <a:pt x="490" y="381"/>
                    <a:pt x="490" y="381"/>
                  </a:cubicBezTo>
                  <a:cubicBezTo>
                    <a:pt x="585" y="381"/>
                    <a:pt x="585" y="381"/>
                    <a:pt x="585" y="381"/>
                  </a:cubicBezTo>
                  <a:cubicBezTo>
                    <a:pt x="585" y="395"/>
                    <a:pt x="585" y="395"/>
                    <a:pt x="585" y="395"/>
                  </a:cubicBezTo>
                  <a:cubicBezTo>
                    <a:pt x="518" y="395"/>
                    <a:pt x="518" y="395"/>
                    <a:pt x="518" y="395"/>
                  </a:cubicBezTo>
                  <a:cubicBezTo>
                    <a:pt x="518" y="449"/>
                    <a:pt x="518" y="449"/>
                    <a:pt x="518" y="449"/>
                  </a:cubicBezTo>
                  <a:cubicBezTo>
                    <a:pt x="585" y="449"/>
                    <a:pt x="585" y="449"/>
                    <a:pt x="585" y="449"/>
                  </a:cubicBezTo>
                  <a:cubicBezTo>
                    <a:pt x="585" y="477"/>
                    <a:pt x="585" y="477"/>
                    <a:pt x="585" y="477"/>
                  </a:cubicBezTo>
                  <a:cubicBezTo>
                    <a:pt x="518" y="477"/>
                    <a:pt x="518" y="477"/>
                    <a:pt x="518" y="477"/>
                  </a:cubicBezTo>
                  <a:cubicBezTo>
                    <a:pt x="518" y="545"/>
                    <a:pt x="518" y="545"/>
                    <a:pt x="518" y="545"/>
                  </a:cubicBezTo>
                  <a:cubicBezTo>
                    <a:pt x="585" y="545"/>
                    <a:pt x="585" y="545"/>
                    <a:pt x="585" y="545"/>
                  </a:cubicBezTo>
                  <a:lnTo>
                    <a:pt x="585" y="558"/>
                  </a:lnTo>
                  <a:close/>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77" name="Freeform 585">
              <a:extLst>
                <a:ext uri="{FF2B5EF4-FFF2-40B4-BE49-F238E27FC236}">
                  <a16:creationId xmlns:a16="http://schemas.microsoft.com/office/drawing/2014/main" id="{94B1C2BE-574E-BC4E-9654-E136EC41CA29}"/>
                </a:ext>
              </a:extLst>
            </p:cNvPr>
            <p:cNvSpPr>
              <a:spLocks noChangeArrowheads="1"/>
            </p:cNvSpPr>
            <p:nvPr/>
          </p:nvSpPr>
          <p:spPr bwMode="auto">
            <a:xfrm>
              <a:off x="16153089" y="11160709"/>
              <a:ext cx="54346" cy="79454"/>
            </a:xfrm>
            <a:custGeom>
              <a:avLst/>
              <a:gdLst>
                <a:gd name="T0" fmla="*/ 28 w 57"/>
                <a:gd name="T1" fmla="*/ 0 h 83"/>
                <a:gd name="T2" fmla="*/ 28 w 57"/>
                <a:gd name="T3" fmla="*/ 0 h 83"/>
                <a:gd name="T4" fmla="*/ 28 w 57"/>
                <a:gd name="T5" fmla="*/ 0 h 83"/>
                <a:gd name="T6" fmla="*/ 14 w 57"/>
                <a:gd name="T7" fmla="*/ 40 h 83"/>
                <a:gd name="T8" fmla="*/ 0 w 57"/>
                <a:gd name="T9" fmla="*/ 82 h 83"/>
                <a:gd name="T10" fmla="*/ 56 w 57"/>
                <a:gd name="T11" fmla="*/ 82 h 83"/>
                <a:gd name="T12" fmla="*/ 42 w 57"/>
                <a:gd name="T13" fmla="*/ 40 h 83"/>
                <a:gd name="T14" fmla="*/ 28 w 57"/>
                <a:gd name="T15" fmla="*/ 0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83">
                  <a:moveTo>
                    <a:pt x="28" y="0"/>
                  </a:moveTo>
                  <a:lnTo>
                    <a:pt x="28" y="0"/>
                  </a:lnTo>
                  <a:lnTo>
                    <a:pt x="28" y="0"/>
                  </a:lnTo>
                  <a:cubicBezTo>
                    <a:pt x="28" y="14"/>
                    <a:pt x="28" y="27"/>
                    <a:pt x="14" y="40"/>
                  </a:cubicBezTo>
                  <a:cubicBezTo>
                    <a:pt x="0" y="82"/>
                    <a:pt x="0" y="82"/>
                    <a:pt x="0" y="82"/>
                  </a:cubicBezTo>
                  <a:cubicBezTo>
                    <a:pt x="56" y="82"/>
                    <a:pt x="56" y="82"/>
                    <a:pt x="56" y="82"/>
                  </a:cubicBezTo>
                  <a:cubicBezTo>
                    <a:pt x="42" y="40"/>
                    <a:pt x="42" y="40"/>
                    <a:pt x="42" y="40"/>
                  </a:cubicBezTo>
                  <a:cubicBezTo>
                    <a:pt x="28" y="27"/>
                    <a:pt x="28" y="14"/>
                    <a:pt x="28" y="0"/>
                  </a:cubicBezTo>
                </a:path>
              </a:pathLst>
            </a:custGeom>
            <a:grpFill/>
            <a:ln>
              <a:noFill/>
            </a:ln>
            <a:effectLst/>
          </p:spPr>
          <p:txBody>
            <a:bodyPr wrap="none" lIns="76183" tIns="38092" rIns="76183" bIns="38092"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endParaRPr>
            </a:p>
          </p:txBody>
        </p:sp>
      </p:grpSp>
      <p:sp>
        <p:nvSpPr>
          <p:cNvPr id="38" name="TextBox 37">
            <a:extLst>
              <a:ext uri="{FF2B5EF4-FFF2-40B4-BE49-F238E27FC236}">
                <a16:creationId xmlns:a16="http://schemas.microsoft.com/office/drawing/2014/main" id="{DA7E0E16-1ED3-CC4F-96DA-03E819416268}"/>
              </a:ext>
            </a:extLst>
          </p:cNvPr>
          <p:cNvSpPr txBox="1"/>
          <p:nvPr userDrawn="1"/>
        </p:nvSpPr>
        <p:spPr>
          <a:xfrm>
            <a:off x="2483326" y="2314024"/>
            <a:ext cx="659165" cy="277005"/>
          </a:xfrm>
          <a:prstGeom prst="rect">
            <a:avLst/>
          </a:prstGeom>
          <a:noFill/>
        </p:spPr>
        <p:txBody>
          <a:bodyPr wrap="none" lIns="91445" tIns="45723" rIns="91445" bIns="457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d-ID" sz="1200" b="1" i="0" u="none" strike="noStrike" kern="1200" cap="none" spc="0" normalizeH="0" baseline="0" noProof="0">
                <a:ln>
                  <a:noFill/>
                </a:ln>
                <a:solidFill>
                  <a:schemeClr val="accent1"/>
                </a:solidFill>
                <a:effectLst>
                  <a:outerShdw blurRad="63500" sx="102000" sy="102000" algn="ctr" rotWithShape="0">
                    <a:prstClr val="black">
                      <a:alpha val="40000"/>
                    </a:prstClr>
                  </a:outerShdw>
                </a:effectLst>
                <a:uLnTx/>
                <a:uFillTx/>
                <a:latin typeface="Ubuntu" panose="020B0504030602030204" pitchFamily="34" charset="0"/>
                <a:ea typeface="+mn-ea"/>
                <a:cs typeface="Segoe UI" panose="020B0502040204020203" pitchFamily="34" charset="0"/>
              </a:rPr>
              <a:t>Global</a:t>
            </a:r>
          </a:p>
        </p:txBody>
      </p:sp>
      <p:sp>
        <p:nvSpPr>
          <p:cNvPr id="39" name="TextBox 38">
            <a:extLst>
              <a:ext uri="{FF2B5EF4-FFF2-40B4-BE49-F238E27FC236}">
                <a16:creationId xmlns:a16="http://schemas.microsoft.com/office/drawing/2014/main" id="{1C3A41BB-A51D-A14A-9324-C7CADF362CAB}"/>
              </a:ext>
            </a:extLst>
          </p:cNvPr>
          <p:cNvSpPr txBox="1"/>
          <p:nvPr userDrawn="1"/>
        </p:nvSpPr>
        <p:spPr>
          <a:xfrm>
            <a:off x="3849632" y="2314024"/>
            <a:ext cx="1234643" cy="277005"/>
          </a:xfrm>
          <a:prstGeom prst="rect">
            <a:avLst/>
          </a:prstGeom>
          <a:noFill/>
        </p:spPr>
        <p:txBody>
          <a:bodyPr wrap="none" lIns="91445" tIns="45723" rIns="91445" bIns="457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d-ID" sz="1200" b="1" i="0" u="none" strike="noStrike" kern="1200" cap="none" spc="0" normalizeH="0" baseline="0" noProof="0">
                <a:ln>
                  <a:noFill/>
                </a:ln>
                <a:solidFill>
                  <a:schemeClr val="accent1"/>
                </a:solidFill>
                <a:effectLst>
                  <a:outerShdw blurRad="63500" sx="102000" sy="102000" algn="ctr" rotWithShape="0">
                    <a:prstClr val="black">
                      <a:alpha val="40000"/>
                    </a:prstClr>
                  </a:outerShdw>
                </a:effectLst>
                <a:uLnTx/>
                <a:uFillTx/>
                <a:latin typeface="Ubuntu" panose="020B0504030602030204" pitchFamily="34" charset="0"/>
                <a:ea typeface="+mn-ea"/>
                <a:cs typeface="Segoe UI" panose="020B0502040204020203" pitchFamily="34" charset="0"/>
              </a:rPr>
              <a:t>Infrastructure</a:t>
            </a:r>
          </a:p>
        </p:txBody>
      </p:sp>
      <p:sp>
        <p:nvSpPr>
          <p:cNvPr id="40" name="TextBox 39">
            <a:extLst>
              <a:ext uri="{FF2B5EF4-FFF2-40B4-BE49-F238E27FC236}">
                <a16:creationId xmlns:a16="http://schemas.microsoft.com/office/drawing/2014/main" id="{4BF190A3-11D9-3149-81D2-7FFB5AE37F1D}"/>
              </a:ext>
            </a:extLst>
          </p:cNvPr>
          <p:cNvSpPr txBox="1"/>
          <p:nvPr userDrawn="1"/>
        </p:nvSpPr>
        <p:spPr>
          <a:xfrm>
            <a:off x="5545456" y="2314024"/>
            <a:ext cx="1112815" cy="277005"/>
          </a:xfrm>
          <a:prstGeom prst="rect">
            <a:avLst/>
          </a:prstGeom>
          <a:noFill/>
        </p:spPr>
        <p:txBody>
          <a:bodyPr wrap="none" lIns="91445" tIns="45723" rIns="91445" bIns="457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d-ID" sz="1200" b="1" i="0" u="none" strike="noStrike" kern="1200" cap="none" spc="0" normalizeH="0" baseline="0" noProof="0">
                <a:ln>
                  <a:noFill/>
                </a:ln>
                <a:solidFill>
                  <a:schemeClr val="accent1"/>
                </a:solidFill>
                <a:effectLst>
                  <a:outerShdw blurRad="63500" sx="102000" sy="102000" algn="ctr" rotWithShape="0">
                    <a:prstClr val="black">
                      <a:alpha val="40000"/>
                    </a:prstClr>
                  </a:outerShdw>
                </a:effectLst>
                <a:uLnTx/>
                <a:uFillTx/>
                <a:latin typeface="Ubuntu" panose="020B0504030602030204" pitchFamily="34" charset="0"/>
                <a:ea typeface="+mn-ea"/>
                <a:cs typeface="Segoe UI" panose="020B0502040204020203" pitchFamily="34" charset="0"/>
              </a:rPr>
              <a:t>Relationship</a:t>
            </a:r>
          </a:p>
        </p:txBody>
      </p:sp>
      <p:sp>
        <p:nvSpPr>
          <p:cNvPr id="41" name="TextBox 40">
            <a:extLst>
              <a:ext uri="{FF2B5EF4-FFF2-40B4-BE49-F238E27FC236}">
                <a16:creationId xmlns:a16="http://schemas.microsoft.com/office/drawing/2014/main" id="{C9850BEB-50E2-5E41-BE7D-2FC460CBAB32}"/>
              </a:ext>
            </a:extLst>
          </p:cNvPr>
          <p:cNvSpPr txBox="1"/>
          <p:nvPr userDrawn="1"/>
        </p:nvSpPr>
        <p:spPr>
          <a:xfrm>
            <a:off x="7373114" y="2314024"/>
            <a:ext cx="729697" cy="277005"/>
          </a:xfrm>
          <a:prstGeom prst="rect">
            <a:avLst/>
          </a:prstGeom>
          <a:noFill/>
        </p:spPr>
        <p:txBody>
          <a:bodyPr wrap="none" lIns="91445" tIns="45723" rIns="91445" bIns="457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d-ID" sz="1200" b="1" i="0" u="none" strike="noStrike" kern="1200" cap="none" spc="0" normalizeH="0" baseline="0" noProof="0">
                <a:ln>
                  <a:noFill/>
                </a:ln>
                <a:solidFill>
                  <a:schemeClr val="accent1"/>
                </a:solidFill>
                <a:effectLst>
                  <a:outerShdw blurRad="63500" sx="102000" sy="102000" algn="ctr" rotWithShape="0">
                    <a:prstClr val="black">
                      <a:alpha val="40000"/>
                    </a:prstClr>
                  </a:outerShdw>
                </a:effectLst>
                <a:uLnTx/>
                <a:uFillTx/>
                <a:latin typeface="Ubuntu" panose="020B0504030602030204" pitchFamily="34" charset="0"/>
                <a:ea typeface="+mn-ea"/>
                <a:cs typeface="Segoe UI" panose="020B0502040204020203" pitchFamily="34" charset="0"/>
              </a:rPr>
              <a:t>Quality</a:t>
            </a:r>
          </a:p>
        </p:txBody>
      </p:sp>
      <p:sp>
        <p:nvSpPr>
          <p:cNvPr id="42" name="TextBox 41">
            <a:extLst>
              <a:ext uri="{FF2B5EF4-FFF2-40B4-BE49-F238E27FC236}">
                <a16:creationId xmlns:a16="http://schemas.microsoft.com/office/drawing/2014/main" id="{3CA28BCD-190F-AB40-82E7-7823C546DFB0}"/>
              </a:ext>
            </a:extLst>
          </p:cNvPr>
          <p:cNvSpPr txBox="1"/>
          <p:nvPr userDrawn="1"/>
        </p:nvSpPr>
        <p:spPr>
          <a:xfrm>
            <a:off x="8954296" y="2314024"/>
            <a:ext cx="880380" cy="277005"/>
          </a:xfrm>
          <a:prstGeom prst="rect">
            <a:avLst/>
          </a:prstGeom>
          <a:noFill/>
        </p:spPr>
        <p:txBody>
          <a:bodyPr wrap="none" lIns="91445" tIns="45723" rIns="91445" bIns="457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1"/>
                </a:solidFill>
                <a:effectLst>
                  <a:outerShdw blurRad="63500" sx="102000" sy="102000" algn="ctr" rotWithShape="0">
                    <a:prstClr val="black">
                      <a:alpha val="40000"/>
                    </a:prstClr>
                  </a:outerShdw>
                </a:effectLst>
                <a:uLnTx/>
                <a:uFillTx/>
                <a:latin typeface="Ubuntu" panose="020B0504030602030204" pitchFamily="34" charset="0"/>
                <a:ea typeface="+mn-ea"/>
                <a:cs typeface="Segoe UI" panose="020B0502040204020203" pitchFamily="34" charset="0"/>
              </a:rPr>
              <a:t>Solutions</a:t>
            </a:r>
            <a:endParaRPr kumimoji="0" lang="id-ID" sz="1200" b="1" i="0" u="none" strike="noStrike" kern="1200" cap="none" spc="0" normalizeH="0" baseline="0" noProof="0">
              <a:ln>
                <a:noFill/>
              </a:ln>
              <a:solidFill>
                <a:schemeClr val="accent1"/>
              </a:solidFill>
              <a:effectLst>
                <a:outerShdw blurRad="63500" sx="102000" sy="102000" algn="ctr" rotWithShape="0">
                  <a:prstClr val="black">
                    <a:alpha val="40000"/>
                  </a:prstClr>
                </a:outerShdw>
              </a:effectLst>
              <a:uLnTx/>
              <a:uFillTx/>
              <a:latin typeface="Ubuntu" panose="020B0504030602030204" pitchFamily="34" charset="0"/>
              <a:ea typeface="+mn-ea"/>
              <a:cs typeface="Segoe UI" panose="020B0502040204020203" pitchFamily="34" charset="0"/>
            </a:endParaRPr>
          </a:p>
        </p:txBody>
      </p:sp>
      <p:pic>
        <p:nvPicPr>
          <p:cNvPr id="4" name="Picture 3">
            <a:extLst>
              <a:ext uri="{FF2B5EF4-FFF2-40B4-BE49-F238E27FC236}">
                <a16:creationId xmlns:a16="http://schemas.microsoft.com/office/drawing/2014/main" id="{25556A89-EC25-9441-A705-CAE53DF23178}"/>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p:blipFill>
        <p:spPr>
          <a:xfrm>
            <a:off x="4796589" y="455223"/>
            <a:ext cx="2598822" cy="643902"/>
          </a:xfrm>
          <a:prstGeom prst="rect">
            <a:avLst/>
          </a:prstGeom>
        </p:spPr>
      </p:pic>
      <p:sp>
        <p:nvSpPr>
          <p:cNvPr id="78" name="Rectangle 4">
            <a:extLst>
              <a:ext uri="{FF2B5EF4-FFF2-40B4-BE49-F238E27FC236}">
                <a16:creationId xmlns:a16="http://schemas.microsoft.com/office/drawing/2014/main" id="{A2FE3351-8743-6E42-B1D9-B6AA6DAA7AD1}"/>
              </a:ext>
            </a:extLst>
          </p:cNvPr>
          <p:cNvSpPr/>
          <p:nvPr userDrawn="1"/>
        </p:nvSpPr>
        <p:spPr>
          <a:xfrm>
            <a:off x="0" y="3191745"/>
            <a:ext cx="12192000" cy="3599347"/>
          </a:xfrm>
          <a:prstGeom prst="rect">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6" name="Rectangle 4">
            <a:extLst>
              <a:ext uri="{FF2B5EF4-FFF2-40B4-BE49-F238E27FC236}">
                <a16:creationId xmlns:a16="http://schemas.microsoft.com/office/drawing/2014/main" id="{43B7850C-A6C5-DE49-AAF1-645666DE574C}"/>
              </a:ext>
            </a:extLst>
          </p:cNvPr>
          <p:cNvSpPr/>
          <p:nvPr userDrawn="1"/>
        </p:nvSpPr>
        <p:spPr>
          <a:xfrm>
            <a:off x="0" y="3258653"/>
            <a:ext cx="12192000" cy="3599347"/>
          </a:xfrm>
          <a:prstGeom prst="rect">
            <a:avLst/>
          </a:prstGeom>
          <a:gradFill flip="none" rotWithShape="1">
            <a:gsLst>
              <a:gs pos="0">
                <a:schemeClr val="accent1"/>
              </a:gs>
              <a:gs pos="100000">
                <a:srgbClr val="001E36"/>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Subtitle 2">
            <a:extLst>
              <a:ext uri="{FF2B5EF4-FFF2-40B4-BE49-F238E27FC236}">
                <a16:creationId xmlns:a16="http://schemas.microsoft.com/office/drawing/2014/main" id="{F1CCB20F-ADBB-D449-BEA2-329FE513015B}"/>
              </a:ext>
            </a:extLst>
          </p:cNvPr>
          <p:cNvSpPr txBox="1">
            <a:spLocks/>
          </p:cNvSpPr>
          <p:nvPr userDrawn="1"/>
        </p:nvSpPr>
        <p:spPr>
          <a:xfrm>
            <a:off x="211616" y="3609880"/>
            <a:ext cx="2670194" cy="914076"/>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Segoe UI" panose="020B0502040204020203" pitchFamily="34" charset="0"/>
              </a:rPr>
              <a:t>US Headquarters</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fr-FR"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55 Shuman Blvd, Suite 275, Naperville, IL 60563 USA.</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fr-FR"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Tel: +1.630.355.6292</a:t>
            </a:r>
            <a:endPar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endParaRPr>
          </a:p>
        </p:txBody>
      </p:sp>
      <p:sp>
        <p:nvSpPr>
          <p:cNvPr id="13" name="Subtitle 2">
            <a:extLst>
              <a:ext uri="{FF2B5EF4-FFF2-40B4-BE49-F238E27FC236}">
                <a16:creationId xmlns:a16="http://schemas.microsoft.com/office/drawing/2014/main" id="{96B331B8-E999-8547-AB5D-4132C5757E14}"/>
              </a:ext>
            </a:extLst>
          </p:cNvPr>
          <p:cNvSpPr txBox="1">
            <a:spLocks/>
          </p:cNvSpPr>
          <p:nvPr userDrawn="1"/>
        </p:nvSpPr>
        <p:spPr>
          <a:xfrm>
            <a:off x="3198360" y="3609880"/>
            <a:ext cx="2670194" cy="914076"/>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Segoe UI" panose="020B0502040204020203" pitchFamily="34" charset="0"/>
              </a:rPr>
              <a:t>Australia Office</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Suite 504, 365 Little Collins Street, Melbourne Victoria 3000, Australia.</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Tel: +613 9021 6896 </a:t>
            </a:r>
          </a:p>
        </p:txBody>
      </p:sp>
      <p:sp>
        <p:nvSpPr>
          <p:cNvPr id="14" name="Subtitle 2">
            <a:extLst>
              <a:ext uri="{FF2B5EF4-FFF2-40B4-BE49-F238E27FC236}">
                <a16:creationId xmlns:a16="http://schemas.microsoft.com/office/drawing/2014/main" id="{C71DA8AF-9160-BA42-9FE3-70E3085C6534}"/>
              </a:ext>
            </a:extLst>
          </p:cNvPr>
          <p:cNvSpPr txBox="1">
            <a:spLocks/>
          </p:cNvSpPr>
          <p:nvPr userDrawn="1"/>
        </p:nvSpPr>
        <p:spPr>
          <a:xfrm>
            <a:off x="6185104" y="3609880"/>
            <a:ext cx="2670194" cy="1083353"/>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Segoe UI" panose="020B0502040204020203" pitchFamily="34" charset="0"/>
              </a:rPr>
              <a:t>South Africa Office</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3rd Floor, 5 Sturdee Ave 2196 Rosebank, Johannesburg, Gauteng, South Africa</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Tel: +27.10.500.8120</a:t>
            </a:r>
          </a:p>
        </p:txBody>
      </p:sp>
      <p:sp>
        <p:nvSpPr>
          <p:cNvPr id="15" name="Subtitle 2">
            <a:extLst>
              <a:ext uri="{FF2B5EF4-FFF2-40B4-BE49-F238E27FC236}">
                <a16:creationId xmlns:a16="http://schemas.microsoft.com/office/drawing/2014/main" id="{D34FC6ED-7EEE-A54D-BAFE-9E19C172297A}"/>
              </a:ext>
            </a:extLst>
          </p:cNvPr>
          <p:cNvSpPr txBox="1">
            <a:spLocks/>
          </p:cNvSpPr>
          <p:nvPr userDrawn="1"/>
        </p:nvSpPr>
        <p:spPr>
          <a:xfrm>
            <a:off x="9171849" y="3609880"/>
            <a:ext cx="2670194" cy="1083353"/>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Segoe UI" panose="020B0502040204020203" pitchFamily="34" charset="0"/>
              </a:rPr>
              <a:t>India Office</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Hallmark Towers, 7th Floor, No: 35 (SP), Developed Plot Estate, Guindy, Chennai , India –  600032</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Tel: +91 044 4230 1500 – 1515</a:t>
            </a:r>
          </a:p>
        </p:txBody>
      </p:sp>
      <p:sp>
        <p:nvSpPr>
          <p:cNvPr id="16" name="Subtitle 2">
            <a:extLst>
              <a:ext uri="{FF2B5EF4-FFF2-40B4-BE49-F238E27FC236}">
                <a16:creationId xmlns:a16="http://schemas.microsoft.com/office/drawing/2014/main" id="{9812FAB7-D4B1-E14B-80D3-3649EA516EA2}"/>
              </a:ext>
            </a:extLst>
          </p:cNvPr>
          <p:cNvSpPr txBox="1">
            <a:spLocks/>
          </p:cNvSpPr>
          <p:nvPr userDrawn="1"/>
        </p:nvSpPr>
        <p:spPr>
          <a:xfrm>
            <a:off x="211616" y="4812543"/>
            <a:ext cx="2670194" cy="914076"/>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Segoe UI" panose="020B0502040204020203" pitchFamily="34" charset="0"/>
              </a:rPr>
              <a:t>UK Office</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fr-FR"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RC Technologies Limited </a:t>
            </a: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20-22 Wenlock Road, London, UK N1 7GU</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Tel: +44 203 818 5902</a:t>
            </a:r>
          </a:p>
        </p:txBody>
      </p:sp>
      <p:sp>
        <p:nvSpPr>
          <p:cNvPr id="17" name="Subtitle 2">
            <a:extLst>
              <a:ext uri="{FF2B5EF4-FFF2-40B4-BE49-F238E27FC236}">
                <a16:creationId xmlns:a16="http://schemas.microsoft.com/office/drawing/2014/main" id="{D0696BCB-0061-4E47-8179-BBEA4256AB1A}"/>
              </a:ext>
            </a:extLst>
          </p:cNvPr>
          <p:cNvSpPr txBox="1">
            <a:spLocks/>
          </p:cNvSpPr>
          <p:nvPr userDrawn="1"/>
        </p:nvSpPr>
        <p:spPr>
          <a:xfrm>
            <a:off x="3198360" y="4812543"/>
            <a:ext cx="2670194" cy="880221"/>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400" b="1"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Canada Office</a:t>
            </a:r>
          </a:p>
          <a:p>
            <a:pPr marL="0" lvl="0" indent="0" algn="ctr">
              <a:buNone/>
              <a:defRPr/>
            </a:pPr>
            <a:r>
              <a:rPr lang="en-US" sz="1100">
                <a:solidFill>
                  <a:schemeClr val="bg1"/>
                </a:solidFill>
                <a:latin typeface="Roboto" panose="02000000000000000000" pitchFamily="2" charset="0"/>
                <a:ea typeface="Roboto" panose="02000000000000000000" pitchFamily="2" charset="0"/>
                <a:cs typeface="Segoe UI" panose="020B0502040204020203" pitchFamily="34" charset="0"/>
              </a:rPr>
              <a:t>Ontario, 6733 Mississauga Rd, Suite 601, Mississauga, ON L5N 6J5</a:t>
            </a:r>
            <a:br>
              <a:rPr lang="en-US" sz="1100">
                <a:solidFill>
                  <a:schemeClr val="bg1"/>
                </a:solidFill>
                <a:latin typeface="Roboto" panose="02000000000000000000" pitchFamily="2" charset="0"/>
                <a:ea typeface="Roboto" panose="02000000000000000000" pitchFamily="2" charset="0"/>
                <a:cs typeface="Segoe UI" panose="020B0502040204020203" pitchFamily="34" charset="0"/>
              </a:rPr>
            </a:br>
            <a:r>
              <a:rPr lang="en-US" sz="1100">
                <a:solidFill>
                  <a:schemeClr val="bg1"/>
                </a:solidFill>
                <a:latin typeface="Roboto" panose="02000000000000000000" pitchFamily="2" charset="0"/>
                <a:ea typeface="Roboto" panose="02000000000000000000" pitchFamily="2" charset="0"/>
                <a:cs typeface="Segoe UI" panose="020B0502040204020203" pitchFamily="34" charset="0"/>
              </a:rPr>
              <a:t>Tel: +1 647 714 8369</a:t>
            </a:r>
          </a:p>
        </p:txBody>
      </p:sp>
      <p:sp>
        <p:nvSpPr>
          <p:cNvPr id="18" name="Subtitle 2">
            <a:extLst>
              <a:ext uri="{FF2B5EF4-FFF2-40B4-BE49-F238E27FC236}">
                <a16:creationId xmlns:a16="http://schemas.microsoft.com/office/drawing/2014/main" id="{B596D7BA-43D1-734A-9A27-9A9E24C3C92F}"/>
              </a:ext>
            </a:extLst>
          </p:cNvPr>
          <p:cNvSpPr txBox="1">
            <a:spLocks/>
          </p:cNvSpPr>
          <p:nvPr userDrawn="1"/>
        </p:nvSpPr>
        <p:spPr>
          <a:xfrm>
            <a:off x="6185104" y="4812543"/>
            <a:ext cx="2670194" cy="1083353"/>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Segoe UI" panose="020B0502040204020203" pitchFamily="34" charset="0"/>
              </a:rPr>
              <a:t>Saudi Arabia Office</a:t>
            </a:r>
          </a:p>
          <a:p>
            <a:pPr marL="0" lvl="0" indent="0" algn="ctr">
              <a:buNone/>
              <a:defRPr/>
            </a:pPr>
            <a:r>
              <a:rPr lang="en-US" sz="1100">
                <a:solidFill>
                  <a:schemeClr val="bg1"/>
                </a:solidFill>
                <a:latin typeface="Roboto" panose="02000000000000000000" pitchFamily="2" charset="0"/>
                <a:ea typeface="Roboto" panose="02000000000000000000" pitchFamily="2" charset="0"/>
                <a:cs typeface="Segoe UI" panose="020B0502040204020203" pitchFamily="34" charset="0"/>
              </a:rPr>
              <a:t>Office # 1109, 1st floor, </a:t>
            </a:r>
            <a:r>
              <a:rPr lang="en-US" sz="1100" err="1">
                <a:solidFill>
                  <a:schemeClr val="bg1"/>
                </a:solidFill>
                <a:latin typeface="Roboto" panose="02000000000000000000" pitchFamily="2" charset="0"/>
                <a:ea typeface="Roboto" panose="02000000000000000000" pitchFamily="2" charset="0"/>
                <a:cs typeface="Segoe UI" panose="020B0502040204020203" pitchFamily="34" charset="0"/>
              </a:rPr>
              <a:t>Alsafwa</a:t>
            </a:r>
            <a:r>
              <a:rPr lang="en-US" sz="1100">
                <a:solidFill>
                  <a:schemeClr val="bg1"/>
                </a:solidFill>
                <a:latin typeface="Roboto" panose="02000000000000000000" pitchFamily="2" charset="0"/>
                <a:ea typeface="Roboto" panose="02000000000000000000" pitchFamily="2" charset="0"/>
                <a:cs typeface="Segoe UI" panose="020B0502040204020203" pitchFamily="34" charset="0"/>
              </a:rPr>
              <a:t> building-Gate 1, </a:t>
            </a:r>
            <a:r>
              <a:rPr lang="en-US" sz="1100" err="1">
                <a:solidFill>
                  <a:schemeClr val="bg1"/>
                </a:solidFill>
                <a:latin typeface="Roboto" panose="02000000000000000000" pitchFamily="2" charset="0"/>
                <a:ea typeface="Roboto" panose="02000000000000000000" pitchFamily="2" charset="0"/>
                <a:cs typeface="Segoe UI" panose="020B0502040204020203" pitchFamily="34" charset="0"/>
              </a:rPr>
              <a:t>Sulimania</a:t>
            </a:r>
            <a:r>
              <a:rPr lang="en-US" sz="1100">
                <a:solidFill>
                  <a:schemeClr val="bg1"/>
                </a:solidFill>
                <a:latin typeface="Roboto" panose="02000000000000000000" pitchFamily="2" charset="0"/>
                <a:ea typeface="Roboto" panose="02000000000000000000" pitchFamily="2" charset="0"/>
                <a:cs typeface="Segoe UI" panose="020B0502040204020203" pitchFamily="34" charset="0"/>
              </a:rPr>
              <a:t> district P.O Box 2504, Riyadh 12241</a:t>
            </a:r>
          </a:p>
          <a:p>
            <a:pPr marL="0" lvl="0" indent="0" algn="ctr">
              <a:buNone/>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Tel</a:t>
            </a:r>
            <a:r>
              <a:rPr lang="en-US" sz="1100">
                <a:solidFill>
                  <a:schemeClr val="bg1"/>
                </a:solidFill>
                <a:latin typeface="Roboto" panose="02000000000000000000" pitchFamily="2" charset="0"/>
                <a:ea typeface="Roboto" panose="02000000000000000000" pitchFamily="2" charset="0"/>
                <a:cs typeface="Segoe UI" panose="020B0502040204020203" pitchFamily="34" charset="0"/>
              </a:rPr>
              <a:t>: +966 11 2933113</a:t>
            </a:r>
          </a:p>
        </p:txBody>
      </p:sp>
      <p:sp>
        <p:nvSpPr>
          <p:cNvPr id="19" name="Subtitle 2">
            <a:extLst>
              <a:ext uri="{FF2B5EF4-FFF2-40B4-BE49-F238E27FC236}">
                <a16:creationId xmlns:a16="http://schemas.microsoft.com/office/drawing/2014/main" id="{5AD19422-9D4E-E24F-AED4-47A587C22514}"/>
              </a:ext>
            </a:extLst>
          </p:cNvPr>
          <p:cNvSpPr txBox="1">
            <a:spLocks/>
          </p:cNvSpPr>
          <p:nvPr userDrawn="1"/>
        </p:nvSpPr>
        <p:spPr>
          <a:xfrm>
            <a:off x="9171849" y="4812543"/>
            <a:ext cx="2670381" cy="1252630"/>
          </a:xfrm>
          <a:prstGeom prst="rect">
            <a:avLst/>
          </a:prstGeom>
        </p:spPr>
        <p:txBody>
          <a:bodyPr vert="horz" wrap="square" lIns="118872" tIns="60950" rIns="121899" bIns="60950"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200" b="0"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mn-cs"/>
              </a:rPr>
              <a:t>Bangalore</a:t>
            </a:r>
            <a:endParaRPr kumimoji="0" lang="en-US" sz="1050" b="0" i="0" u="none" strike="noStrike" kern="1200" cap="none" spc="0" normalizeH="0" baseline="0" noProof="0">
              <a:ln>
                <a:noFill/>
              </a:ln>
              <a:solidFill>
                <a:schemeClr val="bg1"/>
              </a:solidFill>
              <a:effectLst/>
              <a:uLnTx/>
              <a:uFillTx/>
              <a:latin typeface="Ubuntu" panose="020B0504030602030204" pitchFamily="34" charset="0"/>
              <a:ea typeface="Roboto" panose="02000000000000000000" pitchFamily="2" charset="0"/>
              <a:cs typeface="+mn-cs"/>
            </a:endParaRP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err="1">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IndiQube</a:t>
            </a: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 – ETA, Second Floor, Survey No.38/4, adjacent to EMC2, Mahadevpura, Outer Ring Rd, Doddanekundi, Bengaluru, 560048 </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11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Segoe UI" panose="020B0502040204020203" pitchFamily="34" charset="0"/>
              </a:rPr>
              <a:t>Tel: +91 08040983128</a:t>
            </a:r>
          </a:p>
        </p:txBody>
      </p:sp>
      <p:grpSp>
        <p:nvGrpSpPr>
          <p:cNvPr id="8" name="Group 7">
            <a:extLst>
              <a:ext uri="{FF2B5EF4-FFF2-40B4-BE49-F238E27FC236}">
                <a16:creationId xmlns:a16="http://schemas.microsoft.com/office/drawing/2014/main" id="{6E814B8D-1994-C249-AB15-2C668667F2A2}"/>
              </a:ext>
            </a:extLst>
          </p:cNvPr>
          <p:cNvGrpSpPr/>
          <p:nvPr userDrawn="1"/>
        </p:nvGrpSpPr>
        <p:grpSpPr>
          <a:xfrm>
            <a:off x="4748198" y="6253714"/>
            <a:ext cx="2661629" cy="359763"/>
            <a:chOff x="4829343" y="6253714"/>
            <a:chExt cx="2661629" cy="359763"/>
          </a:xfrm>
          <a:solidFill>
            <a:schemeClr val="bg1"/>
          </a:solidFill>
        </p:grpSpPr>
        <p:sp>
          <p:nvSpPr>
            <p:cNvPr id="93" name="Freeform 50">
              <a:extLst>
                <a:ext uri="{FF2B5EF4-FFF2-40B4-BE49-F238E27FC236}">
                  <a16:creationId xmlns:a16="http://schemas.microsoft.com/office/drawing/2014/main" id="{BAA01CB9-98B3-0B40-B1A6-236C952ADA1A}"/>
                </a:ext>
              </a:extLst>
            </p:cNvPr>
            <p:cNvSpPr>
              <a:spLocks noChangeArrowheads="1"/>
            </p:cNvSpPr>
            <p:nvPr userDrawn="1"/>
          </p:nvSpPr>
          <p:spPr bwMode="auto">
            <a:xfrm>
              <a:off x="6653653" y="6253714"/>
              <a:ext cx="380719" cy="359763"/>
            </a:xfrm>
            <a:custGeom>
              <a:avLst/>
              <a:gdLst>
                <a:gd name="T0" fmla="*/ 142 w 480"/>
                <a:gd name="T1" fmla="*/ 0 h 453"/>
                <a:gd name="T2" fmla="*/ 142 w 480"/>
                <a:gd name="T3" fmla="*/ 0 h 453"/>
                <a:gd name="T4" fmla="*/ 0 w 480"/>
                <a:gd name="T5" fmla="*/ 89 h 453"/>
                <a:gd name="T6" fmla="*/ 98 w 480"/>
                <a:gd name="T7" fmla="*/ 168 h 453"/>
                <a:gd name="T8" fmla="*/ 239 w 480"/>
                <a:gd name="T9" fmla="*/ 80 h 453"/>
                <a:gd name="T10" fmla="*/ 142 w 480"/>
                <a:gd name="T11" fmla="*/ 0 h 453"/>
                <a:gd name="T12" fmla="*/ 327 w 480"/>
                <a:gd name="T13" fmla="*/ 372 h 453"/>
                <a:gd name="T14" fmla="*/ 327 w 480"/>
                <a:gd name="T15" fmla="*/ 372 h 453"/>
                <a:gd name="T16" fmla="*/ 319 w 480"/>
                <a:gd name="T17" fmla="*/ 372 h 453"/>
                <a:gd name="T18" fmla="*/ 239 w 480"/>
                <a:gd name="T19" fmla="*/ 310 h 453"/>
                <a:gd name="T20" fmla="*/ 159 w 480"/>
                <a:gd name="T21" fmla="*/ 372 h 453"/>
                <a:gd name="T22" fmla="*/ 151 w 480"/>
                <a:gd name="T23" fmla="*/ 372 h 453"/>
                <a:gd name="T24" fmla="*/ 151 w 480"/>
                <a:gd name="T25" fmla="*/ 372 h 453"/>
                <a:gd name="T26" fmla="*/ 88 w 480"/>
                <a:gd name="T27" fmla="*/ 337 h 453"/>
                <a:gd name="T28" fmla="*/ 88 w 480"/>
                <a:gd name="T29" fmla="*/ 355 h 453"/>
                <a:gd name="T30" fmla="*/ 239 w 480"/>
                <a:gd name="T31" fmla="*/ 452 h 453"/>
                <a:gd name="T32" fmla="*/ 389 w 480"/>
                <a:gd name="T33" fmla="*/ 355 h 453"/>
                <a:gd name="T34" fmla="*/ 389 w 480"/>
                <a:gd name="T35" fmla="*/ 337 h 453"/>
                <a:gd name="T36" fmla="*/ 327 w 480"/>
                <a:gd name="T37" fmla="*/ 372 h 453"/>
                <a:gd name="T38" fmla="*/ 479 w 480"/>
                <a:gd name="T39" fmla="*/ 89 h 453"/>
                <a:gd name="T40" fmla="*/ 479 w 480"/>
                <a:gd name="T41" fmla="*/ 89 h 453"/>
                <a:gd name="T42" fmla="*/ 336 w 480"/>
                <a:gd name="T43" fmla="*/ 0 h 453"/>
                <a:gd name="T44" fmla="*/ 239 w 480"/>
                <a:gd name="T45" fmla="*/ 80 h 453"/>
                <a:gd name="T46" fmla="*/ 380 w 480"/>
                <a:gd name="T47" fmla="*/ 168 h 453"/>
                <a:gd name="T48" fmla="*/ 479 w 480"/>
                <a:gd name="T49" fmla="*/ 89 h 453"/>
                <a:gd name="T50" fmla="*/ 239 w 480"/>
                <a:gd name="T51" fmla="*/ 257 h 453"/>
                <a:gd name="T52" fmla="*/ 239 w 480"/>
                <a:gd name="T53" fmla="*/ 257 h 453"/>
                <a:gd name="T54" fmla="*/ 327 w 480"/>
                <a:gd name="T55" fmla="*/ 328 h 453"/>
                <a:gd name="T56" fmla="*/ 470 w 480"/>
                <a:gd name="T57" fmla="*/ 240 h 453"/>
                <a:gd name="T58" fmla="*/ 380 w 480"/>
                <a:gd name="T59" fmla="*/ 168 h 453"/>
                <a:gd name="T60" fmla="*/ 239 w 480"/>
                <a:gd name="T61" fmla="*/ 257 h 453"/>
                <a:gd name="T62" fmla="*/ 151 w 480"/>
                <a:gd name="T63" fmla="*/ 328 h 453"/>
                <a:gd name="T64" fmla="*/ 151 w 480"/>
                <a:gd name="T65" fmla="*/ 328 h 453"/>
                <a:gd name="T66" fmla="*/ 239 w 480"/>
                <a:gd name="T67" fmla="*/ 257 h 453"/>
                <a:gd name="T68" fmla="*/ 98 w 480"/>
                <a:gd name="T69" fmla="*/ 168 h 453"/>
                <a:gd name="T70" fmla="*/ 8 w 480"/>
                <a:gd name="T71" fmla="*/ 240 h 453"/>
                <a:gd name="T72" fmla="*/ 151 w 480"/>
                <a:gd name="T73" fmla="*/ 328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0" h="453">
                  <a:moveTo>
                    <a:pt x="142" y="0"/>
                  </a:moveTo>
                  <a:lnTo>
                    <a:pt x="142" y="0"/>
                  </a:lnTo>
                  <a:cubicBezTo>
                    <a:pt x="0" y="89"/>
                    <a:pt x="0" y="89"/>
                    <a:pt x="0" y="89"/>
                  </a:cubicBezTo>
                  <a:cubicBezTo>
                    <a:pt x="98" y="168"/>
                    <a:pt x="98" y="168"/>
                    <a:pt x="98" y="168"/>
                  </a:cubicBezTo>
                  <a:cubicBezTo>
                    <a:pt x="239" y="80"/>
                    <a:pt x="239" y="80"/>
                    <a:pt x="239" y="80"/>
                  </a:cubicBezTo>
                  <a:lnTo>
                    <a:pt x="142" y="0"/>
                  </a:lnTo>
                  <a:close/>
                  <a:moveTo>
                    <a:pt x="327" y="372"/>
                  </a:moveTo>
                  <a:lnTo>
                    <a:pt x="327" y="372"/>
                  </a:lnTo>
                  <a:cubicBezTo>
                    <a:pt x="319" y="372"/>
                    <a:pt x="319" y="372"/>
                    <a:pt x="319" y="372"/>
                  </a:cubicBezTo>
                  <a:cubicBezTo>
                    <a:pt x="239" y="310"/>
                    <a:pt x="239" y="310"/>
                    <a:pt x="239" y="310"/>
                  </a:cubicBezTo>
                  <a:cubicBezTo>
                    <a:pt x="159" y="372"/>
                    <a:pt x="159" y="372"/>
                    <a:pt x="159" y="372"/>
                  </a:cubicBezTo>
                  <a:cubicBezTo>
                    <a:pt x="159" y="372"/>
                    <a:pt x="159" y="372"/>
                    <a:pt x="151" y="372"/>
                  </a:cubicBezTo>
                  <a:lnTo>
                    <a:pt x="151" y="372"/>
                  </a:lnTo>
                  <a:cubicBezTo>
                    <a:pt x="88" y="337"/>
                    <a:pt x="88" y="337"/>
                    <a:pt x="88" y="337"/>
                  </a:cubicBezTo>
                  <a:cubicBezTo>
                    <a:pt x="88" y="355"/>
                    <a:pt x="88" y="355"/>
                    <a:pt x="88" y="355"/>
                  </a:cubicBezTo>
                  <a:cubicBezTo>
                    <a:pt x="239" y="452"/>
                    <a:pt x="239" y="452"/>
                    <a:pt x="239" y="452"/>
                  </a:cubicBezTo>
                  <a:cubicBezTo>
                    <a:pt x="389" y="355"/>
                    <a:pt x="389" y="355"/>
                    <a:pt x="389" y="355"/>
                  </a:cubicBezTo>
                  <a:cubicBezTo>
                    <a:pt x="389" y="337"/>
                    <a:pt x="389" y="337"/>
                    <a:pt x="389" y="337"/>
                  </a:cubicBezTo>
                  <a:cubicBezTo>
                    <a:pt x="327" y="372"/>
                    <a:pt x="327" y="372"/>
                    <a:pt x="327" y="372"/>
                  </a:cubicBezTo>
                  <a:close/>
                  <a:moveTo>
                    <a:pt x="479" y="89"/>
                  </a:moveTo>
                  <a:lnTo>
                    <a:pt x="479" y="89"/>
                  </a:lnTo>
                  <a:cubicBezTo>
                    <a:pt x="336" y="0"/>
                    <a:pt x="336" y="0"/>
                    <a:pt x="336" y="0"/>
                  </a:cubicBezTo>
                  <a:cubicBezTo>
                    <a:pt x="239" y="80"/>
                    <a:pt x="239" y="80"/>
                    <a:pt x="239" y="80"/>
                  </a:cubicBezTo>
                  <a:cubicBezTo>
                    <a:pt x="380" y="168"/>
                    <a:pt x="380" y="168"/>
                    <a:pt x="380" y="168"/>
                  </a:cubicBezTo>
                  <a:lnTo>
                    <a:pt x="479" y="89"/>
                  </a:lnTo>
                  <a:close/>
                  <a:moveTo>
                    <a:pt x="239" y="257"/>
                  </a:moveTo>
                  <a:lnTo>
                    <a:pt x="239" y="257"/>
                  </a:lnTo>
                  <a:cubicBezTo>
                    <a:pt x="327" y="328"/>
                    <a:pt x="327" y="328"/>
                    <a:pt x="327" y="328"/>
                  </a:cubicBezTo>
                  <a:cubicBezTo>
                    <a:pt x="470" y="240"/>
                    <a:pt x="470" y="240"/>
                    <a:pt x="470" y="240"/>
                  </a:cubicBezTo>
                  <a:cubicBezTo>
                    <a:pt x="380" y="168"/>
                    <a:pt x="380" y="168"/>
                    <a:pt x="380" y="168"/>
                  </a:cubicBezTo>
                  <a:lnTo>
                    <a:pt x="239" y="257"/>
                  </a:lnTo>
                  <a:close/>
                  <a:moveTo>
                    <a:pt x="151" y="328"/>
                  </a:moveTo>
                  <a:lnTo>
                    <a:pt x="151" y="328"/>
                  </a:lnTo>
                  <a:cubicBezTo>
                    <a:pt x="239" y="257"/>
                    <a:pt x="239" y="257"/>
                    <a:pt x="239" y="257"/>
                  </a:cubicBezTo>
                  <a:cubicBezTo>
                    <a:pt x="98" y="168"/>
                    <a:pt x="98" y="168"/>
                    <a:pt x="98" y="168"/>
                  </a:cubicBezTo>
                  <a:cubicBezTo>
                    <a:pt x="8" y="240"/>
                    <a:pt x="8" y="240"/>
                    <a:pt x="8" y="240"/>
                  </a:cubicBezTo>
                  <a:lnTo>
                    <a:pt x="151" y="328"/>
                  </a:lnTo>
                  <a:close/>
                </a:path>
              </a:pathLst>
            </a:custGeom>
            <a:grp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4" name="Freeform 63">
              <a:extLst>
                <a:ext uri="{FF2B5EF4-FFF2-40B4-BE49-F238E27FC236}">
                  <a16:creationId xmlns:a16="http://schemas.microsoft.com/office/drawing/2014/main" id="{BC615D51-B102-9545-A63E-188C12D18DCA}"/>
                </a:ext>
              </a:extLst>
            </p:cNvPr>
            <p:cNvSpPr>
              <a:spLocks noChangeArrowheads="1"/>
            </p:cNvSpPr>
            <p:nvPr userDrawn="1"/>
          </p:nvSpPr>
          <p:spPr bwMode="auto">
            <a:xfrm>
              <a:off x="6203646" y="6253714"/>
              <a:ext cx="346302" cy="352896"/>
            </a:xfrm>
            <a:custGeom>
              <a:avLst/>
              <a:gdLst>
                <a:gd name="T0" fmla="*/ 443 w 461"/>
                <a:gd name="T1" fmla="*/ 284 h 471"/>
                <a:gd name="T2" fmla="*/ 443 w 461"/>
                <a:gd name="T3" fmla="*/ 284 h 471"/>
                <a:gd name="T4" fmla="*/ 452 w 461"/>
                <a:gd name="T5" fmla="*/ 240 h 471"/>
                <a:gd name="T6" fmla="*/ 231 w 461"/>
                <a:gd name="T7" fmla="*/ 9 h 471"/>
                <a:gd name="T8" fmla="*/ 194 w 461"/>
                <a:gd name="T9" fmla="*/ 18 h 471"/>
                <a:gd name="T10" fmla="*/ 124 w 461"/>
                <a:gd name="T11" fmla="*/ 0 h 471"/>
                <a:gd name="T12" fmla="*/ 0 w 461"/>
                <a:gd name="T13" fmla="*/ 124 h 471"/>
                <a:gd name="T14" fmla="*/ 18 w 461"/>
                <a:gd name="T15" fmla="*/ 196 h 471"/>
                <a:gd name="T16" fmla="*/ 18 w 461"/>
                <a:gd name="T17" fmla="*/ 240 h 471"/>
                <a:gd name="T18" fmla="*/ 231 w 461"/>
                <a:gd name="T19" fmla="*/ 461 h 471"/>
                <a:gd name="T20" fmla="*/ 275 w 461"/>
                <a:gd name="T21" fmla="*/ 461 h 471"/>
                <a:gd name="T22" fmla="*/ 328 w 461"/>
                <a:gd name="T23" fmla="*/ 470 h 471"/>
                <a:gd name="T24" fmla="*/ 460 w 461"/>
                <a:gd name="T25" fmla="*/ 346 h 471"/>
                <a:gd name="T26" fmla="*/ 443 w 461"/>
                <a:gd name="T27" fmla="*/ 284 h 471"/>
                <a:gd name="T28" fmla="*/ 346 w 461"/>
                <a:gd name="T29" fmla="*/ 346 h 471"/>
                <a:gd name="T30" fmla="*/ 346 w 461"/>
                <a:gd name="T31" fmla="*/ 346 h 471"/>
                <a:gd name="T32" fmla="*/ 301 w 461"/>
                <a:gd name="T33" fmla="*/ 381 h 471"/>
                <a:gd name="T34" fmla="*/ 231 w 461"/>
                <a:gd name="T35" fmla="*/ 390 h 471"/>
                <a:gd name="T36" fmla="*/ 150 w 461"/>
                <a:gd name="T37" fmla="*/ 372 h 471"/>
                <a:gd name="T38" fmla="*/ 115 w 461"/>
                <a:gd name="T39" fmla="*/ 337 h 471"/>
                <a:gd name="T40" fmla="*/ 106 w 461"/>
                <a:gd name="T41" fmla="*/ 302 h 471"/>
                <a:gd name="T42" fmla="*/ 115 w 461"/>
                <a:gd name="T43" fmla="*/ 284 h 471"/>
                <a:gd name="T44" fmla="*/ 133 w 461"/>
                <a:gd name="T45" fmla="*/ 275 h 471"/>
                <a:gd name="T46" fmla="*/ 150 w 461"/>
                <a:gd name="T47" fmla="*/ 275 h 471"/>
                <a:gd name="T48" fmla="*/ 168 w 461"/>
                <a:gd name="T49" fmla="*/ 293 h 471"/>
                <a:gd name="T50" fmla="*/ 177 w 461"/>
                <a:gd name="T51" fmla="*/ 319 h 471"/>
                <a:gd name="T52" fmla="*/ 194 w 461"/>
                <a:gd name="T53" fmla="*/ 337 h 471"/>
                <a:gd name="T54" fmla="*/ 231 w 461"/>
                <a:gd name="T55" fmla="*/ 337 h 471"/>
                <a:gd name="T56" fmla="*/ 275 w 461"/>
                <a:gd name="T57" fmla="*/ 328 h 471"/>
                <a:gd name="T58" fmla="*/ 292 w 461"/>
                <a:gd name="T59" fmla="*/ 302 h 471"/>
                <a:gd name="T60" fmla="*/ 284 w 461"/>
                <a:gd name="T61" fmla="*/ 275 h 471"/>
                <a:gd name="T62" fmla="*/ 256 w 461"/>
                <a:gd name="T63" fmla="*/ 266 h 471"/>
                <a:gd name="T64" fmla="*/ 221 w 461"/>
                <a:gd name="T65" fmla="*/ 257 h 471"/>
                <a:gd name="T66" fmla="*/ 159 w 461"/>
                <a:gd name="T67" fmla="*/ 240 h 471"/>
                <a:gd name="T68" fmla="*/ 124 w 461"/>
                <a:gd name="T69" fmla="*/ 213 h 471"/>
                <a:gd name="T70" fmla="*/ 106 w 461"/>
                <a:gd name="T71" fmla="*/ 168 h 471"/>
                <a:gd name="T72" fmla="*/ 124 w 461"/>
                <a:gd name="T73" fmla="*/ 115 h 471"/>
                <a:gd name="T74" fmla="*/ 168 w 461"/>
                <a:gd name="T75" fmla="*/ 89 h 471"/>
                <a:gd name="T76" fmla="*/ 231 w 461"/>
                <a:gd name="T77" fmla="*/ 80 h 471"/>
                <a:gd name="T78" fmla="*/ 284 w 461"/>
                <a:gd name="T79" fmla="*/ 89 h 471"/>
                <a:gd name="T80" fmla="*/ 319 w 461"/>
                <a:gd name="T81" fmla="*/ 107 h 471"/>
                <a:gd name="T82" fmla="*/ 337 w 461"/>
                <a:gd name="T83" fmla="*/ 133 h 471"/>
                <a:gd name="T84" fmla="*/ 346 w 461"/>
                <a:gd name="T85" fmla="*/ 151 h 471"/>
                <a:gd name="T86" fmla="*/ 337 w 461"/>
                <a:gd name="T87" fmla="*/ 177 h 471"/>
                <a:gd name="T88" fmla="*/ 310 w 461"/>
                <a:gd name="T89" fmla="*/ 186 h 471"/>
                <a:gd name="T90" fmla="*/ 292 w 461"/>
                <a:gd name="T91" fmla="*/ 177 h 471"/>
                <a:gd name="T92" fmla="*/ 284 w 461"/>
                <a:gd name="T93" fmla="*/ 160 h 471"/>
                <a:gd name="T94" fmla="*/ 265 w 461"/>
                <a:gd name="T95" fmla="*/ 133 h 471"/>
                <a:gd name="T96" fmla="*/ 231 w 461"/>
                <a:gd name="T97" fmla="*/ 124 h 471"/>
                <a:gd name="T98" fmla="*/ 186 w 461"/>
                <a:gd name="T99" fmla="*/ 142 h 471"/>
                <a:gd name="T100" fmla="*/ 177 w 461"/>
                <a:gd name="T101" fmla="*/ 160 h 471"/>
                <a:gd name="T102" fmla="*/ 177 w 461"/>
                <a:gd name="T103" fmla="*/ 168 h 471"/>
                <a:gd name="T104" fmla="*/ 194 w 461"/>
                <a:gd name="T105" fmla="*/ 186 h 471"/>
                <a:gd name="T106" fmla="*/ 212 w 461"/>
                <a:gd name="T107" fmla="*/ 186 h 471"/>
                <a:gd name="T108" fmla="*/ 239 w 461"/>
                <a:gd name="T109" fmla="*/ 196 h 471"/>
                <a:gd name="T110" fmla="*/ 292 w 461"/>
                <a:gd name="T111" fmla="*/ 213 h 471"/>
                <a:gd name="T112" fmla="*/ 328 w 461"/>
                <a:gd name="T113" fmla="*/ 231 h 471"/>
                <a:gd name="T114" fmla="*/ 354 w 461"/>
                <a:gd name="T115" fmla="*/ 257 h 471"/>
                <a:gd name="T116" fmla="*/ 363 w 461"/>
                <a:gd name="T117" fmla="*/ 293 h 471"/>
                <a:gd name="T118" fmla="*/ 346 w 461"/>
                <a:gd name="T119" fmla="*/ 34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61" h="471">
                  <a:moveTo>
                    <a:pt x="443" y="284"/>
                  </a:moveTo>
                  <a:lnTo>
                    <a:pt x="443" y="284"/>
                  </a:lnTo>
                  <a:cubicBezTo>
                    <a:pt x="452" y="266"/>
                    <a:pt x="452" y="257"/>
                    <a:pt x="452" y="240"/>
                  </a:cubicBezTo>
                  <a:cubicBezTo>
                    <a:pt x="452" y="115"/>
                    <a:pt x="354" y="9"/>
                    <a:pt x="231" y="9"/>
                  </a:cubicBezTo>
                  <a:cubicBezTo>
                    <a:pt x="221" y="9"/>
                    <a:pt x="203" y="18"/>
                    <a:pt x="194" y="18"/>
                  </a:cubicBezTo>
                  <a:cubicBezTo>
                    <a:pt x="177" y="0"/>
                    <a:pt x="150" y="0"/>
                    <a:pt x="124" y="0"/>
                  </a:cubicBezTo>
                  <a:cubicBezTo>
                    <a:pt x="62" y="0"/>
                    <a:pt x="0" y="54"/>
                    <a:pt x="0" y="124"/>
                  </a:cubicBezTo>
                  <a:cubicBezTo>
                    <a:pt x="0" y="151"/>
                    <a:pt x="9" y="168"/>
                    <a:pt x="18" y="196"/>
                  </a:cubicBezTo>
                  <a:cubicBezTo>
                    <a:pt x="18" y="204"/>
                    <a:pt x="18" y="221"/>
                    <a:pt x="18" y="240"/>
                  </a:cubicBezTo>
                  <a:cubicBezTo>
                    <a:pt x="18" y="364"/>
                    <a:pt x="115" y="461"/>
                    <a:pt x="231" y="461"/>
                  </a:cubicBezTo>
                  <a:cubicBezTo>
                    <a:pt x="248" y="461"/>
                    <a:pt x="256" y="461"/>
                    <a:pt x="275" y="461"/>
                  </a:cubicBezTo>
                  <a:cubicBezTo>
                    <a:pt x="292" y="470"/>
                    <a:pt x="310" y="470"/>
                    <a:pt x="328" y="470"/>
                  </a:cubicBezTo>
                  <a:cubicBezTo>
                    <a:pt x="399" y="470"/>
                    <a:pt x="460" y="417"/>
                    <a:pt x="460" y="346"/>
                  </a:cubicBezTo>
                  <a:cubicBezTo>
                    <a:pt x="460" y="319"/>
                    <a:pt x="452" y="302"/>
                    <a:pt x="443" y="284"/>
                  </a:cubicBezTo>
                  <a:close/>
                  <a:moveTo>
                    <a:pt x="346" y="346"/>
                  </a:moveTo>
                  <a:lnTo>
                    <a:pt x="346" y="346"/>
                  </a:lnTo>
                  <a:cubicBezTo>
                    <a:pt x="337" y="355"/>
                    <a:pt x="319" y="372"/>
                    <a:pt x="301" y="381"/>
                  </a:cubicBezTo>
                  <a:cubicBezTo>
                    <a:pt x="284" y="390"/>
                    <a:pt x="256" y="390"/>
                    <a:pt x="231" y="390"/>
                  </a:cubicBezTo>
                  <a:cubicBezTo>
                    <a:pt x="203" y="390"/>
                    <a:pt x="177" y="381"/>
                    <a:pt x="150" y="372"/>
                  </a:cubicBezTo>
                  <a:cubicBezTo>
                    <a:pt x="141" y="364"/>
                    <a:pt x="124" y="355"/>
                    <a:pt x="115" y="337"/>
                  </a:cubicBezTo>
                  <a:cubicBezTo>
                    <a:pt x="106" y="328"/>
                    <a:pt x="106" y="311"/>
                    <a:pt x="106" y="302"/>
                  </a:cubicBezTo>
                  <a:cubicBezTo>
                    <a:pt x="106" y="293"/>
                    <a:pt x="106" y="284"/>
                    <a:pt x="115" y="284"/>
                  </a:cubicBezTo>
                  <a:cubicBezTo>
                    <a:pt x="115" y="275"/>
                    <a:pt x="124" y="275"/>
                    <a:pt x="133" y="275"/>
                  </a:cubicBezTo>
                  <a:cubicBezTo>
                    <a:pt x="141" y="275"/>
                    <a:pt x="150" y="275"/>
                    <a:pt x="150" y="275"/>
                  </a:cubicBezTo>
                  <a:cubicBezTo>
                    <a:pt x="159" y="284"/>
                    <a:pt x="168" y="293"/>
                    <a:pt x="168" y="293"/>
                  </a:cubicBezTo>
                  <a:cubicBezTo>
                    <a:pt x="168" y="311"/>
                    <a:pt x="177" y="311"/>
                    <a:pt x="177" y="319"/>
                  </a:cubicBezTo>
                  <a:cubicBezTo>
                    <a:pt x="186" y="328"/>
                    <a:pt x="194" y="328"/>
                    <a:pt x="194" y="337"/>
                  </a:cubicBezTo>
                  <a:cubicBezTo>
                    <a:pt x="203" y="337"/>
                    <a:pt x="212" y="337"/>
                    <a:pt x="231" y="337"/>
                  </a:cubicBezTo>
                  <a:cubicBezTo>
                    <a:pt x="248" y="337"/>
                    <a:pt x="265" y="337"/>
                    <a:pt x="275" y="328"/>
                  </a:cubicBezTo>
                  <a:cubicBezTo>
                    <a:pt x="284" y="319"/>
                    <a:pt x="292" y="311"/>
                    <a:pt x="292" y="302"/>
                  </a:cubicBezTo>
                  <a:cubicBezTo>
                    <a:pt x="292" y="293"/>
                    <a:pt x="284" y="284"/>
                    <a:pt x="284" y="275"/>
                  </a:cubicBezTo>
                  <a:cubicBezTo>
                    <a:pt x="275" y="275"/>
                    <a:pt x="265" y="266"/>
                    <a:pt x="256" y="266"/>
                  </a:cubicBezTo>
                  <a:cubicBezTo>
                    <a:pt x="248" y="266"/>
                    <a:pt x="239" y="257"/>
                    <a:pt x="221" y="257"/>
                  </a:cubicBezTo>
                  <a:cubicBezTo>
                    <a:pt x="194" y="249"/>
                    <a:pt x="177" y="249"/>
                    <a:pt x="159" y="240"/>
                  </a:cubicBezTo>
                  <a:cubicBezTo>
                    <a:pt x="141" y="231"/>
                    <a:pt x="133" y="221"/>
                    <a:pt x="124" y="213"/>
                  </a:cubicBezTo>
                  <a:cubicBezTo>
                    <a:pt x="115" y="196"/>
                    <a:pt x="106" y="186"/>
                    <a:pt x="106" y="168"/>
                  </a:cubicBezTo>
                  <a:cubicBezTo>
                    <a:pt x="106" y="151"/>
                    <a:pt x="115" y="133"/>
                    <a:pt x="124" y="115"/>
                  </a:cubicBezTo>
                  <a:cubicBezTo>
                    <a:pt x="133" y="107"/>
                    <a:pt x="150" y="98"/>
                    <a:pt x="168" y="89"/>
                  </a:cubicBezTo>
                  <a:cubicBezTo>
                    <a:pt x="186" y="80"/>
                    <a:pt x="203" y="80"/>
                    <a:pt x="231" y="80"/>
                  </a:cubicBezTo>
                  <a:cubicBezTo>
                    <a:pt x="248" y="80"/>
                    <a:pt x="265" y="80"/>
                    <a:pt x="284" y="89"/>
                  </a:cubicBezTo>
                  <a:cubicBezTo>
                    <a:pt x="292" y="89"/>
                    <a:pt x="310" y="98"/>
                    <a:pt x="319" y="107"/>
                  </a:cubicBezTo>
                  <a:cubicBezTo>
                    <a:pt x="328" y="115"/>
                    <a:pt x="337" y="124"/>
                    <a:pt x="337" y="133"/>
                  </a:cubicBezTo>
                  <a:cubicBezTo>
                    <a:pt x="346" y="142"/>
                    <a:pt x="346" y="142"/>
                    <a:pt x="346" y="151"/>
                  </a:cubicBezTo>
                  <a:cubicBezTo>
                    <a:pt x="346" y="160"/>
                    <a:pt x="346" y="168"/>
                    <a:pt x="337" y="177"/>
                  </a:cubicBezTo>
                  <a:cubicBezTo>
                    <a:pt x="328" y="186"/>
                    <a:pt x="319" y="186"/>
                    <a:pt x="310" y="186"/>
                  </a:cubicBezTo>
                  <a:cubicBezTo>
                    <a:pt x="310" y="186"/>
                    <a:pt x="301" y="186"/>
                    <a:pt x="292" y="177"/>
                  </a:cubicBezTo>
                  <a:cubicBezTo>
                    <a:pt x="292" y="177"/>
                    <a:pt x="284" y="168"/>
                    <a:pt x="284" y="160"/>
                  </a:cubicBezTo>
                  <a:cubicBezTo>
                    <a:pt x="275" y="151"/>
                    <a:pt x="275" y="142"/>
                    <a:pt x="265" y="133"/>
                  </a:cubicBezTo>
                  <a:cubicBezTo>
                    <a:pt x="256" y="133"/>
                    <a:pt x="239" y="124"/>
                    <a:pt x="231" y="124"/>
                  </a:cubicBezTo>
                  <a:cubicBezTo>
                    <a:pt x="212" y="124"/>
                    <a:pt x="194" y="133"/>
                    <a:pt x="186" y="142"/>
                  </a:cubicBezTo>
                  <a:cubicBezTo>
                    <a:pt x="177" y="142"/>
                    <a:pt x="177" y="151"/>
                    <a:pt x="177" y="160"/>
                  </a:cubicBezTo>
                  <a:cubicBezTo>
                    <a:pt x="177" y="168"/>
                    <a:pt x="177" y="168"/>
                    <a:pt x="177" y="168"/>
                  </a:cubicBezTo>
                  <a:cubicBezTo>
                    <a:pt x="186" y="177"/>
                    <a:pt x="186" y="177"/>
                    <a:pt x="194" y="186"/>
                  </a:cubicBezTo>
                  <a:cubicBezTo>
                    <a:pt x="194" y="186"/>
                    <a:pt x="203" y="186"/>
                    <a:pt x="212" y="186"/>
                  </a:cubicBezTo>
                  <a:cubicBezTo>
                    <a:pt x="212" y="196"/>
                    <a:pt x="231" y="196"/>
                    <a:pt x="239" y="196"/>
                  </a:cubicBezTo>
                  <a:cubicBezTo>
                    <a:pt x="256" y="204"/>
                    <a:pt x="275" y="204"/>
                    <a:pt x="292" y="213"/>
                  </a:cubicBezTo>
                  <a:cubicBezTo>
                    <a:pt x="301" y="213"/>
                    <a:pt x="319" y="221"/>
                    <a:pt x="328" y="231"/>
                  </a:cubicBezTo>
                  <a:cubicBezTo>
                    <a:pt x="337" y="231"/>
                    <a:pt x="346" y="240"/>
                    <a:pt x="354" y="257"/>
                  </a:cubicBezTo>
                  <a:cubicBezTo>
                    <a:pt x="354" y="266"/>
                    <a:pt x="363" y="275"/>
                    <a:pt x="363" y="293"/>
                  </a:cubicBezTo>
                  <a:cubicBezTo>
                    <a:pt x="363" y="311"/>
                    <a:pt x="354" y="328"/>
                    <a:pt x="346" y="346"/>
                  </a:cubicBezTo>
                  <a:close/>
                </a:path>
              </a:pathLst>
            </a:custGeom>
            <a:grp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pic>
          <p:nvPicPr>
            <p:cNvPr id="79" name="Graphic 78">
              <a:extLst>
                <a:ext uri="{FF2B5EF4-FFF2-40B4-BE49-F238E27FC236}">
                  <a16:creationId xmlns:a16="http://schemas.microsoft.com/office/drawing/2014/main" id="{83F860A0-17B8-344E-8D1F-4FF71864461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138076" y="6253714"/>
              <a:ext cx="352896" cy="352896"/>
            </a:xfrm>
            <a:prstGeom prst="rect">
              <a:avLst/>
            </a:prstGeom>
          </p:spPr>
        </p:pic>
        <p:pic>
          <p:nvPicPr>
            <p:cNvPr id="83" name="Graphic 82">
              <a:extLst>
                <a:ext uri="{FF2B5EF4-FFF2-40B4-BE49-F238E27FC236}">
                  <a16:creationId xmlns:a16="http://schemas.microsoft.com/office/drawing/2014/main" id="{F7F13A16-0D4F-C34F-80C1-6B48E5EDE513}"/>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747045" y="6253714"/>
              <a:ext cx="352896" cy="352896"/>
            </a:xfrm>
            <a:prstGeom prst="rect">
              <a:avLst/>
            </a:prstGeom>
          </p:spPr>
        </p:pic>
        <p:pic>
          <p:nvPicPr>
            <p:cNvPr id="84" name="Graphic 83">
              <a:extLst>
                <a:ext uri="{FF2B5EF4-FFF2-40B4-BE49-F238E27FC236}">
                  <a16:creationId xmlns:a16="http://schemas.microsoft.com/office/drawing/2014/main" id="{FA5212AF-5CA6-9348-B941-1766075401FA}"/>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829343" y="6253714"/>
              <a:ext cx="352896" cy="352896"/>
            </a:xfrm>
            <a:prstGeom prst="rect">
              <a:avLst/>
            </a:prstGeom>
          </p:spPr>
        </p:pic>
        <p:pic>
          <p:nvPicPr>
            <p:cNvPr id="3" name="Graphic 2">
              <a:extLst>
                <a:ext uri="{FF2B5EF4-FFF2-40B4-BE49-F238E27FC236}">
                  <a16:creationId xmlns:a16="http://schemas.microsoft.com/office/drawing/2014/main" id="{ED16E748-B906-C94B-AF32-44656993A0A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285944" y="6253714"/>
              <a:ext cx="357396" cy="357396"/>
            </a:xfrm>
            <a:prstGeom prst="rect">
              <a:avLst/>
            </a:prstGeom>
          </p:spPr>
        </p:pic>
      </p:grpSp>
    </p:spTree>
    <p:extLst>
      <p:ext uri="{BB962C8B-B14F-4D97-AF65-F5344CB8AC3E}">
        <p14:creationId xmlns:p14="http://schemas.microsoft.com/office/powerpoint/2010/main" val="146995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F831F-F48E-159C-B00C-CF3A97B2C9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359C0A-9988-320B-D95C-4C31F570FB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66103A-B37C-D5C6-DCFF-A456C506A0D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8713DAC-CDB5-C74D-1F53-4F8D34E3D684}"/>
              </a:ext>
            </a:extLst>
          </p:cNvPr>
          <p:cNvSpPr>
            <a:spLocks noGrp="1"/>
          </p:cNvSpPr>
          <p:nvPr>
            <p:ph type="ftr" sz="quarter" idx="11"/>
          </p:nvPr>
        </p:nvSpPr>
        <p:spPr/>
        <p:txBody>
          <a:bodyPr/>
          <a:lstStyle/>
          <a:p>
            <a:r>
              <a:rPr lang="en-US"/>
              <a:t>Copyright © 2025 Royal Cyber.  All rights reserved.</a:t>
            </a:r>
            <a:endParaRPr lang="en-IN"/>
          </a:p>
        </p:txBody>
      </p:sp>
      <p:sp>
        <p:nvSpPr>
          <p:cNvPr id="6" name="Slide Number Placeholder 5">
            <a:extLst>
              <a:ext uri="{FF2B5EF4-FFF2-40B4-BE49-F238E27FC236}">
                <a16:creationId xmlns:a16="http://schemas.microsoft.com/office/drawing/2014/main" id="{27F74EB6-EB68-3FF9-8F8F-719AE6F0F67F}"/>
              </a:ext>
            </a:extLst>
          </p:cNvPr>
          <p:cNvSpPr>
            <a:spLocks noGrp="1"/>
          </p:cNvSpPr>
          <p:nvPr>
            <p:ph type="sldNum" sz="quarter" idx="12"/>
          </p:nvPr>
        </p:nvSpPr>
        <p:spPr/>
        <p:txBody>
          <a:bodyPr/>
          <a:lstStyle/>
          <a:p>
            <a:fld id="{AA35E627-18D3-40CB-AF86-BA136DDE00DA}" type="slidenum">
              <a:rPr lang="en-IN" smtClean="0"/>
              <a:t>‹#›</a:t>
            </a:fld>
            <a:endParaRPr lang="en-IN"/>
          </a:p>
        </p:txBody>
      </p:sp>
    </p:spTree>
    <p:extLst>
      <p:ext uri="{BB962C8B-B14F-4D97-AF65-F5344CB8AC3E}">
        <p14:creationId xmlns:p14="http://schemas.microsoft.com/office/powerpoint/2010/main" val="3487931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9151A">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224064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9151A">
              <a:alpha val="95000"/>
            </a:srgbClr>
          </a:solidFill>
          <a:ln/>
        </p:spPr>
        <p:txBody>
          <a:bodyPr/>
          <a:lstStyle/>
          <a:p>
            <a:endParaRPr lang="en-US"/>
          </a:p>
        </p:txBody>
      </p:sp>
      <p:pic>
        <p:nvPicPr>
          <p:cNvPr id="5" name="Picture 4">
            <a:extLst>
              <a:ext uri="{FF2B5EF4-FFF2-40B4-BE49-F238E27FC236}">
                <a16:creationId xmlns:a16="http://schemas.microsoft.com/office/drawing/2014/main" id="{BD923323-C033-04F1-AB75-9BBF0D3756D7}"/>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92983" y="6373094"/>
            <a:ext cx="1144809" cy="286203"/>
          </a:xfrm>
          <a:prstGeom prst="rect">
            <a:avLst/>
          </a:prstGeom>
        </p:spPr>
      </p:pic>
    </p:spTree>
    <p:extLst>
      <p:ext uri="{BB962C8B-B14F-4D97-AF65-F5344CB8AC3E}">
        <p14:creationId xmlns:p14="http://schemas.microsoft.com/office/powerpoint/2010/main" val="3733143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9151A">
              <a:alpha val="95000"/>
            </a:srgbClr>
          </a:solidFill>
          <a:ln/>
        </p:spPr>
        <p:txBody>
          <a:bodyPr/>
          <a:lstStyle/>
          <a:p>
            <a:endParaRPr lang="en-US"/>
          </a:p>
        </p:txBody>
      </p:sp>
      <p:pic>
        <p:nvPicPr>
          <p:cNvPr id="5" name="Picture 4">
            <a:extLst>
              <a:ext uri="{FF2B5EF4-FFF2-40B4-BE49-F238E27FC236}">
                <a16:creationId xmlns:a16="http://schemas.microsoft.com/office/drawing/2014/main" id="{E99B10E4-91B6-8011-E4A4-66D2D115B1F6}"/>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45358" y="6430244"/>
            <a:ext cx="1144809" cy="286203"/>
          </a:xfrm>
          <a:prstGeom prst="rect">
            <a:avLst/>
          </a:prstGeom>
        </p:spPr>
      </p:pic>
    </p:spTree>
    <p:extLst>
      <p:ext uri="{BB962C8B-B14F-4D97-AF65-F5344CB8AC3E}">
        <p14:creationId xmlns:p14="http://schemas.microsoft.com/office/powerpoint/2010/main" val="1788418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9151A">
              <a:alpha val="95000"/>
            </a:srgbClr>
          </a:solidFill>
          <a:ln/>
        </p:spPr>
        <p:txBody>
          <a:bodyPr/>
          <a:lstStyle/>
          <a:p>
            <a:endParaRPr lang="en-US"/>
          </a:p>
        </p:txBody>
      </p:sp>
      <p:pic>
        <p:nvPicPr>
          <p:cNvPr id="6" name="Picture 5">
            <a:extLst>
              <a:ext uri="{FF2B5EF4-FFF2-40B4-BE49-F238E27FC236}">
                <a16:creationId xmlns:a16="http://schemas.microsoft.com/office/drawing/2014/main" id="{7D98FF66-D0D8-4655-CD68-9DFB15D3550F}"/>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16783" y="6411194"/>
            <a:ext cx="1144809" cy="286203"/>
          </a:xfrm>
          <a:prstGeom prst="rect">
            <a:avLst/>
          </a:prstGeom>
        </p:spPr>
      </p:pic>
    </p:spTree>
    <p:extLst>
      <p:ext uri="{BB962C8B-B14F-4D97-AF65-F5344CB8AC3E}">
        <p14:creationId xmlns:p14="http://schemas.microsoft.com/office/powerpoint/2010/main" val="1479676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DB414D8-175C-AC4C-8487-6A2D832988EA}"/>
              </a:ext>
            </a:extLst>
          </p:cNvPr>
          <p:cNvSpPr/>
          <p:nvPr userDrawn="1"/>
        </p:nvSpPr>
        <p:spPr>
          <a:xfrm rot="5400000">
            <a:off x="5842091" y="508088"/>
            <a:ext cx="507820" cy="12192002"/>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p>
        </p:txBody>
      </p:sp>
      <p:graphicFrame>
        <p:nvGraphicFramePr>
          <p:cNvPr id="4" name="Object 3" hidden="1">
            <a:extLst>
              <a:ext uri="{FF2B5EF4-FFF2-40B4-BE49-F238E27FC236}">
                <a16:creationId xmlns:a16="http://schemas.microsoft.com/office/drawing/2014/main" id="{697CF693-D819-5549-A8DD-C32810FE3195}"/>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Object 3" hidden="1">
                        <a:extLst>
                          <a:ext uri="{FF2B5EF4-FFF2-40B4-BE49-F238E27FC236}">
                            <a16:creationId xmlns:a16="http://schemas.microsoft.com/office/drawing/2014/main" id="{697CF693-D819-5549-A8DD-C32810FE319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85BD76A-6E39-2F4E-BA2A-176FB9CBD472}"/>
              </a:ext>
            </a:extLst>
          </p:cNvPr>
          <p:cNvSpPr>
            <a:spLocks noGrp="1"/>
          </p:cNvSpPr>
          <p:nvPr userDrawn="1">
            <p:ph type="title" hasCustomPrompt="1"/>
          </p:nvPr>
        </p:nvSpPr>
        <p:spPr>
          <a:xfrm>
            <a:off x="374754" y="353588"/>
            <a:ext cx="11442492" cy="523220"/>
          </a:xfrm>
        </p:spPr>
        <p:txBody>
          <a:bodyPr vert="horz" wrap="square" lIns="0" tIns="45720" rIns="0" bIns="45720" rtlCol="0" anchor="t">
            <a:spAutoFit/>
          </a:bodyPr>
          <a:lstStyle>
            <a:lvl1pPr algn="ctr">
              <a:lnSpc>
                <a:spcPct val="100000"/>
              </a:lnSpc>
              <a:defRPr lang="en-US" sz="2800" baseline="0" dirty="0">
                <a:solidFill>
                  <a:schemeClr val="accent1"/>
                </a:solidFill>
              </a:defRPr>
            </a:lvl1pPr>
          </a:lstStyle>
          <a:p>
            <a:pPr lvl="0"/>
            <a:r>
              <a:rPr lang="en-US"/>
              <a:t>Click to edit master title style</a:t>
            </a:r>
          </a:p>
        </p:txBody>
      </p:sp>
      <p:sp>
        <p:nvSpPr>
          <p:cNvPr id="10" name="Text Placeholder 9">
            <a:extLst>
              <a:ext uri="{FF2B5EF4-FFF2-40B4-BE49-F238E27FC236}">
                <a16:creationId xmlns:a16="http://schemas.microsoft.com/office/drawing/2014/main" id="{BE6BAF1E-22A3-6149-8E7F-65B0228F01F8}"/>
              </a:ext>
            </a:extLst>
          </p:cNvPr>
          <p:cNvSpPr>
            <a:spLocks noGrp="1"/>
          </p:cNvSpPr>
          <p:nvPr userDrawn="1">
            <p:ph type="body" sz="quarter" idx="13"/>
          </p:nvPr>
        </p:nvSpPr>
        <p:spPr>
          <a:xfrm>
            <a:off x="374754" y="1001487"/>
            <a:ext cx="11442492" cy="1447769"/>
          </a:xfrm>
        </p:spPr>
        <p:txBody>
          <a:bodyPr wrap="square">
            <a:spAutoFit/>
          </a:bodyPr>
          <a:lstStyle>
            <a:lvl2pPr marL="228591" indent="-228591">
              <a:lnSpc>
                <a:spcPct val="100000"/>
              </a:lnSpc>
              <a:spcBef>
                <a:spcPts val="0"/>
              </a:spcBef>
              <a:buSzPct val="90000"/>
              <a:buFont typeface="Wingdings" pitchFamily="2" charset="2"/>
              <a:buChar char="Ø"/>
              <a:defRPr/>
            </a:lvl2pPr>
            <a:lvl3pPr marL="457182" indent="-228591">
              <a:lnSpc>
                <a:spcPct val="100000"/>
              </a:lnSpc>
              <a:spcBef>
                <a:spcPts val="0"/>
              </a:spcBef>
              <a:buSzPct val="90000"/>
              <a:buFont typeface="System Font Regular"/>
              <a:buChar char="−"/>
              <a:defRPr/>
            </a:lvl3pPr>
            <a:lvl4pPr marL="685773" indent="-228591">
              <a:lnSpc>
                <a:spcPct val="100000"/>
              </a:lnSpc>
              <a:spcBef>
                <a:spcPts val="0"/>
              </a:spcBef>
              <a:buSzPct val="90000"/>
              <a:buFont typeface="Courier New" panose="02070309020205020404" pitchFamily="49" charset="0"/>
              <a:buChar char="o"/>
              <a:defRPr/>
            </a:lvl4pPr>
            <a:lvl5pPr marL="914363" indent="-228591">
              <a:lnSpc>
                <a:spcPct val="100000"/>
              </a:lnSpc>
              <a:spcBef>
                <a:spcPts val="0"/>
              </a:spcBef>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73F23C3-CB46-EC4E-90C3-C98B510F582B}"/>
              </a:ext>
            </a:extLst>
          </p:cNvPr>
          <p:cNvSpPr>
            <a:spLocks noGrp="1"/>
          </p:cNvSpPr>
          <p:nvPr userDrawn="1">
            <p:ph type="ftr" sz="quarter" idx="11"/>
          </p:nvPr>
        </p:nvSpPr>
        <p:spPr>
          <a:xfrm>
            <a:off x="4038600" y="6474103"/>
            <a:ext cx="4114800" cy="259972"/>
          </a:xfrm>
        </p:spPr>
        <p:txBody>
          <a:bodyPr/>
          <a:lstStyle>
            <a:lvl1pPr>
              <a:defRPr sz="900">
                <a:solidFill>
                  <a:schemeClr val="bg1">
                    <a:lumMod val="50000"/>
                  </a:schemeClr>
                </a:solidFill>
              </a:defRPr>
            </a:lvl1pPr>
          </a:lstStyle>
          <a:p>
            <a:r>
              <a:rPr lang="en-US"/>
              <a:t>Copyright © 2026 Royal Cyber.  All rights reserved.</a:t>
            </a:r>
          </a:p>
        </p:txBody>
      </p:sp>
      <p:sp>
        <p:nvSpPr>
          <p:cNvPr id="6" name="Slide Number Placeholder 5">
            <a:extLst>
              <a:ext uri="{FF2B5EF4-FFF2-40B4-BE49-F238E27FC236}">
                <a16:creationId xmlns:a16="http://schemas.microsoft.com/office/drawing/2014/main" id="{EBBBC56A-FDE3-044C-89E7-0ED177F46A29}"/>
              </a:ext>
            </a:extLst>
          </p:cNvPr>
          <p:cNvSpPr>
            <a:spLocks noGrp="1"/>
          </p:cNvSpPr>
          <p:nvPr>
            <p:ph type="sldNum" sz="quarter" idx="12"/>
          </p:nvPr>
        </p:nvSpPr>
        <p:spPr>
          <a:xfrm>
            <a:off x="361950" y="6417400"/>
            <a:ext cx="458806" cy="373381"/>
          </a:xfrm>
        </p:spPr>
        <p:txBody>
          <a:bodyPr/>
          <a:lstStyle>
            <a:lvl1pPr algn="l">
              <a:defRPr>
                <a:solidFill>
                  <a:schemeClr val="bg1">
                    <a:lumMod val="50000"/>
                  </a:schemeClr>
                </a:solidFill>
              </a:defRPr>
            </a:lvl1pPr>
          </a:lstStyle>
          <a:p>
            <a:fld id="{1AF3B2EA-3484-6741-9EDF-7404652DB13C}" type="slidenum">
              <a:rPr lang="en-US" smtClean="0"/>
              <a:pPr/>
              <a:t>‹#›</a:t>
            </a:fld>
            <a:endParaRPr lang="en-US"/>
          </a:p>
        </p:txBody>
      </p:sp>
      <p:pic>
        <p:nvPicPr>
          <p:cNvPr id="13" name="Picture 12">
            <a:extLst>
              <a:ext uri="{FF2B5EF4-FFF2-40B4-BE49-F238E27FC236}">
                <a16:creationId xmlns:a16="http://schemas.microsoft.com/office/drawing/2014/main" id="{1E6A2CB6-58BC-8842-A9DA-75CAC08F7D54}"/>
              </a:ext>
            </a:extLst>
          </p:cNvPr>
          <p:cNvPicPr>
            <a:picLocks noChangeAspect="1"/>
          </p:cNvPicPr>
          <p:nvPr userDrawn="1"/>
        </p:nvPicPr>
        <p:blipFill>
          <a:blip r:embed="rId5"/>
          <a:stretch>
            <a:fillRect/>
          </a:stretch>
        </p:blipFill>
        <p:spPr>
          <a:xfrm>
            <a:off x="10865053" y="6484656"/>
            <a:ext cx="955473" cy="238869"/>
          </a:xfrm>
          <a:prstGeom prst="rect">
            <a:avLst/>
          </a:prstGeom>
        </p:spPr>
      </p:pic>
      <p:sp>
        <p:nvSpPr>
          <p:cNvPr id="3" name="Picture Placeholder 7">
            <a:extLst>
              <a:ext uri="{FF2B5EF4-FFF2-40B4-BE49-F238E27FC236}">
                <a16:creationId xmlns:a16="http://schemas.microsoft.com/office/drawing/2014/main" id="{0901B207-E802-CA42-858E-5E977914C503}"/>
              </a:ext>
            </a:extLst>
          </p:cNvPr>
          <p:cNvSpPr>
            <a:spLocks noGrp="1"/>
          </p:cNvSpPr>
          <p:nvPr>
            <p:ph type="pic" sz="quarter" idx="14" hasCustomPrompt="1"/>
          </p:nvPr>
        </p:nvSpPr>
        <p:spPr>
          <a:xfrm>
            <a:off x="9169400" y="6466084"/>
            <a:ext cx="1574800" cy="276010"/>
          </a:xfrm>
        </p:spPr>
        <p:txBody>
          <a:bodyPr anchor="ctr">
            <a:noAutofit/>
          </a:bodyPr>
          <a:lstStyle>
            <a:lvl1pPr algn="l">
              <a:defRPr sz="1200">
                <a:solidFill>
                  <a:schemeClr val="tx1"/>
                </a:solidFill>
              </a:defRPr>
            </a:lvl1pPr>
          </a:lstStyle>
          <a:p>
            <a:r>
              <a:rPr lang="en-US"/>
              <a:t>Client Logo</a:t>
            </a:r>
            <a:endParaRPr lang="en-IN"/>
          </a:p>
        </p:txBody>
      </p:sp>
    </p:spTree>
    <p:extLst>
      <p:ext uri="{BB962C8B-B14F-4D97-AF65-F5344CB8AC3E}">
        <p14:creationId xmlns:p14="http://schemas.microsoft.com/office/powerpoint/2010/main" val="3791235868"/>
      </p:ext>
    </p:extLst>
  </p:cSld>
  <p:clrMapOvr>
    <a:masterClrMapping/>
  </p:clrMapOvr>
  <p:extLst>
    <p:ext uri="{DCECCB84-F9BA-43D5-87BE-67443E8EF086}">
      <p15:sldGuideLst xmlns:p15="http://schemas.microsoft.com/office/powerpoint/2012/main">
        <p15:guide id="1" pos="188">
          <p15:clr>
            <a:srgbClr val="FBAE40"/>
          </p15:clr>
        </p15:guide>
        <p15:guide id="2" pos="6205">
          <p15:clr>
            <a:srgbClr val="FBAE40"/>
          </p15:clr>
        </p15:guide>
        <p15:guide id="3" orient="horz" pos="3196">
          <p15:clr>
            <a:srgbClr val="FBAE40"/>
          </p15:clr>
        </p15:guide>
        <p15:guide id="4" orient="horz" pos="5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DB414D8-175C-AC4C-8487-6A2D832988EA}"/>
              </a:ext>
            </a:extLst>
          </p:cNvPr>
          <p:cNvSpPr/>
          <p:nvPr userDrawn="1"/>
        </p:nvSpPr>
        <p:spPr>
          <a:xfrm rot="5400000">
            <a:off x="5842091" y="508088"/>
            <a:ext cx="507820" cy="12192002"/>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p>
        </p:txBody>
      </p:sp>
      <p:graphicFrame>
        <p:nvGraphicFramePr>
          <p:cNvPr id="4" name="Object 3" hidden="1">
            <a:extLst>
              <a:ext uri="{FF2B5EF4-FFF2-40B4-BE49-F238E27FC236}">
                <a16:creationId xmlns:a16="http://schemas.microsoft.com/office/drawing/2014/main" id="{697CF693-D819-5549-A8DD-C32810FE3195}"/>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Object 3" hidden="1">
                        <a:extLst>
                          <a:ext uri="{FF2B5EF4-FFF2-40B4-BE49-F238E27FC236}">
                            <a16:creationId xmlns:a16="http://schemas.microsoft.com/office/drawing/2014/main" id="{697CF693-D819-5549-A8DD-C32810FE319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85BD76A-6E39-2F4E-BA2A-176FB9CBD472}"/>
              </a:ext>
            </a:extLst>
          </p:cNvPr>
          <p:cNvSpPr>
            <a:spLocks noGrp="1"/>
          </p:cNvSpPr>
          <p:nvPr userDrawn="1">
            <p:ph type="title" hasCustomPrompt="1"/>
          </p:nvPr>
        </p:nvSpPr>
        <p:spPr>
          <a:xfrm>
            <a:off x="374754" y="353588"/>
            <a:ext cx="11442492" cy="523220"/>
          </a:xfrm>
        </p:spPr>
        <p:txBody>
          <a:bodyPr vert="horz" wrap="square" lIns="0" tIns="45720" rIns="0" bIns="45720" rtlCol="0" anchor="t">
            <a:spAutoFit/>
          </a:bodyPr>
          <a:lstStyle>
            <a:lvl1pPr algn="ctr">
              <a:lnSpc>
                <a:spcPct val="100000"/>
              </a:lnSpc>
              <a:defRPr lang="en-US" sz="2800" baseline="0" dirty="0">
                <a:solidFill>
                  <a:schemeClr val="accent1"/>
                </a:solidFill>
              </a:defRPr>
            </a:lvl1pPr>
          </a:lstStyle>
          <a:p>
            <a:pPr lvl="0"/>
            <a:r>
              <a:rPr lang="en-US"/>
              <a:t>Click to edit master title style</a:t>
            </a:r>
          </a:p>
        </p:txBody>
      </p:sp>
      <p:sp>
        <p:nvSpPr>
          <p:cNvPr id="10" name="Text Placeholder 9">
            <a:extLst>
              <a:ext uri="{FF2B5EF4-FFF2-40B4-BE49-F238E27FC236}">
                <a16:creationId xmlns:a16="http://schemas.microsoft.com/office/drawing/2014/main" id="{BE6BAF1E-22A3-6149-8E7F-65B0228F01F8}"/>
              </a:ext>
            </a:extLst>
          </p:cNvPr>
          <p:cNvSpPr>
            <a:spLocks noGrp="1"/>
          </p:cNvSpPr>
          <p:nvPr userDrawn="1">
            <p:ph type="body" sz="quarter" idx="13"/>
          </p:nvPr>
        </p:nvSpPr>
        <p:spPr>
          <a:xfrm>
            <a:off x="374754" y="1001487"/>
            <a:ext cx="11442492" cy="1447769"/>
          </a:xfrm>
        </p:spPr>
        <p:txBody>
          <a:bodyPr wrap="square">
            <a:spAutoFit/>
          </a:bodyPr>
          <a:lstStyle>
            <a:lvl2pPr marL="228591" indent="-228591">
              <a:lnSpc>
                <a:spcPct val="100000"/>
              </a:lnSpc>
              <a:spcBef>
                <a:spcPts val="0"/>
              </a:spcBef>
              <a:buSzPct val="90000"/>
              <a:buFont typeface="Wingdings" pitchFamily="2" charset="2"/>
              <a:buChar char="Ø"/>
              <a:defRPr/>
            </a:lvl2pPr>
            <a:lvl3pPr marL="457182" indent="-228591">
              <a:lnSpc>
                <a:spcPct val="100000"/>
              </a:lnSpc>
              <a:spcBef>
                <a:spcPts val="0"/>
              </a:spcBef>
              <a:buSzPct val="90000"/>
              <a:buFont typeface="System Font Regular"/>
              <a:buChar char="−"/>
              <a:defRPr/>
            </a:lvl3pPr>
            <a:lvl4pPr marL="685773" indent="-228591">
              <a:lnSpc>
                <a:spcPct val="100000"/>
              </a:lnSpc>
              <a:spcBef>
                <a:spcPts val="0"/>
              </a:spcBef>
              <a:buSzPct val="90000"/>
              <a:buFont typeface="Courier New" panose="02070309020205020404" pitchFamily="49" charset="0"/>
              <a:buChar char="o"/>
              <a:defRPr/>
            </a:lvl4pPr>
            <a:lvl5pPr marL="914363" indent="-228591">
              <a:lnSpc>
                <a:spcPct val="100000"/>
              </a:lnSpc>
              <a:spcBef>
                <a:spcPts val="0"/>
              </a:spcBef>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73F23C3-CB46-EC4E-90C3-C98B510F582B}"/>
              </a:ext>
            </a:extLst>
          </p:cNvPr>
          <p:cNvSpPr>
            <a:spLocks noGrp="1"/>
          </p:cNvSpPr>
          <p:nvPr userDrawn="1">
            <p:ph type="ftr" sz="quarter" idx="11"/>
          </p:nvPr>
        </p:nvSpPr>
        <p:spPr>
          <a:xfrm>
            <a:off x="4038600" y="6474103"/>
            <a:ext cx="4114800" cy="259972"/>
          </a:xfrm>
        </p:spPr>
        <p:txBody>
          <a:bodyPr/>
          <a:lstStyle>
            <a:lvl1pPr>
              <a:defRPr sz="900">
                <a:solidFill>
                  <a:schemeClr val="bg1">
                    <a:lumMod val="50000"/>
                  </a:schemeClr>
                </a:solidFill>
              </a:defRPr>
            </a:lvl1pPr>
          </a:lstStyle>
          <a:p>
            <a:r>
              <a:rPr lang="en-US"/>
              <a:t>Copyright © 2025 Royal Cyber.  All rights reserved.</a:t>
            </a:r>
          </a:p>
        </p:txBody>
      </p:sp>
      <p:sp>
        <p:nvSpPr>
          <p:cNvPr id="6" name="Slide Number Placeholder 5">
            <a:extLst>
              <a:ext uri="{FF2B5EF4-FFF2-40B4-BE49-F238E27FC236}">
                <a16:creationId xmlns:a16="http://schemas.microsoft.com/office/drawing/2014/main" id="{EBBBC56A-FDE3-044C-89E7-0ED177F46A29}"/>
              </a:ext>
            </a:extLst>
          </p:cNvPr>
          <p:cNvSpPr>
            <a:spLocks noGrp="1"/>
          </p:cNvSpPr>
          <p:nvPr>
            <p:ph type="sldNum" sz="quarter" idx="12"/>
          </p:nvPr>
        </p:nvSpPr>
        <p:spPr>
          <a:xfrm>
            <a:off x="361950" y="6417400"/>
            <a:ext cx="458806" cy="373381"/>
          </a:xfrm>
        </p:spPr>
        <p:txBody>
          <a:bodyPr/>
          <a:lstStyle>
            <a:lvl1pPr algn="l">
              <a:defRPr>
                <a:solidFill>
                  <a:schemeClr val="bg1">
                    <a:lumMod val="50000"/>
                  </a:schemeClr>
                </a:solidFill>
              </a:defRPr>
            </a:lvl1pPr>
          </a:lstStyle>
          <a:p>
            <a:fld id="{1AF3B2EA-3484-6741-9EDF-7404652DB13C}" type="slidenum">
              <a:rPr lang="en-US" smtClean="0"/>
              <a:pPr/>
              <a:t>‹#›</a:t>
            </a:fld>
            <a:endParaRPr lang="en-US"/>
          </a:p>
        </p:txBody>
      </p:sp>
      <p:pic>
        <p:nvPicPr>
          <p:cNvPr id="13" name="Picture 12">
            <a:extLst>
              <a:ext uri="{FF2B5EF4-FFF2-40B4-BE49-F238E27FC236}">
                <a16:creationId xmlns:a16="http://schemas.microsoft.com/office/drawing/2014/main" id="{1E6A2CB6-58BC-8842-A9DA-75CAC08F7D54}"/>
              </a:ext>
            </a:extLst>
          </p:cNvPr>
          <p:cNvPicPr>
            <a:picLocks noChangeAspect="1"/>
          </p:cNvPicPr>
          <p:nvPr userDrawn="1"/>
        </p:nvPicPr>
        <p:blipFill>
          <a:blip r:embed="rId5"/>
          <a:stretch>
            <a:fillRect/>
          </a:stretch>
        </p:blipFill>
        <p:spPr>
          <a:xfrm>
            <a:off x="10865053" y="6484656"/>
            <a:ext cx="955473" cy="238869"/>
          </a:xfrm>
          <a:prstGeom prst="rect">
            <a:avLst/>
          </a:prstGeom>
        </p:spPr>
      </p:pic>
      <p:pic>
        <p:nvPicPr>
          <p:cNvPr id="7" name="Image 2" descr="preencoded.png">
            <a:extLst>
              <a:ext uri="{FF2B5EF4-FFF2-40B4-BE49-F238E27FC236}">
                <a16:creationId xmlns:a16="http://schemas.microsoft.com/office/drawing/2014/main" id="{FB7126F4-1BDD-8799-DAC2-A03C067632EC}"/>
              </a:ext>
            </a:extLst>
          </p:cNvPr>
          <p:cNvPicPr>
            <a:picLocks noChangeAspect="1"/>
          </p:cNvPicPr>
          <p:nvPr userDrawn="1"/>
        </p:nvPicPr>
        <p:blipFill>
          <a:blip r:embed="rId6"/>
          <a:stretch>
            <a:fillRect/>
          </a:stretch>
        </p:blipFill>
        <p:spPr>
          <a:xfrm>
            <a:off x="8775700" y="6501736"/>
            <a:ext cx="1932751" cy="187040"/>
          </a:xfrm>
          <a:prstGeom prst="rect">
            <a:avLst/>
          </a:prstGeom>
        </p:spPr>
      </p:pic>
    </p:spTree>
    <p:extLst>
      <p:ext uri="{BB962C8B-B14F-4D97-AF65-F5344CB8AC3E}">
        <p14:creationId xmlns:p14="http://schemas.microsoft.com/office/powerpoint/2010/main" val="998964244"/>
      </p:ext>
    </p:extLst>
  </p:cSld>
  <p:clrMapOvr>
    <a:masterClrMapping/>
  </p:clrMapOvr>
  <p:extLst>
    <p:ext uri="{DCECCB84-F9BA-43D5-87BE-67443E8EF086}">
      <p15:sldGuideLst xmlns:p15="http://schemas.microsoft.com/office/powerpoint/2012/main">
        <p15:guide id="1" pos="188">
          <p15:clr>
            <a:srgbClr val="FBAE40"/>
          </p15:clr>
        </p15:guide>
        <p15:guide id="2" pos="6205">
          <p15:clr>
            <a:srgbClr val="FBAE40"/>
          </p15:clr>
        </p15:guide>
        <p15:guide id="3" orient="horz" pos="3196">
          <p15:clr>
            <a:srgbClr val="FBAE40"/>
          </p15:clr>
        </p15:guide>
        <p15:guide id="4" orient="horz" pos="5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6886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ags" Target="../tags/tag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ags" Target="../tags/tag1.xml"/><Relationship Id="rId2" Type="http://schemas.openxmlformats.org/officeDocument/2006/relationships/slideLayout" Target="../slideLayouts/slideLayout3.xml"/><Relationship Id="rId16" Type="http://schemas.openxmlformats.org/officeDocument/2006/relationships/theme" Target="../theme/theme2.xml"/><Relationship Id="rId20"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oleObject" Target="../embeddings/oleObject1.bin"/><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97E2A4C-A27A-5044-A8C7-B42C985A7362}"/>
              </a:ext>
            </a:extLst>
          </p:cNvPr>
          <p:cNvGraphicFramePr>
            <a:graphicFrameLocks noChangeAspect="1"/>
          </p:cNvGraphicFramePr>
          <p:nvPr userDrawn="1">
            <p:custDataLst>
              <p:tags r:id="rId17"/>
            </p:custDataLst>
            <p:extLst>
              <p:ext uri="{D42A27DB-BD31-4B8C-83A1-F6EECF244321}">
                <p14:modId xmlns:p14="http://schemas.microsoft.com/office/powerpoint/2010/main" val="32154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7" name="Object 6" hidden="1">
                        <a:extLst>
                          <a:ext uri="{FF2B5EF4-FFF2-40B4-BE49-F238E27FC236}">
                            <a16:creationId xmlns:a16="http://schemas.microsoft.com/office/drawing/2014/main" id="{797E2A4C-A27A-5044-A8C7-B42C985A7362}"/>
                          </a:ext>
                        </a:extLst>
                      </p:cNvPr>
                      <p:cNvPicPr/>
                      <p:nvPr/>
                    </p:nvPicPr>
                    <p:blipFill>
                      <a:blip r:embed="rId20"/>
                      <a:stretch>
                        <a:fillRect/>
                      </a:stretch>
                    </p:blipFill>
                    <p:spPr>
                      <a:xfrm>
                        <a:off x="1588" y="1588"/>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BB3B771-340A-A748-A07E-627BA57B37CD}"/>
              </a:ext>
            </a:extLst>
          </p:cNvPr>
          <p:cNvSpPr/>
          <p:nvPr userDrawn="1">
            <p:custDataLst>
              <p:tags r:id="rId18"/>
            </p:custDataLst>
          </p:nvPr>
        </p:nvSpPr>
        <p:spPr>
          <a:xfrm>
            <a:off x="0" y="0"/>
            <a:ext cx="158750" cy="1587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400" b="0" i="0" baseline="0">
              <a:latin typeface="Arial" panose="020B0604020202020204" pitchFamily="34" charset="0"/>
              <a:ea typeface="Segoe UI Symbol" panose="020B0502040204020203" pitchFamily="34" charset="0"/>
              <a:sym typeface="Arial" panose="020B0604020202020204" pitchFamily="34" charset="0"/>
            </a:endParaRPr>
          </a:p>
        </p:txBody>
      </p:sp>
      <p:sp>
        <p:nvSpPr>
          <p:cNvPr id="2" name="Title Placeholder 1">
            <a:extLst>
              <a:ext uri="{FF2B5EF4-FFF2-40B4-BE49-F238E27FC236}">
                <a16:creationId xmlns:a16="http://schemas.microsoft.com/office/drawing/2014/main" id="{C0B5103E-3F20-834B-BA1D-79553F090B29}"/>
              </a:ext>
            </a:extLst>
          </p:cNvPr>
          <p:cNvSpPr>
            <a:spLocks noGrp="1"/>
          </p:cNvSpPr>
          <p:nvPr>
            <p:ph type="title"/>
          </p:nvPr>
        </p:nvSpPr>
        <p:spPr>
          <a:xfrm>
            <a:off x="374754" y="353588"/>
            <a:ext cx="11442492" cy="523220"/>
          </a:xfrm>
          <a:prstGeom prst="rect">
            <a:avLst/>
          </a:prstGeom>
        </p:spPr>
        <p:txBody>
          <a:bodyPr vert="horz" lIns="0" tIns="45720" rIns="0" bIns="4572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2DA36E4-69E5-EE4E-918F-895C26A4515F}"/>
              </a:ext>
            </a:extLst>
          </p:cNvPr>
          <p:cNvSpPr>
            <a:spLocks noGrp="1"/>
          </p:cNvSpPr>
          <p:nvPr>
            <p:ph type="body" idx="1"/>
          </p:nvPr>
        </p:nvSpPr>
        <p:spPr>
          <a:xfrm>
            <a:off x="374754" y="1001486"/>
            <a:ext cx="11442492" cy="1298817"/>
          </a:xfrm>
          <a:prstGeom prst="rect">
            <a:avLst/>
          </a:prstGeom>
        </p:spPr>
        <p:txBody>
          <a:bodyPr vert="horz" lIns="0" tIns="45720" rIns="0" bIns="4572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11EF0F6A-B823-464C-9D3D-4765C77B79B3}"/>
              </a:ext>
            </a:extLst>
          </p:cNvPr>
          <p:cNvSpPr>
            <a:spLocks noGrp="1"/>
          </p:cNvSpPr>
          <p:nvPr>
            <p:ph type="ftr" sz="quarter" idx="3"/>
          </p:nvPr>
        </p:nvSpPr>
        <p:spPr>
          <a:xfrm>
            <a:off x="4038600" y="6406885"/>
            <a:ext cx="4114800" cy="259972"/>
          </a:xfrm>
          <a:prstGeom prst="rect">
            <a:avLst/>
          </a:prstGeom>
        </p:spPr>
        <p:txBody>
          <a:bodyPr vert="horz" lIns="0" tIns="45720" rIns="0" bIns="45720" rtlCol="0" anchor="ctr"/>
          <a:lstStyle>
            <a:lvl1pPr algn="ctr">
              <a:defRPr sz="900">
                <a:solidFill>
                  <a:schemeClr val="bg1">
                    <a:lumMod val="50000"/>
                  </a:schemeClr>
                </a:solidFill>
                <a:latin typeface="Roboto" panose="02000000000000000000" pitchFamily="2" charset="0"/>
                <a:ea typeface="Roboto" panose="02000000000000000000" pitchFamily="2" charset="0"/>
              </a:defRPr>
            </a:lvl1pPr>
          </a:lstStyle>
          <a:p>
            <a:r>
              <a:rPr lang="en-US"/>
              <a:t>Copyright © 2022 Royal Cyber.  All rights reserved.</a:t>
            </a:r>
          </a:p>
        </p:txBody>
      </p:sp>
      <p:sp>
        <p:nvSpPr>
          <p:cNvPr id="30" name="Parallelogram 29">
            <a:extLst>
              <a:ext uri="{FF2B5EF4-FFF2-40B4-BE49-F238E27FC236}">
                <a16:creationId xmlns:a16="http://schemas.microsoft.com/office/drawing/2014/main" id="{3F52CD0E-63A2-3544-9EC4-8CA91D53B674}"/>
              </a:ext>
            </a:extLst>
          </p:cNvPr>
          <p:cNvSpPr/>
          <p:nvPr userDrawn="1"/>
        </p:nvSpPr>
        <p:spPr>
          <a:xfrm>
            <a:off x="10996178" y="4920344"/>
            <a:ext cx="342096" cy="424540"/>
          </a:xfrm>
          <a:prstGeom prst="parallelogram">
            <a:avLst>
              <a:gd name="adj" fmla="val 662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C4847EF7-07B9-3948-8ACF-8F87E05038BD}"/>
              </a:ext>
            </a:extLst>
          </p:cNvPr>
          <p:cNvSpPr>
            <a:spLocks noGrp="1"/>
          </p:cNvSpPr>
          <p:nvPr userDrawn="1">
            <p:ph type="sldNum" sz="quarter" idx="4"/>
          </p:nvPr>
        </p:nvSpPr>
        <p:spPr>
          <a:xfrm>
            <a:off x="11370932" y="6350181"/>
            <a:ext cx="446314" cy="373382"/>
          </a:xfrm>
          <a:prstGeom prst="rect">
            <a:avLst/>
          </a:prstGeom>
        </p:spPr>
        <p:txBody>
          <a:bodyPr vert="horz" lIns="0" tIns="0" rIns="0" bIns="0" rtlCol="0" anchor="ctr"/>
          <a:lstStyle>
            <a:lvl1pPr algn="r">
              <a:defRPr sz="1000">
                <a:solidFill>
                  <a:schemeClr val="tx1"/>
                </a:solidFill>
                <a:latin typeface="Roboto" panose="02000000000000000000" pitchFamily="2" charset="0"/>
                <a:ea typeface="Roboto" panose="02000000000000000000" pitchFamily="2" charset="0"/>
              </a:defRPr>
            </a:lvl1pPr>
          </a:lstStyle>
          <a:p>
            <a:fld id="{1AF3B2EA-3484-6741-9EDF-7404652DB13C}" type="slidenum">
              <a:rPr lang="en-US" smtClean="0"/>
              <a:pPr/>
              <a:t>‹#›</a:t>
            </a:fld>
            <a:endParaRPr lang="en-US"/>
          </a:p>
        </p:txBody>
      </p:sp>
    </p:spTree>
    <p:extLst>
      <p:ext uri="{BB962C8B-B14F-4D97-AF65-F5344CB8AC3E}">
        <p14:creationId xmlns:p14="http://schemas.microsoft.com/office/powerpoint/2010/main" val="266606068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hf hdr="0" dt="0"/>
  <p:txStyles>
    <p:titleStyle>
      <a:lvl1pPr algn="l" defTabSz="914400" rtl="0" eaLnBrk="1" latinLnBrk="0" hangingPunct="1">
        <a:lnSpc>
          <a:spcPct val="100000"/>
        </a:lnSpc>
        <a:spcBef>
          <a:spcPct val="0"/>
        </a:spcBef>
        <a:buNone/>
        <a:defRPr sz="2800" b="1" kern="1200">
          <a:solidFill>
            <a:schemeClr val="accent1"/>
          </a:solidFill>
          <a:latin typeface="Ubuntu" panose="020B0504030602030204" pitchFamily="34" charset="0"/>
          <a:ea typeface="Segoe UI Symbol" panose="020B0502040204020203" pitchFamily="34" charset="0"/>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Roboto" panose="02000000000000000000" pitchFamily="2" charset="0"/>
          <a:ea typeface="Roboto" panose="02000000000000000000" pitchFamily="2" charset="0"/>
          <a:cs typeface="+mn-cs"/>
        </a:defRPr>
      </a:lvl1pPr>
      <a:lvl2pPr marL="228600" indent="-228600" algn="l" defTabSz="914400" rtl="0" eaLnBrk="1" latinLnBrk="0" hangingPunct="1">
        <a:lnSpc>
          <a:spcPct val="100000"/>
        </a:lnSpc>
        <a:spcBef>
          <a:spcPts val="0"/>
        </a:spcBef>
        <a:buClr>
          <a:schemeClr val="accent1"/>
        </a:buClr>
        <a:buFont typeface="Courier New" panose="02070309020205020404" pitchFamily="49" charset="0"/>
        <a:buChar char="o"/>
        <a:defRPr sz="1600" kern="1200">
          <a:solidFill>
            <a:schemeClr val="tx1"/>
          </a:solidFill>
          <a:latin typeface="Roboto" panose="02000000000000000000" pitchFamily="2" charset="0"/>
          <a:ea typeface="Roboto" panose="02000000000000000000" pitchFamily="2" charset="0"/>
          <a:cs typeface="+mn-cs"/>
        </a:defRPr>
      </a:lvl2pPr>
      <a:lvl3pPr marL="457200" indent="-228600" algn="l" defTabSz="914400" rtl="0" eaLnBrk="1" latinLnBrk="0" hangingPunct="1">
        <a:lnSpc>
          <a:spcPct val="100000"/>
        </a:lnSpc>
        <a:spcBef>
          <a:spcPts val="0"/>
        </a:spcBef>
        <a:buClr>
          <a:schemeClr val="accent1"/>
        </a:buClr>
        <a:buFont typeface="Courier New" panose="02070309020205020404" pitchFamily="49" charset="0"/>
        <a:buChar char="o"/>
        <a:defRPr sz="1600" kern="1200">
          <a:solidFill>
            <a:schemeClr val="tx1"/>
          </a:solidFill>
          <a:latin typeface="Roboto" panose="02000000000000000000" pitchFamily="2" charset="0"/>
          <a:ea typeface="Roboto" panose="02000000000000000000" pitchFamily="2" charset="0"/>
          <a:cs typeface="+mn-cs"/>
        </a:defRPr>
      </a:lvl3pPr>
      <a:lvl4pPr marL="685800" indent="-228600" algn="l" defTabSz="914400" rtl="0" eaLnBrk="1" latinLnBrk="0" hangingPunct="1">
        <a:lnSpc>
          <a:spcPct val="100000"/>
        </a:lnSpc>
        <a:spcBef>
          <a:spcPts val="0"/>
        </a:spcBef>
        <a:buClr>
          <a:schemeClr val="accent1"/>
        </a:buClr>
        <a:buFont typeface="Courier New" panose="02070309020205020404" pitchFamily="49" charset="0"/>
        <a:buChar char="o"/>
        <a:defRPr sz="1600" kern="1200">
          <a:solidFill>
            <a:schemeClr val="tx1"/>
          </a:solidFill>
          <a:latin typeface="Roboto" panose="02000000000000000000" pitchFamily="2" charset="0"/>
          <a:ea typeface="Roboto" panose="02000000000000000000" pitchFamily="2" charset="0"/>
          <a:cs typeface="+mn-cs"/>
        </a:defRPr>
      </a:lvl4pPr>
      <a:lvl5pPr marL="914400" indent="-228600" algn="l" defTabSz="914400" rtl="0" eaLnBrk="1" latinLnBrk="0" hangingPunct="1">
        <a:lnSpc>
          <a:spcPct val="100000"/>
        </a:lnSpc>
        <a:spcBef>
          <a:spcPts val="0"/>
        </a:spcBef>
        <a:buClr>
          <a:schemeClr val="accent1"/>
        </a:buClr>
        <a:buFont typeface="Courier New" panose="02070309020205020404" pitchFamily="49" charset="0"/>
        <a:buChar char="o"/>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4.png"/><Relationship Id="rId26" Type="http://schemas.openxmlformats.org/officeDocument/2006/relationships/image" Target="../media/image38.png"/><Relationship Id="rId3" Type="http://schemas.openxmlformats.org/officeDocument/2006/relationships/image" Target="../media/image21.png"/><Relationship Id="rId21" Type="http://schemas.microsoft.com/office/2007/relationships/hdphoto" Target="../media/hdphoto7.wdp"/><Relationship Id="rId7" Type="http://schemas.openxmlformats.org/officeDocument/2006/relationships/image" Target="../media/image25.png"/><Relationship Id="rId12" Type="http://schemas.openxmlformats.org/officeDocument/2006/relationships/image" Target="../media/image30.png"/><Relationship Id="rId17" Type="http://schemas.microsoft.com/office/2007/relationships/hdphoto" Target="../media/hdphoto5.wdp"/><Relationship Id="rId25" Type="http://schemas.microsoft.com/office/2007/relationships/hdphoto" Target="../media/hdphoto9.wdp"/><Relationship Id="rId2" Type="http://schemas.openxmlformats.org/officeDocument/2006/relationships/notesSlide" Target="../notesSlides/notesSlide2.xml"/><Relationship Id="rId16" Type="http://schemas.openxmlformats.org/officeDocument/2006/relationships/image" Target="../media/image33.png"/><Relationship Id="rId20" Type="http://schemas.openxmlformats.org/officeDocument/2006/relationships/image" Target="../media/image35.png"/><Relationship Id="rId1" Type="http://schemas.openxmlformats.org/officeDocument/2006/relationships/slideLayout" Target="../slideLayouts/slideLayout14.xml"/><Relationship Id="rId6" Type="http://schemas.openxmlformats.org/officeDocument/2006/relationships/image" Target="../media/image24.png"/><Relationship Id="rId11" Type="http://schemas.openxmlformats.org/officeDocument/2006/relationships/image" Target="../media/image29.png"/><Relationship Id="rId24" Type="http://schemas.openxmlformats.org/officeDocument/2006/relationships/image" Target="../media/image37.png"/><Relationship Id="rId5" Type="http://schemas.openxmlformats.org/officeDocument/2006/relationships/image" Target="../media/image23.png"/><Relationship Id="rId15" Type="http://schemas.microsoft.com/office/2007/relationships/hdphoto" Target="../media/hdphoto4.wdp"/><Relationship Id="rId23" Type="http://schemas.microsoft.com/office/2007/relationships/hdphoto" Target="../media/hdphoto8.wdp"/><Relationship Id="rId10" Type="http://schemas.openxmlformats.org/officeDocument/2006/relationships/image" Target="../media/image28.png"/><Relationship Id="rId19" Type="http://schemas.microsoft.com/office/2007/relationships/hdphoto" Target="../media/hdphoto6.wdp"/><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 Id="rId22" Type="http://schemas.openxmlformats.org/officeDocument/2006/relationships/image" Target="../media/image36.png"/><Relationship Id="rId27" Type="http://schemas.microsoft.com/office/2007/relationships/hdphoto" Target="../media/hdphoto10.wdp"/></Relationships>
</file>

<file path=ppt/slides/_rels/slide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0.jp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1.jpg"/></Relationships>
</file>

<file path=ppt/slides/_rels/slide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4.jpg"/><Relationship Id="rId4" Type="http://schemas.openxmlformats.org/officeDocument/2006/relationships/image" Target="../media/image43.jp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5.jpg"/></Relationships>
</file>

<file path=ppt/slides/_rels/slide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7.jp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8.jpg"/></Relationships>
</file>

<file path=ppt/slides/_rels/slide1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0.jp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1.jpg"/></Relationships>
</file>

<file path=ppt/slides/_rels/slide13.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3.jpg"/></Relationships>
</file>

<file path=ppt/slides/_rels/slide15.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7.jpg"/><Relationship Id="rId5" Type="http://schemas.openxmlformats.org/officeDocument/2006/relationships/image" Target="../media/image56.jpg"/><Relationship Id="rId4" Type="http://schemas.openxmlformats.org/officeDocument/2006/relationships/image" Target="../media/image55.jp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8.jpg"/></Relationships>
</file>

<file path=ppt/slides/_rels/slide18.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0.jp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033"/>
        </a:solidFill>
        <a:effectLst/>
      </p:bgPr>
    </p:bg>
    <p:spTree>
      <p:nvGrpSpPr>
        <p:cNvPr id="1" name=""/>
        <p:cNvGrpSpPr/>
        <p:nvPr/>
      </p:nvGrpSpPr>
      <p:grpSpPr>
        <a:xfrm>
          <a:off x="0" y="0"/>
          <a:ext cx="0" cy="0"/>
          <a:chOff x="0" y="0"/>
          <a:chExt cx="0" cy="0"/>
        </a:xfrm>
      </p:grpSpPr>
      <p:sp>
        <p:nvSpPr>
          <p:cNvPr id="2" name="Shape 0"/>
          <p:cNvSpPr/>
          <p:nvPr/>
        </p:nvSpPr>
        <p:spPr>
          <a:xfrm>
            <a:off x="8595360" y="-2377440"/>
            <a:ext cx="6583680" cy="6583680"/>
          </a:xfrm>
          <a:prstGeom prst="ellipse">
            <a:avLst/>
          </a:prstGeom>
          <a:solidFill>
            <a:srgbClr val="331A4D"/>
          </a:solidFill>
          <a:ln/>
        </p:spPr>
        <p:txBody>
          <a:bodyPr/>
          <a:lstStyle/>
          <a:p>
            <a:endParaRPr lang="en-US"/>
          </a:p>
        </p:txBody>
      </p:sp>
      <p:sp>
        <p:nvSpPr>
          <p:cNvPr id="3" name="Shape 1"/>
          <p:cNvSpPr/>
          <p:nvPr/>
        </p:nvSpPr>
        <p:spPr>
          <a:xfrm>
            <a:off x="9692640" y="1554480"/>
            <a:ext cx="4206240" cy="4206240"/>
          </a:xfrm>
          <a:prstGeom prst="ellipse">
            <a:avLst/>
          </a:prstGeom>
          <a:solidFill>
            <a:srgbClr val="4A2470"/>
          </a:solidFill>
          <a:ln/>
        </p:spPr>
        <p:txBody>
          <a:bodyPr/>
          <a:lstStyle/>
          <a:p>
            <a:endParaRPr lang="en-US"/>
          </a:p>
        </p:txBody>
      </p:sp>
      <p:sp>
        <p:nvSpPr>
          <p:cNvPr id="4" name="Shape 2"/>
          <p:cNvSpPr/>
          <p:nvPr/>
        </p:nvSpPr>
        <p:spPr>
          <a:xfrm>
            <a:off x="11109960" y="4160520"/>
            <a:ext cx="2377440" cy="2377440"/>
          </a:xfrm>
          <a:prstGeom prst="ellipse">
            <a:avLst/>
          </a:prstGeom>
          <a:solidFill>
            <a:srgbClr val="00A99D">
              <a:alpha val="75000"/>
            </a:srgbClr>
          </a:solidFill>
          <a:ln/>
        </p:spPr>
        <p:txBody>
          <a:bodyPr/>
          <a:lstStyle/>
          <a:p>
            <a:endParaRPr lang="en-US"/>
          </a:p>
        </p:txBody>
      </p:sp>
      <p:pic>
        <p:nvPicPr>
          <p:cNvPr id="5" name="Image 0" descr="/home/claude/build/img/ct_cube.png"/>
          <p:cNvPicPr>
            <a:picLocks noChangeAspect="1"/>
          </p:cNvPicPr>
          <p:nvPr/>
        </p:nvPicPr>
        <p:blipFill>
          <a:blip r:embed="rId3">
            <a:alphaModFix amt="92000"/>
          </a:blip>
          <a:stretch>
            <a:fillRect/>
          </a:stretch>
        </p:blipFill>
        <p:spPr>
          <a:xfrm>
            <a:off x="9646920" y="2331720"/>
            <a:ext cx="2194560" cy="2194560"/>
          </a:xfrm>
          <a:prstGeom prst="rect">
            <a:avLst/>
          </a:prstGeom>
        </p:spPr>
      </p:pic>
      <p:pic>
        <p:nvPicPr>
          <p:cNvPr id="6" name="Image 1" descr="/home/claude/build/img/ct_cube.png"/>
          <p:cNvPicPr>
            <a:picLocks noChangeAspect="1"/>
          </p:cNvPicPr>
          <p:nvPr/>
        </p:nvPicPr>
        <p:blipFill>
          <a:blip r:embed="rId3"/>
          <a:stretch>
            <a:fillRect/>
          </a:stretch>
        </p:blipFill>
        <p:spPr>
          <a:xfrm>
            <a:off x="548640" y="502920"/>
            <a:ext cx="502920" cy="502920"/>
          </a:xfrm>
          <a:prstGeom prst="rect">
            <a:avLst/>
          </a:prstGeom>
        </p:spPr>
      </p:pic>
      <p:sp>
        <p:nvSpPr>
          <p:cNvPr id="7" name="Text 3"/>
          <p:cNvSpPr txBox="1"/>
          <p:nvPr/>
        </p:nvSpPr>
        <p:spPr>
          <a:xfrm>
            <a:off x="1143000" y="502920"/>
            <a:ext cx="5486400" cy="502920"/>
          </a:xfrm>
          <a:prstGeom prst="rect">
            <a:avLst/>
          </a:prstGeom>
          <a:noFill/>
          <a:ln/>
        </p:spPr>
        <p:txBody>
          <a:bodyPr wrap="square" lIns="0" tIns="0" rIns="0" bIns="0" rtlCol="0" anchor="ctr"/>
          <a:lstStyle/>
          <a:p>
            <a:pPr marL="0" indent="0">
              <a:buNone/>
            </a:pPr>
            <a:r>
              <a:rPr lang="en-US" sz="1300" b="1" kern="0" spc="200" dirty="0">
                <a:solidFill>
                  <a:srgbClr val="00A99D"/>
                </a:solidFill>
                <a:latin typeface="Arial" pitchFamily="34" charset="0"/>
                <a:ea typeface="Arial" pitchFamily="34" charset="-122"/>
                <a:cs typeface="Arial" pitchFamily="34" charset="-120"/>
              </a:rPr>
              <a:t>ROYAL CYBER  ×  COMMERCETOOLS</a:t>
            </a:r>
            <a:endParaRPr lang="en-US" sz="1300" dirty="0"/>
          </a:p>
        </p:txBody>
      </p:sp>
      <p:sp>
        <p:nvSpPr>
          <p:cNvPr id="8" name="Text 4"/>
          <p:cNvSpPr txBox="1"/>
          <p:nvPr/>
        </p:nvSpPr>
        <p:spPr>
          <a:xfrm>
            <a:off x="548640" y="2606040"/>
            <a:ext cx="7863840" cy="548640"/>
          </a:xfrm>
          <a:prstGeom prst="rect">
            <a:avLst/>
          </a:prstGeom>
          <a:noFill/>
          <a:ln/>
        </p:spPr>
        <p:txBody>
          <a:bodyPr wrap="square" lIns="0" tIns="0" rIns="0" bIns="0" rtlCol="0" anchor="ctr"/>
          <a:lstStyle/>
          <a:p>
            <a:pPr marL="0" indent="0">
              <a:buNone/>
            </a:pPr>
            <a:r>
              <a:rPr lang="en-US" sz="2200" b="1" dirty="0">
                <a:solidFill>
                  <a:srgbClr val="FFC629"/>
                </a:solidFill>
                <a:latin typeface="Arial" pitchFamily="34" charset="0"/>
                <a:ea typeface="Arial" pitchFamily="34" charset="-122"/>
                <a:cs typeface="Arial" pitchFamily="34" charset="-120"/>
              </a:rPr>
              <a:t>Royal Cyber</a:t>
            </a:r>
            <a:endParaRPr lang="en-US" sz="2200" dirty="0"/>
          </a:p>
        </p:txBody>
      </p:sp>
      <p:sp>
        <p:nvSpPr>
          <p:cNvPr id="9" name="Text 5"/>
          <p:cNvSpPr txBox="1"/>
          <p:nvPr/>
        </p:nvSpPr>
        <p:spPr>
          <a:xfrm>
            <a:off x="548640" y="3108960"/>
            <a:ext cx="8412480" cy="141732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Introductions, Capabilities,</a:t>
            </a:r>
            <a:endParaRPr lang="en-US" sz="4000" dirty="0"/>
          </a:p>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and Experience</a:t>
            </a:r>
            <a:endParaRPr lang="en-US" sz="4000" dirty="0"/>
          </a:p>
        </p:txBody>
      </p:sp>
      <p:sp>
        <p:nvSpPr>
          <p:cNvPr id="10" name="Text 6"/>
          <p:cNvSpPr txBox="1"/>
          <p:nvPr/>
        </p:nvSpPr>
        <p:spPr>
          <a:xfrm>
            <a:off x="548640" y="4480560"/>
            <a:ext cx="7863840" cy="457200"/>
          </a:xfrm>
          <a:prstGeom prst="rect">
            <a:avLst/>
          </a:prstGeom>
          <a:noFill/>
          <a:ln/>
        </p:spPr>
        <p:txBody>
          <a:bodyPr wrap="square" lIns="0" tIns="0" rIns="0" bIns="0" rtlCol="0" anchor="ctr"/>
          <a:lstStyle/>
          <a:p>
            <a:pPr marL="0" indent="0">
              <a:buNone/>
            </a:pPr>
            <a:r>
              <a:rPr lang="en-US" sz="1500" i="1" dirty="0">
                <a:solidFill>
                  <a:srgbClr val="D8CDEC"/>
                </a:solidFill>
                <a:latin typeface="Calibri" pitchFamily="34" charset="0"/>
                <a:ea typeface="Calibri" pitchFamily="34" charset="-122"/>
                <a:cs typeface="Calibri" pitchFamily="34" charset="-120"/>
              </a:rPr>
              <a:t>Transforming Enterprise Digital Experiences Through Innovation and Expertise</a:t>
            </a:r>
            <a:endParaRPr lang="en-US" sz="1500" dirty="0"/>
          </a:p>
        </p:txBody>
      </p:sp>
      <p:sp>
        <p:nvSpPr>
          <p:cNvPr id="11" name="Text 7"/>
          <p:cNvSpPr txBox="1"/>
          <p:nvPr/>
        </p:nvSpPr>
        <p:spPr>
          <a:xfrm>
            <a:off x="548640" y="5897880"/>
            <a:ext cx="2743200" cy="320040"/>
          </a:xfrm>
          <a:prstGeom prst="rect">
            <a:avLst/>
          </a:prstGeom>
          <a:noFill/>
          <a:ln/>
        </p:spPr>
        <p:txBody>
          <a:bodyPr wrap="square" lIns="0" tIns="0" rIns="0" bIns="0" rtlCol="0" anchor="ctr"/>
          <a:lstStyle/>
          <a:p>
            <a:pPr marL="0" indent="0">
              <a:buNone/>
            </a:pPr>
            <a:r>
              <a:rPr lang="en-US" sz="1300" dirty="0">
                <a:solidFill>
                  <a:srgbClr val="C9BEDD"/>
                </a:solidFill>
                <a:latin typeface="Calibri" pitchFamily="34" charset="0"/>
                <a:ea typeface="Calibri" pitchFamily="34" charset="-122"/>
                <a:cs typeface="Calibri" pitchFamily="34" charset="-120"/>
              </a:rPr>
              <a:t>August 2026</a:t>
            </a:r>
            <a:endParaRPr lang="en-US" sz="1300" dirty="0"/>
          </a:p>
        </p:txBody>
      </p:sp>
      <p:sp>
        <p:nvSpPr>
          <p:cNvPr id="12" name="Text 8"/>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900" dirty="0">
                <a:solidFill>
                  <a:srgbClr val="8B7FA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3" name="Text 9"/>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8B7FA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60CD44-B924-E8C1-333E-9EC84FB5DF7E}"/>
              </a:ext>
            </a:extLst>
          </p:cNvPr>
          <p:cNvSpPr/>
          <p:nvPr/>
        </p:nvSpPr>
        <p:spPr>
          <a:xfrm>
            <a:off x="0" y="1647"/>
            <a:ext cx="12192000" cy="4741710"/>
          </a:xfrm>
          <a:prstGeom prst="rect">
            <a:avLst/>
          </a:prstGeom>
          <a:gradFill flip="none" rotWithShape="1">
            <a:gsLst>
              <a:gs pos="0">
                <a:srgbClr val="003963"/>
              </a:gs>
              <a:gs pos="100000">
                <a:srgbClr val="001E36"/>
              </a:gs>
            </a:gsLst>
            <a:lin ang="5400000" scaled="1"/>
            <a:tileRect/>
          </a:gradFill>
          <a:ln w="12700" cap="flat" cmpd="sng" algn="ctr">
            <a:noFill/>
            <a:prstDash val="solid"/>
            <a:miter lim="800000"/>
          </a:ln>
          <a:effectLst/>
        </p:spPr>
        <p:txBody>
          <a:bodyPr wrap="square"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363"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33" name="Title 32">
            <a:extLst>
              <a:ext uri="{FF2B5EF4-FFF2-40B4-BE49-F238E27FC236}">
                <a16:creationId xmlns:a16="http://schemas.microsoft.com/office/drawing/2014/main" id="{A1F1F0F2-A9BA-0B30-7CAF-A5C2CC46D43F}"/>
              </a:ext>
            </a:extLst>
          </p:cNvPr>
          <p:cNvSpPr>
            <a:spLocks noGrp="1"/>
          </p:cNvSpPr>
          <p:nvPr>
            <p:ph type="title"/>
          </p:nvPr>
        </p:nvSpPr>
        <p:spPr>
          <a:xfrm>
            <a:off x="374754" y="353589"/>
            <a:ext cx="11442492" cy="538609"/>
          </a:xfrm>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gn="l"/>
            <a:r>
              <a:rPr lang="en-US" sz="3000">
                <a:solidFill>
                  <a:srgbClr val="FFFFFF"/>
                </a:solidFill>
              </a:rPr>
              <a:t>Royal Cyber Overview</a:t>
            </a:r>
            <a:endParaRPr lang="en-US"/>
          </a:p>
        </p:txBody>
      </p:sp>
      <p:sp>
        <p:nvSpPr>
          <p:cNvPr id="8" name="Text Placeholder 7">
            <a:extLst>
              <a:ext uri="{FF2B5EF4-FFF2-40B4-BE49-F238E27FC236}">
                <a16:creationId xmlns:a16="http://schemas.microsoft.com/office/drawing/2014/main" id="{FF2396F1-D961-CFB5-B572-AB9A3B25348F}"/>
              </a:ext>
            </a:extLst>
          </p:cNvPr>
          <p:cNvSpPr>
            <a:spLocks noGrp="1"/>
          </p:cNvSpPr>
          <p:nvPr>
            <p:ph type="body" sz="quarter" idx="13"/>
          </p:nvPr>
        </p:nvSpPr>
        <p:spPr>
          <a:xfrm>
            <a:off x="374754" y="1001487"/>
            <a:ext cx="11442492" cy="221589"/>
          </a:xfrm>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r>
              <a:rPr lang="en-US">
                <a:solidFill>
                  <a:schemeClr val="bg1"/>
                </a:solidFill>
              </a:rPr>
              <a:t>IT Consulting &amp; Digital Transformation Company, specializing in Services, Solutions and Software</a:t>
            </a:r>
          </a:p>
        </p:txBody>
      </p:sp>
      <p:sp>
        <p:nvSpPr>
          <p:cNvPr id="4" name="Footer Placeholder 3">
            <a:extLst>
              <a:ext uri="{FF2B5EF4-FFF2-40B4-BE49-F238E27FC236}">
                <a16:creationId xmlns:a16="http://schemas.microsoft.com/office/drawing/2014/main" id="{17991F07-E11A-2EB0-0D09-548F6CC07675}"/>
              </a:ext>
            </a:extLst>
          </p:cNvPr>
          <p:cNvSpPr>
            <a:spLocks noGrp="1"/>
          </p:cNvSpPr>
          <p:nvPr>
            <p:ph type="ftr" sz="quarter" idx="11"/>
          </p:nvPr>
        </p:nvSpPr>
        <p:spPr/>
        <p:txBody>
          <a:bodyPr/>
          <a:lstStyle>
            <a:defPPr>
              <a:defRPr lang="en-US"/>
            </a:defPPr>
            <a:lvl1pPr marL="0" algn="l" defTabSz="634950" rtl="0" eaLnBrk="1" latinLnBrk="0" hangingPunct="1">
              <a:defRPr sz="1250" kern="1200">
                <a:solidFill>
                  <a:schemeClr val="tx1"/>
                </a:solidFill>
                <a:latin typeface="+mn-lt"/>
                <a:ea typeface="+mn-ea"/>
                <a:cs typeface="+mn-cs"/>
              </a:defRPr>
            </a:lvl1pPr>
            <a:lvl2pPr marL="317475" algn="l" defTabSz="634950" rtl="0" eaLnBrk="1" latinLnBrk="0" hangingPunct="1">
              <a:defRPr sz="1250" kern="1200">
                <a:solidFill>
                  <a:schemeClr val="tx1"/>
                </a:solidFill>
                <a:latin typeface="+mn-lt"/>
                <a:ea typeface="+mn-ea"/>
                <a:cs typeface="+mn-cs"/>
              </a:defRPr>
            </a:lvl2pPr>
            <a:lvl3pPr marL="634950" algn="l" defTabSz="634950" rtl="0" eaLnBrk="1" latinLnBrk="0" hangingPunct="1">
              <a:defRPr sz="1250" kern="1200">
                <a:solidFill>
                  <a:schemeClr val="tx1"/>
                </a:solidFill>
                <a:latin typeface="+mn-lt"/>
                <a:ea typeface="+mn-ea"/>
                <a:cs typeface="+mn-cs"/>
              </a:defRPr>
            </a:lvl3pPr>
            <a:lvl4pPr marL="952424" algn="l" defTabSz="634950" rtl="0" eaLnBrk="1" latinLnBrk="0" hangingPunct="1">
              <a:defRPr sz="1250" kern="1200">
                <a:solidFill>
                  <a:schemeClr val="tx1"/>
                </a:solidFill>
                <a:latin typeface="+mn-lt"/>
                <a:ea typeface="+mn-ea"/>
                <a:cs typeface="+mn-cs"/>
              </a:defRPr>
            </a:lvl4pPr>
            <a:lvl5pPr marL="1269898" algn="l" defTabSz="634950" rtl="0" eaLnBrk="1" latinLnBrk="0" hangingPunct="1">
              <a:defRPr sz="1250" kern="1200">
                <a:solidFill>
                  <a:schemeClr val="tx1"/>
                </a:solidFill>
                <a:latin typeface="+mn-lt"/>
                <a:ea typeface="+mn-ea"/>
                <a:cs typeface="+mn-cs"/>
              </a:defRPr>
            </a:lvl5pPr>
            <a:lvl6pPr marL="1587373" algn="l" defTabSz="634950" rtl="0" eaLnBrk="1" latinLnBrk="0" hangingPunct="1">
              <a:defRPr sz="1250" kern="1200">
                <a:solidFill>
                  <a:schemeClr val="tx1"/>
                </a:solidFill>
                <a:latin typeface="+mn-lt"/>
                <a:ea typeface="+mn-ea"/>
                <a:cs typeface="+mn-cs"/>
              </a:defRPr>
            </a:lvl6pPr>
            <a:lvl7pPr marL="1904848" algn="l" defTabSz="634950" rtl="0" eaLnBrk="1" latinLnBrk="0" hangingPunct="1">
              <a:defRPr sz="1250" kern="1200">
                <a:solidFill>
                  <a:schemeClr val="tx1"/>
                </a:solidFill>
                <a:latin typeface="+mn-lt"/>
                <a:ea typeface="+mn-ea"/>
                <a:cs typeface="+mn-cs"/>
              </a:defRPr>
            </a:lvl7pPr>
            <a:lvl8pPr marL="2222322" algn="l" defTabSz="634950" rtl="0" eaLnBrk="1" latinLnBrk="0" hangingPunct="1">
              <a:defRPr sz="1250" kern="1200">
                <a:solidFill>
                  <a:schemeClr val="tx1"/>
                </a:solidFill>
                <a:latin typeface="+mn-lt"/>
                <a:ea typeface="+mn-ea"/>
                <a:cs typeface="+mn-cs"/>
              </a:defRPr>
            </a:lvl8pPr>
            <a:lvl9pPr marL="2539797" algn="l" defTabSz="634950" rtl="0" eaLnBrk="1" latinLnBrk="0" hangingPunct="1">
              <a:defRPr sz="1250" kern="1200">
                <a:solidFill>
                  <a:schemeClr val="tx1"/>
                </a:solidFill>
                <a:latin typeface="+mn-lt"/>
                <a:ea typeface="+mn-ea"/>
                <a:cs typeface="+mn-cs"/>
              </a:defRPr>
            </a:lvl9pPr>
          </a:lstStyle>
          <a:p>
            <a:pPr marL="0" marR="0" lvl="0" indent="0" algn="l" defTabSz="63495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000000"/>
                </a:solidFill>
                <a:effectLst/>
                <a:uLnTx/>
                <a:uFillTx/>
                <a:latin typeface="Arial" panose="020B0604020202020204"/>
                <a:ea typeface="+mn-ea"/>
                <a:cs typeface="+mn-cs"/>
              </a:rPr>
              <a:t>Copyright © 2026 Royal Cyber.  All rights reserved.</a:t>
            </a:r>
          </a:p>
        </p:txBody>
      </p:sp>
      <p:sp>
        <p:nvSpPr>
          <p:cNvPr id="5" name="Slide Number Placeholder 4">
            <a:extLst>
              <a:ext uri="{FF2B5EF4-FFF2-40B4-BE49-F238E27FC236}">
                <a16:creationId xmlns:a16="http://schemas.microsoft.com/office/drawing/2014/main" id="{24B39C61-F5CF-D352-CD05-01C74D94C2BF}"/>
              </a:ext>
            </a:extLst>
          </p:cNvPr>
          <p:cNvSpPr>
            <a:spLocks noGrp="1"/>
          </p:cNvSpPr>
          <p:nvPr>
            <p:ph type="sldNum" sz="quarter" idx="12"/>
          </p:nvPr>
        </p:nvSpPr>
        <p:spPr/>
        <p:txBody>
          <a:bodyPr vert="horz" lIns="0" tIns="0" rIns="0" bIns="0" rtlCol="0" anchor="ctr"/>
          <a:lstStyle>
            <a:defPPr>
              <a:defRPr lang="en-US"/>
            </a:defPPr>
            <a:lvl1pPr marL="0" algn="l" defTabSz="634950" rtl="0" eaLnBrk="1" latinLnBrk="0" hangingPunct="1">
              <a:defRPr sz="1250" kern="1200">
                <a:solidFill>
                  <a:schemeClr val="tx1"/>
                </a:solidFill>
                <a:latin typeface="+mn-lt"/>
                <a:ea typeface="+mn-ea"/>
                <a:cs typeface="+mn-cs"/>
              </a:defRPr>
            </a:lvl1pPr>
            <a:lvl2pPr marL="317475" algn="l" defTabSz="634950" rtl="0" eaLnBrk="1" latinLnBrk="0" hangingPunct="1">
              <a:defRPr sz="1250" kern="1200">
                <a:solidFill>
                  <a:schemeClr val="tx1"/>
                </a:solidFill>
                <a:latin typeface="+mn-lt"/>
                <a:ea typeface="+mn-ea"/>
                <a:cs typeface="+mn-cs"/>
              </a:defRPr>
            </a:lvl2pPr>
            <a:lvl3pPr marL="634950" algn="l" defTabSz="634950" rtl="0" eaLnBrk="1" latinLnBrk="0" hangingPunct="1">
              <a:defRPr sz="1250" kern="1200">
                <a:solidFill>
                  <a:schemeClr val="tx1"/>
                </a:solidFill>
                <a:latin typeface="+mn-lt"/>
                <a:ea typeface="+mn-ea"/>
                <a:cs typeface="+mn-cs"/>
              </a:defRPr>
            </a:lvl3pPr>
            <a:lvl4pPr marL="952424" algn="l" defTabSz="634950" rtl="0" eaLnBrk="1" latinLnBrk="0" hangingPunct="1">
              <a:defRPr sz="1250" kern="1200">
                <a:solidFill>
                  <a:schemeClr val="tx1"/>
                </a:solidFill>
                <a:latin typeface="+mn-lt"/>
                <a:ea typeface="+mn-ea"/>
                <a:cs typeface="+mn-cs"/>
              </a:defRPr>
            </a:lvl4pPr>
            <a:lvl5pPr marL="1269898" algn="l" defTabSz="634950" rtl="0" eaLnBrk="1" latinLnBrk="0" hangingPunct="1">
              <a:defRPr sz="1250" kern="1200">
                <a:solidFill>
                  <a:schemeClr val="tx1"/>
                </a:solidFill>
                <a:latin typeface="+mn-lt"/>
                <a:ea typeface="+mn-ea"/>
                <a:cs typeface="+mn-cs"/>
              </a:defRPr>
            </a:lvl5pPr>
            <a:lvl6pPr marL="1587373" algn="l" defTabSz="634950" rtl="0" eaLnBrk="1" latinLnBrk="0" hangingPunct="1">
              <a:defRPr sz="1250" kern="1200">
                <a:solidFill>
                  <a:schemeClr val="tx1"/>
                </a:solidFill>
                <a:latin typeface="+mn-lt"/>
                <a:ea typeface="+mn-ea"/>
                <a:cs typeface="+mn-cs"/>
              </a:defRPr>
            </a:lvl6pPr>
            <a:lvl7pPr marL="1904848" algn="l" defTabSz="634950" rtl="0" eaLnBrk="1" latinLnBrk="0" hangingPunct="1">
              <a:defRPr sz="1250" kern="1200">
                <a:solidFill>
                  <a:schemeClr val="tx1"/>
                </a:solidFill>
                <a:latin typeface="+mn-lt"/>
                <a:ea typeface="+mn-ea"/>
                <a:cs typeface="+mn-cs"/>
              </a:defRPr>
            </a:lvl7pPr>
            <a:lvl8pPr marL="2222322" algn="l" defTabSz="634950" rtl="0" eaLnBrk="1" latinLnBrk="0" hangingPunct="1">
              <a:defRPr sz="1250" kern="1200">
                <a:solidFill>
                  <a:schemeClr val="tx1"/>
                </a:solidFill>
                <a:latin typeface="+mn-lt"/>
                <a:ea typeface="+mn-ea"/>
                <a:cs typeface="+mn-cs"/>
              </a:defRPr>
            </a:lvl8pPr>
            <a:lvl9pPr marL="2539797" algn="l" defTabSz="634950" rtl="0" eaLnBrk="1" latinLnBrk="0" hangingPunct="1">
              <a:defRPr sz="1250" kern="1200">
                <a:solidFill>
                  <a:schemeClr val="tx1"/>
                </a:solidFill>
                <a:latin typeface="+mn-lt"/>
                <a:ea typeface="+mn-ea"/>
                <a:cs typeface="+mn-cs"/>
              </a:defRPr>
            </a:lvl9pPr>
          </a:lstStyle>
          <a:p>
            <a:pPr marL="0" marR="0" lvl="0" indent="0" algn="l" defTabSz="634950" rtl="0" eaLnBrk="1" fontAlgn="auto" latinLnBrk="0" hangingPunct="1">
              <a:lnSpc>
                <a:spcPct val="100000"/>
              </a:lnSpc>
              <a:spcBef>
                <a:spcPts val="0"/>
              </a:spcBef>
              <a:spcAft>
                <a:spcPts val="0"/>
              </a:spcAft>
              <a:buClrTx/>
              <a:buSzTx/>
              <a:buFontTx/>
              <a:buNone/>
              <a:tabLst/>
              <a:defRPr/>
            </a:pPr>
            <a:fld id="{1AF3B2EA-3484-6741-9EDF-7404652DB13C}" type="slidenum">
              <a:rPr kumimoji="0" lang="en-US" sz="125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634950" rtl="0" eaLnBrk="1" fontAlgn="auto" latinLnBrk="0" hangingPunct="1">
                <a:lnSpc>
                  <a:spcPct val="100000"/>
                </a:lnSpc>
                <a:spcBef>
                  <a:spcPts val="0"/>
                </a:spcBef>
                <a:spcAft>
                  <a:spcPts val="0"/>
                </a:spcAft>
                <a:buClrTx/>
                <a:buSzTx/>
                <a:buFontTx/>
                <a:buNone/>
                <a:tabLst/>
                <a:defRPr/>
              </a:pPr>
              <a:t>2</a:t>
            </a:fld>
            <a:endParaRPr kumimoji="0" lang="en-US" sz="125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3" name="Straight Connector 2">
            <a:extLst>
              <a:ext uri="{FF2B5EF4-FFF2-40B4-BE49-F238E27FC236}">
                <a16:creationId xmlns:a16="http://schemas.microsoft.com/office/drawing/2014/main" id="{101DFEB6-531C-BD37-6753-B24BD794B0AE}"/>
              </a:ext>
            </a:extLst>
          </p:cNvPr>
          <p:cNvCxnSpPr>
            <a:cxnSpLocks/>
          </p:cNvCxnSpPr>
          <p:nvPr/>
        </p:nvCxnSpPr>
        <p:spPr>
          <a:xfrm>
            <a:off x="0" y="4743356"/>
            <a:ext cx="1219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42F14F15-A4D0-32AA-AD71-B096E9F99E1D}"/>
              </a:ext>
            </a:extLst>
          </p:cNvPr>
          <p:cNvSpPr/>
          <p:nvPr/>
        </p:nvSpPr>
        <p:spPr>
          <a:xfrm>
            <a:off x="752453" y="4385435"/>
            <a:ext cx="715842" cy="715842"/>
          </a:xfrm>
          <a:prstGeom prst="ellipse">
            <a:avLst/>
          </a:prstGeom>
          <a:solidFill>
            <a:schemeClr val="accent1">
              <a:lumMod val="75000"/>
              <a:lumOff val="2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68582F89-07AE-B8C8-EB9D-64E6A30C633F}"/>
              </a:ext>
            </a:extLst>
          </p:cNvPr>
          <p:cNvSpPr/>
          <p:nvPr/>
        </p:nvSpPr>
        <p:spPr>
          <a:xfrm>
            <a:off x="2416992" y="4385435"/>
            <a:ext cx="715842" cy="715842"/>
          </a:xfrm>
          <a:prstGeom prst="ellipse">
            <a:avLst/>
          </a:prstGeom>
          <a:solidFill>
            <a:schemeClr val="accent1">
              <a:lumMod val="75000"/>
              <a:lumOff val="2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05F9F816-93EF-5FB4-4483-A50AE555F4C9}"/>
              </a:ext>
            </a:extLst>
          </p:cNvPr>
          <p:cNvSpPr/>
          <p:nvPr/>
        </p:nvSpPr>
        <p:spPr>
          <a:xfrm>
            <a:off x="4081531" y="4385435"/>
            <a:ext cx="715842" cy="715842"/>
          </a:xfrm>
          <a:prstGeom prst="ellipse">
            <a:avLst/>
          </a:prstGeom>
          <a:solidFill>
            <a:schemeClr val="accent1">
              <a:lumMod val="75000"/>
              <a:lumOff val="2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B7A669DE-A1D5-77D9-C41F-28BC4F855796}"/>
              </a:ext>
            </a:extLst>
          </p:cNvPr>
          <p:cNvSpPr/>
          <p:nvPr/>
        </p:nvSpPr>
        <p:spPr>
          <a:xfrm>
            <a:off x="5746070" y="4385435"/>
            <a:ext cx="715842" cy="715842"/>
          </a:xfrm>
          <a:prstGeom prst="ellipse">
            <a:avLst/>
          </a:prstGeom>
          <a:solidFill>
            <a:schemeClr val="accent1">
              <a:lumMod val="75000"/>
              <a:lumOff val="2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Oval 27">
            <a:extLst>
              <a:ext uri="{FF2B5EF4-FFF2-40B4-BE49-F238E27FC236}">
                <a16:creationId xmlns:a16="http://schemas.microsoft.com/office/drawing/2014/main" id="{55A7229D-2082-5B2C-E220-95F65BEA5CE6}"/>
              </a:ext>
            </a:extLst>
          </p:cNvPr>
          <p:cNvSpPr/>
          <p:nvPr/>
        </p:nvSpPr>
        <p:spPr>
          <a:xfrm>
            <a:off x="7410609" y="4385435"/>
            <a:ext cx="715842" cy="715842"/>
          </a:xfrm>
          <a:prstGeom prst="ellipse">
            <a:avLst/>
          </a:prstGeom>
          <a:solidFill>
            <a:schemeClr val="accent1">
              <a:lumMod val="75000"/>
              <a:lumOff val="2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Oval 28">
            <a:extLst>
              <a:ext uri="{FF2B5EF4-FFF2-40B4-BE49-F238E27FC236}">
                <a16:creationId xmlns:a16="http://schemas.microsoft.com/office/drawing/2014/main" id="{8082D3A3-43EF-3BC3-643B-00CE0B2CE1C5}"/>
              </a:ext>
            </a:extLst>
          </p:cNvPr>
          <p:cNvSpPr/>
          <p:nvPr/>
        </p:nvSpPr>
        <p:spPr>
          <a:xfrm>
            <a:off x="10739684" y="4385435"/>
            <a:ext cx="715842" cy="715842"/>
          </a:xfrm>
          <a:prstGeom prst="ellipse">
            <a:avLst/>
          </a:prstGeom>
          <a:solidFill>
            <a:schemeClr val="accent1">
              <a:lumMod val="75000"/>
              <a:lumOff val="2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4CA727B1-716D-8856-3101-44023553298C}"/>
              </a:ext>
            </a:extLst>
          </p:cNvPr>
          <p:cNvSpPr txBox="1"/>
          <p:nvPr/>
        </p:nvSpPr>
        <p:spPr>
          <a:xfrm>
            <a:off x="374754" y="5614099"/>
            <a:ext cx="1471240" cy="381498"/>
          </a:xfrm>
          <a:prstGeom prst="rect">
            <a:avLst/>
          </a:prstGeom>
          <a:noFill/>
          <a:ln>
            <a:noFill/>
          </a:ln>
        </p:spPr>
        <p:txBody>
          <a:bodyPr wrap="square" lIns="0" tIns="0" rIns="0" bIns="0" rtlCol="0" anchor="t">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Years of </a:t>
            </a:r>
            <a:b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b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Experience</a:t>
            </a:r>
          </a:p>
        </p:txBody>
      </p:sp>
      <p:sp>
        <p:nvSpPr>
          <p:cNvPr id="12" name="TextBox 11">
            <a:extLst>
              <a:ext uri="{FF2B5EF4-FFF2-40B4-BE49-F238E27FC236}">
                <a16:creationId xmlns:a16="http://schemas.microsoft.com/office/drawing/2014/main" id="{6ACF69BE-78EB-F0F2-B0A6-2DACD2BE89BF}"/>
              </a:ext>
            </a:extLst>
          </p:cNvPr>
          <p:cNvSpPr txBox="1"/>
          <p:nvPr/>
        </p:nvSpPr>
        <p:spPr>
          <a:xfrm>
            <a:off x="374754" y="5153293"/>
            <a:ext cx="1471240" cy="509972"/>
          </a:xfrm>
          <a:prstGeom prst="rect">
            <a:avLst/>
          </a:prstGeom>
          <a:noFill/>
          <a:ln>
            <a:noFill/>
          </a:ln>
        </p:spPr>
        <p:txBody>
          <a:bodyPr wrap="square" lIns="0" tIns="0" rIns="0" bIns="0"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10000"/>
              </a:lnSpc>
              <a:spcBef>
                <a:spcPts val="0"/>
              </a:spcBef>
              <a:spcAft>
                <a:spcPts val="0"/>
              </a:spcAft>
              <a:buClrTx/>
              <a:buSzTx/>
              <a:buFontTx/>
              <a:buNone/>
              <a:tabLst/>
              <a:defRPr/>
            </a:pPr>
            <a:r>
              <a:rPr kumimoji="0" lang="en-US" sz="2200" b="1" i="0" u="none" strike="noStrike" kern="0" cap="none" spc="0" normalizeH="0" baseline="0" noProof="0">
                <a:ln>
                  <a:noFill/>
                </a:ln>
                <a:solidFill>
                  <a:srgbClr val="003863"/>
                </a:solidFill>
                <a:effectLst/>
                <a:uLnTx/>
                <a:uFillTx/>
                <a:latin typeface="Century Gothic" panose="020B0502020202020204" pitchFamily="34" charset="0"/>
                <a:ea typeface="Roboto" panose="02000000000000000000" pitchFamily="2" charset="0"/>
                <a:cs typeface="+mn-cs"/>
              </a:rPr>
              <a:t>20+</a:t>
            </a:r>
          </a:p>
        </p:txBody>
      </p:sp>
      <p:sp>
        <p:nvSpPr>
          <p:cNvPr id="13" name="TextBox 12">
            <a:extLst>
              <a:ext uri="{FF2B5EF4-FFF2-40B4-BE49-F238E27FC236}">
                <a16:creationId xmlns:a16="http://schemas.microsoft.com/office/drawing/2014/main" id="{5AA379EB-AB0E-34BF-0D84-6D40B3564BF4}"/>
              </a:ext>
            </a:extLst>
          </p:cNvPr>
          <p:cNvSpPr txBox="1"/>
          <p:nvPr/>
        </p:nvSpPr>
        <p:spPr>
          <a:xfrm>
            <a:off x="2039293" y="5614099"/>
            <a:ext cx="1471240" cy="381498"/>
          </a:xfrm>
          <a:prstGeom prst="rect">
            <a:avLst/>
          </a:prstGeom>
          <a:noFill/>
          <a:ln>
            <a:noFill/>
          </a:ln>
        </p:spPr>
        <p:txBody>
          <a:bodyPr wrap="square" lIns="0" tIns="0" rIns="0" bIns="0" rtlCol="0" anchor="t">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Employees </a:t>
            </a:r>
            <a:b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b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Globally</a:t>
            </a:r>
          </a:p>
        </p:txBody>
      </p:sp>
      <p:sp>
        <p:nvSpPr>
          <p:cNvPr id="14" name="TextBox 13">
            <a:extLst>
              <a:ext uri="{FF2B5EF4-FFF2-40B4-BE49-F238E27FC236}">
                <a16:creationId xmlns:a16="http://schemas.microsoft.com/office/drawing/2014/main" id="{BE3B49BB-3955-C157-6432-5637156C031D}"/>
              </a:ext>
            </a:extLst>
          </p:cNvPr>
          <p:cNvSpPr txBox="1"/>
          <p:nvPr/>
        </p:nvSpPr>
        <p:spPr>
          <a:xfrm>
            <a:off x="2039293" y="5153293"/>
            <a:ext cx="1471240" cy="509972"/>
          </a:xfrm>
          <a:prstGeom prst="rect">
            <a:avLst/>
          </a:prstGeom>
          <a:noFill/>
          <a:ln>
            <a:noFill/>
          </a:ln>
        </p:spPr>
        <p:txBody>
          <a:bodyPr wrap="square" lIns="0" tIns="0" rIns="0" bIns="0"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10000"/>
              </a:lnSpc>
              <a:spcBef>
                <a:spcPts val="0"/>
              </a:spcBef>
              <a:spcAft>
                <a:spcPts val="0"/>
              </a:spcAft>
              <a:buClrTx/>
              <a:buSzTx/>
              <a:buFontTx/>
              <a:buNone/>
              <a:tabLst/>
              <a:defRPr/>
            </a:pPr>
            <a:r>
              <a:rPr kumimoji="0" lang="en-US" sz="2200" b="1" i="0" u="none" strike="noStrike" kern="0" cap="none" spc="0" normalizeH="0" baseline="0" noProof="0">
                <a:ln>
                  <a:noFill/>
                </a:ln>
                <a:solidFill>
                  <a:srgbClr val="003863"/>
                </a:solidFill>
                <a:effectLst/>
                <a:uLnTx/>
                <a:uFillTx/>
                <a:latin typeface="Century Gothic" panose="020B0502020202020204" pitchFamily="34" charset="0"/>
                <a:ea typeface="Roboto" panose="02000000000000000000" pitchFamily="2" charset="0"/>
                <a:cs typeface="+mn-cs"/>
              </a:rPr>
              <a:t>2000+</a:t>
            </a:r>
          </a:p>
        </p:txBody>
      </p:sp>
      <p:sp>
        <p:nvSpPr>
          <p:cNvPr id="15" name="TextBox 14">
            <a:extLst>
              <a:ext uri="{FF2B5EF4-FFF2-40B4-BE49-F238E27FC236}">
                <a16:creationId xmlns:a16="http://schemas.microsoft.com/office/drawing/2014/main" id="{776F3436-2D0C-E8FF-34C0-F57075946ED8}"/>
              </a:ext>
            </a:extLst>
          </p:cNvPr>
          <p:cNvSpPr txBox="1"/>
          <p:nvPr/>
        </p:nvSpPr>
        <p:spPr>
          <a:xfrm>
            <a:off x="3703831" y="5614099"/>
            <a:ext cx="1471240" cy="381498"/>
          </a:xfrm>
          <a:prstGeom prst="rect">
            <a:avLst/>
          </a:prstGeom>
          <a:noFill/>
          <a:ln>
            <a:noFill/>
          </a:ln>
        </p:spPr>
        <p:txBody>
          <a:bodyPr wrap="square" lIns="0" tIns="0" rIns="0" bIns="0" rtlCol="0" anchor="t">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Certified </a:t>
            </a:r>
            <a:b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b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Consultants</a:t>
            </a:r>
          </a:p>
        </p:txBody>
      </p:sp>
      <p:sp>
        <p:nvSpPr>
          <p:cNvPr id="16" name="TextBox 15">
            <a:extLst>
              <a:ext uri="{FF2B5EF4-FFF2-40B4-BE49-F238E27FC236}">
                <a16:creationId xmlns:a16="http://schemas.microsoft.com/office/drawing/2014/main" id="{1FBF8765-A1C3-6E66-2ED8-FDDEF2FCF9A4}"/>
              </a:ext>
            </a:extLst>
          </p:cNvPr>
          <p:cNvSpPr txBox="1"/>
          <p:nvPr/>
        </p:nvSpPr>
        <p:spPr>
          <a:xfrm>
            <a:off x="3703831" y="5153293"/>
            <a:ext cx="1471240" cy="509972"/>
          </a:xfrm>
          <a:prstGeom prst="rect">
            <a:avLst/>
          </a:prstGeom>
          <a:noFill/>
          <a:ln>
            <a:noFill/>
          </a:ln>
        </p:spPr>
        <p:txBody>
          <a:bodyPr wrap="square" lIns="0" tIns="0" rIns="0" bIns="0"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10000"/>
              </a:lnSpc>
              <a:spcBef>
                <a:spcPts val="0"/>
              </a:spcBef>
              <a:spcAft>
                <a:spcPts val="0"/>
              </a:spcAft>
              <a:buClrTx/>
              <a:buSzTx/>
              <a:buFontTx/>
              <a:buNone/>
              <a:tabLst/>
              <a:defRPr/>
            </a:pPr>
            <a:r>
              <a:rPr kumimoji="0" lang="en-US" sz="2200" b="1" i="0" u="none" strike="noStrike" kern="0" cap="none" spc="0" normalizeH="0" baseline="0" noProof="0">
                <a:ln>
                  <a:noFill/>
                </a:ln>
                <a:solidFill>
                  <a:srgbClr val="003863"/>
                </a:solidFill>
                <a:effectLst/>
                <a:uLnTx/>
                <a:uFillTx/>
                <a:latin typeface="Century Gothic" panose="020B0502020202020204" pitchFamily="34" charset="0"/>
                <a:ea typeface="Roboto" panose="02000000000000000000" pitchFamily="2" charset="0"/>
                <a:cs typeface="+mn-cs"/>
              </a:rPr>
              <a:t>450+</a:t>
            </a:r>
          </a:p>
        </p:txBody>
      </p:sp>
      <p:sp>
        <p:nvSpPr>
          <p:cNvPr id="17" name="TextBox 16">
            <a:extLst>
              <a:ext uri="{FF2B5EF4-FFF2-40B4-BE49-F238E27FC236}">
                <a16:creationId xmlns:a16="http://schemas.microsoft.com/office/drawing/2014/main" id="{5B7EF89A-0F06-9138-EC24-D81B0699536A}"/>
              </a:ext>
            </a:extLst>
          </p:cNvPr>
          <p:cNvSpPr txBox="1"/>
          <p:nvPr/>
        </p:nvSpPr>
        <p:spPr>
          <a:xfrm>
            <a:off x="5368370" y="5614099"/>
            <a:ext cx="1471240" cy="381498"/>
          </a:xfrm>
          <a:prstGeom prst="rect">
            <a:avLst/>
          </a:prstGeom>
          <a:noFill/>
          <a:ln>
            <a:noFill/>
          </a:ln>
        </p:spPr>
        <p:txBody>
          <a:bodyPr wrap="square" lIns="0" tIns="0" rIns="0" bIns="0" rtlCol="0" anchor="t">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Innovation</a:t>
            </a:r>
            <a:b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b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centers*</a:t>
            </a:r>
          </a:p>
        </p:txBody>
      </p:sp>
      <p:sp>
        <p:nvSpPr>
          <p:cNvPr id="18" name="TextBox 17">
            <a:extLst>
              <a:ext uri="{FF2B5EF4-FFF2-40B4-BE49-F238E27FC236}">
                <a16:creationId xmlns:a16="http://schemas.microsoft.com/office/drawing/2014/main" id="{87616960-FC99-6C48-92A2-58833821B70E}"/>
              </a:ext>
            </a:extLst>
          </p:cNvPr>
          <p:cNvSpPr txBox="1"/>
          <p:nvPr/>
        </p:nvSpPr>
        <p:spPr>
          <a:xfrm>
            <a:off x="5368370" y="5153293"/>
            <a:ext cx="1471240" cy="509972"/>
          </a:xfrm>
          <a:prstGeom prst="rect">
            <a:avLst/>
          </a:prstGeom>
          <a:noFill/>
          <a:ln>
            <a:noFill/>
          </a:ln>
        </p:spPr>
        <p:txBody>
          <a:bodyPr wrap="square" lIns="0" tIns="0" rIns="0" bIns="0"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10000"/>
              </a:lnSpc>
              <a:spcBef>
                <a:spcPts val="0"/>
              </a:spcBef>
              <a:spcAft>
                <a:spcPts val="0"/>
              </a:spcAft>
              <a:buClrTx/>
              <a:buSzTx/>
              <a:buFontTx/>
              <a:buNone/>
              <a:tabLst/>
              <a:defRPr/>
            </a:pPr>
            <a:r>
              <a:rPr kumimoji="0" lang="en-US" sz="2200" b="1" i="0" u="none" strike="noStrike" kern="0" cap="none" spc="0" normalizeH="0" baseline="0" noProof="0">
                <a:ln>
                  <a:noFill/>
                </a:ln>
                <a:solidFill>
                  <a:srgbClr val="003863"/>
                </a:solidFill>
                <a:effectLst/>
                <a:uLnTx/>
                <a:uFillTx/>
                <a:latin typeface="Century Gothic" panose="020B0502020202020204" pitchFamily="34" charset="0"/>
                <a:ea typeface="Roboto" panose="02000000000000000000" pitchFamily="2" charset="0"/>
                <a:cs typeface="+mn-cs"/>
              </a:rPr>
              <a:t>3</a:t>
            </a:r>
          </a:p>
        </p:txBody>
      </p:sp>
      <p:sp>
        <p:nvSpPr>
          <p:cNvPr id="19" name="TextBox 18">
            <a:extLst>
              <a:ext uri="{FF2B5EF4-FFF2-40B4-BE49-F238E27FC236}">
                <a16:creationId xmlns:a16="http://schemas.microsoft.com/office/drawing/2014/main" id="{749A8DB6-CE7A-FFB7-8D1B-6A3F44BA9054}"/>
              </a:ext>
            </a:extLst>
          </p:cNvPr>
          <p:cNvSpPr txBox="1"/>
          <p:nvPr/>
        </p:nvSpPr>
        <p:spPr>
          <a:xfrm>
            <a:off x="7032908" y="5614099"/>
            <a:ext cx="1471240" cy="381498"/>
          </a:xfrm>
          <a:prstGeom prst="rect">
            <a:avLst/>
          </a:prstGeom>
          <a:noFill/>
          <a:ln>
            <a:noFill/>
          </a:ln>
        </p:spPr>
        <p:txBody>
          <a:bodyPr wrap="square" lIns="0" tIns="0" rIns="0" bIns="0" rtlCol="0" anchor="t">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Offices Operating </a:t>
            </a:r>
            <a:b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b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Globally</a:t>
            </a:r>
          </a:p>
        </p:txBody>
      </p:sp>
      <p:sp>
        <p:nvSpPr>
          <p:cNvPr id="20" name="TextBox 19">
            <a:extLst>
              <a:ext uri="{FF2B5EF4-FFF2-40B4-BE49-F238E27FC236}">
                <a16:creationId xmlns:a16="http://schemas.microsoft.com/office/drawing/2014/main" id="{E16991B2-1D1E-FACB-2C13-83186261F822}"/>
              </a:ext>
            </a:extLst>
          </p:cNvPr>
          <p:cNvSpPr txBox="1"/>
          <p:nvPr/>
        </p:nvSpPr>
        <p:spPr>
          <a:xfrm>
            <a:off x="7032908" y="5153293"/>
            <a:ext cx="1471240" cy="509972"/>
          </a:xfrm>
          <a:prstGeom prst="rect">
            <a:avLst/>
          </a:prstGeom>
          <a:noFill/>
          <a:ln>
            <a:noFill/>
          </a:ln>
        </p:spPr>
        <p:txBody>
          <a:bodyPr wrap="square" lIns="0" tIns="0" rIns="0" bIns="0"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10000"/>
              </a:lnSpc>
              <a:spcBef>
                <a:spcPts val="0"/>
              </a:spcBef>
              <a:spcAft>
                <a:spcPts val="0"/>
              </a:spcAft>
              <a:buClrTx/>
              <a:buSzTx/>
              <a:buFontTx/>
              <a:buNone/>
              <a:tabLst/>
              <a:defRPr/>
            </a:pPr>
            <a:r>
              <a:rPr kumimoji="0" lang="en-US" sz="2200" b="1" i="0" u="none" strike="noStrike" kern="0" cap="none" spc="0" normalizeH="0" baseline="0" noProof="0">
                <a:ln>
                  <a:noFill/>
                </a:ln>
                <a:solidFill>
                  <a:srgbClr val="003863"/>
                </a:solidFill>
                <a:effectLst/>
                <a:uLnTx/>
                <a:uFillTx/>
                <a:latin typeface="Century Gothic" panose="020B0502020202020204" pitchFamily="34" charset="0"/>
                <a:ea typeface="Roboto" panose="02000000000000000000" pitchFamily="2" charset="0"/>
                <a:cs typeface="+mn-cs"/>
              </a:rPr>
              <a:t>11</a:t>
            </a:r>
          </a:p>
        </p:txBody>
      </p:sp>
      <p:sp>
        <p:nvSpPr>
          <p:cNvPr id="21" name="TextBox 20">
            <a:extLst>
              <a:ext uri="{FF2B5EF4-FFF2-40B4-BE49-F238E27FC236}">
                <a16:creationId xmlns:a16="http://schemas.microsoft.com/office/drawing/2014/main" id="{22D486D7-7FCC-62C0-A411-C8F9D12FC107}"/>
              </a:ext>
            </a:extLst>
          </p:cNvPr>
          <p:cNvSpPr txBox="1"/>
          <p:nvPr/>
        </p:nvSpPr>
        <p:spPr>
          <a:xfrm>
            <a:off x="10361985" y="5614099"/>
            <a:ext cx="1471240" cy="381498"/>
          </a:xfrm>
          <a:prstGeom prst="rect">
            <a:avLst/>
          </a:prstGeom>
          <a:noFill/>
          <a:ln>
            <a:noFill/>
          </a:ln>
        </p:spPr>
        <p:txBody>
          <a:bodyPr wrap="square" lIns="0" tIns="0" rIns="0" bIns="0" rtlCol="0" anchor="t">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ISO 9001: 2015 certified</a:t>
            </a:r>
          </a:p>
        </p:txBody>
      </p:sp>
      <p:sp>
        <p:nvSpPr>
          <p:cNvPr id="22" name="TextBox 21">
            <a:extLst>
              <a:ext uri="{FF2B5EF4-FFF2-40B4-BE49-F238E27FC236}">
                <a16:creationId xmlns:a16="http://schemas.microsoft.com/office/drawing/2014/main" id="{D9F73A5F-3A71-D5D5-C7CC-AFECB8EBFBE8}"/>
              </a:ext>
            </a:extLst>
          </p:cNvPr>
          <p:cNvSpPr txBox="1"/>
          <p:nvPr/>
        </p:nvSpPr>
        <p:spPr>
          <a:xfrm>
            <a:off x="10361985" y="5153293"/>
            <a:ext cx="1471240" cy="509972"/>
          </a:xfrm>
          <a:prstGeom prst="rect">
            <a:avLst/>
          </a:prstGeom>
          <a:noFill/>
          <a:ln>
            <a:noFill/>
          </a:ln>
        </p:spPr>
        <p:txBody>
          <a:bodyPr wrap="square" lIns="0" tIns="0" rIns="0" bIns="0"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10000"/>
              </a:lnSpc>
              <a:spcBef>
                <a:spcPts val="0"/>
              </a:spcBef>
              <a:spcAft>
                <a:spcPts val="0"/>
              </a:spcAft>
              <a:buClrTx/>
              <a:buSzTx/>
              <a:buFontTx/>
              <a:buNone/>
              <a:tabLst/>
              <a:defRPr/>
            </a:pPr>
            <a:r>
              <a:rPr kumimoji="0" lang="en-US" sz="2200" b="1" i="0" u="none" strike="noStrike" kern="0" cap="none" spc="0" normalizeH="0" baseline="0" noProof="0">
                <a:ln>
                  <a:noFill/>
                </a:ln>
                <a:solidFill>
                  <a:srgbClr val="003863"/>
                </a:solidFill>
                <a:effectLst/>
                <a:uLnTx/>
                <a:uFillTx/>
                <a:latin typeface="Century Gothic" panose="020B0502020202020204" pitchFamily="34" charset="0"/>
                <a:ea typeface="Roboto" panose="02000000000000000000" pitchFamily="2" charset="0"/>
                <a:cs typeface="+mn-cs"/>
              </a:rPr>
              <a:t>ISO</a:t>
            </a:r>
          </a:p>
        </p:txBody>
      </p:sp>
      <p:sp>
        <p:nvSpPr>
          <p:cNvPr id="39" name="TextBox 38">
            <a:extLst>
              <a:ext uri="{FF2B5EF4-FFF2-40B4-BE49-F238E27FC236}">
                <a16:creationId xmlns:a16="http://schemas.microsoft.com/office/drawing/2014/main" id="{668A5403-778D-5CBF-0F53-7FEE813412D0}"/>
              </a:ext>
            </a:extLst>
          </p:cNvPr>
          <p:cNvSpPr txBox="1"/>
          <p:nvPr/>
        </p:nvSpPr>
        <p:spPr>
          <a:xfrm>
            <a:off x="8697447" y="5614099"/>
            <a:ext cx="1471240" cy="381498"/>
          </a:xfrm>
          <a:prstGeom prst="rect">
            <a:avLst/>
          </a:prstGeom>
          <a:noFill/>
          <a:ln>
            <a:noFill/>
          </a:ln>
        </p:spPr>
        <p:txBody>
          <a:bodyPr wrap="square" lIns="0" tIns="0" rIns="0" bIns="0" rtlCol="0" anchor="t">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Clients Across </a:t>
            </a:r>
            <a:b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br>
            <a:r>
              <a:rPr kumimoji="0" lang="en-US" sz="1200" b="1" i="0" u="none" strike="noStrike" kern="0" cap="none" spc="0" normalizeH="0" baseline="0" noProof="0">
                <a:ln>
                  <a:noFill/>
                </a:ln>
                <a:solidFill>
                  <a:srgbClr val="000000">
                    <a:lumMod val="75000"/>
                    <a:lumOff val="25000"/>
                  </a:srgbClr>
                </a:solidFill>
                <a:effectLst/>
                <a:uLnTx/>
                <a:uFillTx/>
                <a:latin typeface="Roboto" panose="02000000000000000000" pitchFamily="2" charset="0"/>
                <a:ea typeface="Roboto" panose="02000000000000000000" pitchFamily="2" charset="0"/>
                <a:cs typeface="Calibri" panose="020F0502020204030204" pitchFamily="34" charset="0"/>
              </a:rPr>
              <a:t>the Globe</a:t>
            </a:r>
          </a:p>
        </p:txBody>
      </p:sp>
      <p:sp>
        <p:nvSpPr>
          <p:cNvPr id="40" name="TextBox 39">
            <a:extLst>
              <a:ext uri="{FF2B5EF4-FFF2-40B4-BE49-F238E27FC236}">
                <a16:creationId xmlns:a16="http://schemas.microsoft.com/office/drawing/2014/main" id="{FE628313-43B3-F49E-934C-E2846B46EDE2}"/>
              </a:ext>
            </a:extLst>
          </p:cNvPr>
          <p:cNvSpPr txBox="1"/>
          <p:nvPr/>
        </p:nvSpPr>
        <p:spPr>
          <a:xfrm>
            <a:off x="8697447" y="5153293"/>
            <a:ext cx="1471240" cy="509972"/>
          </a:xfrm>
          <a:prstGeom prst="rect">
            <a:avLst/>
          </a:prstGeom>
          <a:noFill/>
          <a:ln>
            <a:noFill/>
          </a:ln>
        </p:spPr>
        <p:txBody>
          <a:bodyPr wrap="square" lIns="0" tIns="0" rIns="0" bIns="0" rtlCol="0" anchor="ctr">
            <a:no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10000"/>
              </a:lnSpc>
              <a:spcBef>
                <a:spcPts val="0"/>
              </a:spcBef>
              <a:spcAft>
                <a:spcPts val="0"/>
              </a:spcAft>
              <a:buClrTx/>
              <a:buSzTx/>
              <a:buFontTx/>
              <a:buNone/>
              <a:tabLst/>
              <a:defRPr/>
            </a:pPr>
            <a:r>
              <a:rPr kumimoji="0" lang="en-US" sz="2200" b="1" i="0" u="none" strike="noStrike" kern="0" cap="none" spc="0" normalizeH="0" baseline="0" noProof="0">
                <a:ln>
                  <a:noFill/>
                </a:ln>
                <a:solidFill>
                  <a:srgbClr val="003863"/>
                </a:solidFill>
                <a:effectLst/>
                <a:uLnTx/>
                <a:uFillTx/>
                <a:latin typeface="Century Gothic" panose="020B0502020202020204" pitchFamily="34" charset="0"/>
                <a:ea typeface="Roboto" panose="02000000000000000000" pitchFamily="2" charset="0"/>
                <a:cs typeface="+mn-cs"/>
              </a:rPr>
              <a:t>600+</a:t>
            </a:r>
          </a:p>
        </p:txBody>
      </p:sp>
      <p:sp>
        <p:nvSpPr>
          <p:cNvPr id="43" name="Oval 42">
            <a:extLst>
              <a:ext uri="{FF2B5EF4-FFF2-40B4-BE49-F238E27FC236}">
                <a16:creationId xmlns:a16="http://schemas.microsoft.com/office/drawing/2014/main" id="{8C5D1E50-FBA3-7D5C-0F20-6FDB8A62F152}"/>
              </a:ext>
            </a:extLst>
          </p:cNvPr>
          <p:cNvSpPr/>
          <p:nvPr/>
        </p:nvSpPr>
        <p:spPr>
          <a:xfrm>
            <a:off x="9075148" y="4385435"/>
            <a:ext cx="715842" cy="715842"/>
          </a:xfrm>
          <a:prstGeom prst="ellipse">
            <a:avLst/>
          </a:prstGeom>
          <a:solidFill>
            <a:schemeClr val="accent1">
              <a:lumMod val="75000"/>
              <a:lumOff val="2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8">
            <a:extLst>
              <a:ext uri="{FF2B5EF4-FFF2-40B4-BE49-F238E27FC236}">
                <a16:creationId xmlns:a16="http://schemas.microsoft.com/office/drawing/2014/main" id="{A8B2884F-7A7C-E055-F59E-C95C52AC6B21}"/>
              </a:ext>
            </a:extLst>
          </p:cNvPr>
          <p:cNvSpPr>
            <a:spLocks noEditPoints="1"/>
          </p:cNvSpPr>
          <p:nvPr/>
        </p:nvSpPr>
        <p:spPr bwMode="auto">
          <a:xfrm>
            <a:off x="1803484" y="1569690"/>
            <a:ext cx="7696200" cy="3296058"/>
          </a:xfrm>
          <a:custGeom>
            <a:avLst/>
            <a:gdLst>
              <a:gd name="T0" fmla="*/ 4433 w 5426"/>
              <a:gd name="T1" fmla="*/ 2625 h 3109"/>
              <a:gd name="T2" fmla="*/ 4620 w 5426"/>
              <a:gd name="T3" fmla="*/ 2218 h 3109"/>
              <a:gd name="T4" fmla="*/ 4475 w 5426"/>
              <a:gd name="T5" fmla="*/ 2146 h 3109"/>
              <a:gd name="T6" fmla="*/ 4752 w 5426"/>
              <a:gd name="T7" fmla="*/ 2838 h 3109"/>
              <a:gd name="T8" fmla="*/ 4805 w 5426"/>
              <a:gd name="T9" fmla="*/ 2157 h 3109"/>
              <a:gd name="T10" fmla="*/ 5252 w 5426"/>
              <a:gd name="T11" fmla="*/ 2749 h 3109"/>
              <a:gd name="T12" fmla="*/ 1196 w 5426"/>
              <a:gd name="T13" fmla="*/ 264 h 3109"/>
              <a:gd name="T14" fmla="*/ 1272 w 5426"/>
              <a:gd name="T15" fmla="*/ 332 h 3109"/>
              <a:gd name="T16" fmla="*/ 1544 w 5426"/>
              <a:gd name="T17" fmla="*/ 543 h 3109"/>
              <a:gd name="T18" fmla="*/ 815 w 5426"/>
              <a:gd name="T19" fmla="*/ 299 h 3109"/>
              <a:gd name="T20" fmla="*/ 931 w 5426"/>
              <a:gd name="T21" fmla="*/ 363 h 3109"/>
              <a:gd name="T22" fmla="*/ 1016 w 5426"/>
              <a:gd name="T23" fmla="*/ 433 h 3109"/>
              <a:gd name="T24" fmla="*/ 1087 w 5426"/>
              <a:gd name="T25" fmla="*/ 352 h 3109"/>
              <a:gd name="T26" fmla="*/ 1123 w 5426"/>
              <a:gd name="T27" fmla="*/ 216 h 3109"/>
              <a:gd name="T28" fmla="*/ 1196 w 5426"/>
              <a:gd name="T29" fmla="*/ 242 h 3109"/>
              <a:gd name="T30" fmla="*/ 1489 w 5426"/>
              <a:gd name="T31" fmla="*/ 28 h 3109"/>
              <a:gd name="T32" fmla="*/ 1348 w 5426"/>
              <a:gd name="T33" fmla="*/ 97 h 3109"/>
              <a:gd name="T34" fmla="*/ 2250 w 5426"/>
              <a:gd name="T35" fmla="*/ 334 h 3109"/>
              <a:gd name="T36" fmla="*/ 2147 w 5426"/>
              <a:gd name="T37" fmla="*/ 62 h 3109"/>
              <a:gd name="T38" fmla="*/ 1792 w 5426"/>
              <a:gd name="T39" fmla="*/ 77 h 3109"/>
              <a:gd name="T40" fmla="*/ 1716 w 5426"/>
              <a:gd name="T41" fmla="*/ 354 h 3109"/>
              <a:gd name="T42" fmla="*/ 1910 w 5426"/>
              <a:gd name="T43" fmla="*/ 657 h 3109"/>
              <a:gd name="T44" fmla="*/ 1531 w 5426"/>
              <a:gd name="T45" fmla="*/ 1770 h 3109"/>
              <a:gd name="T46" fmla="*/ 1103 w 5426"/>
              <a:gd name="T47" fmla="*/ 1412 h 3109"/>
              <a:gd name="T48" fmla="*/ 1563 w 5426"/>
              <a:gd name="T49" fmla="*/ 994 h 3109"/>
              <a:gd name="T50" fmla="*/ 1364 w 5426"/>
              <a:gd name="T51" fmla="*/ 714 h 3109"/>
              <a:gd name="T52" fmla="*/ 1281 w 5426"/>
              <a:gd name="T53" fmla="*/ 444 h 3109"/>
              <a:gd name="T54" fmla="*/ 1129 w 5426"/>
              <a:gd name="T55" fmla="*/ 448 h 3109"/>
              <a:gd name="T56" fmla="*/ 598 w 5426"/>
              <a:gd name="T57" fmla="*/ 411 h 3109"/>
              <a:gd name="T58" fmla="*/ 107 w 5426"/>
              <a:gd name="T59" fmla="*/ 613 h 3109"/>
              <a:gd name="T60" fmla="*/ 295 w 5426"/>
              <a:gd name="T61" fmla="*/ 680 h 3109"/>
              <a:gd name="T62" fmla="*/ 848 w 5426"/>
              <a:gd name="T63" fmla="*/ 1460 h 3109"/>
              <a:gd name="T64" fmla="*/ 1473 w 5426"/>
              <a:gd name="T65" fmla="*/ 2320 h 3109"/>
              <a:gd name="T66" fmla="*/ 1558 w 5426"/>
              <a:gd name="T67" fmla="*/ 2852 h 3109"/>
              <a:gd name="T68" fmla="*/ 1948 w 5426"/>
              <a:gd name="T69" fmla="*/ 2252 h 3109"/>
              <a:gd name="T70" fmla="*/ 5040 w 5426"/>
              <a:gd name="T71" fmla="*/ 664 h 3109"/>
              <a:gd name="T72" fmla="*/ 4401 w 5426"/>
              <a:gd name="T73" fmla="*/ 1172 h 3109"/>
              <a:gd name="T74" fmla="*/ 4074 w 5426"/>
              <a:gd name="T75" fmla="*/ 1856 h 3109"/>
              <a:gd name="T76" fmla="*/ 3547 w 5426"/>
              <a:gd name="T77" fmla="*/ 1473 h 3109"/>
              <a:gd name="T78" fmla="*/ 3080 w 5426"/>
              <a:gd name="T79" fmla="*/ 1414 h 3109"/>
              <a:gd name="T80" fmla="*/ 3000 w 5426"/>
              <a:gd name="T81" fmla="*/ 2588 h 3109"/>
              <a:gd name="T82" fmla="*/ 2330 w 5426"/>
              <a:gd name="T83" fmla="*/ 1491 h 3109"/>
              <a:gd name="T84" fmla="*/ 2997 w 5426"/>
              <a:gd name="T85" fmla="*/ 1266 h 3109"/>
              <a:gd name="T86" fmla="*/ 2783 w 5426"/>
              <a:gd name="T87" fmla="*/ 1227 h 3109"/>
              <a:gd name="T88" fmla="*/ 2533 w 5426"/>
              <a:gd name="T89" fmla="*/ 959 h 3109"/>
              <a:gd name="T90" fmla="*/ 2913 w 5426"/>
              <a:gd name="T91" fmla="*/ 745 h 3109"/>
              <a:gd name="T92" fmla="*/ 2705 w 5426"/>
              <a:gd name="T93" fmla="*/ 745 h 3109"/>
              <a:gd name="T94" fmla="*/ 2843 w 5426"/>
              <a:gd name="T95" fmla="*/ 455 h 3109"/>
              <a:gd name="T96" fmla="*/ 3216 w 5426"/>
              <a:gd name="T97" fmla="*/ 523 h 3109"/>
              <a:gd name="T98" fmla="*/ 3654 w 5426"/>
              <a:gd name="T99" fmla="*/ 563 h 3109"/>
              <a:gd name="T100" fmla="*/ 3805 w 5426"/>
              <a:gd name="T101" fmla="*/ 328 h 3109"/>
              <a:gd name="T102" fmla="*/ 4256 w 5426"/>
              <a:gd name="T103" fmla="*/ 334 h 3109"/>
              <a:gd name="T104" fmla="*/ 4788 w 5426"/>
              <a:gd name="T105" fmla="*/ 393 h 3109"/>
              <a:gd name="T106" fmla="*/ 3263 w 5426"/>
              <a:gd name="T107" fmla="*/ 1172 h 3109"/>
              <a:gd name="T108" fmla="*/ 4551 w 5426"/>
              <a:gd name="T109" fmla="*/ 1337 h 3109"/>
              <a:gd name="T110" fmla="*/ 4732 w 5426"/>
              <a:gd name="T111" fmla="*/ 908 h 3109"/>
              <a:gd name="T112" fmla="*/ 4055 w 5426"/>
              <a:gd name="T113" fmla="*/ 1891 h 3109"/>
              <a:gd name="T114" fmla="*/ 4361 w 5426"/>
              <a:gd name="T115" fmla="*/ 1880 h 3109"/>
              <a:gd name="T116" fmla="*/ 4622 w 5426"/>
              <a:gd name="T117" fmla="*/ 1256 h 3109"/>
              <a:gd name="T118" fmla="*/ 2743 w 5426"/>
              <a:gd name="T119" fmla="*/ 833 h 3109"/>
              <a:gd name="T120" fmla="*/ 3395 w 5426"/>
              <a:gd name="T121" fmla="*/ 301 h 3109"/>
              <a:gd name="T122" fmla="*/ 2493 w 5426"/>
              <a:gd name="T123" fmla="*/ 926 h 3109"/>
              <a:gd name="T124" fmla="*/ 2487 w 5426"/>
              <a:gd name="T125" fmla="*/ 835 h 3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26" h="3109">
                <a:moveTo>
                  <a:pt x="4872" y="2528"/>
                </a:moveTo>
                <a:lnTo>
                  <a:pt x="4872" y="2528"/>
                </a:lnTo>
                <a:lnTo>
                  <a:pt x="4875" y="2537"/>
                </a:lnTo>
                <a:lnTo>
                  <a:pt x="4877" y="2540"/>
                </a:lnTo>
                <a:lnTo>
                  <a:pt x="4875" y="2546"/>
                </a:lnTo>
                <a:lnTo>
                  <a:pt x="4875" y="2546"/>
                </a:lnTo>
                <a:lnTo>
                  <a:pt x="4872" y="2557"/>
                </a:lnTo>
                <a:lnTo>
                  <a:pt x="4870" y="2562"/>
                </a:lnTo>
                <a:lnTo>
                  <a:pt x="4870" y="2568"/>
                </a:lnTo>
                <a:lnTo>
                  <a:pt x="4870" y="2568"/>
                </a:lnTo>
                <a:lnTo>
                  <a:pt x="4872" y="2584"/>
                </a:lnTo>
                <a:lnTo>
                  <a:pt x="4873" y="2592"/>
                </a:lnTo>
                <a:lnTo>
                  <a:pt x="4873" y="2601"/>
                </a:lnTo>
                <a:lnTo>
                  <a:pt x="4873" y="2601"/>
                </a:lnTo>
                <a:lnTo>
                  <a:pt x="4872" y="2606"/>
                </a:lnTo>
                <a:lnTo>
                  <a:pt x="4868" y="2610"/>
                </a:lnTo>
                <a:lnTo>
                  <a:pt x="4864" y="2614"/>
                </a:lnTo>
                <a:lnTo>
                  <a:pt x="4859" y="2616"/>
                </a:lnTo>
                <a:lnTo>
                  <a:pt x="4850" y="2619"/>
                </a:lnTo>
                <a:lnTo>
                  <a:pt x="4844" y="2621"/>
                </a:lnTo>
                <a:lnTo>
                  <a:pt x="4841" y="2627"/>
                </a:lnTo>
                <a:lnTo>
                  <a:pt x="4841" y="2627"/>
                </a:lnTo>
                <a:lnTo>
                  <a:pt x="4839" y="2630"/>
                </a:lnTo>
                <a:lnTo>
                  <a:pt x="4839" y="2636"/>
                </a:lnTo>
                <a:lnTo>
                  <a:pt x="4839" y="2645"/>
                </a:lnTo>
                <a:lnTo>
                  <a:pt x="4839" y="2645"/>
                </a:lnTo>
                <a:lnTo>
                  <a:pt x="4839" y="2652"/>
                </a:lnTo>
                <a:lnTo>
                  <a:pt x="4837" y="2660"/>
                </a:lnTo>
                <a:lnTo>
                  <a:pt x="4834" y="2665"/>
                </a:lnTo>
                <a:lnTo>
                  <a:pt x="4830" y="2671"/>
                </a:lnTo>
                <a:lnTo>
                  <a:pt x="4830" y="2671"/>
                </a:lnTo>
                <a:lnTo>
                  <a:pt x="4826" y="2676"/>
                </a:lnTo>
                <a:lnTo>
                  <a:pt x="4826" y="2680"/>
                </a:lnTo>
                <a:lnTo>
                  <a:pt x="4825" y="2691"/>
                </a:lnTo>
                <a:lnTo>
                  <a:pt x="4825" y="2691"/>
                </a:lnTo>
                <a:lnTo>
                  <a:pt x="4825" y="2698"/>
                </a:lnTo>
                <a:lnTo>
                  <a:pt x="4825" y="2698"/>
                </a:lnTo>
                <a:lnTo>
                  <a:pt x="4823" y="2700"/>
                </a:lnTo>
                <a:lnTo>
                  <a:pt x="4821" y="2704"/>
                </a:lnTo>
                <a:lnTo>
                  <a:pt x="4821" y="2704"/>
                </a:lnTo>
                <a:lnTo>
                  <a:pt x="4821" y="2707"/>
                </a:lnTo>
                <a:lnTo>
                  <a:pt x="4823" y="2711"/>
                </a:lnTo>
                <a:lnTo>
                  <a:pt x="4825" y="2715"/>
                </a:lnTo>
                <a:lnTo>
                  <a:pt x="4825" y="2720"/>
                </a:lnTo>
                <a:lnTo>
                  <a:pt x="4825" y="2720"/>
                </a:lnTo>
                <a:lnTo>
                  <a:pt x="4823" y="2724"/>
                </a:lnTo>
                <a:lnTo>
                  <a:pt x="4821" y="2726"/>
                </a:lnTo>
                <a:lnTo>
                  <a:pt x="4815" y="2727"/>
                </a:lnTo>
                <a:lnTo>
                  <a:pt x="4808" y="2729"/>
                </a:lnTo>
                <a:lnTo>
                  <a:pt x="4801" y="2727"/>
                </a:lnTo>
                <a:lnTo>
                  <a:pt x="4801" y="2727"/>
                </a:lnTo>
                <a:lnTo>
                  <a:pt x="4796" y="2727"/>
                </a:lnTo>
                <a:lnTo>
                  <a:pt x="4792" y="2727"/>
                </a:lnTo>
                <a:lnTo>
                  <a:pt x="4788" y="2729"/>
                </a:lnTo>
                <a:lnTo>
                  <a:pt x="4788" y="2729"/>
                </a:lnTo>
                <a:lnTo>
                  <a:pt x="4786" y="2731"/>
                </a:lnTo>
                <a:lnTo>
                  <a:pt x="4785" y="2735"/>
                </a:lnTo>
                <a:lnTo>
                  <a:pt x="4783" y="2742"/>
                </a:lnTo>
                <a:lnTo>
                  <a:pt x="4783" y="2742"/>
                </a:lnTo>
                <a:lnTo>
                  <a:pt x="4781" y="2748"/>
                </a:lnTo>
                <a:lnTo>
                  <a:pt x="4777" y="2751"/>
                </a:lnTo>
                <a:lnTo>
                  <a:pt x="4774" y="2755"/>
                </a:lnTo>
                <a:lnTo>
                  <a:pt x="4768" y="2757"/>
                </a:lnTo>
                <a:lnTo>
                  <a:pt x="4768" y="2757"/>
                </a:lnTo>
                <a:lnTo>
                  <a:pt x="4763" y="2755"/>
                </a:lnTo>
                <a:lnTo>
                  <a:pt x="4759" y="2751"/>
                </a:lnTo>
                <a:lnTo>
                  <a:pt x="4754" y="2744"/>
                </a:lnTo>
                <a:lnTo>
                  <a:pt x="4754" y="2744"/>
                </a:lnTo>
                <a:lnTo>
                  <a:pt x="4748" y="2742"/>
                </a:lnTo>
                <a:lnTo>
                  <a:pt x="4743" y="2742"/>
                </a:lnTo>
                <a:lnTo>
                  <a:pt x="4738" y="2744"/>
                </a:lnTo>
                <a:lnTo>
                  <a:pt x="4732" y="2748"/>
                </a:lnTo>
                <a:lnTo>
                  <a:pt x="4732" y="2748"/>
                </a:lnTo>
                <a:lnTo>
                  <a:pt x="4729" y="2753"/>
                </a:lnTo>
                <a:lnTo>
                  <a:pt x="4723" y="2755"/>
                </a:lnTo>
                <a:lnTo>
                  <a:pt x="4718" y="2755"/>
                </a:lnTo>
                <a:lnTo>
                  <a:pt x="4712" y="2751"/>
                </a:lnTo>
                <a:lnTo>
                  <a:pt x="4712" y="2751"/>
                </a:lnTo>
                <a:lnTo>
                  <a:pt x="4705" y="2738"/>
                </a:lnTo>
                <a:lnTo>
                  <a:pt x="4700" y="2735"/>
                </a:lnTo>
                <a:lnTo>
                  <a:pt x="4690" y="2733"/>
                </a:lnTo>
                <a:lnTo>
                  <a:pt x="4690" y="2733"/>
                </a:lnTo>
                <a:lnTo>
                  <a:pt x="4678" y="2731"/>
                </a:lnTo>
                <a:lnTo>
                  <a:pt x="4672" y="2729"/>
                </a:lnTo>
                <a:lnTo>
                  <a:pt x="4667" y="2726"/>
                </a:lnTo>
                <a:lnTo>
                  <a:pt x="4667" y="2726"/>
                </a:lnTo>
                <a:lnTo>
                  <a:pt x="4665" y="2724"/>
                </a:lnTo>
                <a:lnTo>
                  <a:pt x="4665" y="2718"/>
                </a:lnTo>
                <a:lnTo>
                  <a:pt x="4667" y="2709"/>
                </a:lnTo>
                <a:lnTo>
                  <a:pt x="4667" y="2709"/>
                </a:lnTo>
                <a:lnTo>
                  <a:pt x="4671" y="2702"/>
                </a:lnTo>
                <a:lnTo>
                  <a:pt x="4671" y="2696"/>
                </a:lnTo>
                <a:lnTo>
                  <a:pt x="4669" y="2689"/>
                </a:lnTo>
                <a:lnTo>
                  <a:pt x="4667" y="2687"/>
                </a:lnTo>
                <a:lnTo>
                  <a:pt x="4663" y="2685"/>
                </a:lnTo>
                <a:lnTo>
                  <a:pt x="4663" y="2685"/>
                </a:lnTo>
                <a:lnTo>
                  <a:pt x="4658" y="2683"/>
                </a:lnTo>
                <a:lnTo>
                  <a:pt x="4651" y="2683"/>
                </a:lnTo>
                <a:lnTo>
                  <a:pt x="4645" y="2683"/>
                </a:lnTo>
                <a:lnTo>
                  <a:pt x="4643" y="2682"/>
                </a:lnTo>
                <a:lnTo>
                  <a:pt x="4642" y="2680"/>
                </a:lnTo>
                <a:lnTo>
                  <a:pt x="4642" y="2680"/>
                </a:lnTo>
                <a:lnTo>
                  <a:pt x="4642" y="2676"/>
                </a:lnTo>
                <a:lnTo>
                  <a:pt x="4645" y="2672"/>
                </a:lnTo>
                <a:lnTo>
                  <a:pt x="4647" y="2671"/>
                </a:lnTo>
                <a:lnTo>
                  <a:pt x="4649" y="2667"/>
                </a:lnTo>
                <a:lnTo>
                  <a:pt x="4649" y="2667"/>
                </a:lnTo>
                <a:lnTo>
                  <a:pt x="4649" y="2663"/>
                </a:lnTo>
                <a:lnTo>
                  <a:pt x="4647" y="2661"/>
                </a:lnTo>
                <a:lnTo>
                  <a:pt x="4645" y="2661"/>
                </a:lnTo>
                <a:lnTo>
                  <a:pt x="4642" y="2663"/>
                </a:lnTo>
                <a:lnTo>
                  <a:pt x="4642" y="2663"/>
                </a:lnTo>
                <a:lnTo>
                  <a:pt x="4638" y="2669"/>
                </a:lnTo>
                <a:lnTo>
                  <a:pt x="4636" y="2671"/>
                </a:lnTo>
                <a:lnTo>
                  <a:pt x="4632" y="2671"/>
                </a:lnTo>
                <a:lnTo>
                  <a:pt x="4632" y="2671"/>
                </a:lnTo>
                <a:lnTo>
                  <a:pt x="4627" y="2669"/>
                </a:lnTo>
                <a:lnTo>
                  <a:pt x="4625" y="2667"/>
                </a:lnTo>
                <a:lnTo>
                  <a:pt x="4625" y="2663"/>
                </a:lnTo>
                <a:lnTo>
                  <a:pt x="4625" y="2663"/>
                </a:lnTo>
                <a:lnTo>
                  <a:pt x="4627" y="2660"/>
                </a:lnTo>
                <a:lnTo>
                  <a:pt x="4629" y="2654"/>
                </a:lnTo>
                <a:lnTo>
                  <a:pt x="4636" y="2645"/>
                </a:lnTo>
                <a:lnTo>
                  <a:pt x="4636" y="2645"/>
                </a:lnTo>
                <a:lnTo>
                  <a:pt x="4642" y="2639"/>
                </a:lnTo>
                <a:lnTo>
                  <a:pt x="4645" y="2638"/>
                </a:lnTo>
                <a:lnTo>
                  <a:pt x="4645" y="2634"/>
                </a:lnTo>
                <a:lnTo>
                  <a:pt x="4645" y="2634"/>
                </a:lnTo>
                <a:lnTo>
                  <a:pt x="4645" y="2628"/>
                </a:lnTo>
                <a:lnTo>
                  <a:pt x="4643" y="2627"/>
                </a:lnTo>
                <a:lnTo>
                  <a:pt x="4640" y="2627"/>
                </a:lnTo>
                <a:lnTo>
                  <a:pt x="4634" y="2628"/>
                </a:lnTo>
                <a:lnTo>
                  <a:pt x="4634" y="2628"/>
                </a:lnTo>
                <a:lnTo>
                  <a:pt x="4631" y="2630"/>
                </a:lnTo>
                <a:lnTo>
                  <a:pt x="4627" y="2634"/>
                </a:lnTo>
                <a:lnTo>
                  <a:pt x="4623" y="2643"/>
                </a:lnTo>
                <a:lnTo>
                  <a:pt x="4623" y="2643"/>
                </a:lnTo>
                <a:lnTo>
                  <a:pt x="4620" y="2649"/>
                </a:lnTo>
                <a:lnTo>
                  <a:pt x="4618" y="2652"/>
                </a:lnTo>
                <a:lnTo>
                  <a:pt x="4613" y="2652"/>
                </a:lnTo>
                <a:lnTo>
                  <a:pt x="4607" y="2650"/>
                </a:lnTo>
                <a:lnTo>
                  <a:pt x="4607" y="2650"/>
                </a:lnTo>
                <a:lnTo>
                  <a:pt x="4602" y="2649"/>
                </a:lnTo>
                <a:lnTo>
                  <a:pt x="4600" y="2647"/>
                </a:lnTo>
                <a:lnTo>
                  <a:pt x="4598" y="2643"/>
                </a:lnTo>
                <a:lnTo>
                  <a:pt x="4598" y="2639"/>
                </a:lnTo>
                <a:lnTo>
                  <a:pt x="4598" y="2639"/>
                </a:lnTo>
                <a:lnTo>
                  <a:pt x="4598" y="2632"/>
                </a:lnTo>
                <a:lnTo>
                  <a:pt x="4594" y="2627"/>
                </a:lnTo>
                <a:lnTo>
                  <a:pt x="4594" y="2627"/>
                </a:lnTo>
                <a:lnTo>
                  <a:pt x="4587" y="2623"/>
                </a:lnTo>
                <a:lnTo>
                  <a:pt x="4585" y="2621"/>
                </a:lnTo>
                <a:lnTo>
                  <a:pt x="4584" y="2619"/>
                </a:lnTo>
                <a:lnTo>
                  <a:pt x="4584" y="2619"/>
                </a:lnTo>
                <a:lnTo>
                  <a:pt x="4582" y="2616"/>
                </a:lnTo>
                <a:lnTo>
                  <a:pt x="4580" y="2614"/>
                </a:lnTo>
                <a:lnTo>
                  <a:pt x="4580" y="2614"/>
                </a:lnTo>
                <a:lnTo>
                  <a:pt x="4576" y="2610"/>
                </a:lnTo>
                <a:lnTo>
                  <a:pt x="4571" y="2610"/>
                </a:lnTo>
                <a:lnTo>
                  <a:pt x="4571" y="2610"/>
                </a:lnTo>
                <a:lnTo>
                  <a:pt x="4560" y="2605"/>
                </a:lnTo>
                <a:lnTo>
                  <a:pt x="4560" y="2605"/>
                </a:lnTo>
                <a:lnTo>
                  <a:pt x="4547" y="2597"/>
                </a:lnTo>
                <a:lnTo>
                  <a:pt x="4547" y="2597"/>
                </a:lnTo>
                <a:lnTo>
                  <a:pt x="4540" y="2595"/>
                </a:lnTo>
                <a:lnTo>
                  <a:pt x="4535" y="2594"/>
                </a:lnTo>
                <a:lnTo>
                  <a:pt x="4522" y="2595"/>
                </a:lnTo>
                <a:lnTo>
                  <a:pt x="4511" y="2599"/>
                </a:lnTo>
                <a:lnTo>
                  <a:pt x="4498" y="2603"/>
                </a:lnTo>
                <a:lnTo>
                  <a:pt x="4498" y="2603"/>
                </a:lnTo>
                <a:lnTo>
                  <a:pt x="4488" y="2606"/>
                </a:lnTo>
                <a:lnTo>
                  <a:pt x="4477" y="2610"/>
                </a:lnTo>
                <a:lnTo>
                  <a:pt x="4455" y="2614"/>
                </a:lnTo>
                <a:lnTo>
                  <a:pt x="4455" y="2614"/>
                </a:lnTo>
                <a:lnTo>
                  <a:pt x="4442" y="2619"/>
                </a:lnTo>
                <a:lnTo>
                  <a:pt x="4433" y="2625"/>
                </a:lnTo>
                <a:lnTo>
                  <a:pt x="4433" y="2625"/>
                </a:lnTo>
                <a:lnTo>
                  <a:pt x="4421" y="2638"/>
                </a:lnTo>
                <a:lnTo>
                  <a:pt x="4421" y="2638"/>
                </a:lnTo>
                <a:lnTo>
                  <a:pt x="4413" y="2645"/>
                </a:lnTo>
                <a:lnTo>
                  <a:pt x="4402" y="2649"/>
                </a:lnTo>
                <a:lnTo>
                  <a:pt x="4402" y="2649"/>
                </a:lnTo>
                <a:lnTo>
                  <a:pt x="4393" y="2652"/>
                </a:lnTo>
                <a:lnTo>
                  <a:pt x="4386" y="2650"/>
                </a:lnTo>
                <a:lnTo>
                  <a:pt x="4377" y="2650"/>
                </a:lnTo>
                <a:lnTo>
                  <a:pt x="4368" y="2649"/>
                </a:lnTo>
                <a:lnTo>
                  <a:pt x="4368" y="2649"/>
                </a:lnTo>
                <a:lnTo>
                  <a:pt x="4363" y="2649"/>
                </a:lnTo>
                <a:lnTo>
                  <a:pt x="4359" y="2652"/>
                </a:lnTo>
                <a:lnTo>
                  <a:pt x="4359" y="2652"/>
                </a:lnTo>
                <a:lnTo>
                  <a:pt x="4352" y="2660"/>
                </a:lnTo>
                <a:lnTo>
                  <a:pt x="4352" y="2660"/>
                </a:lnTo>
                <a:lnTo>
                  <a:pt x="4344" y="2663"/>
                </a:lnTo>
                <a:lnTo>
                  <a:pt x="4335" y="2665"/>
                </a:lnTo>
                <a:lnTo>
                  <a:pt x="4326" y="2663"/>
                </a:lnTo>
                <a:lnTo>
                  <a:pt x="4317" y="2661"/>
                </a:lnTo>
                <a:lnTo>
                  <a:pt x="4317" y="2661"/>
                </a:lnTo>
                <a:lnTo>
                  <a:pt x="4312" y="2660"/>
                </a:lnTo>
                <a:lnTo>
                  <a:pt x="4306" y="2654"/>
                </a:lnTo>
                <a:lnTo>
                  <a:pt x="4301" y="2649"/>
                </a:lnTo>
                <a:lnTo>
                  <a:pt x="4299" y="2645"/>
                </a:lnTo>
                <a:lnTo>
                  <a:pt x="4299" y="2641"/>
                </a:lnTo>
                <a:lnTo>
                  <a:pt x="4299" y="2641"/>
                </a:lnTo>
                <a:lnTo>
                  <a:pt x="4301" y="2639"/>
                </a:lnTo>
                <a:lnTo>
                  <a:pt x="4303" y="2638"/>
                </a:lnTo>
                <a:lnTo>
                  <a:pt x="4303" y="2638"/>
                </a:lnTo>
                <a:lnTo>
                  <a:pt x="4308" y="2632"/>
                </a:lnTo>
                <a:lnTo>
                  <a:pt x="4310" y="2625"/>
                </a:lnTo>
                <a:lnTo>
                  <a:pt x="4310" y="2625"/>
                </a:lnTo>
                <a:lnTo>
                  <a:pt x="4312" y="2610"/>
                </a:lnTo>
                <a:lnTo>
                  <a:pt x="4312" y="2603"/>
                </a:lnTo>
                <a:lnTo>
                  <a:pt x="4310" y="2597"/>
                </a:lnTo>
                <a:lnTo>
                  <a:pt x="4310" y="2597"/>
                </a:lnTo>
                <a:lnTo>
                  <a:pt x="4306" y="2592"/>
                </a:lnTo>
                <a:lnTo>
                  <a:pt x="4305" y="2586"/>
                </a:lnTo>
                <a:lnTo>
                  <a:pt x="4297" y="2577"/>
                </a:lnTo>
                <a:lnTo>
                  <a:pt x="4297" y="2577"/>
                </a:lnTo>
                <a:lnTo>
                  <a:pt x="4296" y="2572"/>
                </a:lnTo>
                <a:lnTo>
                  <a:pt x="4294" y="2566"/>
                </a:lnTo>
                <a:lnTo>
                  <a:pt x="4296" y="2553"/>
                </a:lnTo>
                <a:lnTo>
                  <a:pt x="4296" y="2553"/>
                </a:lnTo>
                <a:lnTo>
                  <a:pt x="4299" y="2542"/>
                </a:lnTo>
                <a:lnTo>
                  <a:pt x="4299" y="2537"/>
                </a:lnTo>
                <a:lnTo>
                  <a:pt x="4299" y="2531"/>
                </a:lnTo>
                <a:lnTo>
                  <a:pt x="4299" y="2531"/>
                </a:lnTo>
                <a:lnTo>
                  <a:pt x="4297" y="2529"/>
                </a:lnTo>
                <a:lnTo>
                  <a:pt x="4297" y="2529"/>
                </a:lnTo>
                <a:lnTo>
                  <a:pt x="4294" y="2524"/>
                </a:lnTo>
                <a:lnTo>
                  <a:pt x="4288" y="2520"/>
                </a:lnTo>
                <a:lnTo>
                  <a:pt x="4285" y="2515"/>
                </a:lnTo>
                <a:lnTo>
                  <a:pt x="4281" y="2511"/>
                </a:lnTo>
                <a:lnTo>
                  <a:pt x="4281" y="2511"/>
                </a:lnTo>
                <a:lnTo>
                  <a:pt x="4277" y="2504"/>
                </a:lnTo>
                <a:lnTo>
                  <a:pt x="4276" y="2496"/>
                </a:lnTo>
                <a:lnTo>
                  <a:pt x="4276" y="2489"/>
                </a:lnTo>
                <a:lnTo>
                  <a:pt x="4277" y="2482"/>
                </a:lnTo>
                <a:lnTo>
                  <a:pt x="4277" y="2482"/>
                </a:lnTo>
                <a:lnTo>
                  <a:pt x="4281" y="2476"/>
                </a:lnTo>
                <a:lnTo>
                  <a:pt x="4283" y="2471"/>
                </a:lnTo>
                <a:lnTo>
                  <a:pt x="4283" y="2471"/>
                </a:lnTo>
                <a:lnTo>
                  <a:pt x="4279" y="2462"/>
                </a:lnTo>
                <a:lnTo>
                  <a:pt x="4276" y="2454"/>
                </a:lnTo>
                <a:lnTo>
                  <a:pt x="4276" y="2454"/>
                </a:lnTo>
                <a:lnTo>
                  <a:pt x="4270" y="2443"/>
                </a:lnTo>
                <a:lnTo>
                  <a:pt x="4268" y="2434"/>
                </a:lnTo>
                <a:lnTo>
                  <a:pt x="4270" y="2423"/>
                </a:lnTo>
                <a:lnTo>
                  <a:pt x="4276" y="2412"/>
                </a:lnTo>
                <a:lnTo>
                  <a:pt x="4276" y="2412"/>
                </a:lnTo>
                <a:lnTo>
                  <a:pt x="4279" y="2408"/>
                </a:lnTo>
                <a:lnTo>
                  <a:pt x="4285" y="2405"/>
                </a:lnTo>
                <a:lnTo>
                  <a:pt x="4294" y="2399"/>
                </a:lnTo>
                <a:lnTo>
                  <a:pt x="4294" y="2399"/>
                </a:lnTo>
                <a:lnTo>
                  <a:pt x="4305" y="2395"/>
                </a:lnTo>
                <a:lnTo>
                  <a:pt x="4312" y="2388"/>
                </a:lnTo>
                <a:lnTo>
                  <a:pt x="4321" y="2383"/>
                </a:lnTo>
                <a:lnTo>
                  <a:pt x="4330" y="2379"/>
                </a:lnTo>
                <a:lnTo>
                  <a:pt x="4330" y="2379"/>
                </a:lnTo>
                <a:lnTo>
                  <a:pt x="4339" y="2377"/>
                </a:lnTo>
                <a:lnTo>
                  <a:pt x="4343" y="2375"/>
                </a:lnTo>
                <a:lnTo>
                  <a:pt x="4346" y="2373"/>
                </a:lnTo>
                <a:lnTo>
                  <a:pt x="4346" y="2373"/>
                </a:lnTo>
                <a:lnTo>
                  <a:pt x="4350" y="2370"/>
                </a:lnTo>
                <a:lnTo>
                  <a:pt x="4350" y="2370"/>
                </a:lnTo>
                <a:lnTo>
                  <a:pt x="4357" y="2366"/>
                </a:lnTo>
                <a:lnTo>
                  <a:pt x="4357" y="2366"/>
                </a:lnTo>
                <a:lnTo>
                  <a:pt x="4359" y="2364"/>
                </a:lnTo>
                <a:lnTo>
                  <a:pt x="4359" y="2364"/>
                </a:lnTo>
                <a:lnTo>
                  <a:pt x="4363" y="2362"/>
                </a:lnTo>
                <a:lnTo>
                  <a:pt x="4364" y="2361"/>
                </a:lnTo>
                <a:lnTo>
                  <a:pt x="4364" y="2361"/>
                </a:lnTo>
                <a:lnTo>
                  <a:pt x="4368" y="2359"/>
                </a:lnTo>
                <a:lnTo>
                  <a:pt x="4372" y="2357"/>
                </a:lnTo>
                <a:lnTo>
                  <a:pt x="4381" y="2357"/>
                </a:lnTo>
                <a:lnTo>
                  <a:pt x="4381" y="2357"/>
                </a:lnTo>
                <a:lnTo>
                  <a:pt x="4386" y="2357"/>
                </a:lnTo>
                <a:lnTo>
                  <a:pt x="4392" y="2353"/>
                </a:lnTo>
                <a:lnTo>
                  <a:pt x="4392" y="2353"/>
                </a:lnTo>
                <a:lnTo>
                  <a:pt x="4395" y="2350"/>
                </a:lnTo>
                <a:lnTo>
                  <a:pt x="4395" y="2346"/>
                </a:lnTo>
                <a:lnTo>
                  <a:pt x="4395" y="2346"/>
                </a:lnTo>
                <a:lnTo>
                  <a:pt x="4397" y="2340"/>
                </a:lnTo>
                <a:lnTo>
                  <a:pt x="4399" y="2339"/>
                </a:lnTo>
                <a:lnTo>
                  <a:pt x="4404" y="2331"/>
                </a:lnTo>
                <a:lnTo>
                  <a:pt x="4404" y="2331"/>
                </a:lnTo>
                <a:lnTo>
                  <a:pt x="4406" y="2326"/>
                </a:lnTo>
                <a:lnTo>
                  <a:pt x="4406" y="2320"/>
                </a:lnTo>
                <a:lnTo>
                  <a:pt x="4406" y="2320"/>
                </a:lnTo>
                <a:lnTo>
                  <a:pt x="4404" y="2315"/>
                </a:lnTo>
                <a:lnTo>
                  <a:pt x="4406" y="2309"/>
                </a:lnTo>
                <a:lnTo>
                  <a:pt x="4410" y="2306"/>
                </a:lnTo>
                <a:lnTo>
                  <a:pt x="4415" y="2304"/>
                </a:lnTo>
                <a:lnTo>
                  <a:pt x="4415" y="2304"/>
                </a:lnTo>
                <a:lnTo>
                  <a:pt x="4428" y="2300"/>
                </a:lnTo>
                <a:lnTo>
                  <a:pt x="4433" y="2296"/>
                </a:lnTo>
                <a:lnTo>
                  <a:pt x="4435" y="2289"/>
                </a:lnTo>
                <a:lnTo>
                  <a:pt x="4435" y="2289"/>
                </a:lnTo>
                <a:lnTo>
                  <a:pt x="4439" y="2278"/>
                </a:lnTo>
                <a:lnTo>
                  <a:pt x="4440" y="2274"/>
                </a:lnTo>
                <a:lnTo>
                  <a:pt x="4446" y="2269"/>
                </a:lnTo>
                <a:lnTo>
                  <a:pt x="4446" y="2269"/>
                </a:lnTo>
                <a:lnTo>
                  <a:pt x="4459" y="2263"/>
                </a:lnTo>
                <a:lnTo>
                  <a:pt x="4464" y="2260"/>
                </a:lnTo>
                <a:lnTo>
                  <a:pt x="4468" y="2254"/>
                </a:lnTo>
                <a:lnTo>
                  <a:pt x="4468" y="2254"/>
                </a:lnTo>
                <a:lnTo>
                  <a:pt x="4471" y="2251"/>
                </a:lnTo>
                <a:lnTo>
                  <a:pt x="4475" y="2247"/>
                </a:lnTo>
                <a:lnTo>
                  <a:pt x="4478" y="2247"/>
                </a:lnTo>
                <a:lnTo>
                  <a:pt x="4482" y="2249"/>
                </a:lnTo>
                <a:lnTo>
                  <a:pt x="4489" y="2254"/>
                </a:lnTo>
                <a:lnTo>
                  <a:pt x="4497" y="2262"/>
                </a:lnTo>
                <a:lnTo>
                  <a:pt x="4497" y="2262"/>
                </a:lnTo>
                <a:lnTo>
                  <a:pt x="4502" y="2265"/>
                </a:lnTo>
                <a:lnTo>
                  <a:pt x="4506" y="2267"/>
                </a:lnTo>
                <a:lnTo>
                  <a:pt x="4509" y="2267"/>
                </a:lnTo>
                <a:lnTo>
                  <a:pt x="4515" y="2265"/>
                </a:lnTo>
                <a:lnTo>
                  <a:pt x="4515" y="2265"/>
                </a:lnTo>
                <a:lnTo>
                  <a:pt x="4518" y="2263"/>
                </a:lnTo>
                <a:lnTo>
                  <a:pt x="4520" y="2262"/>
                </a:lnTo>
                <a:lnTo>
                  <a:pt x="4518" y="2254"/>
                </a:lnTo>
                <a:lnTo>
                  <a:pt x="4518" y="2254"/>
                </a:lnTo>
                <a:lnTo>
                  <a:pt x="4518" y="2249"/>
                </a:lnTo>
                <a:lnTo>
                  <a:pt x="4520" y="2243"/>
                </a:lnTo>
                <a:lnTo>
                  <a:pt x="4520" y="2243"/>
                </a:lnTo>
                <a:lnTo>
                  <a:pt x="4526" y="2240"/>
                </a:lnTo>
                <a:lnTo>
                  <a:pt x="4527" y="2236"/>
                </a:lnTo>
                <a:lnTo>
                  <a:pt x="4529" y="2232"/>
                </a:lnTo>
                <a:lnTo>
                  <a:pt x="4529" y="2232"/>
                </a:lnTo>
                <a:lnTo>
                  <a:pt x="4531" y="2225"/>
                </a:lnTo>
                <a:lnTo>
                  <a:pt x="4536" y="2219"/>
                </a:lnTo>
                <a:lnTo>
                  <a:pt x="4536" y="2219"/>
                </a:lnTo>
                <a:lnTo>
                  <a:pt x="4540" y="2218"/>
                </a:lnTo>
                <a:lnTo>
                  <a:pt x="4544" y="2218"/>
                </a:lnTo>
                <a:lnTo>
                  <a:pt x="4549" y="2219"/>
                </a:lnTo>
                <a:lnTo>
                  <a:pt x="4549" y="2219"/>
                </a:lnTo>
                <a:lnTo>
                  <a:pt x="4553" y="2218"/>
                </a:lnTo>
                <a:lnTo>
                  <a:pt x="4556" y="2216"/>
                </a:lnTo>
                <a:lnTo>
                  <a:pt x="4556" y="2214"/>
                </a:lnTo>
                <a:lnTo>
                  <a:pt x="4556" y="2210"/>
                </a:lnTo>
                <a:lnTo>
                  <a:pt x="4556" y="2210"/>
                </a:lnTo>
                <a:lnTo>
                  <a:pt x="4553" y="2207"/>
                </a:lnTo>
                <a:lnTo>
                  <a:pt x="4553" y="2205"/>
                </a:lnTo>
                <a:lnTo>
                  <a:pt x="4553" y="2205"/>
                </a:lnTo>
                <a:lnTo>
                  <a:pt x="4553" y="2201"/>
                </a:lnTo>
                <a:lnTo>
                  <a:pt x="4556" y="2199"/>
                </a:lnTo>
                <a:lnTo>
                  <a:pt x="4562" y="2199"/>
                </a:lnTo>
                <a:lnTo>
                  <a:pt x="4567" y="2201"/>
                </a:lnTo>
                <a:lnTo>
                  <a:pt x="4578" y="2205"/>
                </a:lnTo>
                <a:lnTo>
                  <a:pt x="4584" y="2208"/>
                </a:lnTo>
                <a:lnTo>
                  <a:pt x="4584" y="2208"/>
                </a:lnTo>
                <a:lnTo>
                  <a:pt x="4589" y="2212"/>
                </a:lnTo>
                <a:lnTo>
                  <a:pt x="4596" y="2214"/>
                </a:lnTo>
                <a:lnTo>
                  <a:pt x="4596" y="2214"/>
                </a:lnTo>
                <a:lnTo>
                  <a:pt x="4613" y="2216"/>
                </a:lnTo>
                <a:lnTo>
                  <a:pt x="4620" y="2218"/>
                </a:lnTo>
                <a:lnTo>
                  <a:pt x="4623" y="2219"/>
                </a:lnTo>
                <a:lnTo>
                  <a:pt x="4625" y="2221"/>
                </a:lnTo>
                <a:lnTo>
                  <a:pt x="4625" y="2221"/>
                </a:lnTo>
                <a:lnTo>
                  <a:pt x="4627" y="2227"/>
                </a:lnTo>
                <a:lnTo>
                  <a:pt x="4625" y="2230"/>
                </a:lnTo>
                <a:lnTo>
                  <a:pt x="4620" y="2238"/>
                </a:lnTo>
                <a:lnTo>
                  <a:pt x="4613" y="2245"/>
                </a:lnTo>
                <a:lnTo>
                  <a:pt x="4611" y="2251"/>
                </a:lnTo>
                <a:lnTo>
                  <a:pt x="4611" y="2256"/>
                </a:lnTo>
                <a:lnTo>
                  <a:pt x="4611" y="2256"/>
                </a:lnTo>
                <a:lnTo>
                  <a:pt x="4613" y="2262"/>
                </a:lnTo>
                <a:lnTo>
                  <a:pt x="4616" y="2269"/>
                </a:lnTo>
                <a:lnTo>
                  <a:pt x="4622" y="2274"/>
                </a:lnTo>
                <a:lnTo>
                  <a:pt x="4629" y="2278"/>
                </a:lnTo>
                <a:lnTo>
                  <a:pt x="4629" y="2278"/>
                </a:lnTo>
                <a:lnTo>
                  <a:pt x="4636" y="2280"/>
                </a:lnTo>
                <a:lnTo>
                  <a:pt x="4642" y="2287"/>
                </a:lnTo>
                <a:lnTo>
                  <a:pt x="4642" y="2287"/>
                </a:lnTo>
                <a:lnTo>
                  <a:pt x="4649" y="2302"/>
                </a:lnTo>
                <a:lnTo>
                  <a:pt x="4654" y="2309"/>
                </a:lnTo>
                <a:lnTo>
                  <a:pt x="4661" y="2313"/>
                </a:lnTo>
                <a:lnTo>
                  <a:pt x="4661" y="2313"/>
                </a:lnTo>
                <a:lnTo>
                  <a:pt x="4667" y="2315"/>
                </a:lnTo>
                <a:lnTo>
                  <a:pt x="4674" y="2317"/>
                </a:lnTo>
                <a:lnTo>
                  <a:pt x="4681" y="2317"/>
                </a:lnTo>
                <a:lnTo>
                  <a:pt x="4689" y="2315"/>
                </a:lnTo>
                <a:lnTo>
                  <a:pt x="4689" y="2315"/>
                </a:lnTo>
                <a:lnTo>
                  <a:pt x="4690" y="2313"/>
                </a:lnTo>
                <a:lnTo>
                  <a:pt x="4690" y="2311"/>
                </a:lnTo>
                <a:lnTo>
                  <a:pt x="4690" y="2307"/>
                </a:lnTo>
                <a:lnTo>
                  <a:pt x="4690" y="2307"/>
                </a:lnTo>
                <a:lnTo>
                  <a:pt x="4692" y="2296"/>
                </a:lnTo>
                <a:lnTo>
                  <a:pt x="4692" y="2296"/>
                </a:lnTo>
                <a:lnTo>
                  <a:pt x="4694" y="2293"/>
                </a:lnTo>
                <a:lnTo>
                  <a:pt x="4696" y="2289"/>
                </a:lnTo>
                <a:lnTo>
                  <a:pt x="4696" y="2289"/>
                </a:lnTo>
                <a:lnTo>
                  <a:pt x="4698" y="2284"/>
                </a:lnTo>
                <a:lnTo>
                  <a:pt x="4698" y="2284"/>
                </a:lnTo>
                <a:lnTo>
                  <a:pt x="4700" y="2276"/>
                </a:lnTo>
                <a:lnTo>
                  <a:pt x="4700" y="2276"/>
                </a:lnTo>
                <a:lnTo>
                  <a:pt x="4698" y="2269"/>
                </a:lnTo>
                <a:lnTo>
                  <a:pt x="4696" y="2263"/>
                </a:lnTo>
                <a:lnTo>
                  <a:pt x="4694" y="2258"/>
                </a:lnTo>
                <a:lnTo>
                  <a:pt x="4694" y="2251"/>
                </a:lnTo>
                <a:lnTo>
                  <a:pt x="4694" y="2251"/>
                </a:lnTo>
                <a:lnTo>
                  <a:pt x="4696" y="2245"/>
                </a:lnTo>
                <a:lnTo>
                  <a:pt x="4700" y="2241"/>
                </a:lnTo>
                <a:lnTo>
                  <a:pt x="4701" y="2238"/>
                </a:lnTo>
                <a:lnTo>
                  <a:pt x="4703" y="2232"/>
                </a:lnTo>
                <a:lnTo>
                  <a:pt x="4703" y="2232"/>
                </a:lnTo>
                <a:lnTo>
                  <a:pt x="4703" y="2225"/>
                </a:lnTo>
                <a:lnTo>
                  <a:pt x="4701" y="2218"/>
                </a:lnTo>
                <a:lnTo>
                  <a:pt x="4701" y="2210"/>
                </a:lnTo>
                <a:lnTo>
                  <a:pt x="4703" y="2203"/>
                </a:lnTo>
                <a:lnTo>
                  <a:pt x="4703" y="2203"/>
                </a:lnTo>
                <a:lnTo>
                  <a:pt x="4705" y="2201"/>
                </a:lnTo>
                <a:lnTo>
                  <a:pt x="4709" y="2199"/>
                </a:lnTo>
                <a:lnTo>
                  <a:pt x="4712" y="2199"/>
                </a:lnTo>
                <a:lnTo>
                  <a:pt x="4714" y="2201"/>
                </a:lnTo>
                <a:lnTo>
                  <a:pt x="4714" y="2201"/>
                </a:lnTo>
                <a:lnTo>
                  <a:pt x="4718" y="2205"/>
                </a:lnTo>
                <a:lnTo>
                  <a:pt x="4719" y="2210"/>
                </a:lnTo>
                <a:lnTo>
                  <a:pt x="4719" y="2219"/>
                </a:lnTo>
                <a:lnTo>
                  <a:pt x="4719" y="2219"/>
                </a:lnTo>
                <a:lnTo>
                  <a:pt x="4723" y="2236"/>
                </a:lnTo>
                <a:lnTo>
                  <a:pt x="4725" y="2243"/>
                </a:lnTo>
                <a:lnTo>
                  <a:pt x="4730" y="2251"/>
                </a:lnTo>
                <a:lnTo>
                  <a:pt x="4730" y="2251"/>
                </a:lnTo>
                <a:lnTo>
                  <a:pt x="4732" y="2252"/>
                </a:lnTo>
                <a:lnTo>
                  <a:pt x="4734" y="2254"/>
                </a:lnTo>
                <a:lnTo>
                  <a:pt x="4739" y="2254"/>
                </a:lnTo>
                <a:lnTo>
                  <a:pt x="4739" y="2254"/>
                </a:lnTo>
                <a:lnTo>
                  <a:pt x="4743" y="2254"/>
                </a:lnTo>
                <a:lnTo>
                  <a:pt x="4747" y="2256"/>
                </a:lnTo>
                <a:lnTo>
                  <a:pt x="4750" y="2260"/>
                </a:lnTo>
                <a:lnTo>
                  <a:pt x="4752" y="2263"/>
                </a:lnTo>
                <a:lnTo>
                  <a:pt x="4752" y="2263"/>
                </a:lnTo>
                <a:lnTo>
                  <a:pt x="4754" y="2274"/>
                </a:lnTo>
                <a:lnTo>
                  <a:pt x="4754" y="2285"/>
                </a:lnTo>
                <a:lnTo>
                  <a:pt x="4754" y="2285"/>
                </a:lnTo>
                <a:lnTo>
                  <a:pt x="4756" y="2296"/>
                </a:lnTo>
                <a:lnTo>
                  <a:pt x="4759" y="2307"/>
                </a:lnTo>
                <a:lnTo>
                  <a:pt x="4759" y="2307"/>
                </a:lnTo>
                <a:lnTo>
                  <a:pt x="4767" y="2318"/>
                </a:lnTo>
                <a:lnTo>
                  <a:pt x="4767" y="2318"/>
                </a:lnTo>
                <a:lnTo>
                  <a:pt x="4772" y="2335"/>
                </a:lnTo>
                <a:lnTo>
                  <a:pt x="4776" y="2342"/>
                </a:lnTo>
                <a:lnTo>
                  <a:pt x="4781" y="2350"/>
                </a:lnTo>
                <a:lnTo>
                  <a:pt x="4781" y="2350"/>
                </a:lnTo>
                <a:lnTo>
                  <a:pt x="4788" y="2357"/>
                </a:lnTo>
                <a:lnTo>
                  <a:pt x="4796" y="2361"/>
                </a:lnTo>
                <a:lnTo>
                  <a:pt x="4803" y="2366"/>
                </a:lnTo>
                <a:lnTo>
                  <a:pt x="4810" y="2372"/>
                </a:lnTo>
                <a:lnTo>
                  <a:pt x="4810" y="2372"/>
                </a:lnTo>
                <a:lnTo>
                  <a:pt x="4814" y="2379"/>
                </a:lnTo>
                <a:lnTo>
                  <a:pt x="4815" y="2386"/>
                </a:lnTo>
                <a:lnTo>
                  <a:pt x="4815" y="2386"/>
                </a:lnTo>
                <a:lnTo>
                  <a:pt x="4819" y="2395"/>
                </a:lnTo>
                <a:lnTo>
                  <a:pt x="4821" y="2406"/>
                </a:lnTo>
                <a:lnTo>
                  <a:pt x="4821" y="2406"/>
                </a:lnTo>
                <a:lnTo>
                  <a:pt x="4823" y="2419"/>
                </a:lnTo>
                <a:lnTo>
                  <a:pt x="4825" y="2427"/>
                </a:lnTo>
                <a:lnTo>
                  <a:pt x="4828" y="2430"/>
                </a:lnTo>
                <a:lnTo>
                  <a:pt x="4828" y="2430"/>
                </a:lnTo>
                <a:lnTo>
                  <a:pt x="4834" y="2434"/>
                </a:lnTo>
                <a:lnTo>
                  <a:pt x="4834" y="2434"/>
                </a:lnTo>
                <a:lnTo>
                  <a:pt x="4835" y="2436"/>
                </a:lnTo>
                <a:lnTo>
                  <a:pt x="4837" y="2440"/>
                </a:lnTo>
                <a:lnTo>
                  <a:pt x="4837" y="2440"/>
                </a:lnTo>
                <a:lnTo>
                  <a:pt x="4843" y="2445"/>
                </a:lnTo>
                <a:lnTo>
                  <a:pt x="4850" y="2451"/>
                </a:lnTo>
                <a:lnTo>
                  <a:pt x="4850" y="2451"/>
                </a:lnTo>
                <a:lnTo>
                  <a:pt x="4857" y="2456"/>
                </a:lnTo>
                <a:lnTo>
                  <a:pt x="4863" y="2462"/>
                </a:lnTo>
                <a:lnTo>
                  <a:pt x="4866" y="2469"/>
                </a:lnTo>
                <a:lnTo>
                  <a:pt x="4868" y="2476"/>
                </a:lnTo>
                <a:lnTo>
                  <a:pt x="4868" y="2476"/>
                </a:lnTo>
                <a:lnTo>
                  <a:pt x="4870" y="2484"/>
                </a:lnTo>
                <a:lnTo>
                  <a:pt x="4868" y="2491"/>
                </a:lnTo>
                <a:lnTo>
                  <a:pt x="4866" y="2498"/>
                </a:lnTo>
                <a:lnTo>
                  <a:pt x="4866" y="2506"/>
                </a:lnTo>
                <a:lnTo>
                  <a:pt x="4866" y="2506"/>
                </a:lnTo>
                <a:lnTo>
                  <a:pt x="4868" y="2517"/>
                </a:lnTo>
                <a:lnTo>
                  <a:pt x="4872" y="2528"/>
                </a:lnTo>
                <a:lnTo>
                  <a:pt x="4872" y="2528"/>
                </a:lnTo>
                <a:close/>
                <a:moveTo>
                  <a:pt x="4506" y="1959"/>
                </a:moveTo>
                <a:lnTo>
                  <a:pt x="4506" y="1959"/>
                </a:lnTo>
                <a:lnTo>
                  <a:pt x="4502" y="1957"/>
                </a:lnTo>
                <a:lnTo>
                  <a:pt x="4500" y="1957"/>
                </a:lnTo>
                <a:lnTo>
                  <a:pt x="4497" y="1957"/>
                </a:lnTo>
                <a:lnTo>
                  <a:pt x="4495" y="1955"/>
                </a:lnTo>
                <a:lnTo>
                  <a:pt x="4495" y="1955"/>
                </a:lnTo>
                <a:lnTo>
                  <a:pt x="4495" y="1952"/>
                </a:lnTo>
                <a:lnTo>
                  <a:pt x="4495" y="1946"/>
                </a:lnTo>
                <a:lnTo>
                  <a:pt x="4493" y="1942"/>
                </a:lnTo>
                <a:lnTo>
                  <a:pt x="4491" y="1939"/>
                </a:lnTo>
                <a:lnTo>
                  <a:pt x="4491" y="1939"/>
                </a:lnTo>
                <a:lnTo>
                  <a:pt x="4489" y="1939"/>
                </a:lnTo>
                <a:lnTo>
                  <a:pt x="4489" y="1939"/>
                </a:lnTo>
                <a:lnTo>
                  <a:pt x="4488" y="1941"/>
                </a:lnTo>
                <a:lnTo>
                  <a:pt x="4488" y="1942"/>
                </a:lnTo>
                <a:lnTo>
                  <a:pt x="4484" y="1952"/>
                </a:lnTo>
                <a:lnTo>
                  <a:pt x="4484" y="1964"/>
                </a:lnTo>
                <a:lnTo>
                  <a:pt x="4484" y="1964"/>
                </a:lnTo>
                <a:lnTo>
                  <a:pt x="4488" y="1972"/>
                </a:lnTo>
                <a:lnTo>
                  <a:pt x="4491" y="1974"/>
                </a:lnTo>
                <a:lnTo>
                  <a:pt x="4493" y="1975"/>
                </a:lnTo>
                <a:lnTo>
                  <a:pt x="4493" y="1975"/>
                </a:lnTo>
                <a:lnTo>
                  <a:pt x="4498" y="1975"/>
                </a:lnTo>
                <a:lnTo>
                  <a:pt x="4500" y="1974"/>
                </a:lnTo>
                <a:lnTo>
                  <a:pt x="4502" y="1972"/>
                </a:lnTo>
                <a:lnTo>
                  <a:pt x="4502" y="1972"/>
                </a:lnTo>
                <a:lnTo>
                  <a:pt x="4500" y="1972"/>
                </a:lnTo>
                <a:lnTo>
                  <a:pt x="4500" y="1970"/>
                </a:lnTo>
                <a:lnTo>
                  <a:pt x="4500" y="1968"/>
                </a:lnTo>
                <a:lnTo>
                  <a:pt x="4500" y="1966"/>
                </a:lnTo>
                <a:lnTo>
                  <a:pt x="4500" y="1966"/>
                </a:lnTo>
                <a:lnTo>
                  <a:pt x="4506" y="1963"/>
                </a:lnTo>
                <a:lnTo>
                  <a:pt x="4506" y="1961"/>
                </a:lnTo>
                <a:lnTo>
                  <a:pt x="4506" y="1959"/>
                </a:lnTo>
                <a:lnTo>
                  <a:pt x="4506" y="1959"/>
                </a:lnTo>
                <a:close/>
                <a:moveTo>
                  <a:pt x="4424" y="2185"/>
                </a:moveTo>
                <a:lnTo>
                  <a:pt x="4424" y="2185"/>
                </a:lnTo>
                <a:lnTo>
                  <a:pt x="4430" y="2183"/>
                </a:lnTo>
                <a:lnTo>
                  <a:pt x="4433" y="2181"/>
                </a:lnTo>
                <a:lnTo>
                  <a:pt x="4442" y="2175"/>
                </a:lnTo>
                <a:lnTo>
                  <a:pt x="4442" y="2175"/>
                </a:lnTo>
                <a:lnTo>
                  <a:pt x="4448" y="2172"/>
                </a:lnTo>
                <a:lnTo>
                  <a:pt x="4451" y="2168"/>
                </a:lnTo>
                <a:lnTo>
                  <a:pt x="4459" y="2161"/>
                </a:lnTo>
                <a:lnTo>
                  <a:pt x="4459" y="2161"/>
                </a:lnTo>
                <a:lnTo>
                  <a:pt x="4468" y="2157"/>
                </a:lnTo>
                <a:lnTo>
                  <a:pt x="4473" y="2153"/>
                </a:lnTo>
                <a:lnTo>
                  <a:pt x="4477" y="2150"/>
                </a:lnTo>
                <a:lnTo>
                  <a:pt x="4477" y="2150"/>
                </a:lnTo>
                <a:lnTo>
                  <a:pt x="4477" y="2148"/>
                </a:lnTo>
                <a:lnTo>
                  <a:pt x="4475" y="2146"/>
                </a:lnTo>
                <a:lnTo>
                  <a:pt x="4475" y="2146"/>
                </a:lnTo>
                <a:lnTo>
                  <a:pt x="4469" y="2146"/>
                </a:lnTo>
                <a:lnTo>
                  <a:pt x="4466" y="2148"/>
                </a:lnTo>
                <a:lnTo>
                  <a:pt x="4466" y="2148"/>
                </a:lnTo>
                <a:lnTo>
                  <a:pt x="4462" y="2150"/>
                </a:lnTo>
                <a:lnTo>
                  <a:pt x="4459" y="2152"/>
                </a:lnTo>
                <a:lnTo>
                  <a:pt x="4459" y="2152"/>
                </a:lnTo>
                <a:lnTo>
                  <a:pt x="4453" y="2152"/>
                </a:lnTo>
                <a:lnTo>
                  <a:pt x="4453" y="2152"/>
                </a:lnTo>
                <a:lnTo>
                  <a:pt x="4450" y="2152"/>
                </a:lnTo>
                <a:lnTo>
                  <a:pt x="4448" y="2153"/>
                </a:lnTo>
                <a:lnTo>
                  <a:pt x="4448" y="2155"/>
                </a:lnTo>
                <a:lnTo>
                  <a:pt x="4446" y="2157"/>
                </a:lnTo>
                <a:lnTo>
                  <a:pt x="4446" y="2157"/>
                </a:lnTo>
                <a:lnTo>
                  <a:pt x="4442" y="2159"/>
                </a:lnTo>
                <a:lnTo>
                  <a:pt x="4439" y="2159"/>
                </a:lnTo>
                <a:lnTo>
                  <a:pt x="4439" y="2159"/>
                </a:lnTo>
                <a:lnTo>
                  <a:pt x="4435" y="2161"/>
                </a:lnTo>
                <a:lnTo>
                  <a:pt x="4433" y="2163"/>
                </a:lnTo>
                <a:lnTo>
                  <a:pt x="4433" y="2163"/>
                </a:lnTo>
                <a:lnTo>
                  <a:pt x="4422" y="2174"/>
                </a:lnTo>
                <a:lnTo>
                  <a:pt x="4422" y="2174"/>
                </a:lnTo>
                <a:lnTo>
                  <a:pt x="4419" y="2177"/>
                </a:lnTo>
                <a:lnTo>
                  <a:pt x="4417" y="2181"/>
                </a:lnTo>
                <a:lnTo>
                  <a:pt x="4419" y="2183"/>
                </a:lnTo>
                <a:lnTo>
                  <a:pt x="4424" y="2185"/>
                </a:lnTo>
                <a:lnTo>
                  <a:pt x="4424" y="2185"/>
                </a:lnTo>
                <a:close/>
                <a:moveTo>
                  <a:pt x="4415" y="2008"/>
                </a:moveTo>
                <a:lnTo>
                  <a:pt x="4415" y="2008"/>
                </a:lnTo>
                <a:lnTo>
                  <a:pt x="4419" y="2007"/>
                </a:lnTo>
                <a:lnTo>
                  <a:pt x="4421" y="2001"/>
                </a:lnTo>
                <a:lnTo>
                  <a:pt x="4421" y="1997"/>
                </a:lnTo>
                <a:lnTo>
                  <a:pt x="4419" y="1994"/>
                </a:lnTo>
                <a:lnTo>
                  <a:pt x="4419" y="1994"/>
                </a:lnTo>
                <a:lnTo>
                  <a:pt x="4415" y="1990"/>
                </a:lnTo>
                <a:lnTo>
                  <a:pt x="4408" y="1988"/>
                </a:lnTo>
                <a:lnTo>
                  <a:pt x="4397" y="1990"/>
                </a:lnTo>
                <a:lnTo>
                  <a:pt x="4397" y="1990"/>
                </a:lnTo>
                <a:lnTo>
                  <a:pt x="4388" y="1988"/>
                </a:lnTo>
                <a:lnTo>
                  <a:pt x="4382" y="1986"/>
                </a:lnTo>
                <a:lnTo>
                  <a:pt x="4382" y="1985"/>
                </a:lnTo>
                <a:lnTo>
                  <a:pt x="4382" y="1983"/>
                </a:lnTo>
                <a:lnTo>
                  <a:pt x="4382" y="1983"/>
                </a:lnTo>
                <a:lnTo>
                  <a:pt x="4384" y="1979"/>
                </a:lnTo>
                <a:lnTo>
                  <a:pt x="4392" y="1977"/>
                </a:lnTo>
                <a:lnTo>
                  <a:pt x="4402" y="1975"/>
                </a:lnTo>
                <a:lnTo>
                  <a:pt x="4402" y="1975"/>
                </a:lnTo>
                <a:lnTo>
                  <a:pt x="4411" y="1975"/>
                </a:lnTo>
                <a:lnTo>
                  <a:pt x="4419" y="1975"/>
                </a:lnTo>
                <a:lnTo>
                  <a:pt x="4419" y="1975"/>
                </a:lnTo>
                <a:lnTo>
                  <a:pt x="4428" y="1975"/>
                </a:lnTo>
                <a:lnTo>
                  <a:pt x="4435" y="1974"/>
                </a:lnTo>
                <a:lnTo>
                  <a:pt x="4442" y="1968"/>
                </a:lnTo>
                <a:lnTo>
                  <a:pt x="4444" y="1966"/>
                </a:lnTo>
                <a:lnTo>
                  <a:pt x="4446" y="1961"/>
                </a:lnTo>
                <a:lnTo>
                  <a:pt x="4446" y="1961"/>
                </a:lnTo>
                <a:lnTo>
                  <a:pt x="4444" y="1957"/>
                </a:lnTo>
                <a:lnTo>
                  <a:pt x="4442" y="1955"/>
                </a:lnTo>
                <a:lnTo>
                  <a:pt x="4442" y="1955"/>
                </a:lnTo>
                <a:lnTo>
                  <a:pt x="4439" y="1957"/>
                </a:lnTo>
                <a:lnTo>
                  <a:pt x="4433" y="1959"/>
                </a:lnTo>
                <a:lnTo>
                  <a:pt x="4433" y="1959"/>
                </a:lnTo>
                <a:lnTo>
                  <a:pt x="4428" y="1963"/>
                </a:lnTo>
                <a:lnTo>
                  <a:pt x="4422" y="1964"/>
                </a:lnTo>
                <a:lnTo>
                  <a:pt x="4422" y="1964"/>
                </a:lnTo>
                <a:lnTo>
                  <a:pt x="4411" y="1964"/>
                </a:lnTo>
                <a:lnTo>
                  <a:pt x="4402" y="1963"/>
                </a:lnTo>
                <a:lnTo>
                  <a:pt x="4402" y="1963"/>
                </a:lnTo>
                <a:lnTo>
                  <a:pt x="4392" y="1963"/>
                </a:lnTo>
                <a:lnTo>
                  <a:pt x="4392" y="1963"/>
                </a:lnTo>
                <a:lnTo>
                  <a:pt x="4388" y="1959"/>
                </a:lnTo>
                <a:lnTo>
                  <a:pt x="4384" y="1957"/>
                </a:lnTo>
                <a:lnTo>
                  <a:pt x="4382" y="1957"/>
                </a:lnTo>
                <a:lnTo>
                  <a:pt x="4382" y="1957"/>
                </a:lnTo>
                <a:lnTo>
                  <a:pt x="4377" y="1959"/>
                </a:lnTo>
                <a:lnTo>
                  <a:pt x="4372" y="1961"/>
                </a:lnTo>
                <a:lnTo>
                  <a:pt x="4368" y="1966"/>
                </a:lnTo>
                <a:lnTo>
                  <a:pt x="4366" y="1972"/>
                </a:lnTo>
                <a:lnTo>
                  <a:pt x="4366" y="1972"/>
                </a:lnTo>
                <a:lnTo>
                  <a:pt x="4366" y="1977"/>
                </a:lnTo>
                <a:lnTo>
                  <a:pt x="4368" y="1981"/>
                </a:lnTo>
                <a:lnTo>
                  <a:pt x="4368" y="1986"/>
                </a:lnTo>
                <a:lnTo>
                  <a:pt x="4366" y="1992"/>
                </a:lnTo>
                <a:lnTo>
                  <a:pt x="4366" y="1992"/>
                </a:lnTo>
                <a:lnTo>
                  <a:pt x="4363" y="1997"/>
                </a:lnTo>
                <a:lnTo>
                  <a:pt x="4361" y="2005"/>
                </a:lnTo>
                <a:lnTo>
                  <a:pt x="4361" y="2005"/>
                </a:lnTo>
                <a:lnTo>
                  <a:pt x="4363" y="2012"/>
                </a:lnTo>
                <a:lnTo>
                  <a:pt x="4363" y="2018"/>
                </a:lnTo>
                <a:lnTo>
                  <a:pt x="4363" y="2018"/>
                </a:lnTo>
                <a:lnTo>
                  <a:pt x="4359" y="2029"/>
                </a:lnTo>
                <a:lnTo>
                  <a:pt x="4357" y="2032"/>
                </a:lnTo>
                <a:lnTo>
                  <a:pt x="4359" y="2038"/>
                </a:lnTo>
                <a:lnTo>
                  <a:pt x="4359" y="2038"/>
                </a:lnTo>
                <a:lnTo>
                  <a:pt x="4359" y="2043"/>
                </a:lnTo>
                <a:lnTo>
                  <a:pt x="4359" y="2049"/>
                </a:lnTo>
                <a:lnTo>
                  <a:pt x="4359" y="2049"/>
                </a:lnTo>
                <a:lnTo>
                  <a:pt x="4359" y="2063"/>
                </a:lnTo>
                <a:lnTo>
                  <a:pt x="4361" y="2073"/>
                </a:lnTo>
                <a:lnTo>
                  <a:pt x="4363" y="2080"/>
                </a:lnTo>
                <a:lnTo>
                  <a:pt x="4363" y="2080"/>
                </a:lnTo>
                <a:lnTo>
                  <a:pt x="4366" y="2082"/>
                </a:lnTo>
                <a:lnTo>
                  <a:pt x="4370" y="2082"/>
                </a:lnTo>
                <a:lnTo>
                  <a:pt x="4373" y="2082"/>
                </a:lnTo>
                <a:lnTo>
                  <a:pt x="4375" y="2078"/>
                </a:lnTo>
                <a:lnTo>
                  <a:pt x="4382" y="2071"/>
                </a:lnTo>
                <a:lnTo>
                  <a:pt x="4384" y="2063"/>
                </a:lnTo>
                <a:lnTo>
                  <a:pt x="4384" y="2063"/>
                </a:lnTo>
                <a:lnTo>
                  <a:pt x="4382" y="2056"/>
                </a:lnTo>
                <a:lnTo>
                  <a:pt x="4382" y="2051"/>
                </a:lnTo>
                <a:lnTo>
                  <a:pt x="4382" y="2047"/>
                </a:lnTo>
                <a:lnTo>
                  <a:pt x="4382" y="2047"/>
                </a:lnTo>
                <a:lnTo>
                  <a:pt x="4384" y="2043"/>
                </a:lnTo>
                <a:lnTo>
                  <a:pt x="4386" y="2041"/>
                </a:lnTo>
                <a:lnTo>
                  <a:pt x="4390" y="2041"/>
                </a:lnTo>
                <a:lnTo>
                  <a:pt x="4392" y="2043"/>
                </a:lnTo>
                <a:lnTo>
                  <a:pt x="4392" y="2043"/>
                </a:lnTo>
                <a:lnTo>
                  <a:pt x="4393" y="2047"/>
                </a:lnTo>
                <a:lnTo>
                  <a:pt x="4395" y="2051"/>
                </a:lnTo>
                <a:lnTo>
                  <a:pt x="4397" y="2056"/>
                </a:lnTo>
                <a:lnTo>
                  <a:pt x="4399" y="2060"/>
                </a:lnTo>
                <a:lnTo>
                  <a:pt x="4399" y="2060"/>
                </a:lnTo>
                <a:lnTo>
                  <a:pt x="4401" y="2063"/>
                </a:lnTo>
                <a:lnTo>
                  <a:pt x="4402" y="2063"/>
                </a:lnTo>
                <a:lnTo>
                  <a:pt x="4404" y="2065"/>
                </a:lnTo>
                <a:lnTo>
                  <a:pt x="4404" y="2065"/>
                </a:lnTo>
                <a:lnTo>
                  <a:pt x="4406" y="2063"/>
                </a:lnTo>
                <a:lnTo>
                  <a:pt x="4406" y="2060"/>
                </a:lnTo>
                <a:lnTo>
                  <a:pt x="4406" y="2060"/>
                </a:lnTo>
                <a:lnTo>
                  <a:pt x="4413" y="2056"/>
                </a:lnTo>
                <a:lnTo>
                  <a:pt x="4415" y="2054"/>
                </a:lnTo>
                <a:lnTo>
                  <a:pt x="4417" y="2052"/>
                </a:lnTo>
                <a:lnTo>
                  <a:pt x="4417" y="2052"/>
                </a:lnTo>
                <a:lnTo>
                  <a:pt x="4417" y="2049"/>
                </a:lnTo>
                <a:lnTo>
                  <a:pt x="4415" y="2045"/>
                </a:lnTo>
                <a:lnTo>
                  <a:pt x="4410" y="2040"/>
                </a:lnTo>
                <a:lnTo>
                  <a:pt x="4410" y="2040"/>
                </a:lnTo>
                <a:lnTo>
                  <a:pt x="4402" y="2034"/>
                </a:lnTo>
                <a:lnTo>
                  <a:pt x="4399" y="2032"/>
                </a:lnTo>
                <a:lnTo>
                  <a:pt x="4397" y="2029"/>
                </a:lnTo>
                <a:lnTo>
                  <a:pt x="4397" y="2029"/>
                </a:lnTo>
                <a:lnTo>
                  <a:pt x="4395" y="2025"/>
                </a:lnTo>
                <a:lnTo>
                  <a:pt x="4395" y="2021"/>
                </a:lnTo>
                <a:lnTo>
                  <a:pt x="4397" y="2016"/>
                </a:lnTo>
                <a:lnTo>
                  <a:pt x="4399" y="2012"/>
                </a:lnTo>
                <a:lnTo>
                  <a:pt x="4399" y="2012"/>
                </a:lnTo>
                <a:lnTo>
                  <a:pt x="4402" y="2010"/>
                </a:lnTo>
                <a:lnTo>
                  <a:pt x="4408" y="2010"/>
                </a:lnTo>
                <a:lnTo>
                  <a:pt x="4411" y="2010"/>
                </a:lnTo>
                <a:lnTo>
                  <a:pt x="4415" y="2008"/>
                </a:lnTo>
                <a:lnTo>
                  <a:pt x="4415" y="2008"/>
                </a:lnTo>
                <a:close/>
                <a:moveTo>
                  <a:pt x="4779" y="2801"/>
                </a:moveTo>
                <a:lnTo>
                  <a:pt x="4779" y="2801"/>
                </a:lnTo>
                <a:lnTo>
                  <a:pt x="4772" y="2801"/>
                </a:lnTo>
                <a:lnTo>
                  <a:pt x="4765" y="2801"/>
                </a:lnTo>
                <a:lnTo>
                  <a:pt x="4765" y="2801"/>
                </a:lnTo>
                <a:lnTo>
                  <a:pt x="4761" y="2801"/>
                </a:lnTo>
                <a:lnTo>
                  <a:pt x="4757" y="2797"/>
                </a:lnTo>
                <a:lnTo>
                  <a:pt x="4757" y="2797"/>
                </a:lnTo>
                <a:lnTo>
                  <a:pt x="4750" y="2795"/>
                </a:lnTo>
                <a:lnTo>
                  <a:pt x="4747" y="2795"/>
                </a:lnTo>
                <a:lnTo>
                  <a:pt x="4745" y="2797"/>
                </a:lnTo>
                <a:lnTo>
                  <a:pt x="4745" y="2797"/>
                </a:lnTo>
                <a:lnTo>
                  <a:pt x="4741" y="2799"/>
                </a:lnTo>
                <a:lnTo>
                  <a:pt x="4741" y="2803"/>
                </a:lnTo>
                <a:lnTo>
                  <a:pt x="4741" y="2803"/>
                </a:lnTo>
                <a:lnTo>
                  <a:pt x="4741" y="2805"/>
                </a:lnTo>
                <a:lnTo>
                  <a:pt x="4741" y="2808"/>
                </a:lnTo>
                <a:lnTo>
                  <a:pt x="4747" y="2810"/>
                </a:lnTo>
                <a:lnTo>
                  <a:pt x="4750" y="2814"/>
                </a:lnTo>
                <a:lnTo>
                  <a:pt x="4754" y="2817"/>
                </a:lnTo>
                <a:lnTo>
                  <a:pt x="4754" y="2817"/>
                </a:lnTo>
                <a:lnTo>
                  <a:pt x="4752" y="2821"/>
                </a:lnTo>
                <a:lnTo>
                  <a:pt x="4750" y="2827"/>
                </a:lnTo>
                <a:lnTo>
                  <a:pt x="4750" y="2827"/>
                </a:lnTo>
                <a:lnTo>
                  <a:pt x="4750" y="2832"/>
                </a:lnTo>
                <a:lnTo>
                  <a:pt x="4752" y="2838"/>
                </a:lnTo>
                <a:lnTo>
                  <a:pt x="4752" y="2838"/>
                </a:lnTo>
                <a:lnTo>
                  <a:pt x="4756" y="2847"/>
                </a:lnTo>
                <a:lnTo>
                  <a:pt x="4763" y="2852"/>
                </a:lnTo>
                <a:lnTo>
                  <a:pt x="4772" y="2854"/>
                </a:lnTo>
                <a:lnTo>
                  <a:pt x="4781" y="2854"/>
                </a:lnTo>
                <a:lnTo>
                  <a:pt x="4781" y="2854"/>
                </a:lnTo>
                <a:lnTo>
                  <a:pt x="4790" y="2850"/>
                </a:lnTo>
                <a:lnTo>
                  <a:pt x="4794" y="2847"/>
                </a:lnTo>
                <a:lnTo>
                  <a:pt x="4797" y="2843"/>
                </a:lnTo>
                <a:lnTo>
                  <a:pt x="4797" y="2838"/>
                </a:lnTo>
                <a:lnTo>
                  <a:pt x="4796" y="2825"/>
                </a:lnTo>
                <a:lnTo>
                  <a:pt x="4794" y="2812"/>
                </a:lnTo>
                <a:lnTo>
                  <a:pt x="4794" y="2812"/>
                </a:lnTo>
                <a:lnTo>
                  <a:pt x="4792" y="2805"/>
                </a:lnTo>
                <a:lnTo>
                  <a:pt x="4790" y="2803"/>
                </a:lnTo>
                <a:lnTo>
                  <a:pt x="4785" y="2801"/>
                </a:lnTo>
                <a:lnTo>
                  <a:pt x="4779" y="2801"/>
                </a:lnTo>
                <a:lnTo>
                  <a:pt x="4779" y="2801"/>
                </a:lnTo>
                <a:close/>
                <a:moveTo>
                  <a:pt x="4796" y="2098"/>
                </a:moveTo>
                <a:lnTo>
                  <a:pt x="4796" y="2098"/>
                </a:lnTo>
                <a:lnTo>
                  <a:pt x="4794" y="2095"/>
                </a:lnTo>
                <a:lnTo>
                  <a:pt x="4790" y="2093"/>
                </a:lnTo>
                <a:lnTo>
                  <a:pt x="4781" y="2089"/>
                </a:lnTo>
                <a:lnTo>
                  <a:pt x="4772" y="2086"/>
                </a:lnTo>
                <a:lnTo>
                  <a:pt x="4768" y="2084"/>
                </a:lnTo>
                <a:lnTo>
                  <a:pt x="4765" y="2080"/>
                </a:lnTo>
                <a:lnTo>
                  <a:pt x="4765" y="2080"/>
                </a:lnTo>
                <a:lnTo>
                  <a:pt x="4757" y="2073"/>
                </a:lnTo>
                <a:lnTo>
                  <a:pt x="4754" y="2069"/>
                </a:lnTo>
                <a:lnTo>
                  <a:pt x="4750" y="2065"/>
                </a:lnTo>
                <a:lnTo>
                  <a:pt x="4750" y="2065"/>
                </a:lnTo>
                <a:lnTo>
                  <a:pt x="4741" y="2062"/>
                </a:lnTo>
                <a:lnTo>
                  <a:pt x="4734" y="2058"/>
                </a:lnTo>
                <a:lnTo>
                  <a:pt x="4734" y="2058"/>
                </a:lnTo>
                <a:lnTo>
                  <a:pt x="4730" y="2052"/>
                </a:lnTo>
                <a:lnTo>
                  <a:pt x="4727" y="2049"/>
                </a:lnTo>
                <a:lnTo>
                  <a:pt x="4727" y="2049"/>
                </a:lnTo>
                <a:lnTo>
                  <a:pt x="4719" y="2043"/>
                </a:lnTo>
                <a:lnTo>
                  <a:pt x="4712" y="2041"/>
                </a:lnTo>
                <a:lnTo>
                  <a:pt x="4698" y="2038"/>
                </a:lnTo>
                <a:lnTo>
                  <a:pt x="4698" y="2038"/>
                </a:lnTo>
                <a:lnTo>
                  <a:pt x="4683" y="2034"/>
                </a:lnTo>
                <a:lnTo>
                  <a:pt x="4683" y="2034"/>
                </a:lnTo>
                <a:lnTo>
                  <a:pt x="4672" y="2032"/>
                </a:lnTo>
                <a:lnTo>
                  <a:pt x="4663" y="2027"/>
                </a:lnTo>
                <a:lnTo>
                  <a:pt x="4663" y="2027"/>
                </a:lnTo>
                <a:lnTo>
                  <a:pt x="4654" y="2021"/>
                </a:lnTo>
                <a:lnTo>
                  <a:pt x="4643" y="2014"/>
                </a:lnTo>
                <a:lnTo>
                  <a:pt x="4643" y="2014"/>
                </a:lnTo>
                <a:lnTo>
                  <a:pt x="4640" y="2014"/>
                </a:lnTo>
                <a:lnTo>
                  <a:pt x="4634" y="2014"/>
                </a:lnTo>
                <a:lnTo>
                  <a:pt x="4629" y="2014"/>
                </a:lnTo>
                <a:lnTo>
                  <a:pt x="4625" y="2018"/>
                </a:lnTo>
                <a:lnTo>
                  <a:pt x="4625" y="2018"/>
                </a:lnTo>
                <a:lnTo>
                  <a:pt x="4622" y="2023"/>
                </a:lnTo>
                <a:lnTo>
                  <a:pt x="4618" y="2027"/>
                </a:lnTo>
                <a:lnTo>
                  <a:pt x="4618" y="2027"/>
                </a:lnTo>
                <a:lnTo>
                  <a:pt x="4613" y="2030"/>
                </a:lnTo>
                <a:lnTo>
                  <a:pt x="4609" y="2030"/>
                </a:lnTo>
                <a:lnTo>
                  <a:pt x="4603" y="2030"/>
                </a:lnTo>
                <a:lnTo>
                  <a:pt x="4600" y="2029"/>
                </a:lnTo>
                <a:lnTo>
                  <a:pt x="4596" y="2027"/>
                </a:lnTo>
                <a:lnTo>
                  <a:pt x="4593" y="2023"/>
                </a:lnTo>
                <a:lnTo>
                  <a:pt x="4591" y="2019"/>
                </a:lnTo>
                <a:lnTo>
                  <a:pt x="4591" y="2016"/>
                </a:lnTo>
                <a:lnTo>
                  <a:pt x="4591" y="2016"/>
                </a:lnTo>
                <a:lnTo>
                  <a:pt x="4591" y="2008"/>
                </a:lnTo>
                <a:lnTo>
                  <a:pt x="4589" y="2005"/>
                </a:lnTo>
                <a:lnTo>
                  <a:pt x="4587" y="2001"/>
                </a:lnTo>
                <a:lnTo>
                  <a:pt x="4584" y="1997"/>
                </a:lnTo>
                <a:lnTo>
                  <a:pt x="4575" y="1996"/>
                </a:lnTo>
                <a:lnTo>
                  <a:pt x="4564" y="1994"/>
                </a:lnTo>
                <a:lnTo>
                  <a:pt x="4564" y="1994"/>
                </a:lnTo>
                <a:lnTo>
                  <a:pt x="4556" y="1994"/>
                </a:lnTo>
                <a:lnTo>
                  <a:pt x="4551" y="1996"/>
                </a:lnTo>
                <a:lnTo>
                  <a:pt x="4547" y="1999"/>
                </a:lnTo>
                <a:lnTo>
                  <a:pt x="4544" y="2005"/>
                </a:lnTo>
                <a:lnTo>
                  <a:pt x="4544" y="2005"/>
                </a:lnTo>
                <a:lnTo>
                  <a:pt x="4546" y="2010"/>
                </a:lnTo>
                <a:lnTo>
                  <a:pt x="4547" y="2016"/>
                </a:lnTo>
                <a:lnTo>
                  <a:pt x="4553" y="2019"/>
                </a:lnTo>
                <a:lnTo>
                  <a:pt x="4558" y="2021"/>
                </a:lnTo>
                <a:lnTo>
                  <a:pt x="4558" y="2021"/>
                </a:lnTo>
                <a:lnTo>
                  <a:pt x="4571" y="2023"/>
                </a:lnTo>
                <a:lnTo>
                  <a:pt x="4576" y="2023"/>
                </a:lnTo>
                <a:lnTo>
                  <a:pt x="4578" y="2025"/>
                </a:lnTo>
                <a:lnTo>
                  <a:pt x="4578" y="2029"/>
                </a:lnTo>
                <a:lnTo>
                  <a:pt x="4578" y="2029"/>
                </a:lnTo>
                <a:lnTo>
                  <a:pt x="4571" y="2029"/>
                </a:lnTo>
                <a:lnTo>
                  <a:pt x="4567" y="2030"/>
                </a:lnTo>
                <a:lnTo>
                  <a:pt x="4564" y="2034"/>
                </a:lnTo>
                <a:lnTo>
                  <a:pt x="4564" y="2034"/>
                </a:lnTo>
                <a:lnTo>
                  <a:pt x="4564" y="2036"/>
                </a:lnTo>
                <a:lnTo>
                  <a:pt x="4564" y="2040"/>
                </a:lnTo>
                <a:lnTo>
                  <a:pt x="4565" y="2045"/>
                </a:lnTo>
                <a:lnTo>
                  <a:pt x="4571" y="2049"/>
                </a:lnTo>
                <a:lnTo>
                  <a:pt x="4576" y="2051"/>
                </a:lnTo>
                <a:lnTo>
                  <a:pt x="4576" y="2051"/>
                </a:lnTo>
                <a:lnTo>
                  <a:pt x="4582" y="2051"/>
                </a:lnTo>
                <a:lnTo>
                  <a:pt x="4587" y="2051"/>
                </a:lnTo>
                <a:lnTo>
                  <a:pt x="4587" y="2051"/>
                </a:lnTo>
                <a:lnTo>
                  <a:pt x="4593" y="2056"/>
                </a:lnTo>
                <a:lnTo>
                  <a:pt x="4598" y="2062"/>
                </a:lnTo>
                <a:lnTo>
                  <a:pt x="4598" y="2062"/>
                </a:lnTo>
                <a:lnTo>
                  <a:pt x="4605" y="2067"/>
                </a:lnTo>
                <a:lnTo>
                  <a:pt x="4614" y="2069"/>
                </a:lnTo>
                <a:lnTo>
                  <a:pt x="4623" y="2071"/>
                </a:lnTo>
                <a:lnTo>
                  <a:pt x="4631" y="2075"/>
                </a:lnTo>
                <a:lnTo>
                  <a:pt x="4631" y="2075"/>
                </a:lnTo>
                <a:lnTo>
                  <a:pt x="4634" y="2078"/>
                </a:lnTo>
                <a:lnTo>
                  <a:pt x="4636" y="2080"/>
                </a:lnTo>
                <a:lnTo>
                  <a:pt x="4642" y="2087"/>
                </a:lnTo>
                <a:lnTo>
                  <a:pt x="4642" y="2087"/>
                </a:lnTo>
                <a:lnTo>
                  <a:pt x="4647" y="2095"/>
                </a:lnTo>
                <a:lnTo>
                  <a:pt x="4649" y="2098"/>
                </a:lnTo>
                <a:lnTo>
                  <a:pt x="4651" y="2102"/>
                </a:lnTo>
                <a:lnTo>
                  <a:pt x="4651" y="2102"/>
                </a:lnTo>
                <a:lnTo>
                  <a:pt x="4651" y="2111"/>
                </a:lnTo>
                <a:lnTo>
                  <a:pt x="4651" y="2111"/>
                </a:lnTo>
                <a:lnTo>
                  <a:pt x="4649" y="2117"/>
                </a:lnTo>
                <a:lnTo>
                  <a:pt x="4647" y="2120"/>
                </a:lnTo>
                <a:lnTo>
                  <a:pt x="4640" y="2126"/>
                </a:lnTo>
                <a:lnTo>
                  <a:pt x="4640" y="2126"/>
                </a:lnTo>
                <a:lnTo>
                  <a:pt x="4638" y="2130"/>
                </a:lnTo>
                <a:lnTo>
                  <a:pt x="4636" y="2135"/>
                </a:lnTo>
                <a:lnTo>
                  <a:pt x="4636" y="2139"/>
                </a:lnTo>
                <a:lnTo>
                  <a:pt x="4640" y="2142"/>
                </a:lnTo>
                <a:lnTo>
                  <a:pt x="4640" y="2142"/>
                </a:lnTo>
                <a:lnTo>
                  <a:pt x="4643" y="2142"/>
                </a:lnTo>
                <a:lnTo>
                  <a:pt x="4649" y="2141"/>
                </a:lnTo>
                <a:lnTo>
                  <a:pt x="4658" y="2139"/>
                </a:lnTo>
                <a:lnTo>
                  <a:pt x="4658" y="2139"/>
                </a:lnTo>
                <a:lnTo>
                  <a:pt x="4663" y="2139"/>
                </a:lnTo>
                <a:lnTo>
                  <a:pt x="4669" y="2139"/>
                </a:lnTo>
                <a:lnTo>
                  <a:pt x="4672" y="2142"/>
                </a:lnTo>
                <a:lnTo>
                  <a:pt x="4676" y="2148"/>
                </a:lnTo>
                <a:lnTo>
                  <a:pt x="4676" y="2148"/>
                </a:lnTo>
                <a:lnTo>
                  <a:pt x="4681" y="2153"/>
                </a:lnTo>
                <a:lnTo>
                  <a:pt x="4689" y="2155"/>
                </a:lnTo>
                <a:lnTo>
                  <a:pt x="4696" y="2155"/>
                </a:lnTo>
                <a:lnTo>
                  <a:pt x="4703" y="2155"/>
                </a:lnTo>
                <a:lnTo>
                  <a:pt x="4703" y="2155"/>
                </a:lnTo>
                <a:lnTo>
                  <a:pt x="4710" y="2155"/>
                </a:lnTo>
                <a:lnTo>
                  <a:pt x="4714" y="2152"/>
                </a:lnTo>
                <a:lnTo>
                  <a:pt x="4721" y="2144"/>
                </a:lnTo>
                <a:lnTo>
                  <a:pt x="4721" y="2144"/>
                </a:lnTo>
                <a:lnTo>
                  <a:pt x="4727" y="2139"/>
                </a:lnTo>
                <a:lnTo>
                  <a:pt x="4734" y="2135"/>
                </a:lnTo>
                <a:lnTo>
                  <a:pt x="4743" y="2133"/>
                </a:lnTo>
                <a:lnTo>
                  <a:pt x="4750" y="2135"/>
                </a:lnTo>
                <a:lnTo>
                  <a:pt x="4750" y="2135"/>
                </a:lnTo>
                <a:lnTo>
                  <a:pt x="4756" y="2137"/>
                </a:lnTo>
                <a:lnTo>
                  <a:pt x="4761" y="2141"/>
                </a:lnTo>
                <a:lnTo>
                  <a:pt x="4770" y="2150"/>
                </a:lnTo>
                <a:lnTo>
                  <a:pt x="4770" y="2150"/>
                </a:lnTo>
                <a:lnTo>
                  <a:pt x="4779" y="2159"/>
                </a:lnTo>
                <a:lnTo>
                  <a:pt x="4786" y="2168"/>
                </a:lnTo>
                <a:lnTo>
                  <a:pt x="4797" y="2174"/>
                </a:lnTo>
                <a:lnTo>
                  <a:pt x="4806" y="2179"/>
                </a:lnTo>
                <a:lnTo>
                  <a:pt x="4806" y="2179"/>
                </a:lnTo>
                <a:lnTo>
                  <a:pt x="4817" y="2183"/>
                </a:lnTo>
                <a:lnTo>
                  <a:pt x="4823" y="2183"/>
                </a:lnTo>
                <a:lnTo>
                  <a:pt x="4828" y="2183"/>
                </a:lnTo>
                <a:lnTo>
                  <a:pt x="4828" y="2183"/>
                </a:lnTo>
                <a:lnTo>
                  <a:pt x="4830" y="2181"/>
                </a:lnTo>
                <a:lnTo>
                  <a:pt x="4830" y="2177"/>
                </a:lnTo>
                <a:lnTo>
                  <a:pt x="4826" y="2172"/>
                </a:lnTo>
                <a:lnTo>
                  <a:pt x="4821" y="2168"/>
                </a:lnTo>
                <a:lnTo>
                  <a:pt x="4817" y="2164"/>
                </a:lnTo>
                <a:lnTo>
                  <a:pt x="4817" y="2164"/>
                </a:lnTo>
                <a:lnTo>
                  <a:pt x="4815" y="2161"/>
                </a:lnTo>
                <a:lnTo>
                  <a:pt x="4814" y="2159"/>
                </a:lnTo>
                <a:lnTo>
                  <a:pt x="4814" y="2159"/>
                </a:lnTo>
                <a:lnTo>
                  <a:pt x="4808" y="2157"/>
                </a:lnTo>
                <a:lnTo>
                  <a:pt x="4806" y="2157"/>
                </a:lnTo>
                <a:lnTo>
                  <a:pt x="4805" y="2157"/>
                </a:lnTo>
                <a:lnTo>
                  <a:pt x="4805" y="2157"/>
                </a:lnTo>
                <a:lnTo>
                  <a:pt x="4803" y="2153"/>
                </a:lnTo>
                <a:lnTo>
                  <a:pt x="4803" y="2152"/>
                </a:lnTo>
                <a:lnTo>
                  <a:pt x="4803" y="2150"/>
                </a:lnTo>
                <a:lnTo>
                  <a:pt x="4803" y="2148"/>
                </a:lnTo>
                <a:lnTo>
                  <a:pt x="4803" y="2148"/>
                </a:lnTo>
                <a:lnTo>
                  <a:pt x="4801" y="2146"/>
                </a:lnTo>
                <a:lnTo>
                  <a:pt x="4797" y="2146"/>
                </a:lnTo>
                <a:lnTo>
                  <a:pt x="4797" y="2146"/>
                </a:lnTo>
                <a:lnTo>
                  <a:pt x="4797" y="2144"/>
                </a:lnTo>
                <a:lnTo>
                  <a:pt x="4797" y="2141"/>
                </a:lnTo>
                <a:lnTo>
                  <a:pt x="4797" y="2139"/>
                </a:lnTo>
                <a:lnTo>
                  <a:pt x="4797" y="2137"/>
                </a:lnTo>
                <a:lnTo>
                  <a:pt x="4797" y="2137"/>
                </a:lnTo>
                <a:lnTo>
                  <a:pt x="4794" y="2135"/>
                </a:lnTo>
                <a:lnTo>
                  <a:pt x="4790" y="2133"/>
                </a:lnTo>
                <a:lnTo>
                  <a:pt x="4790" y="2133"/>
                </a:lnTo>
                <a:lnTo>
                  <a:pt x="4786" y="2131"/>
                </a:lnTo>
                <a:lnTo>
                  <a:pt x="4783" y="2128"/>
                </a:lnTo>
                <a:lnTo>
                  <a:pt x="4783" y="2128"/>
                </a:lnTo>
                <a:lnTo>
                  <a:pt x="4781" y="2124"/>
                </a:lnTo>
                <a:lnTo>
                  <a:pt x="4781" y="2120"/>
                </a:lnTo>
                <a:lnTo>
                  <a:pt x="4783" y="2117"/>
                </a:lnTo>
                <a:lnTo>
                  <a:pt x="4785" y="2115"/>
                </a:lnTo>
                <a:lnTo>
                  <a:pt x="4785" y="2115"/>
                </a:lnTo>
                <a:lnTo>
                  <a:pt x="4792" y="2108"/>
                </a:lnTo>
                <a:lnTo>
                  <a:pt x="4796" y="2104"/>
                </a:lnTo>
                <a:lnTo>
                  <a:pt x="4796" y="2098"/>
                </a:lnTo>
                <a:lnTo>
                  <a:pt x="4796" y="2098"/>
                </a:lnTo>
                <a:close/>
                <a:moveTo>
                  <a:pt x="5161" y="2805"/>
                </a:moveTo>
                <a:lnTo>
                  <a:pt x="5161" y="2805"/>
                </a:lnTo>
                <a:lnTo>
                  <a:pt x="5158" y="2805"/>
                </a:lnTo>
                <a:lnTo>
                  <a:pt x="5158" y="2805"/>
                </a:lnTo>
                <a:lnTo>
                  <a:pt x="5154" y="2808"/>
                </a:lnTo>
                <a:lnTo>
                  <a:pt x="5151" y="2812"/>
                </a:lnTo>
                <a:lnTo>
                  <a:pt x="5147" y="2821"/>
                </a:lnTo>
                <a:lnTo>
                  <a:pt x="5147" y="2821"/>
                </a:lnTo>
                <a:lnTo>
                  <a:pt x="5145" y="2834"/>
                </a:lnTo>
                <a:lnTo>
                  <a:pt x="5143" y="2839"/>
                </a:lnTo>
                <a:lnTo>
                  <a:pt x="5142" y="2847"/>
                </a:lnTo>
                <a:lnTo>
                  <a:pt x="5142" y="2847"/>
                </a:lnTo>
                <a:lnTo>
                  <a:pt x="5136" y="2852"/>
                </a:lnTo>
                <a:lnTo>
                  <a:pt x="5129" y="2860"/>
                </a:lnTo>
                <a:lnTo>
                  <a:pt x="5122" y="2863"/>
                </a:lnTo>
                <a:lnTo>
                  <a:pt x="5114" y="2867"/>
                </a:lnTo>
                <a:lnTo>
                  <a:pt x="5114" y="2867"/>
                </a:lnTo>
                <a:lnTo>
                  <a:pt x="5107" y="2869"/>
                </a:lnTo>
                <a:lnTo>
                  <a:pt x="5104" y="2871"/>
                </a:lnTo>
                <a:lnTo>
                  <a:pt x="5102" y="2872"/>
                </a:lnTo>
                <a:lnTo>
                  <a:pt x="5102" y="2872"/>
                </a:lnTo>
                <a:lnTo>
                  <a:pt x="5098" y="2876"/>
                </a:lnTo>
                <a:lnTo>
                  <a:pt x="5094" y="2880"/>
                </a:lnTo>
                <a:lnTo>
                  <a:pt x="5094" y="2880"/>
                </a:lnTo>
                <a:lnTo>
                  <a:pt x="5094" y="2878"/>
                </a:lnTo>
                <a:lnTo>
                  <a:pt x="5094" y="2878"/>
                </a:lnTo>
                <a:lnTo>
                  <a:pt x="5094" y="2882"/>
                </a:lnTo>
                <a:lnTo>
                  <a:pt x="5093" y="2885"/>
                </a:lnTo>
                <a:lnTo>
                  <a:pt x="5087" y="2889"/>
                </a:lnTo>
                <a:lnTo>
                  <a:pt x="5082" y="2891"/>
                </a:lnTo>
                <a:lnTo>
                  <a:pt x="5076" y="2894"/>
                </a:lnTo>
                <a:lnTo>
                  <a:pt x="5076" y="2894"/>
                </a:lnTo>
                <a:lnTo>
                  <a:pt x="5071" y="2902"/>
                </a:lnTo>
                <a:lnTo>
                  <a:pt x="5069" y="2907"/>
                </a:lnTo>
                <a:lnTo>
                  <a:pt x="5069" y="2911"/>
                </a:lnTo>
                <a:lnTo>
                  <a:pt x="5069" y="2911"/>
                </a:lnTo>
                <a:lnTo>
                  <a:pt x="5073" y="2915"/>
                </a:lnTo>
                <a:lnTo>
                  <a:pt x="5075" y="2916"/>
                </a:lnTo>
                <a:lnTo>
                  <a:pt x="5084" y="2916"/>
                </a:lnTo>
                <a:lnTo>
                  <a:pt x="5084" y="2916"/>
                </a:lnTo>
                <a:lnTo>
                  <a:pt x="5085" y="2918"/>
                </a:lnTo>
                <a:lnTo>
                  <a:pt x="5089" y="2920"/>
                </a:lnTo>
                <a:lnTo>
                  <a:pt x="5093" y="2926"/>
                </a:lnTo>
                <a:lnTo>
                  <a:pt x="5093" y="2926"/>
                </a:lnTo>
                <a:lnTo>
                  <a:pt x="5098" y="2929"/>
                </a:lnTo>
                <a:lnTo>
                  <a:pt x="5107" y="2931"/>
                </a:lnTo>
                <a:lnTo>
                  <a:pt x="5107" y="2931"/>
                </a:lnTo>
                <a:lnTo>
                  <a:pt x="5116" y="2929"/>
                </a:lnTo>
                <a:lnTo>
                  <a:pt x="5123" y="2927"/>
                </a:lnTo>
                <a:lnTo>
                  <a:pt x="5131" y="2924"/>
                </a:lnTo>
                <a:lnTo>
                  <a:pt x="5133" y="2920"/>
                </a:lnTo>
                <a:lnTo>
                  <a:pt x="5133" y="2916"/>
                </a:lnTo>
                <a:lnTo>
                  <a:pt x="5133" y="2916"/>
                </a:lnTo>
                <a:lnTo>
                  <a:pt x="5134" y="2900"/>
                </a:lnTo>
                <a:lnTo>
                  <a:pt x="5134" y="2893"/>
                </a:lnTo>
                <a:lnTo>
                  <a:pt x="5136" y="2885"/>
                </a:lnTo>
                <a:lnTo>
                  <a:pt x="5136" y="2885"/>
                </a:lnTo>
                <a:lnTo>
                  <a:pt x="5143" y="2878"/>
                </a:lnTo>
                <a:lnTo>
                  <a:pt x="5151" y="2874"/>
                </a:lnTo>
                <a:lnTo>
                  <a:pt x="5151" y="2874"/>
                </a:lnTo>
                <a:lnTo>
                  <a:pt x="5158" y="2872"/>
                </a:lnTo>
                <a:lnTo>
                  <a:pt x="5161" y="2871"/>
                </a:lnTo>
                <a:lnTo>
                  <a:pt x="5163" y="2867"/>
                </a:lnTo>
                <a:lnTo>
                  <a:pt x="5163" y="2867"/>
                </a:lnTo>
                <a:lnTo>
                  <a:pt x="5165" y="2863"/>
                </a:lnTo>
                <a:lnTo>
                  <a:pt x="5165" y="2860"/>
                </a:lnTo>
                <a:lnTo>
                  <a:pt x="5163" y="2856"/>
                </a:lnTo>
                <a:lnTo>
                  <a:pt x="5165" y="2852"/>
                </a:lnTo>
                <a:lnTo>
                  <a:pt x="5165" y="2852"/>
                </a:lnTo>
                <a:lnTo>
                  <a:pt x="5167" y="2849"/>
                </a:lnTo>
                <a:lnTo>
                  <a:pt x="5169" y="2845"/>
                </a:lnTo>
                <a:lnTo>
                  <a:pt x="5176" y="2839"/>
                </a:lnTo>
                <a:lnTo>
                  <a:pt x="5176" y="2839"/>
                </a:lnTo>
                <a:lnTo>
                  <a:pt x="5183" y="2834"/>
                </a:lnTo>
                <a:lnTo>
                  <a:pt x="5187" y="2830"/>
                </a:lnTo>
                <a:lnTo>
                  <a:pt x="5189" y="2827"/>
                </a:lnTo>
                <a:lnTo>
                  <a:pt x="5189" y="2827"/>
                </a:lnTo>
                <a:lnTo>
                  <a:pt x="5189" y="2823"/>
                </a:lnTo>
                <a:lnTo>
                  <a:pt x="5187" y="2817"/>
                </a:lnTo>
                <a:lnTo>
                  <a:pt x="5181" y="2810"/>
                </a:lnTo>
                <a:lnTo>
                  <a:pt x="5181" y="2810"/>
                </a:lnTo>
                <a:lnTo>
                  <a:pt x="5174" y="2805"/>
                </a:lnTo>
                <a:lnTo>
                  <a:pt x="5161" y="2805"/>
                </a:lnTo>
                <a:lnTo>
                  <a:pt x="5161" y="2805"/>
                </a:lnTo>
                <a:close/>
                <a:moveTo>
                  <a:pt x="5236" y="2742"/>
                </a:moveTo>
                <a:lnTo>
                  <a:pt x="5236" y="2742"/>
                </a:lnTo>
                <a:lnTo>
                  <a:pt x="5227" y="2740"/>
                </a:lnTo>
                <a:lnTo>
                  <a:pt x="5218" y="2737"/>
                </a:lnTo>
                <a:lnTo>
                  <a:pt x="5218" y="2737"/>
                </a:lnTo>
                <a:lnTo>
                  <a:pt x="5214" y="2733"/>
                </a:lnTo>
                <a:lnTo>
                  <a:pt x="5212" y="2726"/>
                </a:lnTo>
                <a:lnTo>
                  <a:pt x="5212" y="2726"/>
                </a:lnTo>
                <a:lnTo>
                  <a:pt x="5210" y="2718"/>
                </a:lnTo>
                <a:lnTo>
                  <a:pt x="5207" y="2713"/>
                </a:lnTo>
                <a:lnTo>
                  <a:pt x="5201" y="2709"/>
                </a:lnTo>
                <a:lnTo>
                  <a:pt x="5198" y="2702"/>
                </a:lnTo>
                <a:lnTo>
                  <a:pt x="5198" y="2702"/>
                </a:lnTo>
                <a:lnTo>
                  <a:pt x="5196" y="2696"/>
                </a:lnTo>
                <a:lnTo>
                  <a:pt x="5194" y="2687"/>
                </a:lnTo>
                <a:lnTo>
                  <a:pt x="5192" y="2680"/>
                </a:lnTo>
                <a:lnTo>
                  <a:pt x="5189" y="2674"/>
                </a:lnTo>
                <a:lnTo>
                  <a:pt x="5189" y="2674"/>
                </a:lnTo>
                <a:lnTo>
                  <a:pt x="5181" y="2671"/>
                </a:lnTo>
                <a:lnTo>
                  <a:pt x="5176" y="2671"/>
                </a:lnTo>
                <a:lnTo>
                  <a:pt x="5172" y="2671"/>
                </a:lnTo>
                <a:lnTo>
                  <a:pt x="5172" y="2671"/>
                </a:lnTo>
                <a:lnTo>
                  <a:pt x="5171" y="2672"/>
                </a:lnTo>
                <a:lnTo>
                  <a:pt x="5171" y="2672"/>
                </a:lnTo>
                <a:lnTo>
                  <a:pt x="5171" y="2678"/>
                </a:lnTo>
                <a:lnTo>
                  <a:pt x="5174" y="2682"/>
                </a:lnTo>
                <a:lnTo>
                  <a:pt x="5180" y="2689"/>
                </a:lnTo>
                <a:lnTo>
                  <a:pt x="5180" y="2689"/>
                </a:lnTo>
                <a:lnTo>
                  <a:pt x="5185" y="2696"/>
                </a:lnTo>
                <a:lnTo>
                  <a:pt x="5189" y="2707"/>
                </a:lnTo>
                <a:lnTo>
                  <a:pt x="5192" y="2729"/>
                </a:lnTo>
                <a:lnTo>
                  <a:pt x="5192" y="2729"/>
                </a:lnTo>
                <a:lnTo>
                  <a:pt x="5192" y="2737"/>
                </a:lnTo>
                <a:lnTo>
                  <a:pt x="5192" y="2740"/>
                </a:lnTo>
                <a:lnTo>
                  <a:pt x="5190" y="2744"/>
                </a:lnTo>
                <a:lnTo>
                  <a:pt x="5190" y="2744"/>
                </a:lnTo>
                <a:lnTo>
                  <a:pt x="5185" y="2751"/>
                </a:lnTo>
                <a:lnTo>
                  <a:pt x="5183" y="2755"/>
                </a:lnTo>
                <a:lnTo>
                  <a:pt x="5183" y="2760"/>
                </a:lnTo>
                <a:lnTo>
                  <a:pt x="5183" y="2760"/>
                </a:lnTo>
                <a:lnTo>
                  <a:pt x="5185" y="2766"/>
                </a:lnTo>
                <a:lnTo>
                  <a:pt x="5187" y="2772"/>
                </a:lnTo>
                <a:lnTo>
                  <a:pt x="5194" y="2783"/>
                </a:lnTo>
                <a:lnTo>
                  <a:pt x="5194" y="2783"/>
                </a:lnTo>
                <a:lnTo>
                  <a:pt x="5200" y="2784"/>
                </a:lnTo>
                <a:lnTo>
                  <a:pt x="5201" y="2788"/>
                </a:lnTo>
                <a:lnTo>
                  <a:pt x="5201" y="2788"/>
                </a:lnTo>
                <a:lnTo>
                  <a:pt x="5200" y="2794"/>
                </a:lnTo>
                <a:lnTo>
                  <a:pt x="5198" y="2799"/>
                </a:lnTo>
                <a:lnTo>
                  <a:pt x="5198" y="2799"/>
                </a:lnTo>
                <a:lnTo>
                  <a:pt x="5200" y="2803"/>
                </a:lnTo>
                <a:lnTo>
                  <a:pt x="5203" y="2808"/>
                </a:lnTo>
                <a:lnTo>
                  <a:pt x="5207" y="2810"/>
                </a:lnTo>
                <a:lnTo>
                  <a:pt x="5212" y="2810"/>
                </a:lnTo>
                <a:lnTo>
                  <a:pt x="5212" y="2810"/>
                </a:lnTo>
                <a:lnTo>
                  <a:pt x="5218" y="2806"/>
                </a:lnTo>
                <a:lnTo>
                  <a:pt x="5221" y="2801"/>
                </a:lnTo>
                <a:lnTo>
                  <a:pt x="5225" y="2788"/>
                </a:lnTo>
                <a:lnTo>
                  <a:pt x="5225" y="2788"/>
                </a:lnTo>
                <a:lnTo>
                  <a:pt x="5230" y="2779"/>
                </a:lnTo>
                <a:lnTo>
                  <a:pt x="5238" y="2772"/>
                </a:lnTo>
                <a:lnTo>
                  <a:pt x="5238" y="2772"/>
                </a:lnTo>
                <a:lnTo>
                  <a:pt x="5247" y="2759"/>
                </a:lnTo>
                <a:lnTo>
                  <a:pt x="5250" y="2753"/>
                </a:lnTo>
                <a:lnTo>
                  <a:pt x="5252" y="2749"/>
                </a:lnTo>
                <a:lnTo>
                  <a:pt x="5250" y="2746"/>
                </a:lnTo>
                <a:lnTo>
                  <a:pt x="5250" y="2746"/>
                </a:lnTo>
                <a:lnTo>
                  <a:pt x="5248" y="2742"/>
                </a:lnTo>
                <a:lnTo>
                  <a:pt x="5245" y="2742"/>
                </a:lnTo>
                <a:lnTo>
                  <a:pt x="5236" y="2742"/>
                </a:lnTo>
                <a:lnTo>
                  <a:pt x="5236" y="2742"/>
                </a:lnTo>
                <a:close/>
                <a:moveTo>
                  <a:pt x="859" y="226"/>
                </a:moveTo>
                <a:lnTo>
                  <a:pt x="859" y="226"/>
                </a:lnTo>
                <a:lnTo>
                  <a:pt x="866" y="224"/>
                </a:lnTo>
                <a:lnTo>
                  <a:pt x="870" y="222"/>
                </a:lnTo>
                <a:lnTo>
                  <a:pt x="871" y="220"/>
                </a:lnTo>
                <a:lnTo>
                  <a:pt x="871" y="220"/>
                </a:lnTo>
                <a:lnTo>
                  <a:pt x="873" y="215"/>
                </a:lnTo>
                <a:lnTo>
                  <a:pt x="875" y="211"/>
                </a:lnTo>
                <a:lnTo>
                  <a:pt x="875" y="205"/>
                </a:lnTo>
                <a:lnTo>
                  <a:pt x="877" y="202"/>
                </a:lnTo>
                <a:lnTo>
                  <a:pt x="877" y="202"/>
                </a:lnTo>
                <a:lnTo>
                  <a:pt x="880" y="198"/>
                </a:lnTo>
                <a:lnTo>
                  <a:pt x="882" y="196"/>
                </a:lnTo>
                <a:lnTo>
                  <a:pt x="884" y="194"/>
                </a:lnTo>
                <a:lnTo>
                  <a:pt x="884" y="194"/>
                </a:lnTo>
                <a:lnTo>
                  <a:pt x="882" y="193"/>
                </a:lnTo>
                <a:lnTo>
                  <a:pt x="879" y="189"/>
                </a:lnTo>
                <a:lnTo>
                  <a:pt x="870" y="187"/>
                </a:lnTo>
                <a:lnTo>
                  <a:pt x="870" y="187"/>
                </a:lnTo>
                <a:lnTo>
                  <a:pt x="864" y="189"/>
                </a:lnTo>
                <a:lnTo>
                  <a:pt x="859" y="193"/>
                </a:lnTo>
                <a:lnTo>
                  <a:pt x="859" y="193"/>
                </a:lnTo>
                <a:lnTo>
                  <a:pt x="851" y="198"/>
                </a:lnTo>
                <a:lnTo>
                  <a:pt x="844" y="202"/>
                </a:lnTo>
                <a:lnTo>
                  <a:pt x="844" y="202"/>
                </a:lnTo>
                <a:lnTo>
                  <a:pt x="839" y="204"/>
                </a:lnTo>
                <a:lnTo>
                  <a:pt x="835" y="204"/>
                </a:lnTo>
                <a:lnTo>
                  <a:pt x="833" y="205"/>
                </a:lnTo>
                <a:lnTo>
                  <a:pt x="833" y="205"/>
                </a:lnTo>
                <a:lnTo>
                  <a:pt x="832" y="211"/>
                </a:lnTo>
                <a:lnTo>
                  <a:pt x="832" y="215"/>
                </a:lnTo>
                <a:lnTo>
                  <a:pt x="833" y="218"/>
                </a:lnTo>
                <a:lnTo>
                  <a:pt x="839" y="222"/>
                </a:lnTo>
                <a:lnTo>
                  <a:pt x="850" y="224"/>
                </a:lnTo>
                <a:lnTo>
                  <a:pt x="859" y="226"/>
                </a:lnTo>
                <a:lnTo>
                  <a:pt x="859" y="226"/>
                </a:lnTo>
                <a:close/>
                <a:moveTo>
                  <a:pt x="873" y="183"/>
                </a:moveTo>
                <a:lnTo>
                  <a:pt x="873" y="183"/>
                </a:lnTo>
                <a:lnTo>
                  <a:pt x="877" y="185"/>
                </a:lnTo>
                <a:lnTo>
                  <a:pt x="880" y="185"/>
                </a:lnTo>
                <a:lnTo>
                  <a:pt x="884" y="185"/>
                </a:lnTo>
                <a:lnTo>
                  <a:pt x="884" y="185"/>
                </a:lnTo>
                <a:lnTo>
                  <a:pt x="890" y="183"/>
                </a:lnTo>
                <a:lnTo>
                  <a:pt x="893" y="178"/>
                </a:lnTo>
                <a:lnTo>
                  <a:pt x="891" y="172"/>
                </a:lnTo>
                <a:lnTo>
                  <a:pt x="888" y="169"/>
                </a:lnTo>
                <a:lnTo>
                  <a:pt x="888" y="169"/>
                </a:lnTo>
                <a:lnTo>
                  <a:pt x="884" y="167"/>
                </a:lnTo>
                <a:lnTo>
                  <a:pt x="880" y="167"/>
                </a:lnTo>
                <a:lnTo>
                  <a:pt x="880" y="167"/>
                </a:lnTo>
                <a:lnTo>
                  <a:pt x="873" y="171"/>
                </a:lnTo>
                <a:lnTo>
                  <a:pt x="868" y="176"/>
                </a:lnTo>
                <a:lnTo>
                  <a:pt x="866" y="178"/>
                </a:lnTo>
                <a:lnTo>
                  <a:pt x="868" y="180"/>
                </a:lnTo>
                <a:lnTo>
                  <a:pt x="870" y="182"/>
                </a:lnTo>
                <a:lnTo>
                  <a:pt x="873" y="183"/>
                </a:lnTo>
                <a:lnTo>
                  <a:pt x="873" y="183"/>
                </a:lnTo>
                <a:close/>
                <a:moveTo>
                  <a:pt x="953" y="169"/>
                </a:moveTo>
                <a:lnTo>
                  <a:pt x="953" y="169"/>
                </a:lnTo>
                <a:lnTo>
                  <a:pt x="957" y="172"/>
                </a:lnTo>
                <a:lnTo>
                  <a:pt x="960" y="178"/>
                </a:lnTo>
                <a:lnTo>
                  <a:pt x="960" y="178"/>
                </a:lnTo>
                <a:lnTo>
                  <a:pt x="966" y="182"/>
                </a:lnTo>
                <a:lnTo>
                  <a:pt x="973" y="182"/>
                </a:lnTo>
                <a:lnTo>
                  <a:pt x="986" y="180"/>
                </a:lnTo>
                <a:lnTo>
                  <a:pt x="986" y="180"/>
                </a:lnTo>
                <a:lnTo>
                  <a:pt x="991" y="180"/>
                </a:lnTo>
                <a:lnTo>
                  <a:pt x="996" y="180"/>
                </a:lnTo>
                <a:lnTo>
                  <a:pt x="1000" y="182"/>
                </a:lnTo>
                <a:lnTo>
                  <a:pt x="1005" y="185"/>
                </a:lnTo>
                <a:lnTo>
                  <a:pt x="1005" y="185"/>
                </a:lnTo>
                <a:lnTo>
                  <a:pt x="1018" y="198"/>
                </a:lnTo>
                <a:lnTo>
                  <a:pt x="1025" y="204"/>
                </a:lnTo>
                <a:lnTo>
                  <a:pt x="1034" y="205"/>
                </a:lnTo>
                <a:lnTo>
                  <a:pt x="1034" y="205"/>
                </a:lnTo>
                <a:lnTo>
                  <a:pt x="1038" y="204"/>
                </a:lnTo>
                <a:lnTo>
                  <a:pt x="1040" y="200"/>
                </a:lnTo>
                <a:lnTo>
                  <a:pt x="1040" y="196"/>
                </a:lnTo>
                <a:lnTo>
                  <a:pt x="1038" y="193"/>
                </a:lnTo>
                <a:lnTo>
                  <a:pt x="1038" y="193"/>
                </a:lnTo>
                <a:lnTo>
                  <a:pt x="1034" y="187"/>
                </a:lnTo>
                <a:lnTo>
                  <a:pt x="1029" y="183"/>
                </a:lnTo>
                <a:lnTo>
                  <a:pt x="1016" y="178"/>
                </a:lnTo>
                <a:lnTo>
                  <a:pt x="1016" y="178"/>
                </a:lnTo>
                <a:lnTo>
                  <a:pt x="1009" y="172"/>
                </a:lnTo>
                <a:lnTo>
                  <a:pt x="1002" y="167"/>
                </a:lnTo>
                <a:lnTo>
                  <a:pt x="1002" y="167"/>
                </a:lnTo>
                <a:lnTo>
                  <a:pt x="993" y="163"/>
                </a:lnTo>
                <a:lnTo>
                  <a:pt x="976" y="158"/>
                </a:lnTo>
                <a:lnTo>
                  <a:pt x="960" y="156"/>
                </a:lnTo>
                <a:lnTo>
                  <a:pt x="953" y="156"/>
                </a:lnTo>
                <a:lnTo>
                  <a:pt x="948" y="158"/>
                </a:lnTo>
                <a:lnTo>
                  <a:pt x="948" y="158"/>
                </a:lnTo>
                <a:lnTo>
                  <a:pt x="946" y="160"/>
                </a:lnTo>
                <a:lnTo>
                  <a:pt x="946" y="163"/>
                </a:lnTo>
                <a:lnTo>
                  <a:pt x="946" y="163"/>
                </a:lnTo>
                <a:lnTo>
                  <a:pt x="948" y="167"/>
                </a:lnTo>
                <a:lnTo>
                  <a:pt x="953" y="169"/>
                </a:lnTo>
                <a:lnTo>
                  <a:pt x="953" y="169"/>
                </a:lnTo>
                <a:close/>
                <a:moveTo>
                  <a:pt x="1154" y="271"/>
                </a:moveTo>
                <a:lnTo>
                  <a:pt x="1154" y="271"/>
                </a:lnTo>
                <a:lnTo>
                  <a:pt x="1156" y="279"/>
                </a:lnTo>
                <a:lnTo>
                  <a:pt x="1158" y="286"/>
                </a:lnTo>
                <a:lnTo>
                  <a:pt x="1161" y="290"/>
                </a:lnTo>
                <a:lnTo>
                  <a:pt x="1167" y="293"/>
                </a:lnTo>
                <a:lnTo>
                  <a:pt x="1167" y="293"/>
                </a:lnTo>
                <a:lnTo>
                  <a:pt x="1174" y="295"/>
                </a:lnTo>
                <a:lnTo>
                  <a:pt x="1183" y="295"/>
                </a:lnTo>
                <a:lnTo>
                  <a:pt x="1183" y="295"/>
                </a:lnTo>
                <a:lnTo>
                  <a:pt x="1188" y="293"/>
                </a:lnTo>
                <a:lnTo>
                  <a:pt x="1192" y="293"/>
                </a:lnTo>
                <a:lnTo>
                  <a:pt x="1192" y="293"/>
                </a:lnTo>
                <a:lnTo>
                  <a:pt x="1198" y="297"/>
                </a:lnTo>
                <a:lnTo>
                  <a:pt x="1201" y="299"/>
                </a:lnTo>
                <a:lnTo>
                  <a:pt x="1201" y="299"/>
                </a:lnTo>
                <a:lnTo>
                  <a:pt x="1205" y="299"/>
                </a:lnTo>
                <a:lnTo>
                  <a:pt x="1207" y="299"/>
                </a:lnTo>
                <a:lnTo>
                  <a:pt x="1214" y="293"/>
                </a:lnTo>
                <a:lnTo>
                  <a:pt x="1225" y="284"/>
                </a:lnTo>
                <a:lnTo>
                  <a:pt x="1225" y="284"/>
                </a:lnTo>
                <a:lnTo>
                  <a:pt x="1230" y="281"/>
                </a:lnTo>
                <a:lnTo>
                  <a:pt x="1237" y="281"/>
                </a:lnTo>
                <a:lnTo>
                  <a:pt x="1243" y="282"/>
                </a:lnTo>
                <a:lnTo>
                  <a:pt x="1248" y="286"/>
                </a:lnTo>
                <a:lnTo>
                  <a:pt x="1248" y="286"/>
                </a:lnTo>
                <a:lnTo>
                  <a:pt x="1255" y="292"/>
                </a:lnTo>
                <a:lnTo>
                  <a:pt x="1261" y="295"/>
                </a:lnTo>
                <a:lnTo>
                  <a:pt x="1266" y="295"/>
                </a:lnTo>
                <a:lnTo>
                  <a:pt x="1275" y="293"/>
                </a:lnTo>
                <a:lnTo>
                  <a:pt x="1275" y="293"/>
                </a:lnTo>
                <a:lnTo>
                  <a:pt x="1281" y="290"/>
                </a:lnTo>
                <a:lnTo>
                  <a:pt x="1284" y="288"/>
                </a:lnTo>
                <a:lnTo>
                  <a:pt x="1288" y="288"/>
                </a:lnTo>
                <a:lnTo>
                  <a:pt x="1288" y="288"/>
                </a:lnTo>
                <a:lnTo>
                  <a:pt x="1294" y="292"/>
                </a:lnTo>
                <a:lnTo>
                  <a:pt x="1299" y="295"/>
                </a:lnTo>
                <a:lnTo>
                  <a:pt x="1299" y="295"/>
                </a:lnTo>
                <a:lnTo>
                  <a:pt x="1308" y="297"/>
                </a:lnTo>
                <a:lnTo>
                  <a:pt x="1321" y="295"/>
                </a:lnTo>
                <a:lnTo>
                  <a:pt x="1332" y="292"/>
                </a:lnTo>
                <a:lnTo>
                  <a:pt x="1335" y="290"/>
                </a:lnTo>
                <a:lnTo>
                  <a:pt x="1337" y="286"/>
                </a:lnTo>
                <a:lnTo>
                  <a:pt x="1337" y="286"/>
                </a:lnTo>
                <a:lnTo>
                  <a:pt x="1339" y="277"/>
                </a:lnTo>
                <a:lnTo>
                  <a:pt x="1337" y="271"/>
                </a:lnTo>
                <a:lnTo>
                  <a:pt x="1332" y="266"/>
                </a:lnTo>
                <a:lnTo>
                  <a:pt x="1324" y="262"/>
                </a:lnTo>
                <a:lnTo>
                  <a:pt x="1324" y="262"/>
                </a:lnTo>
                <a:lnTo>
                  <a:pt x="1308" y="262"/>
                </a:lnTo>
                <a:lnTo>
                  <a:pt x="1308" y="262"/>
                </a:lnTo>
                <a:lnTo>
                  <a:pt x="1301" y="260"/>
                </a:lnTo>
                <a:lnTo>
                  <a:pt x="1294" y="259"/>
                </a:lnTo>
                <a:lnTo>
                  <a:pt x="1294" y="259"/>
                </a:lnTo>
                <a:lnTo>
                  <a:pt x="1288" y="259"/>
                </a:lnTo>
                <a:lnTo>
                  <a:pt x="1284" y="259"/>
                </a:lnTo>
                <a:lnTo>
                  <a:pt x="1277" y="260"/>
                </a:lnTo>
                <a:lnTo>
                  <a:pt x="1277" y="260"/>
                </a:lnTo>
                <a:lnTo>
                  <a:pt x="1272" y="262"/>
                </a:lnTo>
                <a:lnTo>
                  <a:pt x="1266" y="262"/>
                </a:lnTo>
                <a:lnTo>
                  <a:pt x="1254" y="260"/>
                </a:lnTo>
                <a:lnTo>
                  <a:pt x="1254" y="260"/>
                </a:lnTo>
                <a:lnTo>
                  <a:pt x="1248" y="260"/>
                </a:lnTo>
                <a:lnTo>
                  <a:pt x="1243" y="262"/>
                </a:lnTo>
                <a:lnTo>
                  <a:pt x="1232" y="268"/>
                </a:lnTo>
                <a:lnTo>
                  <a:pt x="1232" y="268"/>
                </a:lnTo>
                <a:lnTo>
                  <a:pt x="1225" y="270"/>
                </a:lnTo>
                <a:lnTo>
                  <a:pt x="1216" y="271"/>
                </a:lnTo>
                <a:lnTo>
                  <a:pt x="1208" y="271"/>
                </a:lnTo>
                <a:lnTo>
                  <a:pt x="1201" y="268"/>
                </a:lnTo>
                <a:lnTo>
                  <a:pt x="1201" y="268"/>
                </a:lnTo>
                <a:lnTo>
                  <a:pt x="1196" y="264"/>
                </a:lnTo>
                <a:lnTo>
                  <a:pt x="1196" y="264"/>
                </a:lnTo>
                <a:lnTo>
                  <a:pt x="1188" y="262"/>
                </a:lnTo>
                <a:lnTo>
                  <a:pt x="1188" y="262"/>
                </a:lnTo>
                <a:lnTo>
                  <a:pt x="1187" y="259"/>
                </a:lnTo>
                <a:lnTo>
                  <a:pt x="1185" y="255"/>
                </a:lnTo>
                <a:lnTo>
                  <a:pt x="1183" y="248"/>
                </a:lnTo>
                <a:lnTo>
                  <a:pt x="1183" y="248"/>
                </a:lnTo>
                <a:lnTo>
                  <a:pt x="1179" y="242"/>
                </a:lnTo>
                <a:lnTo>
                  <a:pt x="1176" y="240"/>
                </a:lnTo>
                <a:lnTo>
                  <a:pt x="1170" y="240"/>
                </a:lnTo>
                <a:lnTo>
                  <a:pt x="1165" y="238"/>
                </a:lnTo>
                <a:lnTo>
                  <a:pt x="1165" y="238"/>
                </a:lnTo>
                <a:lnTo>
                  <a:pt x="1159" y="233"/>
                </a:lnTo>
                <a:lnTo>
                  <a:pt x="1156" y="231"/>
                </a:lnTo>
                <a:lnTo>
                  <a:pt x="1152" y="231"/>
                </a:lnTo>
                <a:lnTo>
                  <a:pt x="1152" y="231"/>
                </a:lnTo>
                <a:lnTo>
                  <a:pt x="1147" y="231"/>
                </a:lnTo>
                <a:lnTo>
                  <a:pt x="1140" y="233"/>
                </a:lnTo>
                <a:lnTo>
                  <a:pt x="1140" y="233"/>
                </a:lnTo>
                <a:lnTo>
                  <a:pt x="1136" y="233"/>
                </a:lnTo>
                <a:lnTo>
                  <a:pt x="1134" y="231"/>
                </a:lnTo>
                <a:lnTo>
                  <a:pt x="1132" y="229"/>
                </a:lnTo>
                <a:lnTo>
                  <a:pt x="1130" y="226"/>
                </a:lnTo>
                <a:lnTo>
                  <a:pt x="1130" y="226"/>
                </a:lnTo>
                <a:lnTo>
                  <a:pt x="1123" y="224"/>
                </a:lnTo>
                <a:lnTo>
                  <a:pt x="1116" y="222"/>
                </a:lnTo>
                <a:lnTo>
                  <a:pt x="1107" y="224"/>
                </a:lnTo>
                <a:lnTo>
                  <a:pt x="1100" y="227"/>
                </a:lnTo>
                <a:lnTo>
                  <a:pt x="1100" y="227"/>
                </a:lnTo>
                <a:lnTo>
                  <a:pt x="1098" y="229"/>
                </a:lnTo>
                <a:lnTo>
                  <a:pt x="1098" y="229"/>
                </a:lnTo>
                <a:lnTo>
                  <a:pt x="1096" y="233"/>
                </a:lnTo>
                <a:lnTo>
                  <a:pt x="1098" y="235"/>
                </a:lnTo>
                <a:lnTo>
                  <a:pt x="1102" y="238"/>
                </a:lnTo>
                <a:lnTo>
                  <a:pt x="1107" y="240"/>
                </a:lnTo>
                <a:lnTo>
                  <a:pt x="1112" y="240"/>
                </a:lnTo>
                <a:lnTo>
                  <a:pt x="1112" y="240"/>
                </a:lnTo>
                <a:lnTo>
                  <a:pt x="1134" y="240"/>
                </a:lnTo>
                <a:lnTo>
                  <a:pt x="1145" y="244"/>
                </a:lnTo>
                <a:lnTo>
                  <a:pt x="1149" y="246"/>
                </a:lnTo>
                <a:lnTo>
                  <a:pt x="1152" y="249"/>
                </a:lnTo>
                <a:lnTo>
                  <a:pt x="1152" y="249"/>
                </a:lnTo>
                <a:lnTo>
                  <a:pt x="1154" y="253"/>
                </a:lnTo>
                <a:lnTo>
                  <a:pt x="1154" y="260"/>
                </a:lnTo>
                <a:lnTo>
                  <a:pt x="1154" y="271"/>
                </a:lnTo>
                <a:lnTo>
                  <a:pt x="1154" y="271"/>
                </a:lnTo>
                <a:close/>
                <a:moveTo>
                  <a:pt x="1241" y="605"/>
                </a:moveTo>
                <a:lnTo>
                  <a:pt x="1241" y="605"/>
                </a:lnTo>
                <a:lnTo>
                  <a:pt x="1237" y="609"/>
                </a:lnTo>
                <a:lnTo>
                  <a:pt x="1237" y="613"/>
                </a:lnTo>
                <a:lnTo>
                  <a:pt x="1239" y="616"/>
                </a:lnTo>
                <a:lnTo>
                  <a:pt x="1243" y="620"/>
                </a:lnTo>
                <a:lnTo>
                  <a:pt x="1248" y="624"/>
                </a:lnTo>
                <a:lnTo>
                  <a:pt x="1252" y="624"/>
                </a:lnTo>
                <a:lnTo>
                  <a:pt x="1257" y="624"/>
                </a:lnTo>
                <a:lnTo>
                  <a:pt x="1261" y="622"/>
                </a:lnTo>
                <a:lnTo>
                  <a:pt x="1261" y="622"/>
                </a:lnTo>
                <a:lnTo>
                  <a:pt x="1265" y="618"/>
                </a:lnTo>
                <a:lnTo>
                  <a:pt x="1266" y="614"/>
                </a:lnTo>
                <a:lnTo>
                  <a:pt x="1266" y="605"/>
                </a:lnTo>
                <a:lnTo>
                  <a:pt x="1266" y="602"/>
                </a:lnTo>
                <a:lnTo>
                  <a:pt x="1268" y="598"/>
                </a:lnTo>
                <a:lnTo>
                  <a:pt x="1272" y="596"/>
                </a:lnTo>
                <a:lnTo>
                  <a:pt x="1277" y="596"/>
                </a:lnTo>
                <a:lnTo>
                  <a:pt x="1277" y="596"/>
                </a:lnTo>
                <a:lnTo>
                  <a:pt x="1279" y="598"/>
                </a:lnTo>
                <a:lnTo>
                  <a:pt x="1281" y="603"/>
                </a:lnTo>
                <a:lnTo>
                  <a:pt x="1283" y="611"/>
                </a:lnTo>
                <a:lnTo>
                  <a:pt x="1284" y="614"/>
                </a:lnTo>
                <a:lnTo>
                  <a:pt x="1284" y="614"/>
                </a:lnTo>
                <a:lnTo>
                  <a:pt x="1292" y="618"/>
                </a:lnTo>
                <a:lnTo>
                  <a:pt x="1299" y="618"/>
                </a:lnTo>
                <a:lnTo>
                  <a:pt x="1299" y="618"/>
                </a:lnTo>
                <a:lnTo>
                  <a:pt x="1303" y="618"/>
                </a:lnTo>
                <a:lnTo>
                  <a:pt x="1308" y="618"/>
                </a:lnTo>
                <a:lnTo>
                  <a:pt x="1308" y="618"/>
                </a:lnTo>
                <a:lnTo>
                  <a:pt x="1308" y="614"/>
                </a:lnTo>
                <a:lnTo>
                  <a:pt x="1308" y="611"/>
                </a:lnTo>
                <a:lnTo>
                  <a:pt x="1308" y="607"/>
                </a:lnTo>
                <a:lnTo>
                  <a:pt x="1304" y="605"/>
                </a:lnTo>
                <a:lnTo>
                  <a:pt x="1304" y="605"/>
                </a:lnTo>
                <a:lnTo>
                  <a:pt x="1303" y="605"/>
                </a:lnTo>
                <a:lnTo>
                  <a:pt x="1299" y="603"/>
                </a:lnTo>
                <a:lnTo>
                  <a:pt x="1299" y="603"/>
                </a:lnTo>
                <a:lnTo>
                  <a:pt x="1292" y="600"/>
                </a:lnTo>
                <a:lnTo>
                  <a:pt x="1288" y="594"/>
                </a:lnTo>
                <a:lnTo>
                  <a:pt x="1288" y="594"/>
                </a:lnTo>
                <a:lnTo>
                  <a:pt x="1279" y="583"/>
                </a:lnTo>
                <a:lnTo>
                  <a:pt x="1274" y="578"/>
                </a:lnTo>
                <a:lnTo>
                  <a:pt x="1268" y="574"/>
                </a:lnTo>
                <a:lnTo>
                  <a:pt x="1268" y="574"/>
                </a:lnTo>
                <a:lnTo>
                  <a:pt x="1261" y="574"/>
                </a:lnTo>
                <a:lnTo>
                  <a:pt x="1252" y="578"/>
                </a:lnTo>
                <a:lnTo>
                  <a:pt x="1252" y="578"/>
                </a:lnTo>
                <a:lnTo>
                  <a:pt x="1246" y="581"/>
                </a:lnTo>
                <a:lnTo>
                  <a:pt x="1246" y="581"/>
                </a:lnTo>
                <a:lnTo>
                  <a:pt x="1245" y="585"/>
                </a:lnTo>
                <a:lnTo>
                  <a:pt x="1246" y="589"/>
                </a:lnTo>
                <a:lnTo>
                  <a:pt x="1248" y="596"/>
                </a:lnTo>
                <a:lnTo>
                  <a:pt x="1248" y="596"/>
                </a:lnTo>
                <a:lnTo>
                  <a:pt x="1248" y="600"/>
                </a:lnTo>
                <a:lnTo>
                  <a:pt x="1246" y="602"/>
                </a:lnTo>
                <a:lnTo>
                  <a:pt x="1241" y="605"/>
                </a:lnTo>
                <a:lnTo>
                  <a:pt x="1241" y="605"/>
                </a:lnTo>
                <a:close/>
                <a:moveTo>
                  <a:pt x="1625" y="539"/>
                </a:moveTo>
                <a:lnTo>
                  <a:pt x="1625" y="539"/>
                </a:lnTo>
                <a:lnTo>
                  <a:pt x="1625" y="534"/>
                </a:lnTo>
                <a:lnTo>
                  <a:pt x="1625" y="528"/>
                </a:lnTo>
                <a:lnTo>
                  <a:pt x="1625" y="525"/>
                </a:lnTo>
                <a:lnTo>
                  <a:pt x="1621" y="521"/>
                </a:lnTo>
                <a:lnTo>
                  <a:pt x="1620" y="517"/>
                </a:lnTo>
                <a:lnTo>
                  <a:pt x="1614" y="515"/>
                </a:lnTo>
                <a:lnTo>
                  <a:pt x="1605" y="514"/>
                </a:lnTo>
                <a:lnTo>
                  <a:pt x="1605" y="514"/>
                </a:lnTo>
                <a:lnTo>
                  <a:pt x="1585" y="514"/>
                </a:lnTo>
                <a:lnTo>
                  <a:pt x="1576" y="512"/>
                </a:lnTo>
                <a:lnTo>
                  <a:pt x="1567" y="508"/>
                </a:lnTo>
                <a:lnTo>
                  <a:pt x="1567" y="508"/>
                </a:lnTo>
                <a:lnTo>
                  <a:pt x="1549" y="499"/>
                </a:lnTo>
                <a:lnTo>
                  <a:pt x="1540" y="495"/>
                </a:lnTo>
                <a:lnTo>
                  <a:pt x="1533" y="490"/>
                </a:lnTo>
                <a:lnTo>
                  <a:pt x="1533" y="490"/>
                </a:lnTo>
                <a:lnTo>
                  <a:pt x="1529" y="484"/>
                </a:lnTo>
                <a:lnTo>
                  <a:pt x="1525" y="479"/>
                </a:lnTo>
                <a:lnTo>
                  <a:pt x="1520" y="466"/>
                </a:lnTo>
                <a:lnTo>
                  <a:pt x="1515" y="453"/>
                </a:lnTo>
                <a:lnTo>
                  <a:pt x="1511" y="440"/>
                </a:lnTo>
                <a:lnTo>
                  <a:pt x="1511" y="440"/>
                </a:lnTo>
                <a:lnTo>
                  <a:pt x="1500" y="424"/>
                </a:lnTo>
                <a:lnTo>
                  <a:pt x="1495" y="416"/>
                </a:lnTo>
                <a:lnTo>
                  <a:pt x="1487" y="411"/>
                </a:lnTo>
                <a:lnTo>
                  <a:pt x="1487" y="411"/>
                </a:lnTo>
                <a:lnTo>
                  <a:pt x="1478" y="405"/>
                </a:lnTo>
                <a:lnTo>
                  <a:pt x="1467" y="402"/>
                </a:lnTo>
                <a:lnTo>
                  <a:pt x="1467" y="402"/>
                </a:lnTo>
                <a:lnTo>
                  <a:pt x="1457" y="398"/>
                </a:lnTo>
                <a:lnTo>
                  <a:pt x="1457" y="398"/>
                </a:lnTo>
                <a:lnTo>
                  <a:pt x="1451" y="396"/>
                </a:lnTo>
                <a:lnTo>
                  <a:pt x="1451" y="396"/>
                </a:lnTo>
                <a:lnTo>
                  <a:pt x="1451" y="393"/>
                </a:lnTo>
                <a:lnTo>
                  <a:pt x="1449" y="393"/>
                </a:lnTo>
                <a:lnTo>
                  <a:pt x="1451" y="394"/>
                </a:lnTo>
                <a:lnTo>
                  <a:pt x="1451" y="394"/>
                </a:lnTo>
                <a:lnTo>
                  <a:pt x="1446" y="391"/>
                </a:lnTo>
                <a:lnTo>
                  <a:pt x="1442" y="385"/>
                </a:lnTo>
                <a:lnTo>
                  <a:pt x="1433" y="374"/>
                </a:lnTo>
                <a:lnTo>
                  <a:pt x="1433" y="374"/>
                </a:lnTo>
                <a:lnTo>
                  <a:pt x="1428" y="369"/>
                </a:lnTo>
                <a:lnTo>
                  <a:pt x="1420" y="367"/>
                </a:lnTo>
                <a:lnTo>
                  <a:pt x="1404" y="363"/>
                </a:lnTo>
                <a:lnTo>
                  <a:pt x="1404" y="363"/>
                </a:lnTo>
                <a:lnTo>
                  <a:pt x="1391" y="361"/>
                </a:lnTo>
                <a:lnTo>
                  <a:pt x="1375" y="358"/>
                </a:lnTo>
                <a:lnTo>
                  <a:pt x="1368" y="356"/>
                </a:lnTo>
                <a:lnTo>
                  <a:pt x="1362" y="350"/>
                </a:lnTo>
                <a:lnTo>
                  <a:pt x="1361" y="345"/>
                </a:lnTo>
                <a:lnTo>
                  <a:pt x="1364" y="337"/>
                </a:lnTo>
                <a:lnTo>
                  <a:pt x="1364" y="337"/>
                </a:lnTo>
                <a:lnTo>
                  <a:pt x="1370" y="332"/>
                </a:lnTo>
                <a:lnTo>
                  <a:pt x="1371" y="328"/>
                </a:lnTo>
                <a:lnTo>
                  <a:pt x="1373" y="325"/>
                </a:lnTo>
                <a:lnTo>
                  <a:pt x="1373" y="325"/>
                </a:lnTo>
                <a:lnTo>
                  <a:pt x="1371" y="321"/>
                </a:lnTo>
                <a:lnTo>
                  <a:pt x="1370" y="319"/>
                </a:lnTo>
                <a:lnTo>
                  <a:pt x="1362" y="317"/>
                </a:lnTo>
                <a:lnTo>
                  <a:pt x="1355" y="317"/>
                </a:lnTo>
                <a:lnTo>
                  <a:pt x="1350" y="319"/>
                </a:lnTo>
                <a:lnTo>
                  <a:pt x="1350" y="319"/>
                </a:lnTo>
                <a:lnTo>
                  <a:pt x="1339" y="323"/>
                </a:lnTo>
                <a:lnTo>
                  <a:pt x="1326" y="325"/>
                </a:lnTo>
                <a:lnTo>
                  <a:pt x="1326" y="325"/>
                </a:lnTo>
                <a:lnTo>
                  <a:pt x="1317" y="325"/>
                </a:lnTo>
                <a:lnTo>
                  <a:pt x="1306" y="325"/>
                </a:lnTo>
                <a:lnTo>
                  <a:pt x="1306" y="325"/>
                </a:lnTo>
                <a:lnTo>
                  <a:pt x="1295" y="325"/>
                </a:lnTo>
                <a:lnTo>
                  <a:pt x="1283" y="326"/>
                </a:lnTo>
                <a:lnTo>
                  <a:pt x="1272" y="332"/>
                </a:lnTo>
                <a:lnTo>
                  <a:pt x="1266" y="334"/>
                </a:lnTo>
                <a:lnTo>
                  <a:pt x="1265" y="339"/>
                </a:lnTo>
                <a:lnTo>
                  <a:pt x="1265" y="339"/>
                </a:lnTo>
                <a:lnTo>
                  <a:pt x="1263" y="345"/>
                </a:lnTo>
                <a:lnTo>
                  <a:pt x="1265" y="352"/>
                </a:lnTo>
                <a:lnTo>
                  <a:pt x="1268" y="367"/>
                </a:lnTo>
                <a:lnTo>
                  <a:pt x="1268" y="367"/>
                </a:lnTo>
                <a:lnTo>
                  <a:pt x="1272" y="380"/>
                </a:lnTo>
                <a:lnTo>
                  <a:pt x="1272" y="387"/>
                </a:lnTo>
                <a:lnTo>
                  <a:pt x="1272" y="389"/>
                </a:lnTo>
                <a:lnTo>
                  <a:pt x="1270" y="391"/>
                </a:lnTo>
                <a:lnTo>
                  <a:pt x="1270" y="391"/>
                </a:lnTo>
                <a:lnTo>
                  <a:pt x="1265" y="393"/>
                </a:lnTo>
                <a:lnTo>
                  <a:pt x="1259" y="391"/>
                </a:lnTo>
                <a:lnTo>
                  <a:pt x="1254" y="389"/>
                </a:lnTo>
                <a:lnTo>
                  <a:pt x="1250" y="385"/>
                </a:lnTo>
                <a:lnTo>
                  <a:pt x="1250" y="385"/>
                </a:lnTo>
                <a:lnTo>
                  <a:pt x="1248" y="380"/>
                </a:lnTo>
                <a:lnTo>
                  <a:pt x="1246" y="372"/>
                </a:lnTo>
                <a:lnTo>
                  <a:pt x="1246" y="360"/>
                </a:lnTo>
                <a:lnTo>
                  <a:pt x="1246" y="360"/>
                </a:lnTo>
                <a:lnTo>
                  <a:pt x="1248" y="341"/>
                </a:lnTo>
                <a:lnTo>
                  <a:pt x="1248" y="330"/>
                </a:lnTo>
                <a:lnTo>
                  <a:pt x="1245" y="326"/>
                </a:lnTo>
                <a:lnTo>
                  <a:pt x="1243" y="323"/>
                </a:lnTo>
                <a:lnTo>
                  <a:pt x="1243" y="323"/>
                </a:lnTo>
                <a:lnTo>
                  <a:pt x="1237" y="321"/>
                </a:lnTo>
                <a:lnTo>
                  <a:pt x="1234" y="321"/>
                </a:lnTo>
                <a:lnTo>
                  <a:pt x="1228" y="321"/>
                </a:lnTo>
                <a:lnTo>
                  <a:pt x="1225" y="323"/>
                </a:lnTo>
                <a:lnTo>
                  <a:pt x="1219" y="330"/>
                </a:lnTo>
                <a:lnTo>
                  <a:pt x="1214" y="337"/>
                </a:lnTo>
                <a:lnTo>
                  <a:pt x="1214" y="337"/>
                </a:lnTo>
                <a:lnTo>
                  <a:pt x="1207" y="349"/>
                </a:lnTo>
                <a:lnTo>
                  <a:pt x="1203" y="352"/>
                </a:lnTo>
                <a:lnTo>
                  <a:pt x="1199" y="360"/>
                </a:lnTo>
                <a:lnTo>
                  <a:pt x="1199" y="360"/>
                </a:lnTo>
                <a:lnTo>
                  <a:pt x="1196" y="374"/>
                </a:lnTo>
                <a:lnTo>
                  <a:pt x="1196" y="382"/>
                </a:lnTo>
                <a:lnTo>
                  <a:pt x="1196" y="385"/>
                </a:lnTo>
                <a:lnTo>
                  <a:pt x="1199" y="387"/>
                </a:lnTo>
                <a:lnTo>
                  <a:pt x="1199" y="387"/>
                </a:lnTo>
                <a:lnTo>
                  <a:pt x="1207" y="393"/>
                </a:lnTo>
                <a:lnTo>
                  <a:pt x="1208" y="394"/>
                </a:lnTo>
                <a:lnTo>
                  <a:pt x="1212" y="398"/>
                </a:lnTo>
                <a:lnTo>
                  <a:pt x="1212" y="398"/>
                </a:lnTo>
                <a:lnTo>
                  <a:pt x="1216" y="404"/>
                </a:lnTo>
                <a:lnTo>
                  <a:pt x="1217" y="411"/>
                </a:lnTo>
                <a:lnTo>
                  <a:pt x="1219" y="416"/>
                </a:lnTo>
                <a:lnTo>
                  <a:pt x="1225" y="420"/>
                </a:lnTo>
                <a:lnTo>
                  <a:pt x="1225" y="420"/>
                </a:lnTo>
                <a:lnTo>
                  <a:pt x="1232" y="426"/>
                </a:lnTo>
                <a:lnTo>
                  <a:pt x="1239" y="426"/>
                </a:lnTo>
                <a:lnTo>
                  <a:pt x="1246" y="424"/>
                </a:lnTo>
                <a:lnTo>
                  <a:pt x="1255" y="424"/>
                </a:lnTo>
                <a:lnTo>
                  <a:pt x="1255" y="424"/>
                </a:lnTo>
                <a:lnTo>
                  <a:pt x="1263" y="426"/>
                </a:lnTo>
                <a:lnTo>
                  <a:pt x="1268" y="429"/>
                </a:lnTo>
                <a:lnTo>
                  <a:pt x="1268" y="429"/>
                </a:lnTo>
                <a:lnTo>
                  <a:pt x="1275" y="431"/>
                </a:lnTo>
                <a:lnTo>
                  <a:pt x="1283" y="433"/>
                </a:lnTo>
                <a:lnTo>
                  <a:pt x="1283" y="433"/>
                </a:lnTo>
                <a:lnTo>
                  <a:pt x="1297" y="433"/>
                </a:lnTo>
                <a:lnTo>
                  <a:pt x="1297" y="433"/>
                </a:lnTo>
                <a:lnTo>
                  <a:pt x="1304" y="435"/>
                </a:lnTo>
                <a:lnTo>
                  <a:pt x="1313" y="437"/>
                </a:lnTo>
                <a:lnTo>
                  <a:pt x="1313" y="437"/>
                </a:lnTo>
                <a:lnTo>
                  <a:pt x="1319" y="435"/>
                </a:lnTo>
                <a:lnTo>
                  <a:pt x="1324" y="433"/>
                </a:lnTo>
                <a:lnTo>
                  <a:pt x="1333" y="427"/>
                </a:lnTo>
                <a:lnTo>
                  <a:pt x="1333" y="427"/>
                </a:lnTo>
                <a:lnTo>
                  <a:pt x="1341" y="426"/>
                </a:lnTo>
                <a:lnTo>
                  <a:pt x="1348" y="426"/>
                </a:lnTo>
                <a:lnTo>
                  <a:pt x="1362" y="426"/>
                </a:lnTo>
                <a:lnTo>
                  <a:pt x="1375" y="431"/>
                </a:lnTo>
                <a:lnTo>
                  <a:pt x="1388" y="435"/>
                </a:lnTo>
                <a:lnTo>
                  <a:pt x="1388" y="435"/>
                </a:lnTo>
                <a:lnTo>
                  <a:pt x="1399" y="440"/>
                </a:lnTo>
                <a:lnTo>
                  <a:pt x="1408" y="448"/>
                </a:lnTo>
                <a:lnTo>
                  <a:pt x="1417" y="453"/>
                </a:lnTo>
                <a:lnTo>
                  <a:pt x="1426" y="462"/>
                </a:lnTo>
                <a:lnTo>
                  <a:pt x="1433" y="471"/>
                </a:lnTo>
                <a:lnTo>
                  <a:pt x="1438" y="481"/>
                </a:lnTo>
                <a:lnTo>
                  <a:pt x="1442" y="492"/>
                </a:lnTo>
                <a:lnTo>
                  <a:pt x="1446" y="503"/>
                </a:lnTo>
                <a:lnTo>
                  <a:pt x="1446" y="503"/>
                </a:lnTo>
                <a:lnTo>
                  <a:pt x="1444" y="514"/>
                </a:lnTo>
                <a:lnTo>
                  <a:pt x="1442" y="525"/>
                </a:lnTo>
                <a:lnTo>
                  <a:pt x="1437" y="547"/>
                </a:lnTo>
                <a:lnTo>
                  <a:pt x="1437" y="547"/>
                </a:lnTo>
                <a:lnTo>
                  <a:pt x="1435" y="552"/>
                </a:lnTo>
                <a:lnTo>
                  <a:pt x="1433" y="559"/>
                </a:lnTo>
                <a:lnTo>
                  <a:pt x="1433" y="559"/>
                </a:lnTo>
                <a:lnTo>
                  <a:pt x="1435" y="563"/>
                </a:lnTo>
                <a:lnTo>
                  <a:pt x="1437" y="569"/>
                </a:lnTo>
                <a:lnTo>
                  <a:pt x="1437" y="569"/>
                </a:lnTo>
                <a:lnTo>
                  <a:pt x="1435" y="574"/>
                </a:lnTo>
                <a:lnTo>
                  <a:pt x="1431" y="580"/>
                </a:lnTo>
                <a:lnTo>
                  <a:pt x="1426" y="585"/>
                </a:lnTo>
                <a:lnTo>
                  <a:pt x="1422" y="589"/>
                </a:lnTo>
                <a:lnTo>
                  <a:pt x="1422" y="589"/>
                </a:lnTo>
                <a:lnTo>
                  <a:pt x="1415" y="591"/>
                </a:lnTo>
                <a:lnTo>
                  <a:pt x="1406" y="591"/>
                </a:lnTo>
                <a:lnTo>
                  <a:pt x="1390" y="591"/>
                </a:lnTo>
                <a:lnTo>
                  <a:pt x="1390" y="591"/>
                </a:lnTo>
                <a:lnTo>
                  <a:pt x="1377" y="591"/>
                </a:lnTo>
                <a:lnTo>
                  <a:pt x="1370" y="591"/>
                </a:lnTo>
                <a:lnTo>
                  <a:pt x="1364" y="594"/>
                </a:lnTo>
                <a:lnTo>
                  <a:pt x="1364" y="594"/>
                </a:lnTo>
                <a:lnTo>
                  <a:pt x="1362" y="596"/>
                </a:lnTo>
                <a:lnTo>
                  <a:pt x="1361" y="600"/>
                </a:lnTo>
                <a:lnTo>
                  <a:pt x="1361" y="607"/>
                </a:lnTo>
                <a:lnTo>
                  <a:pt x="1366" y="614"/>
                </a:lnTo>
                <a:lnTo>
                  <a:pt x="1371" y="620"/>
                </a:lnTo>
                <a:lnTo>
                  <a:pt x="1371" y="620"/>
                </a:lnTo>
                <a:lnTo>
                  <a:pt x="1379" y="622"/>
                </a:lnTo>
                <a:lnTo>
                  <a:pt x="1386" y="622"/>
                </a:lnTo>
                <a:lnTo>
                  <a:pt x="1400" y="618"/>
                </a:lnTo>
                <a:lnTo>
                  <a:pt x="1415" y="614"/>
                </a:lnTo>
                <a:lnTo>
                  <a:pt x="1422" y="616"/>
                </a:lnTo>
                <a:lnTo>
                  <a:pt x="1429" y="618"/>
                </a:lnTo>
                <a:lnTo>
                  <a:pt x="1429" y="618"/>
                </a:lnTo>
                <a:lnTo>
                  <a:pt x="1438" y="627"/>
                </a:lnTo>
                <a:lnTo>
                  <a:pt x="1449" y="636"/>
                </a:lnTo>
                <a:lnTo>
                  <a:pt x="1449" y="636"/>
                </a:lnTo>
                <a:lnTo>
                  <a:pt x="1457" y="640"/>
                </a:lnTo>
                <a:lnTo>
                  <a:pt x="1464" y="644"/>
                </a:lnTo>
                <a:lnTo>
                  <a:pt x="1464" y="644"/>
                </a:lnTo>
                <a:lnTo>
                  <a:pt x="1471" y="644"/>
                </a:lnTo>
                <a:lnTo>
                  <a:pt x="1478" y="644"/>
                </a:lnTo>
                <a:lnTo>
                  <a:pt x="1493" y="642"/>
                </a:lnTo>
                <a:lnTo>
                  <a:pt x="1493" y="642"/>
                </a:lnTo>
                <a:lnTo>
                  <a:pt x="1507" y="644"/>
                </a:lnTo>
                <a:lnTo>
                  <a:pt x="1520" y="647"/>
                </a:lnTo>
                <a:lnTo>
                  <a:pt x="1520" y="647"/>
                </a:lnTo>
                <a:lnTo>
                  <a:pt x="1529" y="649"/>
                </a:lnTo>
                <a:lnTo>
                  <a:pt x="1538" y="653"/>
                </a:lnTo>
                <a:lnTo>
                  <a:pt x="1538" y="653"/>
                </a:lnTo>
                <a:lnTo>
                  <a:pt x="1545" y="651"/>
                </a:lnTo>
                <a:lnTo>
                  <a:pt x="1547" y="651"/>
                </a:lnTo>
                <a:lnTo>
                  <a:pt x="1547" y="647"/>
                </a:lnTo>
                <a:lnTo>
                  <a:pt x="1547" y="647"/>
                </a:lnTo>
                <a:lnTo>
                  <a:pt x="1547" y="644"/>
                </a:lnTo>
                <a:lnTo>
                  <a:pt x="1544" y="642"/>
                </a:lnTo>
                <a:lnTo>
                  <a:pt x="1536" y="638"/>
                </a:lnTo>
                <a:lnTo>
                  <a:pt x="1536" y="638"/>
                </a:lnTo>
                <a:lnTo>
                  <a:pt x="1518" y="633"/>
                </a:lnTo>
                <a:lnTo>
                  <a:pt x="1511" y="627"/>
                </a:lnTo>
                <a:lnTo>
                  <a:pt x="1509" y="624"/>
                </a:lnTo>
                <a:lnTo>
                  <a:pt x="1509" y="620"/>
                </a:lnTo>
                <a:lnTo>
                  <a:pt x="1509" y="620"/>
                </a:lnTo>
                <a:lnTo>
                  <a:pt x="1511" y="616"/>
                </a:lnTo>
                <a:lnTo>
                  <a:pt x="1516" y="614"/>
                </a:lnTo>
                <a:lnTo>
                  <a:pt x="1527" y="614"/>
                </a:lnTo>
                <a:lnTo>
                  <a:pt x="1527" y="614"/>
                </a:lnTo>
                <a:lnTo>
                  <a:pt x="1538" y="613"/>
                </a:lnTo>
                <a:lnTo>
                  <a:pt x="1549" y="611"/>
                </a:lnTo>
                <a:lnTo>
                  <a:pt x="1549" y="611"/>
                </a:lnTo>
                <a:lnTo>
                  <a:pt x="1558" y="607"/>
                </a:lnTo>
                <a:lnTo>
                  <a:pt x="1560" y="605"/>
                </a:lnTo>
                <a:lnTo>
                  <a:pt x="1562" y="600"/>
                </a:lnTo>
                <a:lnTo>
                  <a:pt x="1562" y="600"/>
                </a:lnTo>
                <a:lnTo>
                  <a:pt x="1560" y="594"/>
                </a:lnTo>
                <a:lnTo>
                  <a:pt x="1558" y="589"/>
                </a:lnTo>
                <a:lnTo>
                  <a:pt x="1549" y="581"/>
                </a:lnTo>
                <a:lnTo>
                  <a:pt x="1549" y="581"/>
                </a:lnTo>
                <a:lnTo>
                  <a:pt x="1542" y="576"/>
                </a:lnTo>
                <a:lnTo>
                  <a:pt x="1533" y="567"/>
                </a:lnTo>
                <a:lnTo>
                  <a:pt x="1529" y="563"/>
                </a:lnTo>
                <a:lnTo>
                  <a:pt x="1525" y="558"/>
                </a:lnTo>
                <a:lnTo>
                  <a:pt x="1525" y="552"/>
                </a:lnTo>
                <a:lnTo>
                  <a:pt x="1527" y="547"/>
                </a:lnTo>
                <a:lnTo>
                  <a:pt x="1527" y="547"/>
                </a:lnTo>
                <a:lnTo>
                  <a:pt x="1529" y="545"/>
                </a:lnTo>
                <a:lnTo>
                  <a:pt x="1533" y="543"/>
                </a:lnTo>
                <a:lnTo>
                  <a:pt x="1538" y="543"/>
                </a:lnTo>
                <a:lnTo>
                  <a:pt x="1544" y="543"/>
                </a:lnTo>
                <a:lnTo>
                  <a:pt x="1553" y="547"/>
                </a:lnTo>
                <a:lnTo>
                  <a:pt x="1562" y="550"/>
                </a:lnTo>
                <a:lnTo>
                  <a:pt x="1562" y="550"/>
                </a:lnTo>
                <a:lnTo>
                  <a:pt x="1576" y="563"/>
                </a:lnTo>
                <a:lnTo>
                  <a:pt x="1583" y="567"/>
                </a:lnTo>
                <a:lnTo>
                  <a:pt x="1592" y="570"/>
                </a:lnTo>
                <a:lnTo>
                  <a:pt x="1592" y="570"/>
                </a:lnTo>
                <a:lnTo>
                  <a:pt x="1598" y="569"/>
                </a:lnTo>
                <a:lnTo>
                  <a:pt x="1603" y="567"/>
                </a:lnTo>
                <a:lnTo>
                  <a:pt x="1612" y="559"/>
                </a:lnTo>
                <a:lnTo>
                  <a:pt x="1620" y="548"/>
                </a:lnTo>
                <a:lnTo>
                  <a:pt x="1625" y="539"/>
                </a:lnTo>
                <a:lnTo>
                  <a:pt x="1625" y="539"/>
                </a:lnTo>
                <a:close/>
                <a:moveTo>
                  <a:pt x="1710" y="932"/>
                </a:moveTo>
                <a:lnTo>
                  <a:pt x="1710" y="932"/>
                </a:lnTo>
                <a:lnTo>
                  <a:pt x="1712" y="924"/>
                </a:lnTo>
                <a:lnTo>
                  <a:pt x="1710" y="921"/>
                </a:lnTo>
                <a:lnTo>
                  <a:pt x="1707" y="919"/>
                </a:lnTo>
                <a:lnTo>
                  <a:pt x="1707" y="919"/>
                </a:lnTo>
                <a:lnTo>
                  <a:pt x="1701" y="919"/>
                </a:lnTo>
                <a:lnTo>
                  <a:pt x="1701" y="919"/>
                </a:lnTo>
                <a:lnTo>
                  <a:pt x="1698" y="921"/>
                </a:lnTo>
                <a:lnTo>
                  <a:pt x="1696" y="923"/>
                </a:lnTo>
                <a:lnTo>
                  <a:pt x="1692" y="930"/>
                </a:lnTo>
                <a:lnTo>
                  <a:pt x="1690" y="945"/>
                </a:lnTo>
                <a:lnTo>
                  <a:pt x="1690" y="945"/>
                </a:lnTo>
                <a:lnTo>
                  <a:pt x="1688" y="950"/>
                </a:lnTo>
                <a:lnTo>
                  <a:pt x="1685" y="956"/>
                </a:lnTo>
                <a:lnTo>
                  <a:pt x="1676" y="967"/>
                </a:lnTo>
                <a:lnTo>
                  <a:pt x="1667" y="978"/>
                </a:lnTo>
                <a:lnTo>
                  <a:pt x="1663" y="985"/>
                </a:lnTo>
                <a:lnTo>
                  <a:pt x="1663" y="990"/>
                </a:lnTo>
                <a:lnTo>
                  <a:pt x="1663" y="990"/>
                </a:lnTo>
                <a:lnTo>
                  <a:pt x="1663" y="998"/>
                </a:lnTo>
                <a:lnTo>
                  <a:pt x="1667" y="1003"/>
                </a:lnTo>
                <a:lnTo>
                  <a:pt x="1670" y="1009"/>
                </a:lnTo>
                <a:lnTo>
                  <a:pt x="1676" y="1012"/>
                </a:lnTo>
                <a:lnTo>
                  <a:pt x="1681" y="1014"/>
                </a:lnTo>
                <a:lnTo>
                  <a:pt x="1687" y="1014"/>
                </a:lnTo>
                <a:lnTo>
                  <a:pt x="1701" y="1014"/>
                </a:lnTo>
                <a:lnTo>
                  <a:pt x="1701" y="1014"/>
                </a:lnTo>
                <a:lnTo>
                  <a:pt x="1714" y="1014"/>
                </a:lnTo>
                <a:lnTo>
                  <a:pt x="1728" y="1016"/>
                </a:lnTo>
                <a:lnTo>
                  <a:pt x="1728" y="1016"/>
                </a:lnTo>
                <a:lnTo>
                  <a:pt x="1734" y="1018"/>
                </a:lnTo>
                <a:lnTo>
                  <a:pt x="1739" y="1020"/>
                </a:lnTo>
                <a:lnTo>
                  <a:pt x="1745" y="1023"/>
                </a:lnTo>
                <a:lnTo>
                  <a:pt x="1750" y="1025"/>
                </a:lnTo>
                <a:lnTo>
                  <a:pt x="1750" y="1025"/>
                </a:lnTo>
                <a:lnTo>
                  <a:pt x="1756" y="1025"/>
                </a:lnTo>
                <a:lnTo>
                  <a:pt x="1759" y="1023"/>
                </a:lnTo>
                <a:lnTo>
                  <a:pt x="1765" y="1020"/>
                </a:lnTo>
                <a:lnTo>
                  <a:pt x="1766" y="1014"/>
                </a:lnTo>
                <a:lnTo>
                  <a:pt x="1766" y="1014"/>
                </a:lnTo>
                <a:lnTo>
                  <a:pt x="1768" y="1009"/>
                </a:lnTo>
                <a:lnTo>
                  <a:pt x="1766" y="1003"/>
                </a:lnTo>
                <a:lnTo>
                  <a:pt x="1763" y="998"/>
                </a:lnTo>
                <a:lnTo>
                  <a:pt x="1757" y="994"/>
                </a:lnTo>
                <a:lnTo>
                  <a:pt x="1757" y="994"/>
                </a:lnTo>
                <a:lnTo>
                  <a:pt x="1750" y="989"/>
                </a:lnTo>
                <a:lnTo>
                  <a:pt x="1745" y="981"/>
                </a:lnTo>
                <a:lnTo>
                  <a:pt x="1745" y="981"/>
                </a:lnTo>
                <a:lnTo>
                  <a:pt x="1741" y="974"/>
                </a:lnTo>
                <a:lnTo>
                  <a:pt x="1736" y="968"/>
                </a:lnTo>
                <a:lnTo>
                  <a:pt x="1730" y="965"/>
                </a:lnTo>
                <a:lnTo>
                  <a:pt x="1727" y="965"/>
                </a:lnTo>
                <a:lnTo>
                  <a:pt x="1723" y="967"/>
                </a:lnTo>
                <a:lnTo>
                  <a:pt x="1723" y="967"/>
                </a:lnTo>
                <a:lnTo>
                  <a:pt x="1717" y="968"/>
                </a:lnTo>
                <a:lnTo>
                  <a:pt x="1714" y="970"/>
                </a:lnTo>
                <a:lnTo>
                  <a:pt x="1714" y="970"/>
                </a:lnTo>
                <a:lnTo>
                  <a:pt x="1708" y="970"/>
                </a:lnTo>
                <a:lnTo>
                  <a:pt x="1703" y="967"/>
                </a:lnTo>
                <a:lnTo>
                  <a:pt x="1703" y="967"/>
                </a:lnTo>
                <a:lnTo>
                  <a:pt x="1701" y="963"/>
                </a:lnTo>
                <a:lnTo>
                  <a:pt x="1701" y="959"/>
                </a:lnTo>
                <a:lnTo>
                  <a:pt x="1705" y="952"/>
                </a:lnTo>
                <a:lnTo>
                  <a:pt x="1705" y="952"/>
                </a:lnTo>
                <a:lnTo>
                  <a:pt x="1710" y="932"/>
                </a:lnTo>
                <a:lnTo>
                  <a:pt x="1710" y="932"/>
                </a:lnTo>
                <a:close/>
                <a:moveTo>
                  <a:pt x="679" y="396"/>
                </a:moveTo>
                <a:lnTo>
                  <a:pt x="679" y="396"/>
                </a:lnTo>
                <a:lnTo>
                  <a:pt x="692" y="398"/>
                </a:lnTo>
                <a:lnTo>
                  <a:pt x="703" y="396"/>
                </a:lnTo>
                <a:lnTo>
                  <a:pt x="703" y="396"/>
                </a:lnTo>
                <a:lnTo>
                  <a:pt x="710" y="396"/>
                </a:lnTo>
                <a:lnTo>
                  <a:pt x="712" y="394"/>
                </a:lnTo>
                <a:lnTo>
                  <a:pt x="714" y="394"/>
                </a:lnTo>
                <a:lnTo>
                  <a:pt x="714" y="394"/>
                </a:lnTo>
                <a:lnTo>
                  <a:pt x="716" y="389"/>
                </a:lnTo>
                <a:lnTo>
                  <a:pt x="716" y="385"/>
                </a:lnTo>
                <a:lnTo>
                  <a:pt x="719" y="376"/>
                </a:lnTo>
                <a:lnTo>
                  <a:pt x="719" y="376"/>
                </a:lnTo>
                <a:lnTo>
                  <a:pt x="725" y="367"/>
                </a:lnTo>
                <a:lnTo>
                  <a:pt x="732" y="360"/>
                </a:lnTo>
                <a:lnTo>
                  <a:pt x="732" y="360"/>
                </a:lnTo>
                <a:lnTo>
                  <a:pt x="741" y="352"/>
                </a:lnTo>
                <a:lnTo>
                  <a:pt x="752" y="347"/>
                </a:lnTo>
                <a:lnTo>
                  <a:pt x="752" y="347"/>
                </a:lnTo>
                <a:lnTo>
                  <a:pt x="772" y="339"/>
                </a:lnTo>
                <a:lnTo>
                  <a:pt x="781" y="334"/>
                </a:lnTo>
                <a:lnTo>
                  <a:pt x="784" y="330"/>
                </a:lnTo>
                <a:lnTo>
                  <a:pt x="786" y="325"/>
                </a:lnTo>
                <a:lnTo>
                  <a:pt x="786" y="325"/>
                </a:lnTo>
                <a:lnTo>
                  <a:pt x="788" y="321"/>
                </a:lnTo>
                <a:lnTo>
                  <a:pt x="786" y="317"/>
                </a:lnTo>
                <a:lnTo>
                  <a:pt x="786" y="314"/>
                </a:lnTo>
                <a:lnTo>
                  <a:pt x="783" y="312"/>
                </a:lnTo>
                <a:lnTo>
                  <a:pt x="777" y="310"/>
                </a:lnTo>
                <a:lnTo>
                  <a:pt x="770" y="312"/>
                </a:lnTo>
                <a:lnTo>
                  <a:pt x="770" y="312"/>
                </a:lnTo>
                <a:lnTo>
                  <a:pt x="765" y="315"/>
                </a:lnTo>
                <a:lnTo>
                  <a:pt x="761" y="317"/>
                </a:lnTo>
                <a:lnTo>
                  <a:pt x="755" y="317"/>
                </a:lnTo>
                <a:lnTo>
                  <a:pt x="755" y="317"/>
                </a:lnTo>
                <a:lnTo>
                  <a:pt x="746" y="315"/>
                </a:lnTo>
                <a:lnTo>
                  <a:pt x="737" y="314"/>
                </a:lnTo>
                <a:lnTo>
                  <a:pt x="737" y="314"/>
                </a:lnTo>
                <a:lnTo>
                  <a:pt x="721" y="308"/>
                </a:lnTo>
                <a:lnTo>
                  <a:pt x="708" y="303"/>
                </a:lnTo>
                <a:lnTo>
                  <a:pt x="708" y="303"/>
                </a:lnTo>
                <a:lnTo>
                  <a:pt x="701" y="301"/>
                </a:lnTo>
                <a:lnTo>
                  <a:pt x="694" y="301"/>
                </a:lnTo>
                <a:lnTo>
                  <a:pt x="694" y="301"/>
                </a:lnTo>
                <a:lnTo>
                  <a:pt x="685" y="304"/>
                </a:lnTo>
                <a:lnTo>
                  <a:pt x="676" y="310"/>
                </a:lnTo>
                <a:lnTo>
                  <a:pt x="670" y="317"/>
                </a:lnTo>
                <a:lnTo>
                  <a:pt x="667" y="325"/>
                </a:lnTo>
                <a:lnTo>
                  <a:pt x="667" y="325"/>
                </a:lnTo>
                <a:lnTo>
                  <a:pt x="665" y="341"/>
                </a:lnTo>
                <a:lnTo>
                  <a:pt x="665" y="341"/>
                </a:lnTo>
                <a:lnTo>
                  <a:pt x="661" y="352"/>
                </a:lnTo>
                <a:lnTo>
                  <a:pt x="658" y="365"/>
                </a:lnTo>
                <a:lnTo>
                  <a:pt x="658" y="365"/>
                </a:lnTo>
                <a:lnTo>
                  <a:pt x="659" y="374"/>
                </a:lnTo>
                <a:lnTo>
                  <a:pt x="663" y="383"/>
                </a:lnTo>
                <a:lnTo>
                  <a:pt x="670" y="393"/>
                </a:lnTo>
                <a:lnTo>
                  <a:pt x="679" y="396"/>
                </a:lnTo>
                <a:lnTo>
                  <a:pt x="679" y="396"/>
                </a:lnTo>
                <a:close/>
                <a:moveTo>
                  <a:pt x="777" y="262"/>
                </a:moveTo>
                <a:lnTo>
                  <a:pt x="777" y="262"/>
                </a:lnTo>
                <a:lnTo>
                  <a:pt x="775" y="268"/>
                </a:lnTo>
                <a:lnTo>
                  <a:pt x="777" y="271"/>
                </a:lnTo>
                <a:lnTo>
                  <a:pt x="779" y="275"/>
                </a:lnTo>
                <a:lnTo>
                  <a:pt x="783" y="279"/>
                </a:lnTo>
                <a:lnTo>
                  <a:pt x="786" y="281"/>
                </a:lnTo>
                <a:lnTo>
                  <a:pt x="792" y="281"/>
                </a:lnTo>
                <a:lnTo>
                  <a:pt x="797" y="279"/>
                </a:lnTo>
                <a:lnTo>
                  <a:pt x="801" y="275"/>
                </a:lnTo>
                <a:lnTo>
                  <a:pt x="801" y="275"/>
                </a:lnTo>
                <a:lnTo>
                  <a:pt x="804" y="270"/>
                </a:lnTo>
                <a:lnTo>
                  <a:pt x="806" y="268"/>
                </a:lnTo>
                <a:lnTo>
                  <a:pt x="808" y="266"/>
                </a:lnTo>
                <a:lnTo>
                  <a:pt x="808" y="266"/>
                </a:lnTo>
                <a:lnTo>
                  <a:pt x="813" y="264"/>
                </a:lnTo>
                <a:lnTo>
                  <a:pt x="815" y="268"/>
                </a:lnTo>
                <a:lnTo>
                  <a:pt x="819" y="271"/>
                </a:lnTo>
                <a:lnTo>
                  <a:pt x="821" y="275"/>
                </a:lnTo>
                <a:lnTo>
                  <a:pt x="821" y="275"/>
                </a:lnTo>
                <a:lnTo>
                  <a:pt x="826" y="277"/>
                </a:lnTo>
                <a:lnTo>
                  <a:pt x="830" y="277"/>
                </a:lnTo>
                <a:lnTo>
                  <a:pt x="841" y="275"/>
                </a:lnTo>
                <a:lnTo>
                  <a:pt x="841" y="275"/>
                </a:lnTo>
                <a:lnTo>
                  <a:pt x="859" y="275"/>
                </a:lnTo>
                <a:lnTo>
                  <a:pt x="859" y="275"/>
                </a:lnTo>
                <a:lnTo>
                  <a:pt x="864" y="275"/>
                </a:lnTo>
                <a:lnTo>
                  <a:pt x="864" y="277"/>
                </a:lnTo>
                <a:lnTo>
                  <a:pt x="864" y="279"/>
                </a:lnTo>
                <a:lnTo>
                  <a:pt x="864" y="279"/>
                </a:lnTo>
                <a:lnTo>
                  <a:pt x="861" y="282"/>
                </a:lnTo>
                <a:lnTo>
                  <a:pt x="855" y="284"/>
                </a:lnTo>
                <a:lnTo>
                  <a:pt x="844" y="286"/>
                </a:lnTo>
                <a:lnTo>
                  <a:pt x="844" y="286"/>
                </a:lnTo>
                <a:lnTo>
                  <a:pt x="835" y="288"/>
                </a:lnTo>
                <a:lnTo>
                  <a:pt x="824" y="292"/>
                </a:lnTo>
                <a:lnTo>
                  <a:pt x="819" y="295"/>
                </a:lnTo>
                <a:lnTo>
                  <a:pt x="815" y="299"/>
                </a:lnTo>
                <a:lnTo>
                  <a:pt x="815" y="303"/>
                </a:lnTo>
                <a:lnTo>
                  <a:pt x="817" y="306"/>
                </a:lnTo>
                <a:lnTo>
                  <a:pt x="817" y="306"/>
                </a:lnTo>
                <a:lnTo>
                  <a:pt x="823" y="308"/>
                </a:lnTo>
                <a:lnTo>
                  <a:pt x="826" y="310"/>
                </a:lnTo>
                <a:lnTo>
                  <a:pt x="832" y="308"/>
                </a:lnTo>
                <a:lnTo>
                  <a:pt x="837" y="306"/>
                </a:lnTo>
                <a:lnTo>
                  <a:pt x="848" y="301"/>
                </a:lnTo>
                <a:lnTo>
                  <a:pt x="857" y="295"/>
                </a:lnTo>
                <a:lnTo>
                  <a:pt x="857" y="295"/>
                </a:lnTo>
                <a:lnTo>
                  <a:pt x="870" y="290"/>
                </a:lnTo>
                <a:lnTo>
                  <a:pt x="877" y="288"/>
                </a:lnTo>
                <a:lnTo>
                  <a:pt x="884" y="288"/>
                </a:lnTo>
                <a:lnTo>
                  <a:pt x="884" y="288"/>
                </a:lnTo>
                <a:lnTo>
                  <a:pt x="895" y="288"/>
                </a:lnTo>
                <a:lnTo>
                  <a:pt x="906" y="286"/>
                </a:lnTo>
                <a:lnTo>
                  <a:pt x="906" y="286"/>
                </a:lnTo>
                <a:lnTo>
                  <a:pt x="913" y="284"/>
                </a:lnTo>
                <a:lnTo>
                  <a:pt x="924" y="279"/>
                </a:lnTo>
                <a:lnTo>
                  <a:pt x="933" y="273"/>
                </a:lnTo>
                <a:lnTo>
                  <a:pt x="935" y="268"/>
                </a:lnTo>
                <a:lnTo>
                  <a:pt x="937" y="264"/>
                </a:lnTo>
                <a:lnTo>
                  <a:pt x="937" y="264"/>
                </a:lnTo>
                <a:lnTo>
                  <a:pt x="937" y="259"/>
                </a:lnTo>
                <a:lnTo>
                  <a:pt x="935" y="251"/>
                </a:lnTo>
                <a:lnTo>
                  <a:pt x="933" y="249"/>
                </a:lnTo>
                <a:lnTo>
                  <a:pt x="931" y="249"/>
                </a:lnTo>
                <a:lnTo>
                  <a:pt x="928" y="249"/>
                </a:lnTo>
                <a:lnTo>
                  <a:pt x="926" y="253"/>
                </a:lnTo>
                <a:lnTo>
                  <a:pt x="926" y="253"/>
                </a:lnTo>
                <a:lnTo>
                  <a:pt x="922" y="260"/>
                </a:lnTo>
                <a:lnTo>
                  <a:pt x="920" y="262"/>
                </a:lnTo>
                <a:lnTo>
                  <a:pt x="915" y="262"/>
                </a:lnTo>
                <a:lnTo>
                  <a:pt x="915" y="262"/>
                </a:lnTo>
                <a:lnTo>
                  <a:pt x="913" y="259"/>
                </a:lnTo>
                <a:lnTo>
                  <a:pt x="911" y="253"/>
                </a:lnTo>
                <a:lnTo>
                  <a:pt x="909" y="249"/>
                </a:lnTo>
                <a:lnTo>
                  <a:pt x="908" y="244"/>
                </a:lnTo>
                <a:lnTo>
                  <a:pt x="908" y="244"/>
                </a:lnTo>
                <a:lnTo>
                  <a:pt x="900" y="238"/>
                </a:lnTo>
                <a:lnTo>
                  <a:pt x="900" y="238"/>
                </a:lnTo>
                <a:lnTo>
                  <a:pt x="893" y="229"/>
                </a:lnTo>
                <a:lnTo>
                  <a:pt x="893" y="229"/>
                </a:lnTo>
                <a:lnTo>
                  <a:pt x="888" y="227"/>
                </a:lnTo>
                <a:lnTo>
                  <a:pt x="884" y="226"/>
                </a:lnTo>
                <a:lnTo>
                  <a:pt x="884" y="226"/>
                </a:lnTo>
                <a:lnTo>
                  <a:pt x="879" y="227"/>
                </a:lnTo>
                <a:lnTo>
                  <a:pt x="877" y="229"/>
                </a:lnTo>
                <a:lnTo>
                  <a:pt x="875" y="231"/>
                </a:lnTo>
                <a:lnTo>
                  <a:pt x="875" y="231"/>
                </a:lnTo>
                <a:lnTo>
                  <a:pt x="875" y="237"/>
                </a:lnTo>
                <a:lnTo>
                  <a:pt x="877" y="238"/>
                </a:lnTo>
                <a:lnTo>
                  <a:pt x="882" y="246"/>
                </a:lnTo>
                <a:lnTo>
                  <a:pt x="888" y="251"/>
                </a:lnTo>
                <a:lnTo>
                  <a:pt x="890" y="255"/>
                </a:lnTo>
                <a:lnTo>
                  <a:pt x="891" y="259"/>
                </a:lnTo>
                <a:lnTo>
                  <a:pt x="891" y="259"/>
                </a:lnTo>
                <a:lnTo>
                  <a:pt x="890" y="262"/>
                </a:lnTo>
                <a:lnTo>
                  <a:pt x="888" y="264"/>
                </a:lnTo>
                <a:lnTo>
                  <a:pt x="882" y="268"/>
                </a:lnTo>
                <a:lnTo>
                  <a:pt x="875" y="270"/>
                </a:lnTo>
                <a:lnTo>
                  <a:pt x="870" y="270"/>
                </a:lnTo>
                <a:lnTo>
                  <a:pt x="870" y="270"/>
                </a:lnTo>
                <a:lnTo>
                  <a:pt x="862" y="268"/>
                </a:lnTo>
                <a:lnTo>
                  <a:pt x="857" y="262"/>
                </a:lnTo>
                <a:lnTo>
                  <a:pt x="851" y="259"/>
                </a:lnTo>
                <a:lnTo>
                  <a:pt x="844" y="255"/>
                </a:lnTo>
                <a:lnTo>
                  <a:pt x="844" y="255"/>
                </a:lnTo>
                <a:lnTo>
                  <a:pt x="839" y="255"/>
                </a:lnTo>
                <a:lnTo>
                  <a:pt x="833" y="255"/>
                </a:lnTo>
                <a:lnTo>
                  <a:pt x="833" y="255"/>
                </a:lnTo>
                <a:lnTo>
                  <a:pt x="826" y="251"/>
                </a:lnTo>
                <a:lnTo>
                  <a:pt x="821" y="248"/>
                </a:lnTo>
                <a:lnTo>
                  <a:pt x="821" y="248"/>
                </a:lnTo>
                <a:lnTo>
                  <a:pt x="813" y="246"/>
                </a:lnTo>
                <a:lnTo>
                  <a:pt x="808" y="246"/>
                </a:lnTo>
                <a:lnTo>
                  <a:pt x="795" y="248"/>
                </a:lnTo>
                <a:lnTo>
                  <a:pt x="795" y="248"/>
                </a:lnTo>
                <a:lnTo>
                  <a:pt x="788" y="249"/>
                </a:lnTo>
                <a:lnTo>
                  <a:pt x="783" y="251"/>
                </a:lnTo>
                <a:lnTo>
                  <a:pt x="779" y="255"/>
                </a:lnTo>
                <a:lnTo>
                  <a:pt x="777" y="262"/>
                </a:lnTo>
                <a:lnTo>
                  <a:pt x="777" y="262"/>
                </a:lnTo>
                <a:close/>
                <a:moveTo>
                  <a:pt x="690" y="260"/>
                </a:moveTo>
                <a:lnTo>
                  <a:pt x="690" y="260"/>
                </a:lnTo>
                <a:lnTo>
                  <a:pt x="694" y="259"/>
                </a:lnTo>
                <a:lnTo>
                  <a:pt x="697" y="259"/>
                </a:lnTo>
                <a:lnTo>
                  <a:pt x="707" y="260"/>
                </a:lnTo>
                <a:lnTo>
                  <a:pt x="707" y="260"/>
                </a:lnTo>
                <a:lnTo>
                  <a:pt x="708" y="260"/>
                </a:lnTo>
                <a:lnTo>
                  <a:pt x="712" y="259"/>
                </a:lnTo>
                <a:lnTo>
                  <a:pt x="717" y="257"/>
                </a:lnTo>
                <a:lnTo>
                  <a:pt x="717" y="257"/>
                </a:lnTo>
                <a:lnTo>
                  <a:pt x="721" y="255"/>
                </a:lnTo>
                <a:lnTo>
                  <a:pt x="725" y="257"/>
                </a:lnTo>
                <a:lnTo>
                  <a:pt x="725" y="257"/>
                </a:lnTo>
                <a:lnTo>
                  <a:pt x="728" y="255"/>
                </a:lnTo>
                <a:lnTo>
                  <a:pt x="732" y="253"/>
                </a:lnTo>
                <a:lnTo>
                  <a:pt x="736" y="251"/>
                </a:lnTo>
                <a:lnTo>
                  <a:pt x="739" y="248"/>
                </a:lnTo>
                <a:lnTo>
                  <a:pt x="739" y="248"/>
                </a:lnTo>
                <a:lnTo>
                  <a:pt x="739" y="240"/>
                </a:lnTo>
                <a:lnTo>
                  <a:pt x="741" y="233"/>
                </a:lnTo>
                <a:lnTo>
                  <a:pt x="741" y="233"/>
                </a:lnTo>
                <a:lnTo>
                  <a:pt x="743" y="231"/>
                </a:lnTo>
                <a:lnTo>
                  <a:pt x="745" y="231"/>
                </a:lnTo>
                <a:lnTo>
                  <a:pt x="748" y="233"/>
                </a:lnTo>
                <a:lnTo>
                  <a:pt x="748" y="233"/>
                </a:lnTo>
                <a:lnTo>
                  <a:pt x="752" y="227"/>
                </a:lnTo>
                <a:lnTo>
                  <a:pt x="754" y="226"/>
                </a:lnTo>
                <a:lnTo>
                  <a:pt x="755" y="227"/>
                </a:lnTo>
                <a:lnTo>
                  <a:pt x="755" y="227"/>
                </a:lnTo>
                <a:lnTo>
                  <a:pt x="755" y="231"/>
                </a:lnTo>
                <a:lnTo>
                  <a:pt x="754" y="235"/>
                </a:lnTo>
                <a:lnTo>
                  <a:pt x="752" y="238"/>
                </a:lnTo>
                <a:lnTo>
                  <a:pt x="754" y="240"/>
                </a:lnTo>
                <a:lnTo>
                  <a:pt x="755" y="242"/>
                </a:lnTo>
                <a:lnTo>
                  <a:pt x="755" y="242"/>
                </a:lnTo>
                <a:lnTo>
                  <a:pt x="757" y="242"/>
                </a:lnTo>
                <a:lnTo>
                  <a:pt x="761" y="242"/>
                </a:lnTo>
                <a:lnTo>
                  <a:pt x="766" y="237"/>
                </a:lnTo>
                <a:lnTo>
                  <a:pt x="774" y="226"/>
                </a:lnTo>
                <a:lnTo>
                  <a:pt x="774" y="226"/>
                </a:lnTo>
                <a:lnTo>
                  <a:pt x="779" y="222"/>
                </a:lnTo>
                <a:lnTo>
                  <a:pt x="786" y="220"/>
                </a:lnTo>
                <a:lnTo>
                  <a:pt x="790" y="216"/>
                </a:lnTo>
                <a:lnTo>
                  <a:pt x="792" y="213"/>
                </a:lnTo>
                <a:lnTo>
                  <a:pt x="792" y="209"/>
                </a:lnTo>
                <a:lnTo>
                  <a:pt x="792" y="209"/>
                </a:lnTo>
                <a:lnTo>
                  <a:pt x="792" y="202"/>
                </a:lnTo>
                <a:lnTo>
                  <a:pt x="788" y="196"/>
                </a:lnTo>
                <a:lnTo>
                  <a:pt x="788" y="196"/>
                </a:lnTo>
                <a:lnTo>
                  <a:pt x="781" y="193"/>
                </a:lnTo>
                <a:lnTo>
                  <a:pt x="777" y="193"/>
                </a:lnTo>
                <a:lnTo>
                  <a:pt x="774" y="193"/>
                </a:lnTo>
                <a:lnTo>
                  <a:pt x="774" y="193"/>
                </a:lnTo>
                <a:lnTo>
                  <a:pt x="774" y="193"/>
                </a:lnTo>
                <a:lnTo>
                  <a:pt x="774" y="193"/>
                </a:lnTo>
                <a:lnTo>
                  <a:pt x="772" y="194"/>
                </a:lnTo>
                <a:lnTo>
                  <a:pt x="770" y="198"/>
                </a:lnTo>
                <a:lnTo>
                  <a:pt x="766" y="202"/>
                </a:lnTo>
                <a:lnTo>
                  <a:pt x="766" y="202"/>
                </a:lnTo>
                <a:lnTo>
                  <a:pt x="765" y="205"/>
                </a:lnTo>
                <a:lnTo>
                  <a:pt x="763" y="205"/>
                </a:lnTo>
                <a:lnTo>
                  <a:pt x="755" y="205"/>
                </a:lnTo>
                <a:lnTo>
                  <a:pt x="743" y="204"/>
                </a:lnTo>
                <a:lnTo>
                  <a:pt x="743" y="204"/>
                </a:lnTo>
                <a:lnTo>
                  <a:pt x="736" y="204"/>
                </a:lnTo>
                <a:lnTo>
                  <a:pt x="728" y="204"/>
                </a:lnTo>
                <a:lnTo>
                  <a:pt x="721" y="207"/>
                </a:lnTo>
                <a:lnTo>
                  <a:pt x="716" y="211"/>
                </a:lnTo>
                <a:lnTo>
                  <a:pt x="716" y="211"/>
                </a:lnTo>
                <a:lnTo>
                  <a:pt x="712" y="215"/>
                </a:lnTo>
                <a:lnTo>
                  <a:pt x="708" y="218"/>
                </a:lnTo>
                <a:lnTo>
                  <a:pt x="708" y="218"/>
                </a:lnTo>
                <a:lnTo>
                  <a:pt x="703" y="222"/>
                </a:lnTo>
                <a:lnTo>
                  <a:pt x="697" y="224"/>
                </a:lnTo>
                <a:lnTo>
                  <a:pt x="697" y="224"/>
                </a:lnTo>
                <a:lnTo>
                  <a:pt x="690" y="226"/>
                </a:lnTo>
                <a:lnTo>
                  <a:pt x="683" y="229"/>
                </a:lnTo>
                <a:lnTo>
                  <a:pt x="678" y="235"/>
                </a:lnTo>
                <a:lnTo>
                  <a:pt x="672" y="240"/>
                </a:lnTo>
                <a:lnTo>
                  <a:pt x="672" y="240"/>
                </a:lnTo>
                <a:lnTo>
                  <a:pt x="670" y="246"/>
                </a:lnTo>
                <a:lnTo>
                  <a:pt x="670" y="251"/>
                </a:lnTo>
                <a:lnTo>
                  <a:pt x="672" y="257"/>
                </a:lnTo>
                <a:lnTo>
                  <a:pt x="674" y="262"/>
                </a:lnTo>
                <a:lnTo>
                  <a:pt x="674" y="262"/>
                </a:lnTo>
                <a:lnTo>
                  <a:pt x="678" y="264"/>
                </a:lnTo>
                <a:lnTo>
                  <a:pt x="681" y="264"/>
                </a:lnTo>
                <a:lnTo>
                  <a:pt x="690" y="260"/>
                </a:lnTo>
                <a:lnTo>
                  <a:pt x="690" y="260"/>
                </a:lnTo>
                <a:close/>
                <a:moveTo>
                  <a:pt x="919" y="350"/>
                </a:moveTo>
                <a:lnTo>
                  <a:pt x="919" y="350"/>
                </a:lnTo>
                <a:lnTo>
                  <a:pt x="924" y="358"/>
                </a:lnTo>
                <a:lnTo>
                  <a:pt x="931" y="363"/>
                </a:lnTo>
                <a:lnTo>
                  <a:pt x="931" y="363"/>
                </a:lnTo>
                <a:lnTo>
                  <a:pt x="937" y="365"/>
                </a:lnTo>
                <a:lnTo>
                  <a:pt x="938" y="367"/>
                </a:lnTo>
                <a:lnTo>
                  <a:pt x="938" y="371"/>
                </a:lnTo>
                <a:lnTo>
                  <a:pt x="938" y="371"/>
                </a:lnTo>
                <a:lnTo>
                  <a:pt x="933" y="372"/>
                </a:lnTo>
                <a:lnTo>
                  <a:pt x="929" y="371"/>
                </a:lnTo>
                <a:lnTo>
                  <a:pt x="924" y="371"/>
                </a:lnTo>
                <a:lnTo>
                  <a:pt x="920" y="372"/>
                </a:lnTo>
                <a:lnTo>
                  <a:pt x="920" y="372"/>
                </a:lnTo>
                <a:lnTo>
                  <a:pt x="919" y="374"/>
                </a:lnTo>
                <a:lnTo>
                  <a:pt x="915" y="380"/>
                </a:lnTo>
                <a:lnTo>
                  <a:pt x="911" y="383"/>
                </a:lnTo>
                <a:lnTo>
                  <a:pt x="908" y="383"/>
                </a:lnTo>
                <a:lnTo>
                  <a:pt x="908" y="383"/>
                </a:lnTo>
                <a:lnTo>
                  <a:pt x="906" y="382"/>
                </a:lnTo>
                <a:lnTo>
                  <a:pt x="904" y="376"/>
                </a:lnTo>
                <a:lnTo>
                  <a:pt x="904" y="372"/>
                </a:lnTo>
                <a:lnTo>
                  <a:pt x="904" y="369"/>
                </a:lnTo>
                <a:lnTo>
                  <a:pt x="904" y="369"/>
                </a:lnTo>
                <a:lnTo>
                  <a:pt x="909" y="365"/>
                </a:lnTo>
                <a:lnTo>
                  <a:pt x="911" y="361"/>
                </a:lnTo>
                <a:lnTo>
                  <a:pt x="913" y="360"/>
                </a:lnTo>
                <a:lnTo>
                  <a:pt x="913" y="360"/>
                </a:lnTo>
                <a:lnTo>
                  <a:pt x="911" y="356"/>
                </a:lnTo>
                <a:lnTo>
                  <a:pt x="909" y="354"/>
                </a:lnTo>
                <a:lnTo>
                  <a:pt x="906" y="349"/>
                </a:lnTo>
                <a:lnTo>
                  <a:pt x="906" y="349"/>
                </a:lnTo>
                <a:lnTo>
                  <a:pt x="900" y="347"/>
                </a:lnTo>
                <a:lnTo>
                  <a:pt x="895" y="349"/>
                </a:lnTo>
                <a:lnTo>
                  <a:pt x="884" y="354"/>
                </a:lnTo>
                <a:lnTo>
                  <a:pt x="879" y="358"/>
                </a:lnTo>
                <a:lnTo>
                  <a:pt x="875" y="358"/>
                </a:lnTo>
                <a:lnTo>
                  <a:pt x="870" y="356"/>
                </a:lnTo>
                <a:lnTo>
                  <a:pt x="866" y="349"/>
                </a:lnTo>
                <a:lnTo>
                  <a:pt x="866" y="349"/>
                </a:lnTo>
                <a:lnTo>
                  <a:pt x="866" y="345"/>
                </a:lnTo>
                <a:lnTo>
                  <a:pt x="864" y="343"/>
                </a:lnTo>
                <a:lnTo>
                  <a:pt x="864" y="343"/>
                </a:lnTo>
                <a:lnTo>
                  <a:pt x="859" y="339"/>
                </a:lnTo>
                <a:lnTo>
                  <a:pt x="853" y="339"/>
                </a:lnTo>
                <a:lnTo>
                  <a:pt x="853" y="339"/>
                </a:lnTo>
                <a:lnTo>
                  <a:pt x="850" y="339"/>
                </a:lnTo>
                <a:lnTo>
                  <a:pt x="848" y="341"/>
                </a:lnTo>
                <a:lnTo>
                  <a:pt x="846" y="347"/>
                </a:lnTo>
                <a:lnTo>
                  <a:pt x="846" y="354"/>
                </a:lnTo>
                <a:lnTo>
                  <a:pt x="846" y="358"/>
                </a:lnTo>
                <a:lnTo>
                  <a:pt x="842" y="360"/>
                </a:lnTo>
                <a:lnTo>
                  <a:pt x="842" y="360"/>
                </a:lnTo>
                <a:lnTo>
                  <a:pt x="837" y="361"/>
                </a:lnTo>
                <a:lnTo>
                  <a:pt x="832" y="361"/>
                </a:lnTo>
                <a:lnTo>
                  <a:pt x="826" y="358"/>
                </a:lnTo>
                <a:lnTo>
                  <a:pt x="823" y="352"/>
                </a:lnTo>
                <a:lnTo>
                  <a:pt x="823" y="352"/>
                </a:lnTo>
                <a:lnTo>
                  <a:pt x="819" y="343"/>
                </a:lnTo>
                <a:lnTo>
                  <a:pt x="817" y="339"/>
                </a:lnTo>
                <a:lnTo>
                  <a:pt x="812" y="337"/>
                </a:lnTo>
                <a:lnTo>
                  <a:pt x="812" y="337"/>
                </a:lnTo>
                <a:lnTo>
                  <a:pt x="806" y="339"/>
                </a:lnTo>
                <a:lnTo>
                  <a:pt x="806" y="339"/>
                </a:lnTo>
                <a:lnTo>
                  <a:pt x="797" y="343"/>
                </a:lnTo>
                <a:lnTo>
                  <a:pt x="794" y="347"/>
                </a:lnTo>
                <a:lnTo>
                  <a:pt x="788" y="349"/>
                </a:lnTo>
                <a:lnTo>
                  <a:pt x="788" y="349"/>
                </a:lnTo>
                <a:lnTo>
                  <a:pt x="774" y="352"/>
                </a:lnTo>
                <a:lnTo>
                  <a:pt x="768" y="356"/>
                </a:lnTo>
                <a:lnTo>
                  <a:pt x="763" y="360"/>
                </a:lnTo>
                <a:lnTo>
                  <a:pt x="763" y="360"/>
                </a:lnTo>
                <a:lnTo>
                  <a:pt x="759" y="365"/>
                </a:lnTo>
                <a:lnTo>
                  <a:pt x="755" y="369"/>
                </a:lnTo>
                <a:lnTo>
                  <a:pt x="755" y="369"/>
                </a:lnTo>
                <a:lnTo>
                  <a:pt x="750" y="372"/>
                </a:lnTo>
                <a:lnTo>
                  <a:pt x="748" y="376"/>
                </a:lnTo>
                <a:lnTo>
                  <a:pt x="746" y="380"/>
                </a:lnTo>
                <a:lnTo>
                  <a:pt x="746" y="380"/>
                </a:lnTo>
                <a:lnTo>
                  <a:pt x="748" y="383"/>
                </a:lnTo>
                <a:lnTo>
                  <a:pt x="750" y="385"/>
                </a:lnTo>
                <a:lnTo>
                  <a:pt x="754" y="389"/>
                </a:lnTo>
                <a:lnTo>
                  <a:pt x="761" y="389"/>
                </a:lnTo>
                <a:lnTo>
                  <a:pt x="766" y="391"/>
                </a:lnTo>
                <a:lnTo>
                  <a:pt x="766" y="391"/>
                </a:lnTo>
                <a:lnTo>
                  <a:pt x="783" y="387"/>
                </a:lnTo>
                <a:lnTo>
                  <a:pt x="783" y="387"/>
                </a:lnTo>
                <a:lnTo>
                  <a:pt x="795" y="387"/>
                </a:lnTo>
                <a:lnTo>
                  <a:pt x="808" y="389"/>
                </a:lnTo>
                <a:lnTo>
                  <a:pt x="808" y="389"/>
                </a:lnTo>
                <a:lnTo>
                  <a:pt x="808" y="393"/>
                </a:lnTo>
                <a:lnTo>
                  <a:pt x="808" y="394"/>
                </a:lnTo>
                <a:lnTo>
                  <a:pt x="803" y="398"/>
                </a:lnTo>
                <a:lnTo>
                  <a:pt x="795" y="400"/>
                </a:lnTo>
                <a:lnTo>
                  <a:pt x="786" y="400"/>
                </a:lnTo>
                <a:lnTo>
                  <a:pt x="777" y="402"/>
                </a:lnTo>
                <a:lnTo>
                  <a:pt x="770" y="404"/>
                </a:lnTo>
                <a:lnTo>
                  <a:pt x="765" y="405"/>
                </a:lnTo>
                <a:lnTo>
                  <a:pt x="763" y="407"/>
                </a:lnTo>
                <a:lnTo>
                  <a:pt x="763" y="411"/>
                </a:lnTo>
                <a:lnTo>
                  <a:pt x="763" y="411"/>
                </a:lnTo>
                <a:lnTo>
                  <a:pt x="765" y="415"/>
                </a:lnTo>
                <a:lnTo>
                  <a:pt x="770" y="416"/>
                </a:lnTo>
                <a:lnTo>
                  <a:pt x="775" y="416"/>
                </a:lnTo>
                <a:lnTo>
                  <a:pt x="784" y="416"/>
                </a:lnTo>
                <a:lnTo>
                  <a:pt x="799" y="413"/>
                </a:lnTo>
                <a:lnTo>
                  <a:pt x="810" y="411"/>
                </a:lnTo>
                <a:lnTo>
                  <a:pt x="810" y="411"/>
                </a:lnTo>
                <a:lnTo>
                  <a:pt x="819" y="407"/>
                </a:lnTo>
                <a:lnTo>
                  <a:pt x="830" y="405"/>
                </a:lnTo>
                <a:lnTo>
                  <a:pt x="835" y="405"/>
                </a:lnTo>
                <a:lnTo>
                  <a:pt x="841" y="407"/>
                </a:lnTo>
                <a:lnTo>
                  <a:pt x="846" y="409"/>
                </a:lnTo>
                <a:lnTo>
                  <a:pt x="850" y="413"/>
                </a:lnTo>
                <a:lnTo>
                  <a:pt x="850" y="413"/>
                </a:lnTo>
                <a:lnTo>
                  <a:pt x="851" y="416"/>
                </a:lnTo>
                <a:lnTo>
                  <a:pt x="851" y="420"/>
                </a:lnTo>
                <a:lnTo>
                  <a:pt x="851" y="422"/>
                </a:lnTo>
                <a:lnTo>
                  <a:pt x="850" y="424"/>
                </a:lnTo>
                <a:lnTo>
                  <a:pt x="842" y="426"/>
                </a:lnTo>
                <a:lnTo>
                  <a:pt x="835" y="426"/>
                </a:lnTo>
                <a:lnTo>
                  <a:pt x="835" y="426"/>
                </a:lnTo>
                <a:lnTo>
                  <a:pt x="821" y="426"/>
                </a:lnTo>
                <a:lnTo>
                  <a:pt x="799" y="427"/>
                </a:lnTo>
                <a:lnTo>
                  <a:pt x="788" y="429"/>
                </a:lnTo>
                <a:lnTo>
                  <a:pt x="781" y="433"/>
                </a:lnTo>
                <a:lnTo>
                  <a:pt x="779" y="435"/>
                </a:lnTo>
                <a:lnTo>
                  <a:pt x="779" y="438"/>
                </a:lnTo>
                <a:lnTo>
                  <a:pt x="779" y="442"/>
                </a:lnTo>
                <a:lnTo>
                  <a:pt x="781" y="448"/>
                </a:lnTo>
                <a:lnTo>
                  <a:pt x="781" y="448"/>
                </a:lnTo>
                <a:lnTo>
                  <a:pt x="783" y="451"/>
                </a:lnTo>
                <a:lnTo>
                  <a:pt x="786" y="455"/>
                </a:lnTo>
                <a:lnTo>
                  <a:pt x="795" y="459"/>
                </a:lnTo>
                <a:lnTo>
                  <a:pt x="795" y="459"/>
                </a:lnTo>
                <a:lnTo>
                  <a:pt x="810" y="466"/>
                </a:lnTo>
                <a:lnTo>
                  <a:pt x="824" y="471"/>
                </a:lnTo>
                <a:lnTo>
                  <a:pt x="824" y="471"/>
                </a:lnTo>
                <a:lnTo>
                  <a:pt x="835" y="471"/>
                </a:lnTo>
                <a:lnTo>
                  <a:pt x="844" y="471"/>
                </a:lnTo>
                <a:lnTo>
                  <a:pt x="864" y="468"/>
                </a:lnTo>
                <a:lnTo>
                  <a:pt x="864" y="468"/>
                </a:lnTo>
                <a:lnTo>
                  <a:pt x="873" y="466"/>
                </a:lnTo>
                <a:lnTo>
                  <a:pt x="880" y="462"/>
                </a:lnTo>
                <a:lnTo>
                  <a:pt x="880" y="462"/>
                </a:lnTo>
                <a:lnTo>
                  <a:pt x="891" y="457"/>
                </a:lnTo>
                <a:lnTo>
                  <a:pt x="902" y="453"/>
                </a:lnTo>
                <a:lnTo>
                  <a:pt x="902" y="453"/>
                </a:lnTo>
                <a:lnTo>
                  <a:pt x="915" y="451"/>
                </a:lnTo>
                <a:lnTo>
                  <a:pt x="928" y="449"/>
                </a:lnTo>
                <a:lnTo>
                  <a:pt x="928" y="449"/>
                </a:lnTo>
                <a:lnTo>
                  <a:pt x="931" y="449"/>
                </a:lnTo>
                <a:lnTo>
                  <a:pt x="933" y="446"/>
                </a:lnTo>
                <a:lnTo>
                  <a:pt x="937" y="444"/>
                </a:lnTo>
                <a:lnTo>
                  <a:pt x="940" y="444"/>
                </a:lnTo>
                <a:lnTo>
                  <a:pt x="940" y="444"/>
                </a:lnTo>
                <a:lnTo>
                  <a:pt x="946" y="446"/>
                </a:lnTo>
                <a:lnTo>
                  <a:pt x="949" y="449"/>
                </a:lnTo>
                <a:lnTo>
                  <a:pt x="957" y="459"/>
                </a:lnTo>
                <a:lnTo>
                  <a:pt x="957" y="459"/>
                </a:lnTo>
                <a:lnTo>
                  <a:pt x="964" y="464"/>
                </a:lnTo>
                <a:lnTo>
                  <a:pt x="973" y="468"/>
                </a:lnTo>
                <a:lnTo>
                  <a:pt x="980" y="470"/>
                </a:lnTo>
                <a:lnTo>
                  <a:pt x="989" y="470"/>
                </a:lnTo>
                <a:lnTo>
                  <a:pt x="989" y="470"/>
                </a:lnTo>
                <a:lnTo>
                  <a:pt x="995" y="468"/>
                </a:lnTo>
                <a:lnTo>
                  <a:pt x="998" y="466"/>
                </a:lnTo>
                <a:lnTo>
                  <a:pt x="1000" y="462"/>
                </a:lnTo>
                <a:lnTo>
                  <a:pt x="996" y="459"/>
                </a:lnTo>
                <a:lnTo>
                  <a:pt x="996" y="459"/>
                </a:lnTo>
                <a:lnTo>
                  <a:pt x="987" y="453"/>
                </a:lnTo>
                <a:lnTo>
                  <a:pt x="984" y="449"/>
                </a:lnTo>
                <a:lnTo>
                  <a:pt x="984" y="448"/>
                </a:lnTo>
                <a:lnTo>
                  <a:pt x="986" y="446"/>
                </a:lnTo>
                <a:lnTo>
                  <a:pt x="986" y="446"/>
                </a:lnTo>
                <a:lnTo>
                  <a:pt x="989" y="444"/>
                </a:lnTo>
                <a:lnTo>
                  <a:pt x="995" y="444"/>
                </a:lnTo>
                <a:lnTo>
                  <a:pt x="1007" y="444"/>
                </a:lnTo>
                <a:lnTo>
                  <a:pt x="1013" y="444"/>
                </a:lnTo>
                <a:lnTo>
                  <a:pt x="1016" y="442"/>
                </a:lnTo>
                <a:lnTo>
                  <a:pt x="1018" y="438"/>
                </a:lnTo>
                <a:lnTo>
                  <a:pt x="1016" y="433"/>
                </a:lnTo>
                <a:lnTo>
                  <a:pt x="1016" y="433"/>
                </a:lnTo>
                <a:lnTo>
                  <a:pt x="1011" y="427"/>
                </a:lnTo>
                <a:lnTo>
                  <a:pt x="1004" y="424"/>
                </a:lnTo>
                <a:lnTo>
                  <a:pt x="991" y="420"/>
                </a:lnTo>
                <a:lnTo>
                  <a:pt x="991" y="420"/>
                </a:lnTo>
                <a:lnTo>
                  <a:pt x="975" y="413"/>
                </a:lnTo>
                <a:lnTo>
                  <a:pt x="969" y="407"/>
                </a:lnTo>
                <a:lnTo>
                  <a:pt x="962" y="402"/>
                </a:lnTo>
                <a:lnTo>
                  <a:pt x="962" y="402"/>
                </a:lnTo>
                <a:lnTo>
                  <a:pt x="958" y="396"/>
                </a:lnTo>
                <a:lnTo>
                  <a:pt x="957" y="389"/>
                </a:lnTo>
                <a:lnTo>
                  <a:pt x="957" y="389"/>
                </a:lnTo>
                <a:lnTo>
                  <a:pt x="955" y="382"/>
                </a:lnTo>
                <a:lnTo>
                  <a:pt x="955" y="378"/>
                </a:lnTo>
                <a:lnTo>
                  <a:pt x="953" y="374"/>
                </a:lnTo>
                <a:lnTo>
                  <a:pt x="953" y="374"/>
                </a:lnTo>
                <a:lnTo>
                  <a:pt x="948" y="372"/>
                </a:lnTo>
                <a:lnTo>
                  <a:pt x="946" y="371"/>
                </a:lnTo>
                <a:lnTo>
                  <a:pt x="944" y="367"/>
                </a:lnTo>
                <a:lnTo>
                  <a:pt x="944" y="367"/>
                </a:lnTo>
                <a:lnTo>
                  <a:pt x="944" y="363"/>
                </a:lnTo>
                <a:lnTo>
                  <a:pt x="946" y="361"/>
                </a:lnTo>
                <a:lnTo>
                  <a:pt x="946" y="358"/>
                </a:lnTo>
                <a:lnTo>
                  <a:pt x="946" y="354"/>
                </a:lnTo>
                <a:lnTo>
                  <a:pt x="946" y="354"/>
                </a:lnTo>
                <a:lnTo>
                  <a:pt x="940" y="345"/>
                </a:lnTo>
                <a:lnTo>
                  <a:pt x="933" y="339"/>
                </a:lnTo>
                <a:lnTo>
                  <a:pt x="933" y="339"/>
                </a:lnTo>
                <a:lnTo>
                  <a:pt x="928" y="337"/>
                </a:lnTo>
                <a:lnTo>
                  <a:pt x="922" y="341"/>
                </a:lnTo>
                <a:lnTo>
                  <a:pt x="919" y="345"/>
                </a:lnTo>
                <a:lnTo>
                  <a:pt x="919" y="349"/>
                </a:lnTo>
                <a:lnTo>
                  <a:pt x="919" y="350"/>
                </a:lnTo>
                <a:lnTo>
                  <a:pt x="919" y="350"/>
                </a:lnTo>
                <a:close/>
                <a:moveTo>
                  <a:pt x="1578" y="640"/>
                </a:moveTo>
                <a:lnTo>
                  <a:pt x="1578" y="640"/>
                </a:lnTo>
                <a:lnTo>
                  <a:pt x="1582" y="642"/>
                </a:lnTo>
                <a:lnTo>
                  <a:pt x="1583" y="642"/>
                </a:lnTo>
                <a:lnTo>
                  <a:pt x="1585" y="638"/>
                </a:lnTo>
                <a:lnTo>
                  <a:pt x="1587" y="633"/>
                </a:lnTo>
                <a:lnTo>
                  <a:pt x="1585" y="629"/>
                </a:lnTo>
                <a:lnTo>
                  <a:pt x="1582" y="629"/>
                </a:lnTo>
                <a:lnTo>
                  <a:pt x="1582" y="629"/>
                </a:lnTo>
                <a:lnTo>
                  <a:pt x="1580" y="629"/>
                </a:lnTo>
                <a:lnTo>
                  <a:pt x="1578" y="629"/>
                </a:lnTo>
                <a:lnTo>
                  <a:pt x="1576" y="633"/>
                </a:lnTo>
                <a:lnTo>
                  <a:pt x="1576" y="636"/>
                </a:lnTo>
                <a:lnTo>
                  <a:pt x="1578" y="640"/>
                </a:lnTo>
                <a:lnTo>
                  <a:pt x="1578" y="640"/>
                </a:lnTo>
                <a:close/>
                <a:moveTo>
                  <a:pt x="1062" y="440"/>
                </a:moveTo>
                <a:lnTo>
                  <a:pt x="1062" y="440"/>
                </a:lnTo>
                <a:lnTo>
                  <a:pt x="1056" y="438"/>
                </a:lnTo>
                <a:lnTo>
                  <a:pt x="1049" y="440"/>
                </a:lnTo>
                <a:lnTo>
                  <a:pt x="1045" y="444"/>
                </a:lnTo>
                <a:lnTo>
                  <a:pt x="1042" y="449"/>
                </a:lnTo>
                <a:lnTo>
                  <a:pt x="1042" y="449"/>
                </a:lnTo>
                <a:lnTo>
                  <a:pt x="1042" y="457"/>
                </a:lnTo>
                <a:lnTo>
                  <a:pt x="1045" y="464"/>
                </a:lnTo>
                <a:lnTo>
                  <a:pt x="1051" y="470"/>
                </a:lnTo>
                <a:lnTo>
                  <a:pt x="1058" y="475"/>
                </a:lnTo>
                <a:lnTo>
                  <a:pt x="1067" y="479"/>
                </a:lnTo>
                <a:lnTo>
                  <a:pt x="1076" y="481"/>
                </a:lnTo>
                <a:lnTo>
                  <a:pt x="1083" y="481"/>
                </a:lnTo>
                <a:lnTo>
                  <a:pt x="1091" y="479"/>
                </a:lnTo>
                <a:lnTo>
                  <a:pt x="1091" y="479"/>
                </a:lnTo>
                <a:lnTo>
                  <a:pt x="1094" y="477"/>
                </a:lnTo>
                <a:lnTo>
                  <a:pt x="1096" y="475"/>
                </a:lnTo>
                <a:lnTo>
                  <a:pt x="1098" y="468"/>
                </a:lnTo>
                <a:lnTo>
                  <a:pt x="1096" y="460"/>
                </a:lnTo>
                <a:lnTo>
                  <a:pt x="1096" y="453"/>
                </a:lnTo>
                <a:lnTo>
                  <a:pt x="1096" y="453"/>
                </a:lnTo>
                <a:lnTo>
                  <a:pt x="1091" y="449"/>
                </a:lnTo>
                <a:lnTo>
                  <a:pt x="1083" y="446"/>
                </a:lnTo>
                <a:lnTo>
                  <a:pt x="1069" y="440"/>
                </a:lnTo>
                <a:lnTo>
                  <a:pt x="1069" y="440"/>
                </a:lnTo>
                <a:lnTo>
                  <a:pt x="1062" y="440"/>
                </a:lnTo>
                <a:lnTo>
                  <a:pt x="1062" y="440"/>
                </a:lnTo>
                <a:close/>
                <a:moveTo>
                  <a:pt x="1111" y="297"/>
                </a:moveTo>
                <a:lnTo>
                  <a:pt x="1111" y="297"/>
                </a:lnTo>
                <a:lnTo>
                  <a:pt x="1118" y="297"/>
                </a:lnTo>
                <a:lnTo>
                  <a:pt x="1123" y="295"/>
                </a:lnTo>
                <a:lnTo>
                  <a:pt x="1127" y="293"/>
                </a:lnTo>
                <a:lnTo>
                  <a:pt x="1129" y="286"/>
                </a:lnTo>
                <a:lnTo>
                  <a:pt x="1129" y="286"/>
                </a:lnTo>
                <a:lnTo>
                  <a:pt x="1129" y="279"/>
                </a:lnTo>
                <a:lnTo>
                  <a:pt x="1125" y="271"/>
                </a:lnTo>
                <a:lnTo>
                  <a:pt x="1120" y="266"/>
                </a:lnTo>
                <a:lnTo>
                  <a:pt x="1116" y="264"/>
                </a:lnTo>
                <a:lnTo>
                  <a:pt x="1112" y="262"/>
                </a:lnTo>
                <a:lnTo>
                  <a:pt x="1112" y="262"/>
                </a:lnTo>
                <a:lnTo>
                  <a:pt x="1103" y="264"/>
                </a:lnTo>
                <a:lnTo>
                  <a:pt x="1103" y="264"/>
                </a:lnTo>
                <a:lnTo>
                  <a:pt x="1094" y="271"/>
                </a:lnTo>
                <a:lnTo>
                  <a:pt x="1094" y="271"/>
                </a:lnTo>
                <a:lnTo>
                  <a:pt x="1089" y="279"/>
                </a:lnTo>
                <a:lnTo>
                  <a:pt x="1087" y="282"/>
                </a:lnTo>
                <a:lnTo>
                  <a:pt x="1087" y="288"/>
                </a:lnTo>
                <a:lnTo>
                  <a:pt x="1087" y="288"/>
                </a:lnTo>
                <a:lnTo>
                  <a:pt x="1089" y="290"/>
                </a:lnTo>
                <a:lnTo>
                  <a:pt x="1091" y="293"/>
                </a:lnTo>
                <a:lnTo>
                  <a:pt x="1098" y="295"/>
                </a:lnTo>
                <a:lnTo>
                  <a:pt x="1111" y="297"/>
                </a:lnTo>
                <a:lnTo>
                  <a:pt x="1111" y="297"/>
                </a:lnTo>
                <a:close/>
                <a:moveTo>
                  <a:pt x="1078" y="350"/>
                </a:moveTo>
                <a:lnTo>
                  <a:pt x="1078" y="350"/>
                </a:lnTo>
                <a:lnTo>
                  <a:pt x="1073" y="349"/>
                </a:lnTo>
                <a:lnTo>
                  <a:pt x="1065" y="345"/>
                </a:lnTo>
                <a:lnTo>
                  <a:pt x="1062" y="339"/>
                </a:lnTo>
                <a:lnTo>
                  <a:pt x="1062" y="337"/>
                </a:lnTo>
                <a:lnTo>
                  <a:pt x="1063" y="334"/>
                </a:lnTo>
                <a:lnTo>
                  <a:pt x="1063" y="334"/>
                </a:lnTo>
                <a:lnTo>
                  <a:pt x="1067" y="330"/>
                </a:lnTo>
                <a:lnTo>
                  <a:pt x="1073" y="328"/>
                </a:lnTo>
                <a:lnTo>
                  <a:pt x="1073" y="328"/>
                </a:lnTo>
                <a:lnTo>
                  <a:pt x="1074" y="325"/>
                </a:lnTo>
                <a:lnTo>
                  <a:pt x="1074" y="319"/>
                </a:lnTo>
                <a:lnTo>
                  <a:pt x="1073" y="315"/>
                </a:lnTo>
                <a:lnTo>
                  <a:pt x="1071" y="312"/>
                </a:lnTo>
                <a:lnTo>
                  <a:pt x="1071" y="312"/>
                </a:lnTo>
                <a:lnTo>
                  <a:pt x="1069" y="310"/>
                </a:lnTo>
                <a:lnTo>
                  <a:pt x="1065" y="308"/>
                </a:lnTo>
                <a:lnTo>
                  <a:pt x="1058" y="308"/>
                </a:lnTo>
                <a:lnTo>
                  <a:pt x="1058" y="308"/>
                </a:lnTo>
                <a:lnTo>
                  <a:pt x="1053" y="310"/>
                </a:lnTo>
                <a:lnTo>
                  <a:pt x="1049" y="312"/>
                </a:lnTo>
                <a:lnTo>
                  <a:pt x="1049" y="312"/>
                </a:lnTo>
                <a:lnTo>
                  <a:pt x="1040" y="317"/>
                </a:lnTo>
                <a:lnTo>
                  <a:pt x="1031" y="319"/>
                </a:lnTo>
                <a:lnTo>
                  <a:pt x="1031" y="319"/>
                </a:lnTo>
                <a:lnTo>
                  <a:pt x="1024" y="321"/>
                </a:lnTo>
                <a:lnTo>
                  <a:pt x="1018" y="325"/>
                </a:lnTo>
                <a:lnTo>
                  <a:pt x="1016" y="326"/>
                </a:lnTo>
                <a:lnTo>
                  <a:pt x="1016" y="328"/>
                </a:lnTo>
                <a:lnTo>
                  <a:pt x="1018" y="332"/>
                </a:lnTo>
                <a:lnTo>
                  <a:pt x="1022" y="336"/>
                </a:lnTo>
                <a:lnTo>
                  <a:pt x="1022" y="336"/>
                </a:lnTo>
                <a:lnTo>
                  <a:pt x="1025" y="339"/>
                </a:lnTo>
                <a:lnTo>
                  <a:pt x="1027" y="345"/>
                </a:lnTo>
                <a:lnTo>
                  <a:pt x="1027" y="347"/>
                </a:lnTo>
                <a:lnTo>
                  <a:pt x="1025" y="350"/>
                </a:lnTo>
                <a:lnTo>
                  <a:pt x="1024" y="350"/>
                </a:lnTo>
                <a:lnTo>
                  <a:pt x="1020" y="352"/>
                </a:lnTo>
                <a:lnTo>
                  <a:pt x="1020" y="352"/>
                </a:lnTo>
                <a:lnTo>
                  <a:pt x="1016" y="352"/>
                </a:lnTo>
                <a:lnTo>
                  <a:pt x="1011" y="350"/>
                </a:lnTo>
                <a:lnTo>
                  <a:pt x="1007" y="349"/>
                </a:lnTo>
                <a:lnTo>
                  <a:pt x="1004" y="347"/>
                </a:lnTo>
                <a:lnTo>
                  <a:pt x="1004" y="347"/>
                </a:lnTo>
                <a:lnTo>
                  <a:pt x="998" y="349"/>
                </a:lnTo>
                <a:lnTo>
                  <a:pt x="996" y="350"/>
                </a:lnTo>
                <a:lnTo>
                  <a:pt x="995" y="354"/>
                </a:lnTo>
                <a:lnTo>
                  <a:pt x="993" y="360"/>
                </a:lnTo>
                <a:lnTo>
                  <a:pt x="993" y="360"/>
                </a:lnTo>
                <a:lnTo>
                  <a:pt x="995" y="365"/>
                </a:lnTo>
                <a:lnTo>
                  <a:pt x="998" y="367"/>
                </a:lnTo>
                <a:lnTo>
                  <a:pt x="1009" y="367"/>
                </a:lnTo>
                <a:lnTo>
                  <a:pt x="1009" y="367"/>
                </a:lnTo>
                <a:lnTo>
                  <a:pt x="1016" y="369"/>
                </a:lnTo>
                <a:lnTo>
                  <a:pt x="1022" y="374"/>
                </a:lnTo>
                <a:lnTo>
                  <a:pt x="1031" y="385"/>
                </a:lnTo>
                <a:lnTo>
                  <a:pt x="1031" y="385"/>
                </a:lnTo>
                <a:lnTo>
                  <a:pt x="1040" y="393"/>
                </a:lnTo>
                <a:lnTo>
                  <a:pt x="1044" y="396"/>
                </a:lnTo>
                <a:lnTo>
                  <a:pt x="1051" y="396"/>
                </a:lnTo>
                <a:lnTo>
                  <a:pt x="1051" y="396"/>
                </a:lnTo>
                <a:lnTo>
                  <a:pt x="1056" y="394"/>
                </a:lnTo>
                <a:lnTo>
                  <a:pt x="1062" y="393"/>
                </a:lnTo>
                <a:lnTo>
                  <a:pt x="1073" y="389"/>
                </a:lnTo>
                <a:lnTo>
                  <a:pt x="1073" y="389"/>
                </a:lnTo>
                <a:lnTo>
                  <a:pt x="1078" y="387"/>
                </a:lnTo>
                <a:lnTo>
                  <a:pt x="1080" y="385"/>
                </a:lnTo>
                <a:lnTo>
                  <a:pt x="1085" y="378"/>
                </a:lnTo>
                <a:lnTo>
                  <a:pt x="1089" y="369"/>
                </a:lnTo>
                <a:lnTo>
                  <a:pt x="1091" y="360"/>
                </a:lnTo>
                <a:lnTo>
                  <a:pt x="1091" y="360"/>
                </a:lnTo>
                <a:lnTo>
                  <a:pt x="1089" y="354"/>
                </a:lnTo>
                <a:lnTo>
                  <a:pt x="1087" y="352"/>
                </a:lnTo>
                <a:lnTo>
                  <a:pt x="1078" y="350"/>
                </a:lnTo>
                <a:lnTo>
                  <a:pt x="1078" y="350"/>
                </a:lnTo>
                <a:close/>
                <a:moveTo>
                  <a:pt x="1404" y="488"/>
                </a:moveTo>
                <a:lnTo>
                  <a:pt x="1404" y="488"/>
                </a:lnTo>
                <a:lnTo>
                  <a:pt x="1402" y="488"/>
                </a:lnTo>
                <a:lnTo>
                  <a:pt x="1402" y="488"/>
                </a:lnTo>
                <a:lnTo>
                  <a:pt x="1399" y="490"/>
                </a:lnTo>
                <a:lnTo>
                  <a:pt x="1395" y="492"/>
                </a:lnTo>
                <a:lnTo>
                  <a:pt x="1393" y="493"/>
                </a:lnTo>
                <a:lnTo>
                  <a:pt x="1393" y="497"/>
                </a:lnTo>
                <a:lnTo>
                  <a:pt x="1393" y="506"/>
                </a:lnTo>
                <a:lnTo>
                  <a:pt x="1397" y="508"/>
                </a:lnTo>
                <a:lnTo>
                  <a:pt x="1399" y="512"/>
                </a:lnTo>
                <a:lnTo>
                  <a:pt x="1399" y="512"/>
                </a:lnTo>
                <a:lnTo>
                  <a:pt x="1404" y="512"/>
                </a:lnTo>
                <a:lnTo>
                  <a:pt x="1408" y="510"/>
                </a:lnTo>
                <a:lnTo>
                  <a:pt x="1409" y="506"/>
                </a:lnTo>
                <a:lnTo>
                  <a:pt x="1411" y="503"/>
                </a:lnTo>
                <a:lnTo>
                  <a:pt x="1411" y="497"/>
                </a:lnTo>
                <a:lnTo>
                  <a:pt x="1409" y="493"/>
                </a:lnTo>
                <a:lnTo>
                  <a:pt x="1408" y="490"/>
                </a:lnTo>
                <a:lnTo>
                  <a:pt x="1404" y="488"/>
                </a:lnTo>
                <a:lnTo>
                  <a:pt x="1404" y="488"/>
                </a:lnTo>
                <a:close/>
                <a:moveTo>
                  <a:pt x="1455" y="1603"/>
                </a:moveTo>
                <a:lnTo>
                  <a:pt x="1455" y="1603"/>
                </a:lnTo>
                <a:lnTo>
                  <a:pt x="1455" y="1609"/>
                </a:lnTo>
                <a:lnTo>
                  <a:pt x="1453" y="1614"/>
                </a:lnTo>
                <a:lnTo>
                  <a:pt x="1453" y="1614"/>
                </a:lnTo>
                <a:lnTo>
                  <a:pt x="1449" y="1616"/>
                </a:lnTo>
                <a:lnTo>
                  <a:pt x="1448" y="1616"/>
                </a:lnTo>
                <a:lnTo>
                  <a:pt x="1440" y="1614"/>
                </a:lnTo>
                <a:lnTo>
                  <a:pt x="1440" y="1614"/>
                </a:lnTo>
                <a:lnTo>
                  <a:pt x="1435" y="1612"/>
                </a:lnTo>
                <a:lnTo>
                  <a:pt x="1428" y="1612"/>
                </a:lnTo>
                <a:lnTo>
                  <a:pt x="1428" y="1612"/>
                </a:lnTo>
                <a:lnTo>
                  <a:pt x="1424" y="1612"/>
                </a:lnTo>
                <a:lnTo>
                  <a:pt x="1420" y="1614"/>
                </a:lnTo>
                <a:lnTo>
                  <a:pt x="1420" y="1618"/>
                </a:lnTo>
                <a:lnTo>
                  <a:pt x="1420" y="1621"/>
                </a:lnTo>
                <a:lnTo>
                  <a:pt x="1420" y="1621"/>
                </a:lnTo>
                <a:lnTo>
                  <a:pt x="1424" y="1623"/>
                </a:lnTo>
                <a:lnTo>
                  <a:pt x="1429" y="1625"/>
                </a:lnTo>
                <a:lnTo>
                  <a:pt x="1438" y="1625"/>
                </a:lnTo>
                <a:lnTo>
                  <a:pt x="1438" y="1625"/>
                </a:lnTo>
                <a:lnTo>
                  <a:pt x="1449" y="1621"/>
                </a:lnTo>
                <a:lnTo>
                  <a:pt x="1462" y="1621"/>
                </a:lnTo>
                <a:lnTo>
                  <a:pt x="1462" y="1621"/>
                </a:lnTo>
                <a:lnTo>
                  <a:pt x="1464" y="1621"/>
                </a:lnTo>
                <a:lnTo>
                  <a:pt x="1464" y="1621"/>
                </a:lnTo>
                <a:lnTo>
                  <a:pt x="1477" y="1625"/>
                </a:lnTo>
                <a:lnTo>
                  <a:pt x="1484" y="1625"/>
                </a:lnTo>
                <a:lnTo>
                  <a:pt x="1491" y="1625"/>
                </a:lnTo>
                <a:lnTo>
                  <a:pt x="1491" y="1625"/>
                </a:lnTo>
                <a:lnTo>
                  <a:pt x="1495" y="1621"/>
                </a:lnTo>
                <a:lnTo>
                  <a:pt x="1495" y="1618"/>
                </a:lnTo>
                <a:lnTo>
                  <a:pt x="1495" y="1612"/>
                </a:lnTo>
                <a:lnTo>
                  <a:pt x="1493" y="1609"/>
                </a:lnTo>
                <a:lnTo>
                  <a:pt x="1493" y="1609"/>
                </a:lnTo>
                <a:lnTo>
                  <a:pt x="1489" y="1603"/>
                </a:lnTo>
                <a:lnTo>
                  <a:pt x="1486" y="1599"/>
                </a:lnTo>
                <a:lnTo>
                  <a:pt x="1480" y="1598"/>
                </a:lnTo>
                <a:lnTo>
                  <a:pt x="1475" y="1596"/>
                </a:lnTo>
                <a:lnTo>
                  <a:pt x="1469" y="1594"/>
                </a:lnTo>
                <a:lnTo>
                  <a:pt x="1464" y="1596"/>
                </a:lnTo>
                <a:lnTo>
                  <a:pt x="1458" y="1599"/>
                </a:lnTo>
                <a:lnTo>
                  <a:pt x="1455" y="1603"/>
                </a:lnTo>
                <a:lnTo>
                  <a:pt x="1455" y="1603"/>
                </a:lnTo>
                <a:close/>
                <a:moveTo>
                  <a:pt x="1069" y="185"/>
                </a:moveTo>
                <a:lnTo>
                  <a:pt x="1069" y="185"/>
                </a:lnTo>
                <a:lnTo>
                  <a:pt x="1073" y="187"/>
                </a:lnTo>
                <a:lnTo>
                  <a:pt x="1073" y="189"/>
                </a:lnTo>
                <a:lnTo>
                  <a:pt x="1073" y="193"/>
                </a:lnTo>
                <a:lnTo>
                  <a:pt x="1074" y="196"/>
                </a:lnTo>
                <a:lnTo>
                  <a:pt x="1074" y="196"/>
                </a:lnTo>
                <a:lnTo>
                  <a:pt x="1078" y="200"/>
                </a:lnTo>
                <a:lnTo>
                  <a:pt x="1082" y="202"/>
                </a:lnTo>
                <a:lnTo>
                  <a:pt x="1091" y="204"/>
                </a:lnTo>
                <a:lnTo>
                  <a:pt x="1100" y="202"/>
                </a:lnTo>
                <a:lnTo>
                  <a:pt x="1107" y="198"/>
                </a:lnTo>
                <a:lnTo>
                  <a:pt x="1107" y="198"/>
                </a:lnTo>
                <a:lnTo>
                  <a:pt x="1109" y="194"/>
                </a:lnTo>
                <a:lnTo>
                  <a:pt x="1109" y="193"/>
                </a:lnTo>
                <a:lnTo>
                  <a:pt x="1107" y="189"/>
                </a:lnTo>
                <a:lnTo>
                  <a:pt x="1105" y="185"/>
                </a:lnTo>
                <a:lnTo>
                  <a:pt x="1091" y="176"/>
                </a:lnTo>
                <a:lnTo>
                  <a:pt x="1091" y="176"/>
                </a:lnTo>
                <a:lnTo>
                  <a:pt x="1085" y="171"/>
                </a:lnTo>
                <a:lnTo>
                  <a:pt x="1076" y="167"/>
                </a:lnTo>
                <a:lnTo>
                  <a:pt x="1069" y="165"/>
                </a:lnTo>
                <a:lnTo>
                  <a:pt x="1065" y="165"/>
                </a:lnTo>
                <a:lnTo>
                  <a:pt x="1062" y="167"/>
                </a:lnTo>
                <a:lnTo>
                  <a:pt x="1062" y="167"/>
                </a:lnTo>
                <a:lnTo>
                  <a:pt x="1058" y="171"/>
                </a:lnTo>
                <a:lnTo>
                  <a:pt x="1058" y="171"/>
                </a:lnTo>
                <a:lnTo>
                  <a:pt x="1056" y="172"/>
                </a:lnTo>
                <a:lnTo>
                  <a:pt x="1056" y="174"/>
                </a:lnTo>
                <a:lnTo>
                  <a:pt x="1060" y="180"/>
                </a:lnTo>
                <a:lnTo>
                  <a:pt x="1069" y="185"/>
                </a:lnTo>
                <a:lnTo>
                  <a:pt x="1069" y="185"/>
                </a:lnTo>
                <a:close/>
                <a:moveTo>
                  <a:pt x="1033" y="229"/>
                </a:moveTo>
                <a:lnTo>
                  <a:pt x="1033" y="229"/>
                </a:lnTo>
                <a:lnTo>
                  <a:pt x="1029" y="231"/>
                </a:lnTo>
                <a:lnTo>
                  <a:pt x="1027" y="235"/>
                </a:lnTo>
                <a:lnTo>
                  <a:pt x="1027" y="237"/>
                </a:lnTo>
                <a:lnTo>
                  <a:pt x="1027" y="240"/>
                </a:lnTo>
                <a:lnTo>
                  <a:pt x="1031" y="246"/>
                </a:lnTo>
                <a:lnTo>
                  <a:pt x="1031" y="253"/>
                </a:lnTo>
                <a:lnTo>
                  <a:pt x="1031" y="253"/>
                </a:lnTo>
                <a:lnTo>
                  <a:pt x="1031" y="257"/>
                </a:lnTo>
                <a:lnTo>
                  <a:pt x="1029" y="259"/>
                </a:lnTo>
                <a:lnTo>
                  <a:pt x="1027" y="257"/>
                </a:lnTo>
                <a:lnTo>
                  <a:pt x="1024" y="255"/>
                </a:lnTo>
                <a:lnTo>
                  <a:pt x="1016" y="242"/>
                </a:lnTo>
                <a:lnTo>
                  <a:pt x="1016" y="242"/>
                </a:lnTo>
                <a:lnTo>
                  <a:pt x="1015" y="240"/>
                </a:lnTo>
                <a:lnTo>
                  <a:pt x="1009" y="238"/>
                </a:lnTo>
                <a:lnTo>
                  <a:pt x="1005" y="238"/>
                </a:lnTo>
                <a:lnTo>
                  <a:pt x="1004" y="240"/>
                </a:lnTo>
                <a:lnTo>
                  <a:pt x="1004" y="240"/>
                </a:lnTo>
                <a:lnTo>
                  <a:pt x="1002" y="244"/>
                </a:lnTo>
                <a:lnTo>
                  <a:pt x="1004" y="246"/>
                </a:lnTo>
                <a:lnTo>
                  <a:pt x="1005" y="249"/>
                </a:lnTo>
                <a:lnTo>
                  <a:pt x="1011" y="253"/>
                </a:lnTo>
                <a:lnTo>
                  <a:pt x="1013" y="259"/>
                </a:lnTo>
                <a:lnTo>
                  <a:pt x="1013" y="259"/>
                </a:lnTo>
                <a:lnTo>
                  <a:pt x="1013" y="262"/>
                </a:lnTo>
                <a:lnTo>
                  <a:pt x="1009" y="264"/>
                </a:lnTo>
                <a:lnTo>
                  <a:pt x="1002" y="266"/>
                </a:lnTo>
                <a:lnTo>
                  <a:pt x="1002" y="266"/>
                </a:lnTo>
                <a:lnTo>
                  <a:pt x="996" y="266"/>
                </a:lnTo>
                <a:lnTo>
                  <a:pt x="993" y="270"/>
                </a:lnTo>
                <a:lnTo>
                  <a:pt x="991" y="271"/>
                </a:lnTo>
                <a:lnTo>
                  <a:pt x="993" y="277"/>
                </a:lnTo>
                <a:lnTo>
                  <a:pt x="993" y="277"/>
                </a:lnTo>
                <a:lnTo>
                  <a:pt x="996" y="279"/>
                </a:lnTo>
                <a:lnTo>
                  <a:pt x="998" y="279"/>
                </a:lnTo>
                <a:lnTo>
                  <a:pt x="1004" y="277"/>
                </a:lnTo>
                <a:lnTo>
                  <a:pt x="1013" y="273"/>
                </a:lnTo>
                <a:lnTo>
                  <a:pt x="1013" y="273"/>
                </a:lnTo>
                <a:lnTo>
                  <a:pt x="1020" y="270"/>
                </a:lnTo>
                <a:lnTo>
                  <a:pt x="1024" y="270"/>
                </a:lnTo>
                <a:lnTo>
                  <a:pt x="1027" y="270"/>
                </a:lnTo>
                <a:lnTo>
                  <a:pt x="1027" y="270"/>
                </a:lnTo>
                <a:lnTo>
                  <a:pt x="1029" y="271"/>
                </a:lnTo>
                <a:lnTo>
                  <a:pt x="1029" y="273"/>
                </a:lnTo>
                <a:lnTo>
                  <a:pt x="1027" y="277"/>
                </a:lnTo>
                <a:lnTo>
                  <a:pt x="1027" y="277"/>
                </a:lnTo>
                <a:lnTo>
                  <a:pt x="1027" y="281"/>
                </a:lnTo>
                <a:lnTo>
                  <a:pt x="1027" y="284"/>
                </a:lnTo>
                <a:lnTo>
                  <a:pt x="1031" y="288"/>
                </a:lnTo>
                <a:lnTo>
                  <a:pt x="1036" y="290"/>
                </a:lnTo>
                <a:lnTo>
                  <a:pt x="1036" y="290"/>
                </a:lnTo>
                <a:lnTo>
                  <a:pt x="1049" y="290"/>
                </a:lnTo>
                <a:lnTo>
                  <a:pt x="1062" y="288"/>
                </a:lnTo>
                <a:lnTo>
                  <a:pt x="1062" y="288"/>
                </a:lnTo>
                <a:lnTo>
                  <a:pt x="1067" y="286"/>
                </a:lnTo>
                <a:lnTo>
                  <a:pt x="1073" y="279"/>
                </a:lnTo>
                <a:lnTo>
                  <a:pt x="1073" y="279"/>
                </a:lnTo>
                <a:lnTo>
                  <a:pt x="1074" y="273"/>
                </a:lnTo>
                <a:lnTo>
                  <a:pt x="1073" y="270"/>
                </a:lnTo>
                <a:lnTo>
                  <a:pt x="1069" y="266"/>
                </a:lnTo>
                <a:lnTo>
                  <a:pt x="1067" y="260"/>
                </a:lnTo>
                <a:lnTo>
                  <a:pt x="1067" y="260"/>
                </a:lnTo>
                <a:lnTo>
                  <a:pt x="1065" y="257"/>
                </a:lnTo>
                <a:lnTo>
                  <a:pt x="1067" y="251"/>
                </a:lnTo>
                <a:lnTo>
                  <a:pt x="1067" y="246"/>
                </a:lnTo>
                <a:lnTo>
                  <a:pt x="1067" y="240"/>
                </a:lnTo>
                <a:lnTo>
                  <a:pt x="1067" y="240"/>
                </a:lnTo>
                <a:lnTo>
                  <a:pt x="1062" y="235"/>
                </a:lnTo>
                <a:lnTo>
                  <a:pt x="1053" y="229"/>
                </a:lnTo>
                <a:lnTo>
                  <a:pt x="1053" y="229"/>
                </a:lnTo>
                <a:lnTo>
                  <a:pt x="1045" y="227"/>
                </a:lnTo>
                <a:lnTo>
                  <a:pt x="1036" y="227"/>
                </a:lnTo>
                <a:lnTo>
                  <a:pt x="1036" y="227"/>
                </a:lnTo>
                <a:lnTo>
                  <a:pt x="1033" y="229"/>
                </a:lnTo>
                <a:lnTo>
                  <a:pt x="1033" y="229"/>
                </a:lnTo>
                <a:close/>
                <a:moveTo>
                  <a:pt x="1123" y="216"/>
                </a:moveTo>
                <a:lnTo>
                  <a:pt x="1123" y="216"/>
                </a:lnTo>
                <a:lnTo>
                  <a:pt x="1132" y="216"/>
                </a:lnTo>
                <a:lnTo>
                  <a:pt x="1138" y="213"/>
                </a:lnTo>
                <a:lnTo>
                  <a:pt x="1141" y="211"/>
                </a:lnTo>
                <a:lnTo>
                  <a:pt x="1143" y="207"/>
                </a:lnTo>
                <a:lnTo>
                  <a:pt x="1141" y="204"/>
                </a:lnTo>
                <a:lnTo>
                  <a:pt x="1138" y="200"/>
                </a:lnTo>
                <a:lnTo>
                  <a:pt x="1132" y="200"/>
                </a:lnTo>
                <a:lnTo>
                  <a:pt x="1123" y="200"/>
                </a:lnTo>
                <a:lnTo>
                  <a:pt x="1123" y="200"/>
                </a:lnTo>
                <a:lnTo>
                  <a:pt x="1116" y="204"/>
                </a:lnTo>
                <a:lnTo>
                  <a:pt x="1107" y="207"/>
                </a:lnTo>
                <a:lnTo>
                  <a:pt x="1102" y="207"/>
                </a:lnTo>
                <a:lnTo>
                  <a:pt x="1102" y="207"/>
                </a:lnTo>
                <a:lnTo>
                  <a:pt x="1100" y="205"/>
                </a:lnTo>
                <a:lnTo>
                  <a:pt x="1096" y="205"/>
                </a:lnTo>
                <a:lnTo>
                  <a:pt x="1092" y="211"/>
                </a:lnTo>
                <a:lnTo>
                  <a:pt x="1092" y="211"/>
                </a:lnTo>
                <a:lnTo>
                  <a:pt x="1096" y="211"/>
                </a:lnTo>
                <a:lnTo>
                  <a:pt x="1098" y="211"/>
                </a:lnTo>
                <a:lnTo>
                  <a:pt x="1100" y="209"/>
                </a:lnTo>
                <a:lnTo>
                  <a:pt x="1102" y="209"/>
                </a:lnTo>
                <a:lnTo>
                  <a:pt x="1102" y="209"/>
                </a:lnTo>
                <a:lnTo>
                  <a:pt x="1112" y="213"/>
                </a:lnTo>
                <a:lnTo>
                  <a:pt x="1118" y="215"/>
                </a:lnTo>
                <a:lnTo>
                  <a:pt x="1123" y="216"/>
                </a:lnTo>
                <a:lnTo>
                  <a:pt x="1123" y="216"/>
                </a:lnTo>
                <a:close/>
                <a:moveTo>
                  <a:pt x="1355" y="440"/>
                </a:moveTo>
                <a:lnTo>
                  <a:pt x="1355" y="440"/>
                </a:lnTo>
                <a:lnTo>
                  <a:pt x="1352" y="440"/>
                </a:lnTo>
                <a:lnTo>
                  <a:pt x="1352" y="440"/>
                </a:lnTo>
                <a:lnTo>
                  <a:pt x="1344" y="440"/>
                </a:lnTo>
                <a:lnTo>
                  <a:pt x="1337" y="442"/>
                </a:lnTo>
                <a:lnTo>
                  <a:pt x="1333" y="446"/>
                </a:lnTo>
                <a:lnTo>
                  <a:pt x="1332" y="449"/>
                </a:lnTo>
                <a:lnTo>
                  <a:pt x="1332" y="451"/>
                </a:lnTo>
                <a:lnTo>
                  <a:pt x="1332" y="451"/>
                </a:lnTo>
                <a:lnTo>
                  <a:pt x="1335" y="457"/>
                </a:lnTo>
                <a:lnTo>
                  <a:pt x="1341" y="460"/>
                </a:lnTo>
                <a:lnTo>
                  <a:pt x="1348" y="462"/>
                </a:lnTo>
                <a:lnTo>
                  <a:pt x="1353" y="462"/>
                </a:lnTo>
                <a:lnTo>
                  <a:pt x="1353" y="462"/>
                </a:lnTo>
                <a:lnTo>
                  <a:pt x="1359" y="457"/>
                </a:lnTo>
                <a:lnTo>
                  <a:pt x="1362" y="451"/>
                </a:lnTo>
                <a:lnTo>
                  <a:pt x="1361" y="444"/>
                </a:lnTo>
                <a:lnTo>
                  <a:pt x="1359" y="442"/>
                </a:lnTo>
                <a:lnTo>
                  <a:pt x="1355" y="440"/>
                </a:lnTo>
                <a:lnTo>
                  <a:pt x="1355" y="440"/>
                </a:lnTo>
                <a:close/>
                <a:moveTo>
                  <a:pt x="1116" y="103"/>
                </a:moveTo>
                <a:lnTo>
                  <a:pt x="1116" y="103"/>
                </a:lnTo>
                <a:lnTo>
                  <a:pt x="1123" y="105"/>
                </a:lnTo>
                <a:lnTo>
                  <a:pt x="1130" y="108"/>
                </a:lnTo>
                <a:lnTo>
                  <a:pt x="1134" y="110"/>
                </a:lnTo>
                <a:lnTo>
                  <a:pt x="1134" y="114"/>
                </a:lnTo>
                <a:lnTo>
                  <a:pt x="1130" y="116"/>
                </a:lnTo>
                <a:lnTo>
                  <a:pt x="1130" y="116"/>
                </a:lnTo>
                <a:lnTo>
                  <a:pt x="1125" y="116"/>
                </a:lnTo>
                <a:lnTo>
                  <a:pt x="1120" y="116"/>
                </a:lnTo>
                <a:lnTo>
                  <a:pt x="1112" y="116"/>
                </a:lnTo>
                <a:lnTo>
                  <a:pt x="1111" y="117"/>
                </a:lnTo>
                <a:lnTo>
                  <a:pt x="1109" y="119"/>
                </a:lnTo>
                <a:lnTo>
                  <a:pt x="1109" y="119"/>
                </a:lnTo>
                <a:lnTo>
                  <a:pt x="1109" y="123"/>
                </a:lnTo>
                <a:lnTo>
                  <a:pt x="1111" y="125"/>
                </a:lnTo>
                <a:lnTo>
                  <a:pt x="1114" y="128"/>
                </a:lnTo>
                <a:lnTo>
                  <a:pt x="1127" y="128"/>
                </a:lnTo>
                <a:lnTo>
                  <a:pt x="1127" y="128"/>
                </a:lnTo>
                <a:lnTo>
                  <a:pt x="1134" y="130"/>
                </a:lnTo>
                <a:lnTo>
                  <a:pt x="1136" y="132"/>
                </a:lnTo>
                <a:lnTo>
                  <a:pt x="1134" y="136"/>
                </a:lnTo>
                <a:lnTo>
                  <a:pt x="1134" y="136"/>
                </a:lnTo>
                <a:lnTo>
                  <a:pt x="1132" y="138"/>
                </a:lnTo>
                <a:lnTo>
                  <a:pt x="1129" y="138"/>
                </a:lnTo>
                <a:lnTo>
                  <a:pt x="1125" y="138"/>
                </a:lnTo>
                <a:lnTo>
                  <a:pt x="1121" y="139"/>
                </a:lnTo>
                <a:lnTo>
                  <a:pt x="1121" y="139"/>
                </a:lnTo>
                <a:lnTo>
                  <a:pt x="1118" y="145"/>
                </a:lnTo>
                <a:lnTo>
                  <a:pt x="1120" y="149"/>
                </a:lnTo>
                <a:lnTo>
                  <a:pt x="1123" y="152"/>
                </a:lnTo>
                <a:lnTo>
                  <a:pt x="1129" y="152"/>
                </a:lnTo>
                <a:lnTo>
                  <a:pt x="1145" y="154"/>
                </a:lnTo>
                <a:lnTo>
                  <a:pt x="1154" y="154"/>
                </a:lnTo>
                <a:lnTo>
                  <a:pt x="1154" y="154"/>
                </a:lnTo>
                <a:lnTo>
                  <a:pt x="1161" y="158"/>
                </a:lnTo>
                <a:lnTo>
                  <a:pt x="1163" y="160"/>
                </a:lnTo>
                <a:lnTo>
                  <a:pt x="1161" y="161"/>
                </a:lnTo>
                <a:lnTo>
                  <a:pt x="1161" y="161"/>
                </a:lnTo>
                <a:lnTo>
                  <a:pt x="1159" y="163"/>
                </a:lnTo>
                <a:lnTo>
                  <a:pt x="1154" y="165"/>
                </a:lnTo>
                <a:lnTo>
                  <a:pt x="1150" y="165"/>
                </a:lnTo>
                <a:lnTo>
                  <a:pt x="1147" y="169"/>
                </a:lnTo>
                <a:lnTo>
                  <a:pt x="1147" y="169"/>
                </a:lnTo>
                <a:lnTo>
                  <a:pt x="1145" y="172"/>
                </a:lnTo>
                <a:lnTo>
                  <a:pt x="1143" y="178"/>
                </a:lnTo>
                <a:lnTo>
                  <a:pt x="1143" y="182"/>
                </a:lnTo>
                <a:lnTo>
                  <a:pt x="1145" y="183"/>
                </a:lnTo>
                <a:lnTo>
                  <a:pt x="1149" y="189"/>
                </a:lnTo>
                <a:lnTo>
                  <a:pt x="1158" y="193"/>
                </a:lnTo>
                <a:lnTo>
                  <a:pt x="1167" y="194"/>
                </a:lnTo>
                <a:lnTo>
                  <a:pt x="1176" y="193"/>
                </a:lnTo>
                <a:lnTo>
                  <a:pt x="1183" y="191"/>
                </a:lnTo>
                <a:lnTo>
                  <a:pt x="1190" y="185"/>
                </a:lnTo>
                <a:lnTo>
                  <a:pt x="1190" y="185"/>
                </a:lnTo>
                <a:lnTo>
                  <a:pt x="1196" y="176"/>
                </a:lnTo>
                <a:lnTo>
                  <a:pt x="1199" y="172"/>
                </a:lnTo>
                <a:lnTo>
                  <a:pt x="1203" y="171"/>
                </a:lnTo>
                <a:lnTo>
                  <a:pt x="1203" y="171"/>
                </a:lnTo>
                <a:lnTo>
                  <a:pt x="1214" y="167"/>
                </a:lnTo>
                <a:lnTo>
                  <a:pt x="1214" y="167"/>
                </a:lnTo>
                <a:lnTo>
                  <a:pt x="1227" y="163"/>
                </a:lnTo>
                <a:lnTo>
                  <a:pt x="1234" y="163"/>
                </a:lnTo>
                <a:lnTo>
                  <a:pt x="1237" y="165"/>
                </a:lnTo>
                <a:lnTo>
                  <a:pt x="1237" y="165"/>
                </a:lnTo>
                <a:lnTo>
                  <a:pt x="1239" y="167"/>
                </a:lnTo>
                <a:lnTo>
                  <a:pt x="1239" y="169"/>
                </a:lnTo>
                <a:lnTo>
                  <a:pt x="1232" y="174"/>
                </a:lnTo>
                <a:lnTo>
                  <a:pt x="1223" y="180"/>
                </a:lnTo>
                <a:lnTo>
                  <a:pt x="1217" y="182"/>
                </a:lnTo>
                <a:lnTo>
                  <a:pt x="1217" y="182"/>
                </a:lnTo>
                <a:lnTo>
                  <a:pt x="1216" y="185"/>
                </a:lnTo>
                <a:lnTo>
                  <a:pt x="1217" y="189"/>
                </a:lnTo>
                <a:lnTo>
                  <a:pt x="1227" y="191"/>
                </a:lnTo>
                <a:lnTo>
                  <a:pt x="1227" y="191"/>
                </a:lnTo>
                <a:lnTo>
                  <a:pt x="1234" y="191"/>
                </a:lnTo>
                <a:lnTo>
                  <a:pt x="1241" y="189"/>
                </a:lnTo>
                <a:lnTo>
                  <a:pt x="1241" y="189"/>
                </a:lnTo>
                <a:lnTo>
                  <a:pt x="1252" y="183"/>
                </a:lnTo>
                <a:lnTo>
                  <a:pt x="1259" y="182"/>
                </a:lnTo>
                <a:lnTo>
                  <a:pt x="1265" y="182"/>
                </a:lnTo>
                <a:lnTo>
                  <a:pt x="1265" y="182"/>
                </a:lnTo>
                <a:lnTo>
                  <a:pt x="1266" y="183"/>
                </a:lnTo>
                <a:lnTo>
                  <a:pt x="1266" y="185"/>
                </a:lnTo>
                <a:lnTo>
                  <a:pt x="1266" y="189"/>
                </a:lnTo>
                <a:lnTo>
                  <a:pt x="1266" y="194"/>
                </a:lnTo>
                <a:lnTo>
                  <a:pt x="1268" y="200"/>
                </a:lnTo>
                <a:lnTo>
                  <a:pt x="1268" y="200"/>
                </a:lnTo>
                <a:lnTo>
                  <a:pt x="1272" y="202"/>
                </a:lnTo>
                <a:lnTo>
                  <a:pt x="1275" y="202"/>
                </a:lnTo>
                <a:lnTo>
                  <a:pt x="1279" y="200"/>
                </a:lnTo>
                <a:lnTo>
                  <a:pt x="1284" y="202"/>
                </a:lnTo>
                <a:lnTo>
                  <a:pt x="1284" y="202"/>
                </a:lnTo>
                <a:lnTo>
                  <a:pt x="1288" y="204"/>
                </a:lnTo>
                <a:lnTo>
                  <a:pt x="1290" y="207"/>
                </a:lnTo>
                <a:lnTo>
                  <a:pt x="1288" y="213"/>
                </a:lnTo>
                <a:lnTo>
                  <a:pt x="1284" y="215"/>
                </a:lnTo>
                <a:lnTo>
                  <a:pt x="1284" y="215"/>
                </a:lnTo>
                <a:lnTo>
                  <a:pt x="1279" y="218"/>
                </a:lnTo>
                <a:lnTo>
                  <a:pt x="1274" y="216"/>
                </a:lnTo>
                <a:lnTo>
                  <a:pt x="1268" y="215"/>
                </a:lnTo>
                <a:lnTo>
                  <a:pt x="1261" y="211"/>
                </a:lnTo>
                <a:lnTo>
                  <a:pt x="1250" y="204"/>
                </a:lnTo>
                <a:lnTo>
                  <a:pt x="1245" y="200"/>
                </a:lnTo>
                <a:lnTo>
                  <a:pt x="1239" y="198"/>
                </a:lnTo>
                <a:lnTo>
                  <a:pt x="1239" y="198"/>
                </a:lnTo>
                <a:lnTo>
                  <a:pt x="1228" y="196"/>
                </a:lnTo>
                <a:lnTo>
                  <a:pt x="1223" y="196"/>
                </a:lnTo>
                <a:lnTo>
                  <a:pt x="1217" y="198"/>
                </a:lnTo>
                <a:lnTo>
                  <a:pt x="1217" y="198"/>
                </a:lnTo>
                <a:lnTo>
                  <a:pt x="1216" y="200"/>
                </a:lnTo>
                <a:lnTo>
                  <a:pt x="1214" y="204"/>
                </a:lnTo>
                <a:lnTo>
                  <a:pt x="1214" y="207"/>
                </a:lnTo>
                <a:lnTo>
                  <a:pt x="1216" y="211"/>
                </a:lnTo>
                <a:lnTo>
                  <a:pt x="1216" y="211"/>
                </a:lnTo>
                <a:lnTo>
                  <a:pt x="1223" y="215"/>
                </a:lnTo>
                <a:lnTo>
                  <a:pt x="1223" y="216"/>
                </a:lnTo>
                <a:lnTo>
                  <a:pt x="1221" y="220"/>
                </a:lnTo>
                <a:lnTo>
                  <a:pt x="1221" y="220"/>
                </a:lnTo>
                <a:lnTo>
                  <a:pt x="1217" y="222"/>
                </a:lnTo>
                <a:lnTo>
                  <a:pt x="1212" y="222"/>
                </a:lnTo>
                <a:lnTo>
                  <a:pt x="1203" y="224"/>
                </a:lnTo>
                <a:lnTo>
                  <a:pt x="1203" y="224"/>
                </a:lnTo>
                <a:lnTo>
                  <a:pt x="1198" y="226"/>
                </a:lnTo>
                <a:lnTo>
                  <a:pt x="1194" y="227"/>
                </a:lnTo>
                <a:lnTo>
                  <a:pt x="1190" y="233"/>
                </a:lnTo>
                <a:lnTo>
                  <a:pt x="1192" y="238"/>
                </a:lnTo>
                <a:lnTo>
                  <a:pt x="1192" y="238"/>
                </a:lnTo>
                <a:lnTo>
                  <a:pt x="1196" y="242"/>
                </a:lnTo>
                <a:lnTo>
                  <a:pt x="1203" y="246"/>
                </a:lnTo>
                <a:lnTo>
                  <a:pt x="1210" y="248"/>
                </a:lnTo>
                <a:lnTo>
                  <a:pt x="1216" y="248"/>
                </a:lnTo>
                <a:lnTo>
                  <a:pt x="1216" y="248"/>
                </a:lnTo>
                <a:lnTo>
                  <a:pt x="1219" y="246"/>
                </a:lnTo>
                <a:lnTo>
                  <a:pt x="1223" y="244"/>
                </a:lnTo>
                <a:lnTo>
                  <a:pt x="1223" y="244"/>
                </a:lnTo>
                <a:lnTo>
                  <a:pt x="1228" y="244"/>
                </a:lnTo>
                <a:lnTo>
                  <a:pt x="1234" y="246"/>
                </a:lnTo>
                <a:lnTo>
                  <a:pt x="1239" y="248"/>
                </a:lnTo>
                <a:lnTo>
                  <a:pt x="1245" y="248"/>
                </a:lnTo>
                <a:lnTo>
                  <a:pt x="1245" y="248"/>
                </a:lnTo>
                <a:lnTo>
                  <a:pt x="1250" y="244"/>
                </a:lnTo>
                <a:lnTo>
                  <a:pt x="1255" y="240"/>
                </a:lnTo>
                <a:lnTo>
                  <a:pt x="1261" y="235"/>
                </a:lnTo>
                <a:lnTo>
                  <a:pt x="1268" y="233"/>
                </a:lnTo>
                <a:lnTo>
                  <a:pt x="1268" y="233"/>
                </a:lnTo>
                <a:lnTo>
                  <a:pt x="1274" y="235"/>
                </a:lnTo>
                <a:lnTo>
                  <a:pt x="1279" y="237"/>
                </a:lnTo>
                <a:lnTo>
                  <a:pt x="1288" y="242"/>
                </a:lnTo>
                <a:lnTo>
                  <a:pt x="1288" y="242"/>
                </a:lnTo>
                <a:lnTo>
                  <a:pt x="1292" y="242"/>
                </a:lnTo>
                <a:lnTo>
                  <a:pt x="1295" y="242"/>
                </a:lnTo>
                <a:lnTo>
                  <a:pt x="1301" y="240"/>
                </a:lnTo>
                <a:lnTo>
                  <a:pt x="1306" y="237"/>
                </a:lnTo>
                <a:lnTo>
                  <a:pt x="1313" y="235"/>
                </a:lnTo>
                <a:lnTo>
                  <a:pt x="1313" y="235"/>
                </a:lnTo>
                <a:lnTo>
                  <a:pt x="1319" y="238"/>
                </a:lnTo>
                <a:lnTo>
                  <a:pt x="1323" y="242"/>
                </a:lnTo>
                <a:lnTo>
                  <a:pt x="1323" y="242"/>
                </a:lnTo>
                <a:lnTo>
                  <a:pt x="1330" y="248"/>
                </a:lnTo>
                <a:lnTo>
                  <a:pt x="1339" y="251"/>
                </a:lnTo>
                <a:lnTo>
                  <a:pt x="1339" y="251"/>
                </a:lnTo>
                <a:lnTo>
                  <a:pt x="1348" y="249"/>
                </a:lnTo>
                <a:lnTo>
                  <a:pt x="1355" y="246"/>
                </a:lnTo>
                <a:lnTo>
                  <a:pt x="1359" y="238"/>
                </a:lnTo>
                <a:lnTo>
                  <a:pt x="1361" y="235"/>
                </a:lnTo>
                <a:lnTo>
                  <a:pt x="1361" y="231"/>
                </a:lnTo>
                <a:lnTo>
                  <a:pt x="1361" y="231"/>
                </a:lnTo>
                <a:lnTo>
                  <a:pt x="1359" y="226"/>
                </a:lnTo>
                <a:lnTo>
                  <a:pt x="1353" y="222"/>
                </a:lnTo>
                <a:lnTo>
                  <a:pt x="1353" y="222"/>
                </a:lnTo>
                <a:lnTo>
                  <a:pt x="1348" y="218"/>
                </a:lnTo>
                <a:lnTo>
                  <a:pt x="1346" y="216"/>
                </a:lnTo>
                <a:lnTo>
                  <a:pt x="1348" y="213"/>
                </a:lnTo>
                <a:lnTo>
                  <a:pt x="1348" y="213"/>
                </a:lnTo>
                <a:lnTo>
                  <a:pt x="1350" y="211"/>
                </a:lnTo>
                <a:lnTo>
                  <a:pt x="1353" y="211"/>
                </a:lnTo>
                <a:lnTo>
                  <a:pt x="1361" y="209"/>
                </a:lnTo>
                <a:lnTo>
                  <a:pt x="1361" y="209"/>
                </a:lnTo>
                <a:lnTo>
                  <a:pt x="1368" y="204"/>
                </a:lnTo>
                <a:lnTo>
                  <a:pt x="1371" y="200"/>
                </a:lnTo>
                <a:lnTo>
                  <a:pt x="1375" y="198"/>
                </a:lnTo>
                <a:lnTo>
                  <a:pt x="1375" y="198"/>
                </a:lnTo>
                <a:lnTo>
                  <a:pt x="1382" y="198"/>
                </a:lnTo>
                <a:lnTo>
                  <a:pt x="1388" y="196"/>
                </a:lnTo>
                <a:lnTo>
                  <a:pt x="1388" y="196"/>
                </a:lnTo>
                <a:lnTo>
                  <a:pt x="1393" y="194"/>
                </a:lnTo>
                <a:lnTo>
                  <a:pt x="1397" y="193"/>
                </a:lnTo>
                <a:lnTo>
                  <a:pt x="1397" y="193"/>
                </a:lnTo>
                <a:lnTo>
                  <a:pt x="1402" y="189"/>
                </a:lnTo>
                <a:lnTo>
                  <a:pt x="1409" y="185"/>
                </a:lnTo>
                <a:lnTo>
                  <a:pt x="1409" y="185"/>
                </a:lnTo>
                <a:lnTo>
                  <a:pt x="1419" y="180"/>
                </a:lnTo>
                <a:lnTo>
                  <a:pt x="1424" y="176"/>
                </a:lnTo>
                <a:lnTo>
                  <a:pt x="1428" y="172"/>
                </a:lnTo>
                <a:lnTo>
                  <a:pt x="1428" y="172"/>
                </a:lnTo>
                <a:lnTo>
                  <a:pt x="1428" y="169"/>
                </a:lnTo>
                <a:lnTo>
                  <a:pt x="1428" y="167"/>
                </a:lnTo>
                <a:lnTo>
                  <a:pt x="1422" y="163"/>
                </a:lnTo>
                <a:lnTo>
                  <a:pt x="1417" y="161"/>
                </a:lnTo>
                <a:lnTo>
                  <a:pt x="1411" y="161"/>
                </a:lnTo>
                <a:lnTo>
                  <a:pt x="1411" y="161"/>
                </a:lnTo>
                <a:lnTo>
                  <a:pt x="1408" y="161"/>
                </a:lnTo>
                <a:lnTo>
                  <a:pt x="1402" y="163"/>
                </a:lnTo>
                <a:lnTo>
                  <a:pt x="1395" y="169"/>
                </a:lnTo>
                <a:lnTo>
                  <a:pt x="1395" y="169"/>
                </a:lnTo>
                <a:lnTo>
                  <a:pt x="1388" y="172"/>
                </a:lnTo>
                <a:lnTo>
                  <a:pt x="1381" y="174"/>
                </a:lnTo>
                <a:lnTo>
                  <a:pt x="1373" y="172"/>
                </a:lnTo>
                <a:lnTo>
                  <a:pt x="1368" y="169"/>
                </a:lnTo>
                <a:lnTo>
                  <a:pt x="1368" y="169"/>
                </a:lnTo>
                <a:lnTo>
                  <a:pt x="1364" y="167"/>
                </a:lnTo>
                <a:lnTo>
                  <a:pt x="1364" y="163"/>
                </a:lnTo>
                <a:lnTo>
                  <a:pt x="1366" y="161"/>
                </a:lnTo>
                <a:lnTo>
                  <a:pt x="1370" y="161"/>
                </a:lnTo>
                <a:lnTo>
                  <a:pt x="1386" y="160"/>
                </a:lnTo>
                <a:lnTo>
                  <a:pt x="1386" y="160"/>
                </a:lnTo>
                <a:lnTo>
                  <a:pt x="1390" y="156"/>
                </a:lnTo>
                <a:lnTo>
                  <a:pt x="1390" y="152"/>
                </a:lnTo>
                <a:lnTo>
                  <a:pt x="1391" y="149"/>
                </a:lnTo>
                <a:lnTo>
                  <a:pt x="1395" y="145"/>
                </a:lnTo>
                <a:lnTo>
                  <a:pt x="1395" y="145"/>
                </a:lnTo>
                <a:lnTo>
                  <a:pt x="1400" y="143"/>
                </a:lnTo>
                <a:lnTo>
                  <a:pt x="1406" y="143"/>
                </a:lnTo>
                <a:lnTo>
                  <a:pt x="1417" y="147"/>
                </a:lnTo>
                <a:lnTo>
                  <a:pt x="1417" y="147"/>
                </a:lnTo>
                <a:lnTo>
                  <a:pt x="1424" y="147"/>
                </a:lnTo>
                <a:lnTo>
                  <a:pt x="1431" y="147"/>
                </a:lnTo>
                <a:lnTo>
                  <a:pt x="1444" y="145"/>
                </a:lnTo>
                <a:lnTo>
                  <a:pt x="1444" y="145"/>
                </a:lnTo>
                <a:lnTo>
                  <a:pt x="1453" y="141"/>
                </a:lnTo>
                <a:lnTo>
                  <a:pt x="1460" y="138"/>
                </a:lnTo>
                <a:lnTo>
                  <a:pt x="1473" y="125"/>
                </a:lnTo>
                <a:lnTo>
                  <a:pt x="1473" y="125"/>
                </a:lnTo>
                <a:lnTo>
                  <a:pt x="1484" y="117"/>
                </a:lnTo>
                <a:lnTo>
                  <a:pt x="1495" y="114"/>
                </a:lnTo>
                <a:lnTo>
                  <a:pt x="1495" y="114"/>
                </a:lnTo>
                <a:lnTo>
                  <a:pt x="1504" y="110"/>
                </a:lnTo>
                <a:lnTo>
                  <a:pt x="1513" y="108"/>
                </a:lnTo>
                <a:lnTo>
                  <a:pt x="1513" y="108"/>
                </a:lnTo>
                <a:lnTo>
                  <a:pt x="1525" y="101"/>
                </a:lnTo>
                <a:lnTo>
                  <a:pt x="1531" y="97"/>
                </a:lnTo>
                <a:lnTo>
                  <a:pt x="1536" y="95"/>
                </a:lnTo>
                <a:lnTo>
                  <a:pt x="1536" y="95"/>
                </a:lnTo>
                <a:lnTo>
                  <a:pt x="1547" y="95"/>
                </a:lnTo>
                <a:lnTo>
                  <a:pt x="1558" y="95"/>
                </a:lnTo>
                <a:lnTo>
                  <a:pt x="1558" y="95"/>
                </a:lnTo>
                <a:lnTo>
                  <a:pt x="1565" y="92"/>
                </a:lnTo>
                <a:lnTo>
                  <a:pt x="1573" y="86"/>
                </a:lnTo>
                <a:lnTo>
                  <a:pt x="1573" y="86"/>
                </a:lnTo>
                <a:lnTo>
                  <a:pt x="1576" y="83"/>
                </a:lnTo>
                <a:lnTo>
                  <a:pt x="1578" y="77"/>
                </a:lnTo>
                <a:lnTo>
                  <a:pt x="1582" y="73"/>
                </a:lnTo>
                <a:lnTo>
                  <a:pt x="1589" y="72"/>
                </a:lnTo>
                <a:lnTo>
                  <a:pt x="1589" y="72"/>
                </a:lnTo>
                <a:lnTo>
                  <a:pt x="1596" y="70"/>
                </a:lnTo>
                <a:lnTo>
                  <a:pt x="1602" y="70"/>
                </a:lnTo>
                <a:lnTo>
                  <a:pt x="1605" y="68"/>
                </a:lnTo>
                <a:lnTo>
                  <a:pt x="1605" y="68"/>
                </a:lnTo>
                <a:lnTo>
                  <a:pt x="1609" y="64"/>
                </a:lnTo>
                <a:lnTo>
                  <a:pt x="1612" y="62"/>
                </a:lnTo>
                <a:lnTo>
                  <a:pt x="1612" y="62"/>
                </a:lnTo>
                <a:lnTo>
                  <a:pt x="1620" y="62"/>
                </a:lnTo>
                <a:lnTo>
                  <a:pt x="1621" y="61"/>
                </a:lnTo>
                <a:lnTo>
                  <a:pt x="1625" y="59"/>
                </a:lnTo>
                <a:lnTo>
                  <a:pt x="1625" y="59"/>
                </a:lnTo>
                <a:lnTo>
                  <a:pt x="1627" y="55"/>
                </a:lnTo>
                <a:lnTo>
                  <a:pt x="1627" y="51"/>
                </a:lnTo>
                <a:lnTo>
                  <a:pt x="1627" y="50"/>
                </a:lnTo>
                <a:lnTo>
                  <a:pt x="1623" y="46"/>
                </a:lnTo>
                <a:lnTo>
                  <a:pt x="1623" y="46"/>
                </a:lnTo>
                <a:lnTo>
                  <a:pt x="1618" y="46"/>
                </a:lnTo>
                <a:lnTo>
                  <a:pt x="1612" y="46"/>
                </a:lnTo>
                <a:lnTo>
                  <a:pt x="1609" y="46"/>
                </a:lnTo>
                <a:lnTo>
                  <a:pt x="1603" y="44"/>
                </a:lnTo>
                <a:lnTo>
                  <a:pt x="1603" y="44"/>
                </a:lnTo>
                <a:lnTo>
                  <a:pt x="1602" y="40"/>
                </a:lnTo>
                <a:lnTo>
                  <a:pt x="1600" y="37"/>
                </a:lnTo>
                <a:lnTo>
                  <a:pt x="1596" y="31"/>
                </a:lnTo>
                <a:lnTo>
                  <a:pt x="1596" y="31"/>
                </a:lnTo>
                <a:lnTo>
                  <a:pt x="1592" y="29"/>
                </a:lnTo>
                <a:lnTo>
                  <a:pt x="1589" y="28"/>
                </a:lnTo>
                <a:lnTo>
                  <a:pt x="1580" y="28"/>
                </a:lnTo>
                <a:lnTo>
                  <a:pt x="1560" y="29"/>
                </a:lnTo>
                <a:lnTo>
                  <a:pt x="1560" y="29"/>
                </a:lnTo>
                <a:lnTo>
                  <a:pt x="1554" y="31"/>
                </a:lnTo>
                <a:lnTo>
                  <a:pt x="1549" y="33"/>
                </a:lnTo>
                <a:lnTo>
                  <a:pt x="1540" y="39"/>
                </a:lnTo>
                <a:lnTo>
                  <a:pt x="1540" y="39"/>
                </a:lnTo>
                <a:lnTo>
                  <a:pt x="1536" y="40"/>
                </a:lnTo>
                <a:lnTo>
                  <a:pt x="1533" y="42"/>
                </a:lnTo>
                <a:lnTo>
                  <a:pt x="1529" y="42"/>
                </a:lnTo>
                <a:lnTo>
                  <a:pt x="1525" y="40"/>
                </a:lnTo>
                <a:lnTo>
                  <a:pt x="1525" y="40"/>
                </a:lnTo>
                <a:lnTo>
                  <a:pt x="1531" y="35"/>
                </a:lnTo>
                <a:lnTo>
                  <a:pt x="1533" y="33"/>
                </a:lnTo>
                <a:lnTo>
                  <a:pt x="1533" y="29"/>
                </a:lnTo>
                <a:lnTo>
                  <a:pt x="1533" y="29"/>
                </a:lnTo>
                <a:lnTo>
                  <a:pt x="1531" y="26"/>
                </a:lnTo>
                <a:lnTo>
                  <a:pt x="1527" y="26"/>
                </a:lnTo>
                <a:lnTo>
                  <a:pt x="1520" y="26"/>
                </a:lnTo>
                <a:lnTo>
                  <a:pt x="1506" y="29"/>
                </a:lnTo>
                <a:lnTo>
                  <a:pt x="1506" y="29"/>
                </a:lnTo>
                <a:lnTo>
                  <a:pt x="1498" y="29"/>
                </a:lnTo>
                <a:lnTo>
                  <a:pt x="1498" y="29"/>
                </a:lnTo>
                <a:lnTo>
                  <a:pt x="1489" y="28"/>
                </a:lnTo>
                <a:lnTo>
                  <a:pt x="1482" y="22"/>
                </a:lnTo>
                <a:lnTo>
                  <a:pt x="1475" y="20"/>
                </a:lnTo>
                <a:lnTo>
                  <a:pt x="1471" y="18"/>
                </a:lnTo>
                <a:lnTo>
                  <a:pt x="1466" y="20"/>
                </a:lnTo>
                <a:lnTo>
                  <a:pt x="1466" y="20"/>
                </a:lnTo>
                <a:lnTo>
                  <a:pt x="1462" y="22"/>
                </a:lnTo>
                <a:lnTo>
                  <a:pt x="1460" y="24"/>
                </a:lnTo>
                <a:lnTo>
                  <a:pt x="1457" y="29"/>
                </a:lnTo>
                <a:lnTo>
                  <a:pt x="1453" y="35"/>
                </a:lnTo>
                <a:lnTo>
                  <a:pt x="1448" y="39"/>
                </a:lnTo>
                <a:lnTo>
                  <a:pt x="1448" y="39"/>
                </a:lnTo>
                <a:lnTo>
                  <a:pt x="1444" y="39"/>
                </a:lnTo>
                <a:lnTo>
                  <a:pt x="1442" y="39"/>
                </a:lnTo>
                <a:lnTo>
                  <a:pt x="1435" y="37"/>
                </a:lnTo>
                <a:lnTo>
                  <a:pt x="1429" y="33"/>
                </a:lnTo>
                <a:lnTo>
                  <a:pt x="1424" y="29"/>
                </a:lnTo>
                <a:lnTo>
                  <a:pt x="1424" y="29"/>
                </a:lnTo>
                <a:lnTo>
                  <a:pt x="1417" y="29"/>
                </a:lnTo>
                <a:lnTo>
                  <a:pt x="1409" y="31"/>
                </a:lnTo>
                <a:lnTo>
                  <a:pt x="1404" y="33"/>
                </a:lnTo>
                <a:lnTo>
                  <a:pt x="1397" y="35"/>
                </a:lnTo>
                <a:lnTo>
                  <a:pt x="1397" y="35"/>
                </a:lnTo>
                <a:lnTo>
                  <a:pt x="1388" y="35"/>
                </a:lnTo>
                <a:lnTo>
                  <a:pt x="1384" y="37"/>
                </a:lnTo>
                <a:lnTo>
                  <a:pt x="1382" y="39"/>
                </a:lnTo>
                <a:lnTo>
                  <a:pt x="1384" y="42"/>
                </a:lnTo>
                <a:lnTo>
                  <a:pt x="1384" y="42"/>
                </a:lnTo>
                <a:lnTo>
                  <a:pt x="1388" y="48"/>
                </a:lnTo>
                <a:lnTo>
                  <a:pt x="1388" y="50"/>
                </a:lnTo>
                <a:lnTo>
                  <a:pt x="1384" y="51"/>
                </a:lnTo>
                <a:lnTo>
                  <a:pt x="1384" y="51"/>
                </a:lnTo>
                <a:lnTo>
                  <a:pt x="1382" y="51"/>
                </a:lnTo>
                <a:lnTo>
                  <a:pt x="1379" y="50"/>
                </a:lnTo>
                <a:lnTo>
                  <a:pt x="1375" y="46"/>
                </a:lnTo>
                <a:lnTo>
                  <a:pt x="1375" y="46"/>
                </a:lnTo>
                <a:lnTo>
                  <a:pt x="1371" y="44"/>
                </a:lnTo>
                <a:lnTo>
                  <a:pt x="1366" y="44"/>
                </a:lnTo>
                <a:lnTo>
                  <a:pt x="1366" y="44"/>
                </a:lnTo>
                <a:lnTo>
                  <a:pt x="1359" y="46"/>
                </a:lnTo>
                <a:lnTo>
                  <a:pt x="1352" y="50"/>
                </a:lnTo>
                <a:lnTo>
                  <a:pt x="1352" y="50"/>
                </a:lnTo>
                <a:lnTo>
                  <a:pt x="1350" y="51"/>
                </a:lnTo>
                <a:lnTo>
                  <a:pt x="1346" y="51"/>
                </a:lnTo>
                <a:lnTo>
                  <a:pt x="1339" y="50"/>
                </a:lnTo>
                <a:lnTo>
                  <a:pt x="1339" y="50"/>
                </a:lnTo>
                <a:lnTo>
                  <a:pt x="1335" y="50"/>
                </a:lnTo>
                <a:lnTo>
                  <a:pt x="1332" y="51"/>
                </a:lnTo>
                <a:lnTo>
                  <a:pt x="1328" y="53"/>
                </a:lnTo>
                <a:lnTo>
                  <a:pt x="1324" y="53"/>
                </a:lnTo>
                <a:lnTo>
                  <a:pt x="1324" y="53"/>
                </a:lnTo>
                <a:lnTo>
                  <a:pt x="1317" y="51"/>
                </a:lnTo>
                <a:lnTo>
                  <a:pt x="1313" y="51"/>
                </a:lnTo>
                <a:lnTo>
                  <a:pt x="1310" y="53"/>
                </a:lnTo>
                <a:lnTo>
                  <a:pt x="1310" y="53"/>
                </a:lnTo>
                <a:lnTo>
                  <a:pt x="1310" y="57"/>
                </a:lnTo>
                <a:lnTo>
                  <a:pt x="1310" y="61"/>
                </a:lnTo>
                <a:lnTo>
                  <a:pt x="1308" y="64"/>
                </a:lnTo>
                <a:lnTo>
                  <a:pt x="1303" y="66"/>
                </a:lnTo>
                <a:lnTo>
                  <a:pt x="1303" y="66"/>
                </a:lnTo>
                <a:lnTo>
                  <a:pt x="1299" y="64"/>
                </a:lnTo>
                <a:lnTo>
                  <a:pt x="1295" y="62"/>
                </a:lnTo>
                <a:lnTo>
                  <a:pt x="1292" y="59"/>
                </a:lnTo>
                <a:lnTo>
                  <a:pt x="1288" y="57"/>
                </a:lnTo>
                <a:lnTo>
                  <a:pt x="1288" y="57"/>
                </a:lnTo>
                <a:lnTo>
                  <a:pt x="1279" y="55"/>
                </a:lnTo>
                <a:lnTo>
                  <a:pt x="1270" y="53"/>
                </a:lnTo>
                <a:lnTo>
                  <a:pt x="1270" y="53"/>
                </a:lnTo>
                <a:lnTo>
                  <a:pt x="1261" y="48"/>
                </a:lnTo>
                <a:lnTo>
                  <a:pt x="1257" y="46"/>
                </a:lnTo>
                <a:lnTo>
                  <a:pt x="1252" y="50"/>
                </a:lnTo>
                <a:lnTo>
                  <a:pt x="1252" y="50"/>
                </a:lnTo>
                <a:lnTo>
                  <a:pt x="1250" y="51"/>
                </a:lnTo>
                <a:lnTo>
                  <a:pt x="1248" y="55"/>
                </a:lnTo>
                <a:lnTo>
                  <a:pt x="1248" y="55"/>
                </a:lnTo>
                <a:lnTo>
                  <a:pt x="1245" y="55"/>
                </a:lnTo>
                <a:lnTo>
                  <a:pt x="1241" y="55"/>
                </a:lnTo>
                <a:lnTo>
                  <a:pt x="1241" y="55"/>
                </a:lnTo>
                <a:lnTo>
                  <a:pt x="1237" y="57"/>
                </a:lnTo>
                <a:lnTo>
                  <a:pt x="1237" y="59"/>
                </a:lnTo>
                <a:lnTo>
                  <a:pt x="1239" y="62"/>
                </a:lnTo>
                <a:lnTo>
                  <a:pt x="1243" y="62"/>
                </a:lnTo>
                <a:lnTo>
                  <a:pt x="1243" y="62"/>
                </a:lnTo>
                <a:lnTo>
                  <a:pt x="1254" y="62"/>
                </a:lnTo>
                <a:lnTo>
                  <a:pt x="1259" y="62"/>
                </a:lnTo>
                <a:lnTo>
                  <a:pt x="1265" y="64"/>
                </a:lnTo>
                <a:lnTo>
                  <a:pt x="1265" y="64"/>
                </a:lnTo>
                <a:lnTo>
                  <a:pt x="1268" y="66"/>
                </a:lnTo>
                <a:lnTo>
                  <a:pt x="1270" y="70"/>
                </a:lnTo>
                <a:lnTo>
                  <a:pt x="1268" y="72"/>
                </a:lnTo>
                <a:lnTo>
                  <a:pt x="1266" y="75"/>
                </a:lnTo>
                <a:lnTo>
                  <a:pt x="1266" y="75"/>
                </a:lnTo>
                <a:lnTo>
                  <a:pt x="1261" y="77"/>
                </a:lnTo>
                <a:lnTo>
                  <a:pt x="1255" y="75"/>
                </a:lnTo>
                <a:lnTo>
                  <a:pt x="1245" y="72"/>
                </a:lnTo>
                <a:lnTo>
                  <a:pt x="1245" y="72"/>
                </a:lnTo>
                <a:lnTo>
                  <a:pt x="1236" y="72"/>
                </a:lnTo>
                <a:lnTo>
                  <a:pt x="1230" y="72"/>
                </a:lnTo>
                <a:lnTo>
                  <a:pt x="1227" y="72"/>
                </a:lnTo>
                <a:lnTo>
                  <a:pt x="1227" y="72"/>
                </a:lnTo>
                <a:lnTo>
                  <a:pt x="1221" y="68"/>
                </a:lnTo>
                <a:lnTo>
                  <a:pt x="1217" y="64"/>
                </a:lnTo>
                <a:lnTo>
                  <a:pt x="1217" y="64"/>
                </a:lnTo>
                <a:lnTo>
                  <a:pt x="1214" y="62"/>
                </a:lnTo>
                <a:lnTo>
                  <a:pt x="1210" y="62"/>
                </a:lnTo>
                <a:lnTo>
                  <a:pt x="1203" y="66"/>
                </a:lnTo>
                <a:lnTo>
                  <a:pt x="1198" y="72"/>
                </a:lnTo>
                <a:lnTo>
                  <a:pt x="1190" y="77"/>
                </a:lnTo>
                <a:lnTo>
                  <a:pt x="1190" y="77"/>
                </a:lnTo>
                <a:lnTo>
                  <a:pt x="1187" y="77"/>
                </a:lnTo>
                <a:lnTo>
                  <a:pt x="1183" y="75"/>
                </a:lnTo>
                <a:lnTo>
                  <a:pt x="1179" y="75"/>
                </a:lnTo>
                <a:lnTo>
                  <a:pt x="1176" y="75"/>
                </a:lnTo>
                <a:lnTo>
                  <a:pt x="1176" y="75"/>
                </a:lnTo>
                <a:lnTo>
                  <a:pt x="1174" y="79"/>
                </a:lnTo>
                <a:lnTo>
                  <a:pt x="1176" y="81"/>
                </a:lnTo>
                <a:lnTo>
                  <a:pt x="1183" y="83"/>
                </a:lnTo>
                <a:lnTo>
                  <a:pt x="1183" y="83"/>
                </a:lnTo>
                <a:lnTo>
                  <a:pt x="1188" y="83"/>
                </a:lnTo>
                <a:lnTo>
                  <a:pt x="1192" y="83"/>
                </a:lnTo>
                <a:lnTo>
                  <a:pt x="1192" y="86"/>
                </a:lnTo>
                <a:lnTo>
                  <a:pt x="1192" y="86"/>
                </a:lnTo>
                <a:lnTo>
                  <a:pt x="1183" y="86"/>
                </a:lnTo>
                <a:lnTo>
                  <a:pt x="1178" y="88"/>
                </a:lnTo>
                <a:lnTo>
                  <a:pt x="1178" y="90"/>
                </a:lnTo>
                <a:lnTo>
                  <a:pt x="1178" y="92"/>
                </a:lnTo>
                <a:lnTo>
                  <a:pt x="1178" y="92"/>
                </a:lnTo>
                <a:lnTo>
                  <a:pt x="1185" y="90"/>
                </a:lnTo>
                <a:lnTo>
                  <a:pt x="1196" y="88"/>
                </a:lnTo>
                <a:lnTo>
                  <a:pt x="1207" y="88"/>
                </a:lnTo>
                <a:lnTo>
                  <a:pt x="1208" y="90"/>
                </a:lnTo>
                <a:lnTo>
                  <a:pt x="1210" y="94"/>
                </a:lnTo>
                <a:lnTo>
                  <a:pt x="1210" y="94"/>
                </a:lnTo>
                <a:lnTo>
                  <a:pt x="1208" y="95"/>
                </a:lnTo>
                <a:lnTo>
                  <a:pt x="1205" y="97"/>
                </a:lnTo>
                <a:lnTo>
                  <a:pt x="1196" y="99"/>
                </a:lnTo>
                <a:lnTo>
                  <a:pt x="1187" y="99"/>
                </a:lnTo>
                <a:lnTo>
                  <a:pt x="1185" y="99"/>
                </a:lnTo>
                <a:lnTo>
                  <a:pt x="1183" y="103"/>
                </a:lnTo>
                <a:lnTo>
                  <a:pt x="1183" y="103"/>
                </a:lnTo>
                <a:lnTo>
                  <a:pt x="1185" y="105"/>
                </a:lnTo>
                <a:lnTo>
                  <a:pt x="1187" y="106"/>
                </a:lnTo>
                <a:lnTo>
                  <a:pt x="1194" y="105"/>
                </a:lnTo>
                <a:lnTo>
                  <a:pt x="1194" y="105"/>
                </a:lnTo>
                <a:lnTo>
                  <a:pt x="1201" y="103"/>
                </a:lnTo>
                <a:lnTo>
                  <a:pt x="1201" y="103"/>
                </a:lnTo>
                <a:lnTo>
                  <a:pt x="1210" y="103"/>
                </a:lnTo>
                <a:lnTo>
                  <a:pt x="1217" y="103"/>
                </a:lnTo>
                <a:lnTo>
                  <a:pt x="1217" y="103"/>
                </a:lnTo>
                <a:lnTo>
                  <a:pt x="1225" y="106"/>
                </a:lnTo>
                <a:lnTo>
                  <a:pt x="1228" y="106"/>
                </a:lnTo>
                <a:lnTo>
                  <a:pt x="1232" y="105"/>
                </a:lnTo>
                <a:lnTo>
                  <a:pt x="1232" y="105"/>
                </a:lnTo>
                <a:lnTo>
                  <a:pt x="1236" y="101"/>
                </a:lnTo>
                <a:lnTo>
                  <a:pt x="1239" y="103"/>
                </a:lnTo>
                <a:lnTo>
                  <a:pt x="1241" y="105"/>
                </a:lnTo>
                <a:lnTo>
                  <a:pt x="1241" y="105"/>
                </a:lnTo>
                <a:lnTo>
                  <a:pt x="1243" y="108"/>
                </a:lnTo>
                <a:lnTo>
                  <a:pt x="1245" y="110"/>
                </a:lnTo>
                <a:lnTo>
                  <a:pt x="1248" y="112"/>
                </a:lnTo>
                <a:lnTo>
                  <a:pt x="1248" y="112"/>
                </a:lnTo>
                <a:lnTo>
                  <a:pt x="1252" y="114"/>
                </a:lnTo>
                <a:lnTo>
                  <a:pt x="1257" y="112"/>
                </a:lnTo>
                <a:lnTo>
                  <a:pt x="1266" y="108"/>
                </a:lnTo>
                <a:lnTo>
                  <a:pt x="1266" y="108"/>
                </a:lnTo>
                <a:lnTo>
                  <a:pt x="1268" y="105"/>
                </a:lnTo>
                <a:lnTo>
                  <a:pt x="1270" y="103"/>
                </a:lnTo>
                <a:lnTo>
                  <a:pt x="1272" y="101"/>
                </a:lnTo>
                <a:lnTo>
                  <a:pt x="1275" y="99"/>
                </a:lnTo>
                <a:lnTo>
                  <a:pt x="1275" y="99"/>
                </a:lnTo>
                <a:lnTo>
                  <a:pt x="1283" y="101"/>
                </a:lnTo>
                <a:lnTo>
                  <a:pt x="1292" y="103"/>
                </a:lnTo>
                <a:lnTo>
                  <a:pt x="1292" y="103"/>
                </a:lnTo>
                <a:lnTo>
                  <a:pt x="1310" y="103"/>
                </a:lnTo>
                <a:lnTo>
                  <a:pt x="1326" y="103"/>
                </a:lnTo>
                <a:lnTo>
                  <a:pt x="1326" y="103"/>
                </a:lnTo>
                <a:lnTo>
                  <a:pt x="1337" y="101"/>
                </a:lnTo>
                <a:lnTo>
                  <a:pt x="1348" y="97"/>
                </a:lnTo>
                <a:lnTo>
                  <a:pt x="1348" y="97"/>
                </a:lnTo>
                <a:lnTo>
                  <a:pt x="1355" y="94"/>
                </a:lnTo>
                <a:lnTo>
                  <a:pt x="1364" y="90"/>
                </a:lnTo>
                <a:lnTo>
                  <a:pt x="1364" y="90"/>
                </a:lnTo>
                <a:lnTo>
                  <a:pt x="1370" y="88"/>
                </a:lnTo>
                <a:lnTo>
                  <a:pt x="1377" y="88"/>
                </a:lnTo>
                <a:lnTo>
                  <a:pt x="1384" y="88"/>
                </a:lnTo>
                <a:lnTo>
                  <a:pt x="1390" y="90"/>
                </a:lnTo>
                <a:lnTo>
                  <a:pt x="1390" y="90"/>
                </a:lnTo>
                <a:lnTo>
                  <a:pt x="1393" y="94"/>
                </a:lnTo>
                <a:lnTo>
                  <a:pt x="1395" y="97"/>
                </a:lnTo>
                <a:lnTo>
                  <a:pt x="1391" y="99"/>
                </a:lnTo>
                <a:lnTo>
                  <a:pt x="1388" y="101"/>
                </a:lnTo>
                <a:lnTo>
                  <a:pt x="1375" y="103"/>
                </a:lnTo>
                <a:lnTo>
                  <a:pt x="1368" y="105"/>
                </a:lnTo>
                <a:lnTo>
                  <a:pt x="1368" y="105"/>
                </a:lnTo>
                <a:lnTo>
                  <a:pt x="1377" y="106"/>
                </a:lnTo>
                <a:lnTo>
                  <a:pt x="1381" y="110"/>
                </a:lnTo>
                <a:lnTo>
                  <a:pt x="1381" y="110"/>
                </a:lnTo>
                <a:lnTo>
                  <a:pt x="1379" y="114"/>
                </a:lnTo>
                <a:lnTo>
                  <a:pt x="1379" y="114"/>
                </a:lnTo>
                <a:lnTo>
                  <a:pt x="1375" y="114"/>
                </a:lnTo>
                <a:lnTo>
                  <a:pt x="1370" y="114"/>
                </a:lnTo>
                <a:lnTo>
                  <a:pt x="1359" y="114"/>
                </a:lnTo>
                <a:lnTo>
                  <a:pt x="1359" y="114"/>
                </a:lnTo>
                <a:lnTo>
                  <a:pt x="1350" y="114"/>
                </a:lnTo>
                <a:lnTo>
                  <a:pt x="1333" y="114"/>
                </a:lnTo>
                <a:lnTo>
                  <a:pt x="1324" y="116"/>
                </a:lnTo>
                <a:lnTo>
                  <a:pt x="1319" y="117"/>
                </a:lnTo>
                <a:lnTo>
                  <a:pt x="1315" y="121"/>
                </a:lnTo>
                <a:lnTo>
                  <a:pt x="1313" y="123"/>
                </a:lnTo>
                <a:lnTo>
                  <a:pt x="1315" y="125"/>
                </a:lnTo>
                <a:lnTo>
                  <a:pt x="1315" y="125"/>
                </a:lnTo>
                <a:lnTo>
                  <a:pt x="1317" y="130"/>
                </a:lnTo>
                <a:lnTo>
                  <a:pt x="1321" y="134"/>
                </a:lnTo>
                <a:lnTo>
                  <a:pt x="1321" y="134"/>
                </a:lnTo>
                <a:lnTo>
                  <a:pt x="1328" y="136"/>
                </a:lnTo>
                <a:lnTo>
                  <a:pt x="1330" y="136"/>
                </a:lnTo>
                <a:lnTo>
                  <a:pt x="1332" y="138"/>
                </a:lnTo>
                <a:lnTo>
                  <a:pt x="1332" y="138"/>
                </a:lnTo>
                <a:lnTo>
                  <a:pt x="1332" y="141"/>
                </a:lnTo>
                <a:lnTo>
                  <a:pt x="1330" y="141"/>
                </a:lnTo>
                <a:lnTo>
                  <a:pt x="1323" y="141"/>
                </a:lnTo>
                <a:lnTo>
                  <a:pt x="1323" y="141"/>
                </a:lnTo>
                <a:lnTo>
                  <a:pt x="1312" y="138"/>
                </a:lnTo>
                <a:lnTo>
                  <a:pt x="1303" y="132"/>
                </a:lnTo>
                <a:lnTo>
                  <a:pt x="1294" y="125"/>
                </a:lnTo>
                <a:lnTo>
                  <a:pt x="1283" y="117"/>
                </a:lnTo>
                <a:lnTo>
                  <a:pt x="1283" y="117"/>
                </a:lnTo>
                <a:lnTo>
                  <a:pt x="1275" y="116"/>
                </a:lnTo>
                <a:lnTo>
                  <a:pt x="1268" y="116"/>
                </a:lnTo>
                <a:lnTo>
                  <a:pt x="1261" y="116"/>
                </a:lnTo>
                <a:lnTo>
                  <a:pt x="1255" y="117"/>
                </a:lnTo>
                <a:lnTo>
                  <a:pt x="1255" y="117"/>
                </a:lnTo>
                <a:lnTo>
                  <a:pt x="1250" y="119"/>
                </a:lnTo>
                <a:lnTo>
                  <a:pt x="1246" y="125"/>
                </a:lnTo>
                <a:lnTo>
                  <a:pt x="1246" y="125"/>
                </a:lnTo>
                <a:lnTo>
                  <a:pt x="1245" y="132"/>
                </a:lnTo>
                <a:lnTo>
                  <a:pt x="1243" y="134"/>
                </a:lnTo>
                <a:lnTo>
                  <a:pt x="1241" y="136"/>
                </a:lnTo>
                <a:lnTo>
                  <a:pt x="1241" y="136"/>
                </a:lnTo>
                <a:lnTo>
                  <a:pt x="1237" y="136"/>
                </a:lnTo>
                <a:lnTo>
                  <a:pt x="1234" y="134"/>
                </a:lnTo>
                <a:lnTo>
                  <a:pt x="1230" y="130"/>
                </a:lnTo>
                <a:lnTo>
                  <a:pt x="1221" y="119"/>
                </a:lnTo>
                <a:lnTo>
                  <a:pt x="1221" y="119"/>
                </a:lnTo>
                <a:lnTo>
                  <a:pt x="1217" y="117"/>
                </a:lnTo>
                <a:lnTo>
                  <a:pt x="1214" y="117"/>
                </a:lnTo>
                <a:lnTo>
                  <a:pt x="1205" y="117"/>
                </a:lnTo>
                <a:lnTo>
                  <a:pt x="1205" y="117"/>
                </a:lnTo>
                <a:lnTo>
                  <a:pt x="1192" y="119"/>
                </a:lnTo>
                <a:lnTo>
                  <a:pt x="1187" y="119"/>
                </a:lnTo>
                <a:lnTo>
                  <a:pt x="1181" y="117"/>
                </a:lnTo>
                <a:lnTo>
                  <a:pt x="1181" y="117"/>
                </a:lnTo>
                <a:lnTo>
                  <a:pt x="1172" y="112"/>
                </a:lnTo>
                <a:lnTo>
                  <a:pt x="1165" y="105"/>
                </a:lnTo>
                <a:lnTo>
                  <a:pt x="1159" y="95"/>
                </a:lnTo>
                <a:lnTo>
                  <a:pt x="1152" y="88"/>
                </a:lnTo>
                <a:lnTo>
                  <a:pt x="1152" y="88"/>
                </a:lnTo>
                <a:lnTo>
                  <a:pt x="1145" y="84"/>
                </a:lnTo>
                <a:lnTo>
                  <a:pt x="1138" y="83"/>
                </a:lnTo>
                <a:lnTo>
                  <a:pt x="1123" y="79"/>
                </a:lnTo>
                <a:lnTo>
                  <a:pt x="1123" y="79"/>
                </a:lnTo>
                <a:lnTo>
                  <a:pt x="1116" y="79"/>
                </a:lnTo>
                <a:lnTo>
                  <a:pt x="1107" y="83"/>
                </a:lnTo>
                <a:lnTo>
                  <a:pt x="1105" y="83"/>
                </a:lnTo>
                <a:lnTo>
                  <a:pt x="1105" y="84"/>
                </a:lnTo>
                <a:lnTo>
                  <a:pt x="1107" y="86"/>
                </a:lnTo>
                <a:lnTo>
                  <a:pt x="1111" y="88"/>
                </a:lnTo>
                <a:lnTo>
                  <a:pt x="1111" y="88"/>
                </a:lnTo>
                <a:lnTo>
                  <a:pt x="1116" y="88"/>
                </a:lnTo>
                <a:lnTo>
                  <a:pt x="1118" y="90"/>
                </a:lnTo>
                <a:lnTo>
                  <a:pt x="1118" y="94"/>
                </a:lnTo>
                <a:lnTo>
                  <a:pt x="1114" y="94"/>
                </a:lnTo>
                <a:lnTo>
                  <a:pt x="1114" y="94"/>
                </a:lnTo>
                <a:lnTo>
                  <a:pt x="1103" y="94"/>
                </a:lnTo>
                <a:lnTo>
                  <a:pt x="1100" y="95"/>
                </a:lnTo>
                <a:lnTo>
                  <a:pt x="1098" y="97"/>
                </a:lnTo>
                <a:lnTo>
                  <a:pt x="1098" y="99"/>
                </a:lnTo>
                <a:lnTo>
                  <a:pt x="1098" y="99"/>
                </a:lnTo>
                <a:lnTo>
                  <a:pt x="1102" y="103"/>
                </a:lnTo>
                <a:lnTo>
                  <a:pt x="1107" y="103"/>
                </a:lnTo>
                <a:lnTo>
                  <a:pt x="1116" y="103"/>
                </a:lnTo>
                <a:lnTo>
                  <a:pt x="1116" y="103"/>
                </a:lnTo>
                <a:close/>
                <a:moveTo>
                  <a:pt x="2210" y="438"/>
                </a:moveTo>
                <a:lnTo>
                  <a:pt x="2210" y="438"/>
                </a:lnTo>
                <a:lnTo>
                  <a:pt x="2208" y="435"/>
                </a:lnTo>
                <a:lnTo>
                  <a:pt x="2205" y="433"/>
                </a:lnTo>
                <a:lnTo>
                  <a:pt x="2196" y="431"/>
                </a:lnTo>
                <a:lnTo>
                  <a:pt x="2187" y="431"/>
                </a:lnTo>
                <a:lnTo>
                  <a:pt x="2183" y="431"/>
                </a:lnTo>
                <a:lnTo>
                  <a:pt x="2179" y="429"/>
                </a:lnTo>
                <a:lnTo>
                  <a:pt x="2179" y="429"/>
                </a:lnTo>
                <a:lnTo>
                  <a:pt x="2176" y="427"/>
                </a:lnTo>
                <a:lnTo>
                  <a:pt x="2174" y="426"/>
                </a:lnTo>
                <a:lnTo>
                  <a:pt x="2174" y="418"/>
                </a:lnTo>
                <a:lnTo>
                  <a:pt x="2172" y="413"/>
                </a:lnTo>
                <a:lnTo>
                  <a:pt x="2170" y="407"/>
                </a:lnTo>
                <a:lnTo>
                  <a:pt x="2170" y="407"/>
                </a:lnTo>
                <a:lnTo>
                  <a:pt x="2167" y="405"/>
                </a:lnTo>
                <a:lnTo>
                  <a:pt x="2163" y="405"/>
                </a:lnTo>
                <a:lnTo>
                  <a:pt x="2156" y="405"/>
                </a:lnTo>
                <a:lnTo>
                  <a:pt x="2156" y="405"/>
                </a:lnTo>
                <a:lnTo>
                  <a:pt x="2156" y="400"/>
                </a:lnTo>
                <a:lnTo>
                  <a:pt x="2154" y="396"/>
                </a:lnTo>
                <a:lnTo>
                  <a:pt x="2154" y="396"/>
                </a:lnTo>
                <a:lnTo>
                  <a:pt x="2149" y="393"/>
                </a:lnTo>
                <a:lnTo>
                  <a:pt x="2147" y="391"/>
                </a:lnTo>
                <a:lnTo>
                  <a:pt x="2145" y="387"/>
                </a:lnTo>
                <a:lnTo>
                  <a:pt x="2145" y="387"/>
                </a:lnTo>
                <a:lnTo>
                  <a:pt x="2147" y="385"/>
                </a:lnTo>
                <a:lnTo>
                  <a:pt x="2149" y="383"/>
                </a:lnTo>
                <a:lnTo>
                  <a:pt x="2156" y="380"/>
                </a:lnTo>
                <a:lnTo>
                  <a:pt x="2156" y="380"/>
                </a:lnTo>
                <a:lnTo>
                  <a:pt x="2163" y="380"/>
                </a:lnTo>
                <a:lnTo>
                  <a:pt x="2170" y="382"/>
                </a:lnTo>
                <a:lnTo>
                  <a:pt x="2185" y="387"/>
                </a:lnTo>
                <a:lnTo>
                  <a:pt x="2185" y="387"/>
                </a:lnTo>
                <a:lnTo>
                  <a:pt x="2194" y="394"/>
                </a:lnTo>
                <a:lnTo>
                  <a:pt x="2203" y="402"/>
                </a:lnTo>
                <a:lnTo>
                  <a:pt x="2203" y="402"/>
                </a:lnTo>
                <a:lnTo>
                  <a:pt x="2208" y="409"/>
                </a:lnTo>
                <a:lnTo>
                  <a:pt x="2212" y="411"/>
                </a:lnTo>
                <a:lnTo>
                  <a:pt x="2216" y="413"/>
                </a:lnTo>
                <a:lnTo>
                  <a:pt x="2216" y="413"/>
                </a:lnTo>
                <a:lnTo>
                  <a:pt x="2219" y="413"/>
                </a:lnTo>
                <a:lnTo>
                  <a:pt x="2223" y="413"/>
                </a:lnTo>
                <a:lnTo>
                  <a:pt x="2225" y="411"/>
                </a:lnTo>
                <a:lnTo>
                  <a:pt x="2225" y="405"/>
                </a:lnTo>
                <a:lnTo>
                  <a:pt x="2225" y="405"/>
                </a:lnTo>
                <a:lnTo>
                  <a:pt x="2225" y="404"/>
                </a:lnTo>
                <a:lnTo>
                  <a:pt x="2223" y="400"/>
                </a:lnTo>
                <a:lnTo>
                  <a:pt x="2218" y="394"/>
                </a:lnTo>
                <a:lnTo>
                  <a:pt x="2218" y="394"/>
                </a:lnTo>
                <a:lnTo>
                  <a:pt x="2218" y="391"/>
                </a:lnTo>
                <a:lnTo>
                  <a:pt x="2216" y="387"/>
                </a:lnTo>
                <a:lnTo>
                  <a:pt x="2219" y="380"/>
                </a:lnTo>
                <a:lnTo>
                  <a:pt x="2219" y="380"/>
                </a:lnTo>
                <a:lnTo>
                  <a:pt x="2221" y="374"/>
                </a:lnTo>
                <a:lnTo>
                  <a:pt x="2223" y="367"/>
                </a:lnTo>
                <a:lnTo>
                  <a:pt x="2221" y="360"/>
                </a:lnTo>
                <a:lnTo>
                  <a:pt x="2218" y="354"/>
                </a:lnTo>
                <a:lnTo>
                  <a:pt x="2218" y="354"/>
                </a:lnTo>
                <a:lnTo>
                  <a:pt x="2210" y="349"/>
                </a:lnTo>
                <a:lnTo>
                  <a:pt x="2208" y="345"/>
                </a:lnTo>
                <a:lnTo>
                  <a:pt x="2210" y="343"/>
                </a:lnTo>
                <a:lnTo>
                  <a:pt x="2210" y="343"/>
                </a:lnTo>
                <a:lnTo>
                  <a:pt x="2214" y="341"/>
                </a:lnTo>
                <a:lnTo>
                  <a:pt x="2218" y="339"/>
                </a:lnTo>
                <a:lnTo>
                  <a:pt x="2227" y="339"/>
                </a:lnTo>
                <a:lnTo>
                  <a:pt x="2236" y="339"/>
                </a:lnTo>
                <a:lnTo>
                  <a:pt x="2243" y="339"/>
                </a:lnTo>
                <a:lnTo>
                  <a:pt x="2243" y="339"/>
                </a:lnTo>
                <a:lnTo>
                  <a:pt x="2248" y="337"/>
                </a:lnTo>
                <a:lnTo>
                  <a:pt x="2250" y="336"/>
                </a:lnTo>
                <a:lnTo>
                  <a:pt x="2250" y="334"/>
                </a:lnTo>
                <a:lnTo>
                  <a:pt x="2250" y="334"/>
                </a:lnTo>
                <a:lnTo>
                  <a:pt x="2248" y="330"/>
                </a:lnTo>
                <a:lnTo>
                  <a:pt x="2246" y="328"/>
                </a:lnTo>
                <a:lnTo>
                  <a:pt x="2241" y="325"/>
                </a:lnTo>
                <a:lnTo>
                  <a:pt x="2241" y="325"/>
                </a:lnTo>
                <a:lnTo>
                  <a:pt x="2230" y="321"/>
                </a:lnTo>
                <a:lnTo>
                  <a:pt x="2225" y="319"/>
                </a:lnTo>
                <a:lnTo>
                  <a:pt x="2219" y="315"/>
                </a:lnTo>
                <a:lnTo>
                  <a:pt x="2219" y="315"/>
                </a:lnTo>
                <a:lnTo>
                  <a:pt x="2218" y="312"/>
                </a:lnTo>
                <a:lnTo>
                  <a:pt x="2218" y="308"/>
                </a:lnTo>
                <a:lnTo>
                  <a:pt x="2219" y="306"/>
                </a:lnTo>
                <a:lnTo>
                  <a:pt x="2223" y="304"/>
                </a:lnTo>
                <a:lnTo>
                  <a:pt x="2234" y="303"/>
                </a:lnTo>
                <a:lnTo>
                  <a:pt x="2243" y="303"/>
                </a:lnTo>
                <a:lnTo>
                  <a:pt x="2243" y="303"/>
                </a:lnTo>
                <a:lnTo>
                  <a:pt x="2254" y="304"/>
                </a:lnTo>
                <a:lnTo>
                  <a:pt x="2259" y="306"/>
                </a:lnTo>
                <a:lnTo>
                  <a:pt x="2263" y="304"/>
                </a:lnTo>
                <a:lnTo>
                  <a:pt x="2265" y="304"/>
                </a:lnTo>
                <a:lnTo>
                  <a:pt x="2265" y="304"/>
                </a:lnTo>
                <a:lnTo>
                  <a:pt x="2265" y="301"/>
                </a:lnTo>
                <a:lnTo>
                  <a:pt x="2263" y="299"/>
                </a:lnTo>
                <a:lnTo>
                  <a:pt x="2256" y="293"/>
                </a:lnTo>
                <a:lnTo>
                  <a:pt x="2248" y="290"/>
                </a:lnTo>
                <a:lnTo>
                  <a:pt x="2246" y="286"/>
                </a:lnTo>
                <a:lnTo>
                  <a:pt x="2248" y="282"/>
                </a:lnTo>
                <a:lnTo>
                  <a:pt x="2248" y="282"/>
                </a:lnTo>
                <a:lnTo>
                  <a:pt x="2252" y="277"/>
                </a:lnTo>
                <a:lnTo>
                  <a:pt x="2257" y="273"/>
                </a:lnTo>
                <a:lnTo>
                  <a:pt x="2263" y="268"/>
                </a:lnTo>
                <a:lnTo>
                  <a:pt x="2263" y="264"/>
                </a:lnTo>
                <a:lnTo>
                  <a:pt x="2261" y="259"/>
                </a:lnTo>
                <a:lnTo>
                  <a:pt x="2261" y="259"/>
                </a:lnTo>
                <a:lnTo>
                  <a:pt x="2259" y="255"/>
                </a:lnTo>
                <a:lnTo>
                  <a:pt x="2256" y="253"/>
                </a:lnTo>
                <a:lnTo>
                  <a:pt x="2246" y="253"/>
                </a:lnTo>
                <a:lnTo>
                  <a:pt x="2237" y="253"/>
                </a:lnTo>
                <a:lnTo>
                  <a:pt x="2234" y="251"/>
                </a:lnTo>
                <a:lnTo>
                  <a:pt x="2232" y="248"/>
                </a:lnTo>
                <a:lnTo>
                  <a:pt x="2232" y="248"/>
                </a:lnTo>
                <a:lnTo>
                  <a:pt x="2230" y="238"/>
                </a:lnTo>
                <a:lnTo>
                  <a:pt x="2230" y="233"/>
                </a:lnTo>
                <a:lnTo>
                  <a:pt x="2232" y="231"/>
                </a:lnTo>
                <a:lnTo>
                  <a:pt x="2236" y="229"/>
                </a:lnTo>
                <a:lnTo>
                  <a:pt x="2243" y="229"/>
                </a:lnTo>
                <a:lnTo>
                  <a:pt x="2243" y="229"/>
                </a:lnTo>
                <a:lnTo>
                  <a:pt x="2252" y="233"/>
                </a:lnTo>
                <a:lnTo>
                  <a:pt x="2265" y="240"/>
                </a:lnTo>
                <a:lnTo>
                  <a:pt x="2272" y="242"/>
                </a:lnTo>
                <a:lnTo>
                  <a:pt x="2277" y="244"/>
                </a:lnTo>
                <a:lnTo>
                  <a:pt x="2283" y="244"/>
                </a:lnTo>
                <a:lnTo>
                  <a:pt x="2286" y="240"/>
                </a:lnTo>
                <a:lnTo>
                  <a:pt x="2286" y="240"/>
                </a:lnTo>
                <a:lnTo>
                  <a:pt x="2288" y="237"/>
                </a:lnTo>
                <a:lnTo>
                  <a:pt x="2288" y="233"/>
                </a:lnTo>
                <a:lnTo>
                  <a:pt x="2286" y="229"/>
                </a:lnTo>
                <a:lnTo>
                  <a:pt x="2285" y="226"/>
                </a:lnTo>
                <a:lnTo>
                  <a:pt x="2277" y="220"/>
                </a:lnTo>
                <a:lnTo>
                  <a:pt x="2272" y="216"/>
                </a:lnTo>
                <a:lnTo>
                  <a:pt x="2272" y="216"/>
                </a:lnTo>
                <a:lnTo>
                  <a:pt x="2266" y="216"/>
                </a:lnTo>
                <a:lnTo>
                  <a:pt x="2263" y="215"/>
                </a:lnTo>
                <a:lnTo>
                  <a:pt x="2263" y="215"/>
                </a:lnTo>
                <a:lnTo>
                  <a:pt x="2259" y="211"/>
                </a:lnTo>
                <a:lnTo>
                  <a:pt x="2259" y="209"/>
                </a:lnTo>
                <a:lnTo>
                  <a:pt x="2261" y="205"/>
                </a:lnTo>
                <a:lnTo>
                  <a:pt x="2261" y="205"/>
                </a:lnTo>
                <a:lnTo>
                  <a:pt x="2257" y="202"/>
                </a:lnTo>
                <a:lnTo>
                  <a:pt x="2254" y="198"/>
                </a:lnTo>
                <a:lnTo>
                  <a:pt x="2250" y="196"/>
                </a:lnTo>
                <a:lnTo>
                  <a:pt x="2246" y="191"/>
                </a:lnTo>
                <a:lnTo>
                  <a:pt x="2246" y="191"/>
                </a:lnTo>
                <a:lnTo>
                  <a:pt x="2248" y="187"/>
                </a:lnTo>
                <a:lnTo>
                  <a:pt x="2250" y="183"/>
                </a:lnTo>
                <a:lnTo>
                  <a:pt x="2259" y="178"/>
                </a:lnTo>
                <a:lnTo>
                  <a:pt x="2259" y="178"/>
                </a:lnTo>
                <a:lnTo>
                  <a:pt x="2265" y="172"/>
                </a:lnTo>
                <a:lnTo>
                  <a:pt x="2268" y="163"/>
                </a:lnTo>
                <a:lnTo>
                  <a:pt x="2268" y="163"/>
                </a:lnTo>
                <a:lnTo>
                  <a:pt x="2270" y="158"/>
                </a:lnTo>
                <a:lnTo>
                  <a:pt x="2272" y="156"/>
                </a:lnTo>
                <a:lnTo>
                  <a:pt x="2279" y="152"/>
                </a:lnTo>
                <a:lnTo>
                  <a:pt x="2279" y="152"/>
                </a:lnTo>
                <a:lnTo>
                  <a:pt x="2285" y="149"/>
                </a:lnTo>
                <a:lnTo>
                  <a:pt x="2286" y="143"/>
                </a:lnTo>
                <a:lnTo>
                  <a:pt x="2285" y="138"/>
                </a:lnTo>
                <a:lnTo>
                  <a:pt x="2279" y="134"/>
                </a:lnTo>
                <a:lnTo>
                  <a:pt x="2279" y="134"/>
                </a:lnTo>
                <a:lnTo>
                  <a:pt x="2272" y="132"/>
                </a:lnTo>
                <a:lnTo>
                  <a:pt x="2266" y="130"/>
                </a:lnTo>
                <a:lnTo>
                  <a:pt x="2266" y="130"/>
                </a:lnTo>
                <a:lnTo>
                  <a:pt x="2266" y="128"/>
                </a:lnTo>
                <a:lnTo>
                  <a:pt x="2268" y="127"/>
                </a:lnTo>
                <a:lnTo>
                  <a:pt x="2274" y="127"/>
                </a:lnTo>
                <a:lnTo>
                  <a:pt x="2274" y="127"/>
                </a:lnTo>
                <a:lnTo>
                  <a:pt x="2285" y="130"/>
                </a:lnTo>
                <a:lnTo>
                  <a:pt x="2294" y="132"/>
                </a:lnTo>
                <a:lnTo>
                  <a:pt x="2294" y="132"/>
                </a:lnTo>
                <a:lnTo>
                  <a:pt x="2301" y="132"/>
                </a:lnTo>
                <a:lnTo>
                  <a:pt x="2306" y="130"/>
                </a:lnTo>
                <a:lnTo>
                  <a:pt x="2310" y="125"/>
                </a:lnTo>
                <a:lnTo>
                  <a:pt x="2312" y="123"/>
                </a:lnTo>
                <a:lnTo>
                  <a:pt x="2312" y="119"/>
                </a:lnTo>
                <a:lnTo>
                  <a:pt x="2312" y="119"/>
                </a:lnTo>
                <a:lnTo>
                  <a:pt x="2310" y="116"/>
                </a:lnTo>
                <a:lnTo>
                  <a:pt x="2304" y="114"/>
                </a:lnTo>
                <a:lnTo>
                  <a:pt x="2295" y="116"/>
                </a:lnTo>
                <a:lnTo>
                  <a:pt x="2295" y="116"/>
                </a:lnTo>
                <a:lnTo>
                  <a:pt x="2292" y="114"/>
                </a:lnTo>
                <a:lnTo>
                  <a:pt x="2288" y="110"/>
                </a:lnTo>
                <a:lnTo>
                  <a:pt x="2288" y="106"/>
                </a:lnTo>
                <a:lnTo>
                  <a:pt x="2294" y="103"/>
                </a:lnTo>
                <a:lnTo>
                  <a:pt x="2294" y="103"/>
                </a:lnTo>
                <a:lnTo>
                  <a:pt x="2301" y="101"/>
                </a:lnTo>
                <a:lnTo>
                  <a:pt x="2308" y="103"/>
                </a:lnTo>
                <a:lnTo>
                  <a:pt x="2324" y="105"/>
                </a:lnTo>
                <a:lnTo>
                  <a:pt x="2324" y="105"/>
                </a:lnTo>
                <a:lnTo>
                  <a:pt x="2337" y="101"/>
                </a:lnTo>
                <a:lnTo>
                  <a:pt x="2346" y="99"/>
                </a:lnTo>
                <a:lnTo>
                  <a:pt x="2352" y="95"/>
                </a:lnTo>
                <a:lnTo>
                  <a:pt x="2357" y="90"/>
                </a:lnTo>
                <a:lnTo>
                  <a:pt x="2359" y="84"/>
                </a:lnTo>
                <a:lnTo>
                  <a:pt x="2359" y="79"/>
                </a:lnTo>
                <a:lnTo>
                  <a:pt x="2352" y="73"/>
                </a:lnTo>
                <a:lnTo>
                  <a:pt x="2352" y="73"/>
                </a:lnTo>
                <a:lnTo>
                  <a:pt x="2343" y="70"/>
                </a:lnTo>
                <a:lnTo>
                  <a:pt x="2330" y="68"/>
                </a:lnTo>
                <a:lnTo>
                  <a:pt x="2317" y="68"/>
                </a:lnTo>
                <a:lnTo>
                  <a:pt x="2306" y="70"/>
                </a:lnTo>
                <a:lnTo>
                  <a:pt x="2306" y="70"/>
                </a:lnTo>
                <a:lnTo>
                  <a:pt x="2299" y="72"/>
                </a:lnTo>
                <a:lnTo>
                  <a:pt x="2292" y="75"/>
                </a:lnTo>
                <a:lnTo>
                  <a:pt x="2285" y="79"/>
                </a:lnTo>
                <a:lnTo>
                  <a:pt x="2277" y="81"/>
                </a:lnTo>
                <a:lnTo>
                  <a:pt x="2277" y="81"/>
                </a:lnTo>
                <a:lnTo>
                  <a:pt x="2270" y="81"/>
                </a:lnTo>
                <a:lnTo>
                  <a:pt x="2261" y="81"/>
                </a:lnTo>
                <a:lnTo>
                  <a:pt x="2252" y="81"/>
                </a:lnTo>
                <a:lnTo>
                  <a:pt x="2243" y="83"/>
                </a:lnTo>
                <a:lnTo>
                  <a:pt x="2243" y="83"/>
                </a:lnTo>
                <a:lnTo>
                  <a:pt x="2234" y="90"/>
                </a:lnTo>
                <a:lnTo>
                  <a:pt x="2228" y="92"/>
                </a:lnTo>
                <a:lnTo>
                  <a:pt x="2223" y="94"/>
                </a:lnTo>
                <a:lnTo>
                  <a:pt x="2223" y="94"/>
                </a:lnTo>
                <a:lnTo>
                  <a:pt x="2208" y="95"/>
                </a:lnTo>
                <a:lnTo>
                  <a:pt x="2201" y="97"/>
                </a:lnTo>
                <a:lnTo>
                  <a:pt x="2198" y="95"/>
                </a:lnTo>
                <a:lnTo>
                  <a:pt x="2198" y="95"/>
                </a:lnTo>
                <a:lnTo>
                  <a:pt x="2194" y="94"/>
                </a:lnTo>
                <a:lnTo>
                  <a:pt x="2194" y="92"/>
                </a:lnTo>
                <a:lnTo>
                  <a:pt x="2196" y="90"/>
                </a:lnTo>
                <a:lnTo>
                  <a:pt x="2205" y="86"/>
                </a:lnTo>
                <a:lnTo>
                  <a:pt x="2205" y="86"/>
                </a:lnTo>
                <a:lnTo>
                  <a:pt x="2214" y="83"/>
                </a:lnTo>
                <a:lnTo>
                  <a:pt x="2218" y="77"/>
                </a:lnTo>
                <a:lnTo>
                  <a:pt x="2218" y="75"/>
                </a:lnTo>
                <a:lnTo>
                  <a:pt x="2218" y="72"/>
                </a:lnTo>
                <a:lnTo>
                  <a:pt x="2218" y="72"/>
                </a:lnTo>
                <a:lnTo>
                  <a:pt x="2216" y="70"/>
                </a:lnTo>
                <a:lnTo>
                  <a:pt x="2212" y="68"/>
                </a:lnTo>
                <a:lnTo>
                  <a:pt x="2205" y="66"/>
                </a:lnTo>
                <a:lnTo>
                  <a:pt x="2198" y="68"/>
                </a:lnTo>
                <a:lnTo>
                  <a:pt x="2192" y="70"/>
                </a:lnTo>
                <a:lnTo>
                  <a:pt x="2192" y="70"/>
                </a:lnTo>
                <a:lnTo>
                  <a:pt x="2183" y="75"/>
                </a:lnTo>
                <a:lnTo>
                  <a:pt x="2178" y="77"/>
                </a:lnTo>
                <a:lnTo>
                  <a:pt x="2172" y="77"/>
                </a:lnTo>
                <a:lnTo>
                  <a:pt x="2172" y="77"/>
                </a:lnTo>
                <a:lnTo>
                  <a:pt x="2167" y="75"/>
                </a:lnTo>
                <a:lnTo>
                  <a:pt x="2161" y="73"/>
                </a:lnTo>
                <a:lnTo>
                  <a:pt x="2161" y="73"/>
                </a:lnTo>
                <a:lnTo>
                  <a:pt x="2161" y="68"/>
                </a:lnTo>
                <a:lnTo>
                  <a:pt x="2160" y="66"/>
                </a:lnTo>
                <a:lnTo>
                  <a:pt x="2160" y="64"/>
                </a:lnTo>
                <a:lnTo>
                  <a:pt x="2160" y="64"/>
                </a:lnTo>
                <a:lnTo>
                  <a:pt x="2152" y="64"/>
                </a:lnTo>
                <a:lnTo>
                  <a:pt x="2147" y="62"/>
                </a:lnTo>
                <a:lnTo>
                  <a:pt x="2134" y="64"/>
                </a:lnTo>
                <a:lnTo>
                  <a:pt x="2134" y="64"/>
                </a:lnTo>
                <a:lnTo>
                  <a:pt x="2125" y="68"/>
                </a:lnTo>
                <a:lnTo>
                  <a:pt x="2125" y="68"/>
                </a:lnTo>
                <a:lnTo>
                  <a:pt x="2118" y="68"/>
                </a:lnTo>
                <a:lnTo>
                  <a:pt x="2111" y="66"/>
                </a:lnTo>
                <a:lnTo>
                  <a:pt x="2111" y="66"/>
                </a:lnTo>
                <a:lnTo>
                  <a:pt x="2105" y="64"/>
                </a:lnTo>
                <a:lnTo>
                  <a:pt x="2103" y="62"/>
                </a:lnTo>
                <a:lnTo>
                  <a:pt x="2103" y="61"/>
                </a:lnTo>
                <a:lnTo>
                  <a:pt x="2103" y="61"/>
                </a:lnTo>
                <a:lnTo>
                  <a:pt x="2107" y="59"/>
                </a:lnTo>
                <a:lnTo>
                  <a:pt x="2111" y="57"/>
                </a:lnTo>
                <a:lnTo>
                  <a:pt x="2120" y="57"/>
                </a:lnTo>
                <a:lnTo>
                  <a:pt x="2120" y="57"/>
                </a:lnTo>
                <a:lnTo>
                  <a:pt x="2134" y="57"/>
                </a:lnTo>
                <a:lnTo>
                  <a:pt x="2150" y="57"/>
                </a:lnTo>
                <a:lnTo>
                  <a:pt x="2150" y="57"/>
                </a:lnTo>
                <a:lnTo>
                  <a:pt x="2161" y="53"/>
                </a:lnTo>
                <a:lnTo>
                  <a:pt x="2174" y="53"/>
                </a:lnTo>
                <a:lnTo>
                  <a:pt x="2174" y="53"/>
                </a:lnTo>
                <a:lnTo>
                  <a:pt x="2192" y="55"/>
                </a:lnTo>
                <a:lnTo>
                  <a:pt x="2212" y="57"/>
                </a:lnTo>
                <a:lnTo>
                  <a:pt x="2212" y="57"/>
                </a:lnTo>
                <a:lnTo>
                  <a:pt x="2218" y="57"/>
                </a:lnTo>
                <a:lnTo>
                  <a:pt x="2223" y="57"/>
                </a:lnTo>
                <a:lnTo>
                  <a:pt x="2228" y="55"/>
                </a:lnTo>
                <a:lnTo>
                  <a:pt x="2232" y="51"/>
                </a:lnTo>
                <a:lnTo>
                  <a:pt x="2232" y="51"/>
                </a:lnTo>
                <a:lnTo>
                  <a:pt x="2232" y="46"/>
                </a:lnTo>
                <a:lnTo>
                  <a:pt x="2232" y="44"/>
                </a:lnTo>
                <a:lnTo>
                  <a:pt x="2228" y="40"/>
                </a:lnTo>
                <a:lnTo>
                  <a:pt x="2225" y="39"/>
                </a:lnTo>
                <a:lnTo>
                  <a:pt x="2225" y="39"/>
                </a:lnTo>
                <a:lnTo>
                  <a:pt x="2221" y="39"/>
                </a:lnTo>
                <a:lnTo>
                  <a:pt x="2218" y="37"/>
                </a:lnTo>
                <a:lnTo>
                  <a:pt x="2218" y="37"/>
                </a:lnTo>
                <a:lnTo>
                  <a:pt x="2214" y="35"/>
                </a:lnTo>
                <a:lnTo>
                  <a:pt x="2208" y="31"/>
                </a:lnTo>
                <a:lnTo>
                  <a:pt x="2208" y="31"/>
                </a:lnTo>
                <a:lnTo>
                  <a:pt x="2203" y="33"/>
                </a:lnTo>
                <a:lnTo>
                  <a:pt x="2196" y="33"/>
                </a:lnTo>
                <a:lnTo>
                  <a:pt x="2190" y="35"/>
                </a:lnTo>
                <a:lnTo>
                  <a:pt x="2185" y="35"/>
                </a:lnTo>
                <a:lnTo>
                  <a:pt x="2185" y="35"/>
                </a:lnTo>
                <a:lnTo>
                  <a:pt x="2185" y="29"/>
                </a:lnTo>
                <a:lnTo>
                  <a:pt x="2187" y="24"/>
                </a:lnTo>
                <a:lnTo>
                  <a:pt x="2187" y="24"/>
                </a:lnTo>
                <a:lnTo>
                  <a:pt x="2185" y="22"/>
                </a:lnTo>
                <a:lnTo>
                  <a:pt x="2183" y="18"/>
                </a:lnTo>
                <a:lnTo>
                  <a:pt x="2178" y="17"/>
                </a:lnTo>
                <a:lnTo>
                  <a:pt x="2172" y="17"/>
                </a:lnTo>
                <a:lnTo>
                  <a:pt x="2167" y="18"/>
                </a:lnTo>
                <a:lnTo>
                  <a:pt x="2167" y="18"/>
                </a:lnTo>
                <a:lnTo>
                  <a:pt x="2160" y="24"/>
                </a:lnTo>
                <a:lnTo>
                  <a:pt x="2156" y="26"/>
                </a:lnTo>
                <a:lnTo>
                  <a:pt x="2154" y="26"/>
                </a:lnTo>
                <a:lnTo>
                  <a:pt x="2154" y="26"/>
                </a:lnTo>
                <a:lnTo>
                  <a:pt x="2152" y="24"/>
                </a:lnTo>
                <a:lnTo>
                  <a:pt x="2152" y="22"/>
                </a:lnTo>
                <a:lnTo>
                  <a:pt x="2154" y="17"/>
                </a:lnTo>
                <a:lnTo>
                  <a:pt x="2156" y="11"/>
                </a:lnTo>
                <a:lnTo>
                  <a:pt x="2156" y="9"/>
                </a:lnTo>
                <a:lnTo>
                  <a:pt x="2152" y="7"/>
                </a:lnTo>
                <a:lnTo>
                  <a:pt x="2152" y="7"/>
                </a:lnTo>
                <a:lnTo>
                  <a:pt x="2149" y="7"/>
                </a:lnTo>
                <a:lnTo>
                  <a:pt x="2147" y="9"/>
                </a:lnTo>
                <a:lnTo>
                  <a:pt x="2147" y="9"/>
                </a:lnTo>
                <a:lnTo>
                  <a:pt x="2141" y="9"/>
                </a:lnTo>
                <a:lnTo>
                  <a:pt x="2138" y="9"/>
                </a:lnTo>
                <a:lnTo>
                  <a:pt x="2129" y="6"/>
                </a:lnTo>
                <a:lnTo>
                  <a:pt x="2129" y="6"/>
                </a:lnTo>
                <a:lnTo>
                  <a:pt x="2123" y="6"/>
                </a:lnTo>
                <a:lnTo>
                  <a:pt x="2120" y="6"/>
                </a:lnTo>
                <a:lnTo>
                  <a:pt x="2111" y="7"/>
                </a:lnTo>
                <a:lnTo>
                  <a:pt x="2111" y="7"/>
                </a:lnTo>
                <a:lnTo>
                  <a:pt x="2098" y="11"/>
                </a:lnTo>
                <a:lnTo>
                  <a:pt x="2091" y="11"/>
                </a:lnTo>
                <a:lnTo>
                  <a:pt x="2083" y="11"/>
                </a:lnTo>
                <a:lnTo>
                  <a:pt x="2083" y="11"/>
                </a:lnTo>
                <a:lnTo>
                  <a:pt x="2074" y="6"/>
                </a:lnTo>
                <a:lnTo>
                  <a:pt x="2069" y="2"/>
                </a:lnTo>
                <a:lnTo>
                  <a:pt x="2064" y="2"/>
                </a:lnTo>
                <a:lnTo>
                  <a:pt x="2064" y="2"/>
                </a:lnTo>
                <a:lnTo>
                  <a:pt x="2036" y="0"/>
                </a:lnTo>
                <a:lnTo>
                  <a:pt x="2036" y="0"/>
                </a:lnTo>
                <a:lnTo>
                  <a:pt x="2025" y="0"/>
                </a:lnTo>
                <a:lnTo>
                  <a:pt x="2016" y="0"/>
                </a:lnTo>
                <a:lnTo>
                  <a:pt x="2016" y="0"/>
                </a:lnTo>
                <a:lnTo>
                  <a:pt x="2007" y="4"/>
                </a:lnTo>
                <a:lnTo>
                  <a:pt x="1998" y="7"/>
                </a:lnTo>
                <a:lnTo>
                  <a:pt x="1998" y="7"/>
                </a:lnTo>
                <a:lnTo>
                  <a:pt x="1991" y="7"/>
                </a:lnTo>
                <a:lnTo>
                  <a:pt x="1984" y="7"/>
                </a:lnTo>
                <a:lnTo>
                  <a:pt x="1984" y="7"/>
                </a:lnTo>
                <a:lnTo>
                  <a:pt x="1980" y="7"/>
                </a:lnTo>
                <a:lnTo>
                  <a:pt x="1978" y="9"/>
                </a:lnTo>
                <a:lnTo>
                  <a:pt x="1975" y="13"/>
                </a:lnTo>
                <a:lnTo>
                  <a:pt x="1975" y="13"/>
                </a:lnTo>
                <a:lnTo>
                  <a:pt x="1971" y="15"/>
                </a:lnTo>
                <a:lnTo>
                  <a:pt x="1967" y="15"/>
                </a:lnTo>
                <a:lnTo>
                  <a:pt x="1962" y="15"/>
                </a:lnTo>
                <a:lnTo>
                  <a:pt x="1958" y="13"/>
                </a:lnTo>
                <a:lnTo>
                  <a:pt x="1958" y="13"/>
                </a:lnTo>
                <a:lnTo>
                  <a:pt x="1955" y="15"/>
                </a:lnTo>
                <a:lnTo>
                  <a:pt x="1953" y="18"/>
                </a:lnTo>
                <a:lnTo>
                  <a:pt x="1951" y="22"/>
                </a:lnTo>
                <a:lnTo>
                  <a:pt x="1951" y="26"/>
                </a:lnTo>
                <a:lnTo>
                  <a:pt x="1951" y="26"/>
                </a:lnTo>
                <a:lnTo>
                  <a:pt x="1948" y="28"/>
                </a:lnTo>
                <a:lnTo>
                  <a:pt x="1944" y="28"/>
                </a:lnTo>
                <a:lnTo>
                  <a:pt x="1939" y="26"/>
                </a:lnTo>
                <a:lnTo>
                  <a:pt x="1939" y="26"/>
                </a:lnTo>
                <a:lnTo>
                  <a:pt x="1933" y="28"/>
                </a:lnTo>
                <a:lnTo>
                  <a:pt x="1929" y="31"/>
                </a:lnTo>
                <a:lnTo>
                  <a:pt x="1929" y="31"/>
                </a:lnTo>
                <a:lnTo>
                  <a:pt x="1926" y="29"/>
                </a:lnTo>
                <a:lnTo>
                  <a:pt x="1924" y="28"/>
                </a:lnTo>
                <a:lnTo>
                  <a:pt x="1920" y="24"/>
                </a:lnTo>
                <a:lnTo>
                  <a:pt x="1920" y="24"/>
                </a:lnTo>
                <a:lnTo>
                  <a:pt x="1915" y="20"/>
                </a:lnTo>
                <a:lnTo>
                  <a:pt x="1908" y="18"/>
                </a:lnTo>
                <a:lnTo>
                  <a:pt x="1908" y="18"/>
                </a:lnTo>
                <a:lnTo>
                  <a:pt x="1897" y="17"/>
                </a:lnTo>
                <a:lnTo>
                  <a:pt x="1893" y="18"/>
                </a:lnTo>
                <a:lnTo>
                  <a:pt x="1888" y="20"/>
                </a:lnTo>
                <a:lnTo>
                  <a:pt x="1888" y="20"/>
                </a:lnTo>
                <a:lnTo>
                  <a:pt x="1884" y="24"/>
                </a:lnTo>
                <a:lnTo>
                  <a:pt x="1882" y="29"/>
                </a:lnTo>
                <a:lnTo>
                  <a:pt x="1882" y="29"/>
                </a:lnTo>
                <a:lnTo>
                  <a:pt x="1884" y="35"/>
                </a:lnTo>
                <a:lnTo>
                  <a:pt x="1882" y="37"/>
                </a:lnTo>
                <a:lnTo>
                  <a:pt x="1881" y="39"/>
                </a:lnTo>
                <a:lnTo>
                  <a:pt x="1881" y="39"/>
                </a:lnTo>
                <a:lnTo>
                  <a:pt x="1875" y="40"/>
                </a:lnTo>
                <a:lnTo>
                  <a:pt x="1868" y="39"/>
                </a:lnTo>
                <a:lnTo>
                  <a:pt x="1862" y="37"/>
                </a:lnTo>
                <a:lnTo>
                  <a:pt x="1857" y="39"/>
                </a:lnTo>
                <a:lnTo>
                  <a:pt x="1857" y="39"/>
                </a:lnTo>
                <a:lnTo>
                  <a:pt x="1852" y="40"/>
                </a:lnTo>
                <a:lnTo>
                  <a:pt x="1848" y="44"/>
                </a:lnTo>
                <a:lnTo>
                  <a:pt x="1848" y="44"/>
                </a:lnTo>
                <a:lnTo>
                  <a:pt x="1842" y="44"/>
                </a:lnTo>
                <a:lnTo>
                  <a:pt x="1837" y="48"/>
                </a:lnTo>
                <a:lnTo>
                  <a:pt x="1837" y="48"/>
                </a:lnTo>
                <a:lnTo>
                  <a:pt x="1835" y="50"/>
                </a:lnTo>
                <a:lnTo>
                  <a:pt x="1835" y="53"/>
                </a:lnTo>
                <a:lnTo>
                  <a:pt x="1837" y="57"/>
                </a:lnTo>
                <a:lnTo>
                  <a:pt x="1839" y="59"/>
                </a:lnTo>
                <a:lnTo>
                  <a:pt x="1839" y="59"/>
                </a:lnTo>
                <a:lnTo>
                  <a:pt x="1853" y="68"/>
                </a:lnTo>
                <a:lnTo>
                  <a:pt x="1861" y="73"/>
                </a:lnTo>
                <a:lnTo>
                  <a:pt x="1862" y="77"/>
                </a:lnTo>
                <a:lnTo>
                  <a:pt x="1861" y="81"/>
                </a:lnTo>
                <a:lnTo>
                  <a:pt x="1861" y="81"/>
                </a:lnTo>
                <a:lnTo>
                  <a:pt x="1857" y="83"/>
                </a:lnTo>
                <a:lnTo>
                  <a:pt x="1853" y="83"/>
                </a:lnTo>
                <a:lnTo>
                  <a:pt x="1844" y="83"/>
                </a:lnTo>
                <a:lnTo>
                  <a:pt x="1844" y="83"/>
                </a:lnTo>
                <a:lnTo>
                  <a:pt x="1841" y="81"/>
                </a:lnTo>
                <a:lnTo>
                  <a:pt x="1837" y="77"/>
                </a:lnTo>
                <a:lnTo>
                  <a:pt x="1832" y="70"/>
                </a:lnTo>
                <a:lnTo>
                  <a:pt x="1832" y="70"/>
                </a:lnTo>
                <a:lnTo>
                  <a:pt x="1824" y="61"/>
                </a:lnTo>
                <a:lnTo>
                  <a:pt x="1819" y="55"/>
                </a:lnTo>
                <a:lnTo>
                  <a:pt x="1813" y="53"/>
                </a:lnTo>
                <a:lnTo>
                  <a:pt x="1813" y="53"/>
                </a:lnTo>
                <a:lnTo>
                  <a:pt x="1808" y="51"/>
                </a:lnTo>
                <a:lnTo>
                  <a:pt x="1801" y="51"/>
                </a:lnTo>
                <a:lnTo>
                  <a:pt x="1795" y="53"/>
                </a:lnTo>
                <a:lnTo>
                  <a:pt x="1792" y="57"/>
                </a:lnTo>
                <a:lnTo>
                  <a:pt x="1792" y="57"/>
                </a:lnTo>
                <a:lnTo>
                  <a:pt x="1790" y="61"/>
                </a:lnTo>
                <a:lnTo>
                  <a:pt x="1790" y="64"/>
                </a:lnTo>
                <a:lnTo>
                  <a:pt x="1792" y="72"/>
                </a:lnTo>
                <a:lnTo>
                  <a:pt x="1792" y="72"/>
                </a:lnTo>
                <a:lnTo>
                  <a:pt x="1792" y="77"/>
                </a:lnTo>
                <a:lnTo>
                  <a:pt x="1788" y="81"/>
                </a:lnTo>
                <a:lnTo>
                  <a:pt x="1788" y="81"/>
                </a:lnTo>
                <a:lnTo>
                  <a:pt x="1777" y="83"/>
                </a:lnTo>
                <a:lnTo>
                  <a:pt x="1772" y="83"/>
                </a:lnTo>
                <a:lnTo>
                  <a:pt x="1766" y="83"/>
                </a:lnTo>
                <a:lnTo>
                  <a:pt x="1766" y="83"/>
                </a:lnTo>
                <a:lnTo>
                  <a:pt x="1763" y="79"/>
                </a:lnTo>
                <a:lnTo>
                  <a:pt x="1759" y="75"/>
                </a:lnTo>
                <a:lnTo>
                  <a:pt x="1759" y="75"/>
                </a:lnTo>
                <a:lnTo>
                  <a:pt x="1756" y="73"/>
                </a:lnTo>
                <a:lnTo>
                  <a:pt x="1752" y="73"/>
                </a:lnTo>
                <a:lnTo>
                  <a:pt x="1752" y="73"/>
                </a:lnTo>
                <a:lnTo>
                  <a:pt x="1750" y="75"/>
                </a:lnTo>
                <a:lnTo>
                  <a:pt x="1748" y="77"/>
                </a:lnTo>
                <a:lnTo>
                  <a:pt x="1748" y="77"/>
                </a:lnTo>
                <a:lnTo>
                  <a:pt x="1743" y="79"/>
                </a:lnTo>
                <a:lnTo>
                  <a:pt x="1741" y="77"/>
                </a:lnTo>
                <a:lnTo>
                  <a:pt x="1737" y="75"/>
                </a:lnTo>
                <a:lnTo>
                  <a:pt x="1736" y="72"/>
                </a:lnTo>
                <a:lnTo>
                  <a:pt x="1732" y="64"/>
                </a:lnTo>
                <a:lnTo>
                  <a:pt x="1728" y="59"/>
                </a:lnTo>
                <a:lnTo>
                  <a:pt x="1728" y="59"/>
                </a:lnTo>
                <a:lnTo>
                  <a:pt x="1725" y="57"/>
                </a:lnTo>
                <a:lnTo>
                  <a:pt x="1721" y="59"/>
                </a:lnTo>
                <a:lnTo>
                  <a:pt x="1714" y="62"/>
                </a:lnTo>
                <a:lnTo>
                  <a:pt x="1714" y="62"/>
                </a:lnTo>
                <a:lnTo>
                  <a:pt x="1707" y="62"/>
                </a:lnTo>
                <a:lnTo>
                  <a:pt x="1699" y="62"/>
                </a:lnTo>
                <a:lnTo>
                  <a:pt x="1699" y="62"/>
                </a:lnTo>
                <a:lnTo>
                  <a:pt x="1692" y="64"/>
                </a:lnTo>
                <a:lnTo>
                  <a:pt x="1687" y="66"/>
                </a:lnTo>
                <a:lnTo>
                  <a:pt x="1687" y="66"/>
                </a:lnTo>
                <a:lnTo>
                  <a:pt x="1676" y="64"/>
                </a:lnTo>
                <a:lnTo>
                  <a:pt x="1665" y="62"/>
                </a:lnTo>
                <a:lnTo>
                  <a:pt x="1665" y="62"/>
                </a:lnTo>
                <a:lnTo>
                  <a:pt x="1652" y="64"/>
                </a:lnTo>
                <a:lnTo>
                  <a:pt x="1647" y="66"/>
                </a:lnTo>
                <a:lnTo>
                  <a:pt x="1643" y="70"/>
                </a:lnTo>
                <a:lnTo>
                  <a:pt x="1643" y="70"/>
                </a:lnTo>
                <a:lnTo>
                  <a:pt x="1643" y="73"/>
                </a:lnTo>
                <a:lnTo>
                  <a:pt x="1643" y="79"/>
                </a:lnTo>
                <a:lnTo>
                  <a:pt x="1645" y="83"/>
                </a:lnTo>
                <a:lnTo>
                  <a:pt x="1643" y="86"/>
                </a:lnTo>
                <a:lnTo>
                  <a:pt x="1643" y="86"/>
                </a:lnTo>
                <a:lnTo>
                  <a:pt x="1641" y="88"/>
                </a:lnTo>
                <a:lnTo>
                  <a:pt x="1641" y="88"/>
                </a:lnTo>
                <a:lnTo>
                  <a:pt x="1638" y="86"/>
                </a:lnTo>
                <a:lnTo>
                  <a:pt x="1634" y="79"/>
                </a:lnTo>
                <a:lnTo>
                  <a:pt x="1634" y="79"/>
                </a:lnTo>
                <a:lnTo>
                  <a:pt x="1631" y="73"/>
                </a:lnTo>
                <a:lnTo>
                  <a:pt x="1625" y="73"/>
                </a:lnTo>
                <a:lnTo>
                  <a:pt x="1620" y="75"/>
                </a:lnTo>
                <a:lnTo>
                  <a:pt x="1614" y="79"/>
                </a:lnTo>
                <a:lnTo>
                  <a:pt x="1614" y="79"/>
                </a:lnTo>
                <a:lnTo>
                  <a:pt x="1612" y="83"/>
                </a:lnTo>
                <a:lnTo>
                  <a:pt x="1612" y="84"/>
                </a:lnTo>
                <a:lnTo>
                  <a:pt x="1616" y="92"/>
                </a:lnTo>
                <a:lnTo>
                  <a:pt x="1616" y="92"/>
                </a:lnTo>
                <a:lnTo>
                  <a:pt x="1618" y="95"/>
                </a:lnTo>
                <a:lnTo>
                  <a:pt x="1616" y="97"/>
                </a:lnTo>
                <a:lnTo>
                  <a:pt x="1612" y="97"/>
                </a:lnTo>
                <a:lnTo>
                  <a:pt x="1603" y="97"/>
                </a:lnTo>
                <a:lnTo>
                  <a:pt x="1603" y="97"/>
                </a:lnTo>
                <a:lnTo>
                  <a:pt x="1591" y="99"/>
                </a:lnTo>
                <a:lnTo>
                  <a:pt x="1578" y="103"/>
                </a:lnTo>
                <a:lnTo>
                  <a:pt x="1567" y="106"/>
                </a:lnTo>
                <a:lnTo>
                  <a:pt x="1554" y="108"/>
                </a:lnTo>
                <a:lnTo>
                  <a:pt x="1554" y="108"/>
                </a:lnTo>
                <a:lnTo>
                  <a:pt x="1544" y="110"/>
                </a:lnTo>
                <a:lnTo>
                  <a:pt x="1533" y="112"/>
                </a:lnTo>
                <a:lnTo>
                  <a:pt x="1533" y="112"/>
                </a:lnTo>
                <a:lnTo>
                  <a:pt x="1529" y="116"/>
                </a:lnTo>
                <a:lnTo>
                  <a:pt x="1525" y="119"/>
                </a:lnTo>
                <a:lnTo>
                  <a:pt x="1525" y="123"/>
                </a:lnTo>
                <a:lnTo>
                  <a:pt x="1529" y="127"/>
                </a:lnTo>
                <a:lnTo>
                  <a:pt x="1529" y="127"/>
                </a:lnTo>
                <a:lnTo>
                  <a:pt x="1538" y="128"/>
                </a:lnTo>
                <a:lnTo>
                  <a:pt x="1545" y="130"/>
                </a:lnTo>
                <a:lnTo>
                  <a:pt x="1553" y="128"/>
                </a:lnTo>
                <a:lnTo>
                  <a:pt x="1562" y="127"/>
                </a:lnTo>
                <a:lnTo>
                  <a:pt x="1562" y="127"/>
                </a:lnTo>
                <a:lnTo>
                  <a:pt x="1565" y="125"/>
                </a:lnTo>
                <a:lnTo>
                  <a:pt x="1571" y="125"/>
                </a:lnTo>
                <a:lnTo>
                  <a:pt x="1574" y="127"/>
                </a:lnTo>
                <a:lnTo>
                  <a:pt x="1578" y="130"/>
                </a:lnTo>
                <a:lnTo>
                  <a:pt x="1578" y="130"/>
                </a:lnTo>
                <a:lnTo>
                  <a:pt x="1578" y="138"/>
                </a:lnTo>
                <a:lnTo>
                  <a:pt x="1578" y="145"/>
                </a:lnTo>
                <a:lnTo>
                  <a:pt x="1574" y="152"/>
                </a:lnTo>
                <a:lnTo>
                  <a:pt x="1569" y="158"/>
                </a:lnTo>
                <a:lnTo>
                  <a:pt x="1569" y="158"/>
                </a:lnTo>
                <a:lnTo>
                  <a:pt x="1558" y="160"/>
                </a:lnTo>
                <a:lnTo>
                  <a:pt x="1545" y="160"/>
                </a:lnTo>
                <a:lnTo>
                  <a:pt x="1545" y="160"/>
                </a:lnTo>
                <a:lnTo>
                  <a:pt x="1536" y="160"/>
                </a:lnTo>
                <a:lnTo>
                  <a:pt x="1536" y="160"/>
                </a:lnTo>
                <a:lnTo>
                  <a:pt x="1533" y="161"/>
                </a:lnTo>
                <a:lnTo>
                  <a:pt x="1529" y="165"/>
                </a:lnTo>
                <a:lnTo>
                  <a:pt x="1529" y="165"/>
                </a:lnTo>
                <a:lnTo>
                  <a:pt x="1520" y="169"/>
                </a:lnTo>
                <a:lnTo>
                  <a:pt x="1509" y="171"/>
                </a:lnTo>
                <a:lnTo>
                  <a:pt x="1498" y="172"/>
                </a:lnTo>
                <a:lnTo>
                  <a:pt x="1487" y="171"/>
                </a:lnTo>
                <a:lnTo>
                  <a:pt x="1487" y="171"/>
                </a:lnTo>
                <a:lnTo>
                  <a:pt x="1478" y="171"/>
                </a:lnTo>
                <a:lnTo>
                  <a:pt x="1471" y="174"/>
                </a:lnTo>
                <a:lnTo>
                  <a:pt x="1471" y="174"/>
                </a:lnTo>
                <a:lnTo>
                  <a:pt x="1467" y="178"/>
                </a:lnTo>
                <a:lnTo>
                  <a:pt x="1466" y="182"/>
                </a:lnTo>
                <a:lnTo>
                  <a:pt x="1464" y="185"/>
                </a:lnTo>
                <a:lnTo>
                  <a:pt x="1464" y="191"/>
                </a:lnTo>
                <a:lnTo>
                  <a:pt x="1466" y="196"/>
                </a:lnTo>
                <a:lnTo>
                  <a:pt x="1467" y="200"/>
                </a:lnTo>
                <a:lnTo>
                  <a:pt x="1469" y="205"/>
                </a:lnTo>
                <a:lnTo>
                  <a:pt x="1475" y="207"/>
                </a:lnTo>
                <a:lnTo>
                  <a:pt x="1475" y="207"/>
                </a:lnTo>
                <a:lnTo>
                  <a:pt x="1482" y="211"/>
                </a:lnTo>
                <a:lnTo>
                  <a:pt x="1489" y="211"/>
                </a:lnTo>
                <a:lnTo>
                  <a:pt x="1498" y="209"/>
                </a:lnTo>
                <a:lnTo>
                  <a:pt x="1506" y="205"/>
                </a:lnTo>
                <a:lnTo>
                  <a:pt x="1506" y="205"/>
                </a:lnTo>
                <a:lnTo>
                  <a:pt x="1511" y="204"/>
                </a:lnTo>
                <a:lnTo>
                  <a:pt x="1516" y="204"/>
                </a:lnTo>
                <a:lnTo>
                  <a:pt x="1516" y="204"/>
                </a:lnTo>
                <a:lnTo>
                  <a:pt x="1524" y="202"/>
                </a:lnTo>
                <a:lnTo>
                  <a:pt x="1533" y="202"/>
                </a:lnTo>
                <a:lnTo>
                  <a:pt x="1533" y="202"/>
                </a:lnTo>
                <a:lnTo>
                  <a:pt x="1538" y="205"/>
                </a:lnTo>
                <a:lnTo>
                  <a:pt x="1540" y="207"/>
                </a:lnTo>
                <a:lnTo>
                  <a:pt x="1540" y="211"/>
                </a:lnTo>
                <a:lnTo>
                  <a:pt x="1540" y="211"/>
                </a:lnTo>
                <a:lnTo>
                  <a:pt x="1538" y="215"/>
                </a:lnTo>
                <a:lnTo>
                  <a:pt x="1536" y="216"/>
                </a:lnTo>
                <a:lnTo>
                  <a:pt x="1525" y="218"/>
                </a:lnTo>
                <a:lnTo>
                  <a:pt x="1515" y="216"/>
                </a:lnTo>
                <a:lnTo>
                  <a:pt x="1507" y="216"/>
                </a:lnTo>
                <a:lnTo>
                  <a:pt x="1507" y="216"/>
                </a:lnTo>
                <a:lnTo>
                  <a:pt x="1489" y="218"/>
                </a:lnTo>
                <a:lnTo>
                  <a:pt x="1482" y="222"/>
                </a:lnTo>
                <a:lnTo>
                  <a:pt x="1478" y="224"/>
                </a:lnTo>
                <a:lnTo>
                  <a:pt x="1475" y="227"/>
                </a:lnTo>
                <a:lnTo>
                  <a:pt x="1475" y="227"/>
                </a:lnTo>
                <a:lnTo>
                  <a:pt x="1475" y="233"/>
                </a:lnTo>
                <a:lnTo>
                  <a:pt x="1477" y="240"/>
                </a:lnTo>
                <a:lnTo>
                  <a:pt x="1480" y="244"/>
                </a:lnTo>
                <a:lnTo>
                  <a:pt x="1486" y="249"/>
                </a:lnTo>
                <a:lnTo>
                  <a:pt x="1486" y="249"/>
                </a:lnTo>
                <a:lnTo>
                  <a:pt x="1491" y="251"/>
                </a:lnTo>
                <a:lnTo>
                  <a:pt x="1498" y="255"/>
                </a:lnTo>
                <a:lnTo>
                  <a:pt x="1504" y="255"/>
                </a:lnTo>
                <a:lnTo>
                  <a:pt x="1511" y="255"/>
                </a:lnTo>
                <a:lnTo>
                  <a:pt x="1511" y="255"/>
                </a:lnTo>
                <a:lnTo>
                  <a:pt x="1518" y="251"/>
                </a:lnTo>
                <a:lnTo>
                  <a:pt x="1524" y="248"/>
                </a:lnTo>
                <a:lnTo>
                  <a:pt x="1531" y="244"/>
                </a:lnTo>
                <a:lnTo>
                  <a:pt x="1536" y="240"/>
                </a:lnTo>
                <a:lnTo>
                  <a:pt x="1536" y="240"/>
                </a:lnTo>
                <a:lnTo>
                  <a:pt x="1547" y="238"/>
                </a:lnTo>
                <a:lnTo>
                  <a:pt x="1556" y="238"/>
                </a:lnTo>
                <a:lnTo>
                  <a:pt x="1576" y="238"/>
                </a:lnTo>
                <a:lnTo>
                  <a:pt x="1598" y="242"/>
                </a:lnTo>
                <a:lnTo>
                  <a:pt x="1616" y="248"/>
                </a:lnTo>
                <a:lnTo>
                  <a:pt x="1616" y="248"/>
                </a:lnTo>
                <a:lnTo>
                  <a:pt x="1632" y="253"/>
                </a:lnTo>
                <a:lnTo>
                  <a:pt x="1647" y="262"/>
                </a:lnTo>
                <a:lnTo>
                  <a:pt x="1647" y="262"/>
                </a:lnTo>
                <a:lnTo>
                  <a:pt x="1661" y="271"/>
                </a:lnTo>
                <a:lnTo>
                  <a:pt x="1672" y="281"/>
                </a:lnTo>
                <a:lnTo>
                  <a:pt x="1672" y="281"/>
                </a:lnTo>
                <a:lnTo>
                  <a:pt x="1687" y="295"/>
                </a:lnTo>
                <a:lnTo>
                  <a:pt x="1698" y="310"/>
                </a:lnTo>
                <a:lnTo>
                  <a:pt x="1698" y="310"/>
                </a:lnTo>
                <a:lnTo>
                  <a:pt x="1705" y="323"/>
                </a:lnTo>
                <a:lnTo>
                  <a:pt x="1712" y="334"/>
                </a:lnTo>
                <a:lnTo>
                  <a:pt x="1716" y="341"/>
                </a:lnTo>
                <a:lnTo>
                  <a:pt x="1716" y="347"/>
                </a:lnTo>
                <a:lnTo>
                  <a:pt x="1716" y="354"/>
                </a:lnTo>
                <a:lnTo>
                  <a:pt x="1714" y="361"/>
                </a:lnTo>
                <a:lnTo>
                  <a:pt x="1714" y="361"/>
                </a:lnTo>
                <a:lnTo>
                  <a:pt x="1710" y="365"/>
                </a:lnTo>
                <a:lnTo>
                  <a:pt x="1708" y="367"/>
                </a:lnTo>
                <a:lnTo>
                  <a:pt x="1708" y="369"/>
                </a:lnTo>
                <a:lnTo>
                  <a:pt x="1708" y="369"/>
                </a:lnTo>
                <a:lnTo>
                  <a:pt x="1710" y="374"/>
                </a:lnTo>
                <a:lnTo>
                  <a:pt x="1714" y="378"/>
                </a:lnTo>
                <a:lnTo>
                  <a:pt x="1717" y="380"/>
                </a:lnTo>
                <a:lnTo>
                  <a:pt x="1723" y="380"/>
                </a:lnTo>
                <a:lnTo>
                  <a:pt x="1723" y="380"/>
                </a:lnTo>
                <a:lnTo>
                  <a:pt x="1736" y="380"/>
                </a:lnTo>
                <a:lnTo>
                  <a:pt x="1748" y="382"/>
                </a:lnTo>
                <a:lnTo>
                  <a:pt x="1754" y="383"/>
                </a:lnTo>
                <a:lnTo>
                  <a:pt x="1759" y="387"/>
                </a:lnTo>
                <a:lnTo>
                  <a:pt x="1763" y="391"/>
                </a:lnTo>
                <a:lnTo>
                  <a:pt x="1766" y="396"/>
                </a:lnTo>
                <a:lnTo>
                  <a:pt x="1766" y="396"/>
                </a:lnTo>
                <a:lnTo>
                  <a:pt x="1766" y="405"/>
                </a:lnTo>
                <a:lnTo>
                  <a:pt x="1766" y="409"/>
                </a:lnTo>
                <a:lnTo>
                  <a:pt x="1763" y="411"/>
                </a:lnTo>
                <a:lnTo>
                  <a:pt x="1763" y="411"/>
                </a:lnTo>
                <a:lnTo>
                  <a:pt x="1759" y="411"/>
                </a:lnTo>
                <a:lnTo>
                  <a:pt x="1754" y="409"/>
                </a:lnTo>
                <a:lnTo>
                  <a:pt x="1748" y="407"/>
                </a:lnTo>
                <a:lnTo>
                  <a:pt x="1743" y="405"/>
                </a:lnTo>
                <a:lnTo>
                  <a:pt x="1743" y="405"/>
                </a:lnTo>
                <a:lnTo>
                  <a:pt x="1730" y="405"/>
                </a:lnTo>
                <a:lnTo>
                  <a:pt x="1723" y="405"/>
                </a:lnTo>
                <a:lnTo>
                  <a:pt x="1721" y="407"/>
                </a:lnTo>
                <a:lnTo>
                  <a:pt x="1719" y="409"/>
                </a:lnTo>
                <a:lnTo>
                  <a:pt x="1719" y="409"/>
                </a:lnTo>
                <a:lnTo>
                  <a:pt x="1717" y="415"/>
                </a:lnTo>
                <a:lnTo>
                  <a:pt x="1721" y="416"/>
                </a:lnTo>
                <a:lnTo>
                  <a:pt x="1727" y="422"/>
                </a:lnTo>
                <a:lnTo>
                  <a:pt x="1727" y="422"/>
                </a:lnTo>
                <a:lnTo>
                  <a:pt x="1730" y="426"/>
                </a:lnTo>
                <a:lnTo>
                  <a:pt x="1732" y="429"/>
                </a:lnTo>
                <a:lnTo>
                  <a:pt x="1732" y="429"/>
                </a:lnTo>
                <a:lnTo>
                  <a:pt x="1727" y="433"/>
                </a:lnTo>
                <a:lnTo>
                  <a:pt x="1721" y="435"/>
                </a:lnTo>
                <a:lnTo>
                  <a:pt x="1719" y="437"/>
                </a:lnTo>
                <a:lnTo>
                  <a:pt x="1719" y="437"/>
                </a:lnTo>
                <a:lnTo>
                  <a:pt x="1719" y="442"/>
                </a:lnTo>
                <a:lnTo>
                  <a:pt x="1721" y="446"/>
                </a:lnTo>
                <a:lnTo>
                  <a:pt x="1725" y="448"/>
                </a:lnTo>
                <a:lnTo>
                  <a:pt x="1728" y="451"/>
                </a:lnTo>
                <a:lnTo>
                  <a:pt x="1728" y="451"/>
                </a:lnTo>
                <a:lnTo>
                  <a:pt x="1728" y="455"/>
                </a:lnTo>
                <a:lnTo>
                  <a:pt x="1727" y="457"/>
                </a:lnTo>
                <a:lnTo>
                  <a:pt x="1723" y="459"/>
                </a:lnTo>
                <a:lnTo>
                  <a:pt x="1723" y="462"/>
                </a:lnTo>
                <a:lnTo>
                  <a:pt x="1723" y="462"/>
                </a:lnTo>
                <a:lnTo>
                  <a:pt x="1725" y="468"/>
                </a:lnTo>
                <a:lnTo>
                  <a:pt x="1728" y="470"/>
                </a:lnTo>
                <a:lnTo>
                  <a:pt x="1734" y="471"/>
                </a:lnTo>
                <a:lnTo>
                  <a:pt x="1737" y="471"/>
                </a:lnTo>
                <a:lnTo>
                  <a:pt x="1737" y="471"/>
                </a:lnTo>
                <a:lnTo>
                  <a:pt x="1745" y="470"/>
                </a:lnTo>
                <a:lnTo>
                  <a:pt x="1746" y="466"/>
                </a:lnTo>
                <a:lnTo>
                  <a:pt x="1748" y="460"/>
                </a:lnTo>
                <a:lnTo>
                  <a:pt x="1746" y="455"/>
                </a:lnTo>
                <a:lnTo>
                  <a:pt x="1745" y="444"/>
                </a:lnTo>
                <a:lnTo>
                  <a:pt x="1745" y="438"/>
                </a:lnTo>
                <a:lnTo>
                  <a:pt x="1746" y="435"/>
                </a:lnTo>
                <a:lnTo>
                  <a:pt x="1746" y="435"/>
                </a:lnTo>
                <a:lnTo>
                  <a:pt x="1752" y="431"/>
                </a:lnTo>
                <a:lnTo>
                  <a:pt x="1757" y="429"/>
                </a:lnTo>
                <a:lnTo>
                  <a:pt x="1766" y="431"/>
                </a:lnTo>
                <a:lnTo>
                  <a:pt x="1774" y="433"/>
                </a:lnTo>
                <a:lnTo>
                  <a:pt x="1790" y="437"/>
                </a:lnTo>
                <a:lnTo>
                  <a:pt x="1799" y="442"/>
                </a:lnTo>
                <a:lnTo>
                  <a:pt x="1799" y="442"/>
                </a:lnTo>
                <a:lnTo>
                  <a:pt x="1804" y="446"/>
                </a:lnTo>
                <a:lnTo>
                  <a:pt x="1806" y="451"/>
                </a:lnTo>
                <a:lnTo>
                  <a:pt x="1806" y="457"/>
                </a:lnTo>
                <a:lnTo>
                  <a:pt x="1803" y="464"/>
                </a:lnTo>
                <a:lnTo>
                  <a:pt x="1803" y="464"/>
                </a:lnTo>
                <a:lnTo>
                  <a:pt x="1797" y="470"/>
                </a:lnTo>
                <a:lnTo>
                  <a:pt x="1792" y="473"/>
                </a:lnTo>
                <a:lnTo>
                  <a:pt x="1786" y="479"/>
                </a:lnTo>
                <a:lnTo>
                  <a:pt x="1785" y="486"/>
                </a:lnTo>
                <a:lnTo>
                  <a:pt x="1785" y="486"/>
                </a:lnTo>
                <a:lnTo>
                  <a:pt x="1785" y="490"/>
                </a:lnTo>
                <a:lnTo>
                  <a:pt x="1781" y="493"/>
                </a:lnTo>
                <a:lnTo>
                  <a:pt x="1779" y="497"/>
                </a:lnTo>
                <a:lnTo>
                  <a:pt x="1774" y="499"/>
                </a:lnTo>
                <a:lnTo>
                  <a:pt x="1774" y="499"/>
                </a:lnTo>
                <a:lnTo>
                  <a:pt x="1766" y="501"/>
                </a:lnTo>
                <a:lnTo>
                  <a:pt x="1761" y="501"/>
                </a:lnTo>
                <a:lnTo>
                  <a:pt x="1754" y="501"/>
                </a:lnTo>
                <a:lnTo>
                  <a:pt x="1748" y="503"/>
                </a:lnTo>
                <a:lnTo>
                  <a:pt x="1748" y="503"/>
                </a:lnTo>
                <a:lnTo>
                  <a:pt x="1743" y="506"/>
                </a:lnTo>
                <a:lnTo>
                  <a:pt x="1739" y="510"/>
                </a:lnTo>
                <a:lnTo>
                  <a:pt x="1739" y="510"/>
                </a:lnTo>
                <a:lnTo>
                  <a:pt x="1739" y="514"/>
                </a:lnTo>
                <a:lnTo>
                  <a:pt x="1739" y="517"/>
                </a:lnTo>
                <a:lnTo>
                  <a:pt x="1743" y="525"/>
                </a:lnTo>
                <a:lnTo>
                  <a:pt x="1743" y="525"/>
                </a:lnTo>
                <a:lnTo>
                  <a:pt x="1745" y="532"/>
                </a:lnTo>
                <a:lnTo>
                  <a:pt x="1745" y="539"/>
                </a:lnTo>
                <a:lnTo>
                  <a:pt x="1745" y="539"/>
                </a:lnTo>
                <a:lnTo>
                  <a:pt x="1741" y="545"/>
                </a:lnTo>
                <a:lnTo>
                  <a:pt x="1739" y="547"/>
                </a:lnTo>
                <a:lnTo>
                  <a:pt x="1739" y="550"/>
                </a:lnTo>
                <a:lnTo>
                  <a:pt x="1739" y="550"/>
                </a:lnTo>
                <a:lnTo>
                  <a:pt x="1741" y="556"/>
                </a:lnTo>
                <a:lnTo>
                  <a:pt x="1746" y="561"/>
                </a:lnTo>
                <a:lnTo>
                  <a:pt x="1752" y="565"/>
                </a:lnTo>
                <a:lnTo>
                  <a:pt x="1756" y="570"/>
                </a:lnTo>
                <a:lnTo>
                  <a:pt x="1756" y="570"/>
                </a:lnTo>
                <a:lnTo>
                  <a:pt x="1757" y="578"/>
                </a:lnTo>
                <a:lnTo>
                  <a:pt x="1759" y="585"/>
                </a:lnTo>
                <a:lnTo>
                  <a:pt x="1759" y="585"/>
                </a:lnTo>
                <a:lnTo>
                  <a:pt x="1763" y="589"/>
                </a:lnTo>
                <a:lnTo>
                  <a:pt x="1765" y="589"/>
                </a:lnTo>
                <a:lnTo>
                  <a:pt x="1772" y="591"/>
                </a:lnTo>
                <a:lnTo>
                  <a:pt x="1772" y="591"/>
                </a:lnTo>
                <a:lnTo>
                  <a:pt x="1777" y="592"/>
                </a:lnTo>
                <a:lnTo>
                  <a:pt x="1777" y="594"/>
                </a:lnTo>
                <a:lnTo>
                  <a:pt x="1777" y="598"/>
                </a:lnTo>
                <a:lnTo>
                  <a:pt x="1777" y="598"/>
                </a:lnTo>
                <a:lnTo>
                  <a:pt x="1775" y="600"/>
                </a:lnTo>
                <a:lnTo>
                  <a:pt x="1772" y="602"/>
                </a:lnTo>
                <a:lnTo>
                  <a:pt x="1770" y="603"/>
                </a:lnTo>
                <a:lnTo>
                  <a:pt x="1768" y="607"/>
                </a:lnTo>
                <a:lnTo>
                  <a:pt x="1768" y="607"/>
                </a:lnTo>
                <a:lnTo>
                  <a:pt x="1772" y="614"/>
                </a:lnTo>
                <a:lnTo>
                  <a:pt x="1777" y="620"/>
                </a:lnTo>
                <a:lnTo>
                  <a:pt x="1777" y="620"/>
                </a:lnTo>
                <a:lnTo>
                  <a:pt x="1781" y="622"/>
                </a:lnTo>
                <a:lnTo>
                  <a:pt x="1785" y="624"/>
                </a:lnTo>
                <a:lnTo>
                  <a:pt x="1785" y="624"/>
                </a:lnTo>
                <a:lnTo>
                  <a:pt x="1785" y="627"/>
                </a:lnTo>
                <a:lnTo>
                  <a:pt x="1785" y="629"/>
                </a:lnTo>
                <a:lnTo>
                  <a:pt x="1786" y="636"/>
                </a:lnTo>
                <a:lnTo>
                  <a:pt x="1786" y="636"/>
                </a:lnTo>
                <a:lnTo>
                  <a:pt x="1790" y="642"/>
                </a:lnTo>
                <a:lnTo>
                  <a:pt x="1794" y="644"/>
                </a:lnTo>
                <a:lnTo>
                  <a:pt x="1804" y="644"/>
                </a:lnTo>
                <a:lnTo>
                  <a:pt x="1804" y="644"/>
                </a:lnTo>
                <a:lnTo>
                  <a:pt x="1810" y="647"/>
                </a:lnTo>
                <a:lnTo>
                  <a:pt x="1813" y="651"/>
                </a:lnTo>
                <a:lnTo>
                  <a:pt x="1817" y="662"/>
                </a:lnTo>
                <a:lnTo>
                  <a:pt x="1817" y="662"/>
                </a:lnTo>
                <a:lnTo>
                  <a:pt x="1821" y="669"/>
                </a:lnTo>
                <a:lnTo>
                  <a:pt x="1826" y="675"/>
                </a:lnTo>
                <a:lnTo>
                  <a:pt x="1833" y="680"/>
                </a:lnTo>
                <a:lnTo>
                  <a:pt x="1835" y="680"/>
                </a:lnTo>
                <a:lnTo>
                  <a:pt x="1839" y="680"/>
                </a:lnTo>
                <a:lnTo>
                  <a:pt x="1839" y="680"/>
                </a:lnTo>
                <a:lnTo>
                  <a:pt x="1848" y="679"/>
                </a:lnTo>
                <a:lnTo>
                  <a:pt x="1852" y="679"/>
                </a:lnTo>
                <a:lnTo>
                  <a:pt x="1855" y="680"/>
                </a:lnTo>
                <a:lnTo>
                  <a:pt x="1855" y="680"/>
                </a:lnTo>
                <a:lnTo>
                  <a:pt x="1866" y="688"/>
                </a:lnTo>
                <a:lnTo>
                  <a:pt x="1873" y="695"/>
                </a:lnTo>
                <a:lnTo>
                  <a:pt x="1873" y="695"/>
                </a:lnTo>
                <a:lnTo>
                  <a:pt x="1882" y="701"/>
                </a:lnTo>
                <a:lnTo>
                  <a:pt x="1886" y="703"/>
                </a:lnTo>
                <a:lnTo>
                  <a:pt x="1890" y="703"/>
                </a:lnTo>
                <a:lnTo>
                  <a:pt x="1890" y="703"/>
                </a:lnTo>
                <a:lnTo>
                  <a:pt x="1893" y="701"/>
                </a:lnTo>
                <a:lnTo>
                  <a:pt x="1893" y="699"/>
                </a:lnTo>
                <a:lnTo>
                  <a:pt x="1893" y="692"/>
                </a:lnTo>
                <a:lnTo>
                  <a:pt x="1893" y="692"/>
                </a:lnTo>
                <a:lnTo>
                  <a:pt x="1895" y="688"/>
                </a:lnTo>
                <a:lnTo>
                  <a:pt x="1899" y="686"/>
                </a:lnTo>
                <a:lnTo>
                  <a:pt x="1902" y="680"/>
                </a:lnTo>
                <a:lnTo>
                  <a:pt x="1902" y="680"/>
                </a:lnTo>
                <a:lnTo>
                  <a:pt x="1906" y="677"/>
                </a:lnTo>
                <a:lnTo>
                  <a:pt x="1906" y="673"/>
                </a:lnTo>
                <a:lnTo>
                  <a:pt x="1906" y="664"/>
                </a:lnTo>
                <a:lnTo>
                  <a:pt x="1906" y="664"/>
                </a:lnTo>
                <a:lnTo>
                  <a:pt x="1908" y="658"/>
                </a:lnTo>
                <a:lnTo>
                  <a:pt x="1910" y="657"/>
                </a:lnTo>
                <a:lnTo>
                  <a:pt x="1913" y="649"/>
                </a:lnTo>
                <a:lnTo>
                  <a:pt x="1913" y="649"/>
                </a:lnTo>
                <a:lnTo>
                  <a:pt x="1915" y="640"/>
                </a:lnTo>
                <a:lnTo>
                  <a:pt x="1917" y="635"/>
                </a:lnTo>
                <a:lnTo>
                  <a:pt x="1920" y="631"/>
                </a:lnTo>
                <a:lnTo>
                  <a:pt x="1920" y="631"/>
                </a:lnTo>
                <a:lnTo>
                  <a:pt x="1924" y="625"/>
                </a:lnTo>
                <a:lnTo>
                  <a:pt x="1926" y="618"/>
                </a:lnTo>
                <a:lnTo>
                  <a:pt x="1926" y="618"/>
                </a:lnTo>
                <a:lnTo>
                  <a:pt x="1926" y="613"/>
                </a:lnTo>
                <a:lnTo>
                  <a:pt x="1926" y="605"/>
                </a:lnTo>
                <a:lnTo>
                  <a:pt x="1924" y="598"/>
                </a:lnTo>
                <a:lnTo>
                  <a:pt x="1926" y="592"/>
                </a:lnTo>
                <a:lnTo>
                  <a:pt x="1926" y="592"/>
                </a:lnTo>
                <a:lnTo>
                  <a:pt x="1929" y="587"/>
                </a:lnTo>
                <a:lnTo>
                  <a:pt x="1937" y="585"/>
                </a:lnTo>
                <a:lnTo>
                  <a:pt x="1949" y="580"/>
                </a:lnTo>
                <a:lnTo>
                  <a:pt x="1949" y="580"/>
                </a:lnTo>
                <a:lnTo>
                  <a:pt x="1955" y="574"/>
                </a:lnTo>
                <a:lnTo>
                  <a:pt x="1960" y="569"/>
                </a:lnTo>
                <a:lnTo>
                  <a:pt x="1960" y="569"/>
                </a:lnTo>
                <a:lnTo>
                  <a:pt x="1964" y="561"/>
                </a:lnTo>
                <a:lnTo>
                  <a:pt x="1966" y="558"/>
                </a:lnTo>
                <a:lnTo>
                  <a:pt x="1971" y="554"/>
                </a:lnTo>
                <a:lnTo>
                  <a:pt x="1978" y="554"/>
                </a:lnTo>
                <a:lnTo>
                  <a:pt x="1978" y="554"/>
                </a:lnTo>
                <a:lnTo>
                  <a:pt x="1993" y="554"/>
                </a:lnTo>
                <a:lnTo>
                  <a:pt x="2000" y="554"/>
                </a:lnTo>
                <a:lnTo>
                  <a:pt x="2007" y="552"/>
                </a:lnTo>
                <a:lnTo>
                  <a:pt x="2007" y="552"/>
                </a:lnTo>
                <a:lnTo>
                  <a:pt x="2015" y="547"/>
                </a:lnTo>
                <a:lnTo>
                  <a:pt x="2020" y="541"/>
                </a:lnTo>
                <a:lnTo>
                  <a:pt x="2029" y="528"/>
                </a:lnTo>
                <a:lnTo>
                  <a:pt x="2029" y="528"/>
                </a:lnTo>
                <a:lnTo>
                  <a:pt x="2033" y="523"/>
                </a:lnTo>
                <a:lnTo>
                  <a:pt x="2038" y="519"/>
                </a:lnTo>
                <a:lnTo>
                  <a:pt x="2038" y="519"/>
                </a:lnTo>
                <a:lnTo>
                  <a:pt x="2047" y="515"/>
                </a:lnTo>
                <a:lnTo>
                  <a:pt x="2054" y="510"/>
                </a:lnTo>
                <a:lnTo>
                  <a:pt x="2054" y="510"/>
                </a:lnTo>
                <a:lnTo>
                  <a:pt x="2060" y="504"/>
                </a:lnTo>
                <a:lnTo>
                  <a:pt x="2064" y="499"/>
                </a:lnTo>
                <a:lnTo>
                  <a:pt x="2064" y="499"/>
                </a:lnTo>
                <a:lnTo>
                  <a:pt x="2067" y="495"/>
                </a:lnTo>
                <a:lnTo>
                  <a:pt x="2071" y="493"/>
                </a:lnTo>
                <a:lnTo>
                  <a:pt x="2082" y="490"/>
                </a:lnTo>
                <a:lnTo>
                  <a:pt x="2102" y="490"/>
                </a:lnTo>
                <a:lnTo>
                  <a:pt x="2102" y="490"/>
                </a:lnTo>
                <a:lnTo>
                  <a:pt x="2118" y="490"/>
                </a:lnTo>
                <a:lnTo>
                  <a:pt x="2131" y="486"/>
                </a:lnTo>
                <a:lnTo>
                  <a:pt x="2145" y="481"/>
                </a:lnTo>
                <a:lnTo>
                  <a:pt x="2158" y="475"/>
                </a:lnTo>
                <a:lnTo>
                  <a:pt x="2158" y="475"/>
                </a:lnTo>
                <a:lnTo>
                  <a:pt x="2169" y="468"/>
                </a:lnTo>
                <a:lnTo>
                  <a:pt x="2178" y="462"/>
                </a:lnTo>
                <a:lnTo>
                  <a:pt x="2178" y="462"/>
                </a:lnTo>
                <a:lnTo>
                  <a:pt x="2189" y="457"/>
                </a:lnTo>
                <a:lnTo>
                  <a:pt x="2199" y="453"/>
                </a:lnTo>
                <a:lnTo>
                  <a:pt x="2199" y="453"/>
                </a:lnTo>
                <a:lnTo>
                  <a:pt x="2203" y="451"/>
                </a:lnTo>
                <a:lnTo>
                  <a:pt x="2208" y="448"/>
                </a:lnTo>
                <a:lnTo>
                  <a:pt x="2212" y="442"/>
                </a:lnTo>
                <a:lnTo>
                  <a:pt x="2212" y="440"/>
                </a:lnTo>
                <a:lnTo>
                  <a:pt x="2210" y="438"/>
                </a:lnTo>
                <a:lnTo>
                  <a:pt x="2210" y="438"/>
                </a:lnTo>
                <a:close/>
                <a:moveTo>
                  <a:pt x="1382" y="1568"/>
                </a:moveTo>
                <a:lnTo>
                  <a:pt x="1382" y="1568"/>
                </a:lnTo>
                <a:lnTo>
                  <a:pt x="1368" y="1563"/>
                </a:lnTo>
                <a:lnTo>
                  <a:pt x="1355" y="1554"/>
                </a:lnTo>
                <a:lnTo>
                  <a:pt x="1328" y="1537"/>
                </a:lnTo>
                <a:lnTo>
                  <a:pt x="1328" y="1537"/>
                </a:lnTo>
                <a:lnTo>
                  <a:pt x="1317" y="1532"/>
                </a:lnTo>
                <a:lnTo>
                  <a:pt x="1312" y="1530"/>
                </a:lnTo>
                <a:lnTo>
                  <a:pt x="1306" y="1528"/>
                </a:lnTo>
                <a:lnTo>
                  <a:pt x="1306" y="1528"/>
                </a:lnTo>
                <a:lnTo>
                  <a:pt x="1290" y="1526"/>
                </a:lnTo>
                <a:lnTo>
                  <a:pt x="1290" y="1526"/>
                </a:lnTo>
                <a:lnTo>
                  <a:pt x="1284" y="1528"/>
                </a:lnTo>
                <a:lnTo>
                  <a:pt x="1279" y="1532"/>
                </a:lnTo>
                <a:lnTo>
                  <a:pt x="1279" y="1532"/>
                </a:lnTo>
                <a:lnTo>
                  <a:pt x="1277" y="1535"/>
                </a:lnTo>
                <a:lnTo>
                  <a:pt x="1277" y="1539"/>
                </a:lnTo>
                <a:lnTo>
                  <a:pt x="1279" y="1541"/>
                </a:lnTo>
                <a:lnTo>
                  <a:pt x="1283" y="1541"/>
                </a:lnTo>
                <a:lnTo>
                  <a:pt x="1290" y="1541"/>
                </a:lnTo>
                <a:lnTo>
                  <a:pt x="1295" y="1541"/>
                </a:lnTo>
                <a:lnTo>
                  <a:pt x="1295" y="1541"/>
                </a:lnTo>
                <a:lnTo>
                  <a:pt x="1304" y="1539"/>
                </a:lnTo>
                <a:lnTo>
                  <a:pt x="1313" y="1537"/>
                </a:lnTo>
                <a:lnTo>
                  <a:pt x="1313" y="1537"/>
                </a:lnTo>
                <a:lnTo>
                  <a:pt x="1323" y="1541"/>
                </a:lnTo>
                <a:lnTo>
                  <a:pt x="1333" y="1548"/>
                </a:lnTo>
                <a:lnTo>
                  <a:pt x="1333" y="1548"/>
                </a:lnTo>
                <a:lnTo>
                  <a:pt x="1352" y="1565"/>
                </a:lnTo>
                <a:lnTo>
                  <a:pt x="1371" y="1583"/>
                </a:lnTo>
                <a:lnTo>
                  <a:pt x="1371" y="1583"/>
                </a:lnTo>
                <a:lnTo>
                  <a:pt x="1377" y="1588"/>
                </a:lnTo>
                <a:lnTo>
                  <a:pt x="1384" y="1592"/>
                </a:lnTo>
                <a:lnTo>
                  <a:pt x="1391" y="1594"/>
                </a:lnTo>
                <a:lnTo>
                  <a:pt x="1399" y="1594"/>
                </a:lnTo>
                <a:lnTo>
                  <a:pt x="1399" y="1594"/>
                </a:lnTo>
                <a:lnTo>
                  <a:pt x="1404" y="1592"/>
                </a:lnTo>
                <a:lnTo>
                  <a:pt x="1408" y="1588"/>
                </a:lnTo>
                <a:lnTo>
                  <a:pt x="1408" y="1585"/>
                </a:lnTo>
                <a:lnTo>
                  <a:pt x="1404" y="1581"/>
                </a:lnTo>
                <a:lnTo>
                  <a:pt x="1404" y="1581"/>
                </a:lnTo>
                <a:lnTo>
                  <a:pt x="1400" y="1576"/>
                </a:lnTo>
                <a:lnTo>
                  <a:pt x="1395" y="1574"/>
                </a:lnTo>
                <a:lnTo>
                  <a:pt x="1382" y="1568"/>
                </a:lnTo>
                <a:lnTo>
                  <a:pt x="1382" y="1568"/>
                </a:lnTo>
                <a:close/>
                <a:moveTo>
                  <a:pt x="2015" y="2095"/>
                </a:moveTo>
                <a:lnTo>
                  <a:pt x="2015" y="2095"/>
                </a:lnTo>
                <a:lnTo>
                  <a:pt x="2007" y="2087"/>
                </a:lnTo>
                <a:lnTo>
                  <a:pt x="2000" y="2080"/>
                </a:lnTo>
                <a:lnTo>
                  <a:pt x="2000" y="2080"/>
                </a:lnTo>
                <a:lnTo>
                  <a:pt x="1982" y="2065"/>
                </a:lnTo>
                <a:lnTo>
                  <a:pt x="1975" y="2060"/>
                </a:lnTo>
                <a:lnTo>
                  <a:pt x="1964" y="2052"/>
                </a:lnTo>
                <a:lnTo>
                  <a:pt x="1964" y="2052"/>
                </a:lnTo>
                <a:lnTo>
                  <a:pt x="1948" y="2045"/>
                </a:lnTo>
                <a:lnTo>
                  <a:pt x="1929" y="2040"/>
                </a:lnTo>
                <a:lnTo>
                  <a:pt x="1929" y="2040"/>
                </a:lnTo>
                <a:lnTo>
                  <a:pt x="1919" y="2038"/>
                </a:lnTo>
                <a:lnTo>
                  <a:pt x="1906" y="2036"/>
                </a:lnTo>
                <a:lnTo>
                  <a:pt x="1906" y="2036"/>
                </a:lnTo>
                <a:lnTo>
                  <a:pt x="1897" y="2034"/>
                </a:lnTo>
                <a:lnTo>
                  <a:pt x="1888" y="2030"/>
                </a:lnTo>
                <a:lnTo>
                  <a:pt x="1881" y="2025"/>
                </a:lnTo>
                <a:lnTo>
                  <a:pt x="1873" y="2018"/>
                </a:lnTo>
                <a:lnTo>
                  <a:pt x="1873" y="2018"/>
                </a:lnTo>
                <a:lnTo>
                  <a:pt x="1868" y="2010"/>
                </a:lnTo>
                <a:lnTo>
                  <a:pt x="1859" y="2005"/>
                </a:lnTo>
                <a:lnTo>
                  <a:pt x="1859" y="2005"/>
                </a:lnTo>
                <a:lnTo>
                  <a:pt x="1850" y="1999"/>
                </a:lnTo>
                <a:lnTo>
                  <a:pt x="1844" y="1996"/>
                </a:lnTo>
                <a:lnTo>
                  <a:pt x="1839" y="1996"/>
                </a:lnTo>
                <a:lnTo>
                  <a:pt x="1839" y="1996"/>
                </a:lnTo>
                <a:lnTo>
                  <a:pt x="1832" y="1996"/>
                </a:lnTo>
                <a:lnTo>
                  <a:pt x="1823" y="1994"/>
                </a:lnTo>
                <a:lnTo>
                  <a:pt x="1823" y="1994"/>
                </a:lnTo>
                <a:lnTo>
                  <a:pt x="1812" y="1988"/>
                </a:lnTo>
                <a:lnTo>
                  <a:pt x="1801" y="1979"/>
                </a:lnTo>
                <a:lnTo>
                  <a:pt x="1801" y="1979"/>
                </a:lnTo>
                <a:lnTo>
                  <a:pt x="1788" y="1966"/>
                </a:lnTo>
                <a:lnTo>
                  <a:pt x="1783" y="1959"/>
                </a:lnTo>
                <a:lnTo>
                  <a:pt x="1777" y="1950"/>
                </a:lnTo>
                <a:lnTo>
                  <a:pt x="1777" y="1950"/>
                </a:lnTo>
                <a:lnTo>
                  <a:pt x="1768" y="1920"/>
                </a:lnTo>
                <a:lnTo>
                  <a:pt x="1768" y="1920"/>
                </a:lnTo>
                <a:lnTo>
                  <a:pt x="1763" y="1908"/>
                </a:lnTo>
                <a:lnTo>
                  <a:pt x="1757" y="1895"/>
                </a:lnTo>
                <a:lnTo>
                  <a:pt x="1754" y="1887"/>
                </a:lnTo>
                <a:lnTo>
                  <a:pt x="1750" y="1882"/>
                </a:lnTo>
                <a:lnTo>
                  <a:pt x="1745" y="1878"/>
                </a:lnTo>
                <a:lnTo>
                  <a:pt x="1739" y="1875"/>
                </a:lnTo>
                <a:lnTo>
                  <a:pt x="1739" y="1875"/>
                </a:lnTo>
                <a:lnTo>
                  <a:pt x="1727" y="1869"/>
                </a:lnTo>
                <a:lnTo>
                  <a:pt x="1714" y="1862"/>
                </a:lnTo>
                <a:lnTo>
                  <a:pt x="1714" y="1862"/>
                </a:lnTo>
                <a:lnTo>
                  <a:pt x="1698" y="1856"/>
                </a:lnTo>
                <a:lnTo>
                  <a:pt x="1681" y="1851"/>
                </a:lnTo>
                <a:lnTo>
                  <a:pt x="1681" y="1851"/>
                </a:lnTo>
                <a:lnTo>
                  <a:pt x="1665" y="1842"/>
                </a:lnTo>
                <a:lnTo>
                  <a:pt x="1647" y="1831"/>
                </a:lnTo>
                <a:lnTo>
                  <a:pt x="1632" y="1816"/>
                </a:lnTo>
                <a:lnTo>
                  <a:pt x="1620" y="1801"/>
                </a:lnTo>
                <a:lnTo>
                  <a:pt x="1620" y="1801"/>
                </a:lnTo>
                <a:lnTo>
                  <a:pt x="1611" y="1790"/>
                </a:lnTo>
                <a:lnTo>
                  <a:pt x="1605" y="1785"/>
                </a:lnTo>
                <a:lnTo>
                  <a:pt x="1600" y="1781"/>
                </a:lnTo>
                <a:lnTo>
                  <a:pt x="1600" y="1781"/>
                </a:lnTo>
                <a:lnTo>
                  <a:pt x="1585" y="1776"/>
                </a:lnTo>
                <a:lnTo>
                  <a:pt x="1571" y="1772"/>
                </a:lnTo>
                <a:lnTo>
                  <a:pt x="1571" y="1772"/>
                </a:lnTo>
                <a:lnTo>
                  <a:pt x="1560" y="1770"/>
                </a:lnTo>
                <a:lnTo>
                  <a:pt x="1551" y="1770"/>
                </a:lnTo>
                <a:lnTo>
                  <a:pt x="1531" y="1770"/>
                </a:lnTo>
                <a:lnTo>
                  <a:pt x="1531" y="1770"/>
                </a:lnTo>
                <a:lnTo>
                  <a:pt x="1513" y="1770"/>
                </a:lnTo>
                <a:lnTo>
                  <a:pt x="1493" y="1768"/>
                </a:lnTo>
                <a:lnTo>
                  <a:pt x="1493" y="1768"/>
                </a:lnTo>
                <a:lnTo>
                  <a:pt x="1482" y="1766"/>
                </a:lnTo>
                <a:lnTo>
                  <a:pt x="1471" y="1768"/>
                </a:lnTo>
                <a:lnTo>
                  <a:pt x="1471" y="1768"/>
                </a:lnTo>
                <a:lnTo>
                  <a:pt x="1466" y="1770"/>
                </a:lnTo>
                <a:lnTo>
                  <a:pt x="1462" y="1774"/>
                </a:lnTo>
                <a:lnTo>
                  <a:pt x="1462" y="1774"/>
                </a:lnTo>
                <a:lnTo>
                  <a:pt x="1462" y="1777"/>
                </a:lnTo>
                <a:lnTo>
                  <a:pt x="1464" y="1781"/>
                </a:lnTo>
                <a:lnTo>
                  <a:pt x="1464" y="1781"/>
                </a:lnTo>
                <a:lnTo>
                  <a:pt x="1464" y="1788"/>
                </a:lnTo>
                <a:lnTo>
                  <a:pt x="1464" y="1788"/>
                </a:lnTo>
                <a:lnTo>
                  <a:pt x="1469" y="1799"/>
                </a:lnTo>
                <a:lnTo>
                  <a:pt x="1469" y="1799"/>
                </a:lnTo>
                <a:lnTo>
                  <a:pt x="1469" y="1805"/>
                </a:lnTo>
                <a:lnTo>
                  <a:pt x="1467" y="1807"/>
                </a:lnTo>
                <a:lnTo>
                  <a:pt x="1466" y="1809"/>
                </a:lnTo>
                <a:lnTo>
                  <a:pt x="1466" y="1809"/>
                </a:lnTo>
                <a:lnTo>
                  <a:pt x="1458" y="1809"/>
                </a:lnTo>
                <a:lnTo>
                  <a:pt x="1455" y="1805"/>
                </a:lnTo>
                <a:lnTo>
                  <a:pt x="1451" y="1801"/>
                </a:lnTo>
                <a:lnTo>
                  <a:pt x="1448" y="1796"/>
                </a:lnTo>
                <a:lnTo>
                  <a:pt x="1448" y="1796"/>
                </a:lnTo>
                <a:lnTo>
                  <a:pt x="1446" y="1785"/>
                </a:lnTo>
                <a:lnTo>
                  <a:pt x="1444" y="1779"/>
                </a:lnTo>
                <a:lnTo>
                  <a:pt x="1442" y="1774"/>
                </a:lnTo>
                <a:lnTo>
                  <a:pt x="1442" y="1774"/>
                </a:lnTo>
                <a:lnTo>
                  <a:pt x="1438" y="1770"/>
                </a:lnTo>
                <a:lnTo>
                  <a:pt x="1435" y="1768"/>
                </a:lnTo>
                <a:lnTo>
                  <a:pt x="1429" y="1768"/>
                </a:lnTo>
                <a:lnTo>
                  <a:pt x="1424" y="1772"/>
                </a:lnTo>
                <a:lnTo>
                  <a:pt x="1424" y="1772"/>
                </a:lnTo>
                <a:lnTo>
                  <a:pt x="1413" y="1779"/>
                </a:lnTo>
                <a:lnTo>
                  <a:pt x="1409" y="1783"/>
                </a:lnTo>
                <a:lnTo>
                  <a:pt x="1406" y="1788"/>
                </a:lnTo>
                <a:lnTo>
                  <a:pt x="1406" y="1788"/>
                </a:lnTo>
                <a:lnTo>
                  <a:pt x="1402" y="1799"/>
                </a:lnTo>
                <a:lnTo>
                  <a:pt x="1399" y="1805"/>
                </a:lnTo>
                <a:lnTo>
                  <a:pt x="1397" y="1810"/>
                </a:lnTo>
                <a:lnTo>
                  <a:pt x="1397" y="1810"/>
                </a:lnTo>
                <a:lnTo>
                  <a:pt x="1391" y="1812"/>
                </a:lnTo>
                <a:lnTo>
                  <a:pt x="1384" y="1814"/>
                </a:lnTo>
                <a:lnTo>
                  <a:pt x="1379" y="1812"/>
                </a:lnTo>
                <a:lnTo>
                  <a:pt x="1373" y="1810"/>
                </a:lnTo>
                <a:lnTo>
                  <a:pt x="1373" y="1810"/>
                </a:lnTo>
                <a:lnTo>
                  <a:pt x="1362" y="1801"/>
                </a:lnTo>
                <a:lnTo>
                  <a:pt x="1359" y="1798"/>
                </a:lnTo>
                <a:lnTo>
                  <a:pt x="1352" y="1794"/>
                </a:lnTo>
                <a:lnTo>
                  <a:pt x="1352" y="1794"/>
                </a:lnTo>
                <a:lnTo>
                  <a:pt x="1350" y="1794"/>
                </a:lnTo>
                <a:lnTo>
                  <a:pt x="1350" y="1794"/>
                </a:lnTo>
                <a:lnTo>
                  <a:pt x="1342" y="1794"/>
                </a:lnTo>
                <a:lnTo>
                  <a:pt x="1335" y="1796"/>
                </a:lnTo>
                <a:lnTo>
                  <a:pt x="1326" y="1798"/>
                </a:lnTo>
                <a:lnTo>
                  <a:pt x="1319" y="1799"/>
                </a:lnTo>
                <a:lnTo>
                  <a:pt x="1319" y="1799"/>
                </a:lnTo>
                <a:lnTo>
                  <a:pt x="1312" y="1799"/>
                </a:lnTo>
                <a:lnTo>
                  <a:pt x="1304" y="1798"/>
                </a:lnTo>
                <a:lnTo>
                  <a:pt x="1297" y="1796"/>
                </a:lnTo>
                <a:lnTo>
                  <a:pt x="1292" y="1790"/>
                </a:lnTo>
                <a:lnTo>
                  <a:pt x="1292" y="1790"/>
                </a:lnTo>
                <a:lnTo>
                  <a:pt x="1290" y="1785"/>
                </a:lnTo>
                <a:lnTo>
                  <a:pt x="1288" y="1777"/>
                </a:lnTo>
                <a:lnTo>
                  <a:pt x="1286" y="1765"/>
                </a:lnTo>
                <a:lnTo>
                  <a:pt x="1286" y="1765"/>
                </a:lnTo>
                <a:lnTo>
                  <a:pt x="1284" y="1759"/>
                </a:lnTo>
                <a:lnTo>
                  <a:pt x="1281" y="1755"/>
                </a:lnTo>
                <a:lnTo>
                  <a:pt x="1275" y="1746"/>
                </a:lnTo>
                <a:lnTo>
                  <a:pt x="1275" y="1746"/>
                </a:lnTo>
                <a:lnTo>
                  <a:pt x="1274" y="1741"/>
                </a:lnTo>
                <a:lnTo>
                  <a:pt x="1274" y="1735"/>
                </a:lnTo>
                <a:lnTo>
                  <a:pt x="1272" y="1724"/>
                </a:lnTo>
                <a:lnTo>
                  <a:pt x="1272" y="1724"/>
                </a:lnTo>
                <a:lnTo>
                  <a:pt x="1272" y="1711"/>
                </a:lnTo>
                <a:lnTo>
                  <a:pt x="1274" y="1702"/>
                </a:lnTo>
                <a:lnTo>
                  <a:pt x="1274" y="1691"/>
                </a:lnTo>
                <a:lnTo>
                  <a:pt x="1270" y="1680"/>
                </a:lnTo>
                <a:lnTo>
                  <a:pt x="1270" y="1680"/>
                </a:lnTo>
                <a:lnTo>
                  <a:pt x="1265" y="1673"/>
                </a:lnTo>
                <a:lnTo>
                  <a:pt x="1255" y="1667"/>
                </a:lnTo>
                <a:lnTo>
                  <a:pt x="1255" y="1667"/>
                </a:lnTo>
                <a:lnTo>
                  <a:pt x="1250" y="1665"/>
                </a:lnTo>
                <a:lnTo>
                  <a:pt x="1243" y="1665"/>
                </a:lnTo>
                <a:lnTo>
                  <a:pt x="1228" y="1669"/>
                </a:lnTo>
                <a:lnTo>
                  <a:pt x="1228" y="1669"/>
                </a:lnTo>
                <a:lnTo>
                  <a:pt x="1217" y="1671"/>
                </a:lnTo>
                <a:lnTo>
                  <a:pt x="1207" y="1673"/>
                </a:lnTo>
                <a:lnTo>
                  <a:pt x="1207" y="1673"/>
                </a:lnTo>
                <a:lnTo>
                  <a:pt x="1201" y="1671"/>
                </a:lnTo>
                <a:lnTo>
                  <a:pt x="1198" y="1669"/>
                </a:lnTo>
                <a:lnTo>
                  <a:pt x="1196" y="1665"/>
                </a:lnTo>
                <a:lnTo>
                  <a:pt x="1198" y="1660"/>
                </a:lnTo>
                <a:lnTo>
                  <a:pt x="1198" y="1660"/>
                </a:lnTo>
                <a:lnTo>
                  <a:pt x="1207" y="1649"/>
                </a:lnTo>
                <a:lnTo>
                  <a:pt x="1210" y="1643"/>
                </a:lnTo>
                <a:lnTo>
                  <a:pt x="1212" y="1636"/>
                </a:lnTo>
                <a:lnTo>
                  <a:pt x="1212" y="1636"/>
                </a:lnTo>
                <a:lnTo>
                  <a:pt x="1212" y="1632"/>
                </a:lnTo>
                <a:lnTo>
                  <a:pt x="1212" y="1629"/>
                </a:lnTo>
                <a:lnTo>
                  <a:pt x="1208" y="1623"/>
                </a:lnTo>
                <a:lnTo>
                  <a:pt x="1208" y="1623"/>
                </a:lnTo>
                <a:lnTo>
                  <a:pt x="1205" y="1618"/>
                </a:lnTo>
                <a:lnTo>
                  <a:pt x="1205" y="1616"/>
                </a:lnTo>
                <a:lnTo>
                  <a:pt x="1207" y="1614"/>
                </a:lnTo>
                <a:lnTo>
                  <a:pt x="1207" y="1614"/>
                </a:lnTo>
                <a:lnTo>
                  <a:pt x="1210" y="1616"/>
                </a:lnTo>
                <a:lnTo>
                  <a:pt x="1214" y="1618"/>
                </a:lnTo>
                <a:lnTo>
                  <a:pt x="1214" y="1618"/>
                </a:lnTo>
                <a:lnTo>
                  <a:pt x="1221" y="1618"/>
                </a:lnTo>
                <a:lnTo>
                  <a:pt x="1221" y="1618"/>
                </a:lnTo>
                <a:lnTo>
                  <a:pt x="1221" y="1614"/>
                </a:lnTo>
                <a:lnTo>
                  <a:pt x="1221" y="1610"/>
                </a:lnTo>
                <a:lnTo>
                  <a:pt x="1221" y="1601"/>
                </a:lnTo>
                <a:lnTo>
                  <a:pt x="1221" y="1601"/>
                </a:lnTo>
                <a:lnTo>
                  <a:pt x="1227" y="1587"/>
                </a:lnTo>
                <a:lnTo>
                  <a:pt x="1227" y="1587"/>
                </a:lnTo>
                <a:lnTo>
                  <a:pt x="1228" y="1576"/>
                </a:lnTo>
                <a:lnTo>
                  <a:pt x="1228" y="1568"/>
                </a:lnTo>
                <a:lnTo>
                  <a:pt x="1227" y="1563"/>
                </a:lnTo>
                <a:lnTo>
                  <a:pt x="1227" y="1563"/>
                </a:lnTo>
                <a:lnTo>
                  <a:pt x="1223" y="1559"/>
                </a:lnTo>
                <a:lnTo>
                  <a:pt x="1219" y="1557"/>
                </a:lnTo>
                <a:lnTo>
                  <a:pt x="1212" y="1555"/>
                </a:lnTo>
                <a:lnTo>
                  <a:pt x="1212" y="1555"/>
                </a:lnTo>
                <a:lnTo>
                  <a:pt x="1203" y="1555"/>
                </a:lnTo>
                <a:lnTo>
                  <a:pt x="1196" y="1559"/>
                </a:lnTo>
                <a:lnTo>
                  <a:pt x="1187" y="1565"/>
                </a:lnTo>
                <a:lnTo>
                  <a:pt x="1181" y="1570"/>
                </a:lnTo>
                <a:lnTo>
                  <a:pt x="1181" y="1570"/>
                </a:lnTo>
                <a:lnTo>
                  <a:pt x="1176" y="1576"/>
                </a:lnTo>
                <a:lnTo>
                  <a:pt x="1172" y="1583"/>
                </a:lnTo>
                <a:lnTo>
                  <a:pt x="1165" y="1598"/>
                </a:lnTo>
                <a:lnTo>
                  <a:pt x="1165" y="1598"/>
                </a:lnTo>
                <a:lnTo>
                  <a:pt x="1163" y="1603"/>
                </a:lnTo>
                <a:lnTo>
                  <a:pt x="1159" y="1607"/>
                </a:lnTo>
                <a:lnTo>
                  <a:pt x="1149" y="1610"/>
                </a:lnTo>
                <a:lnTo>
                  <a:pt x="1138" y="1614"/>
                </a:lnTo>
                <a:lnTo>
                  <a:pt x="1129" y="1616"/>
                </a:lnTo>
                <a:lnTo>
                  <a:pt x="1129" y="1616"/>
                </a:lnTo>
                <a:lnTo>
                  <a:pt x="1118" y="1620"/>
                </a:lnTo>
                <a:lnTo>
                  <a:pt x="1112" y="1620"/>
                </a:lnTo>
                <a:lnTo>
                  <a:pt x="1107" y="1620"/>
                </a:lnTo>
                <a:lnTo>
                  <a:pt x="1107" y="1620"/>
                </a:lnTo>
                <a:lnTo>
                  <a:pt x="1102" y="1616"/>
                </a:lnTo>
                <a:lnTo>
                  <a:pt x="1098" y="1610"/>
                </a:lnTo>
                <a:lnTo>
                  <a:pt x="1092" y="1599"/>
                </a:lnTo>
                <a:lnTo>
                  <a:pt x="1092" y="1599"/>
                </a:lnTo>
                <a:lnTo>
                  <a:pt x="1087" y="1590"/>
                </a:lnTo>
                <a:lnTo>
                  <a:pt x="1082" y="1583"/>
                </a:lnTo>
                <a:lnTo>
                  <a:pt x="1082" y="1583"/>
                </a:lnTo>
                <a:lnTo>
                  <a:pt x="1074" y="1572"/>
                </a:lnTo>
                <a:lnTo>
                  <a:pt x="1071" y="1557"/>
                </a:lnTo>
                <a:lnTo>
                  <a:pt x="1067" y="1544"/>
                </a:lnTo>
                <a:lnTo>
                  <a:pt x="1067" y="1532"/>
                </a:lnTo>
                <a:lnTo>
                  <a:pt x="1067" y="1532"/>
                </a:lnTo>
                <a:lnTo>
                  <a:pt x="1067" y="1517"/>
                </a:lnTo>
                <a:lnTo>
                  <a:pt x="1071" y="1502"/>
                </a:lnTo>
                <a:lnTo>
                  <a:pt x="1071" y="1502"/>
                </a:lnTo>
                <a:lnTo>
                  <a:pt x="1074" y="1493"/>
                </a:lnTo>
                <a:lnTo>
                  <a:pt x="1074" y="1488"/>
                </a:lnTo>
                <a:lnTo>
                  <a:pt x="1076" y="1482"/>
                </a:lnTo>
                <a:lnTo>
                  <a:pt x="1076" y="1482"/>
                </a:lnTo>
                <a:lnTo>
                  <a:pt x="1074" y="1469"/>
                </a:lnTo>
                <a:lnTo>
                  <a:pt x="1074" y="1464"/>
                </a:lnTo>
                <a:lnTo>
                  <a:pt x="1074" y="1456"/>
                </a:lnTo>
                <a:lnTo>
                  <a:pt x="1074" y="1456"/>
                </a:lnTo>
                <a:lnTo>
                  <a:pt x="1076" y="1447"/>
                </a:lnTo>
                <a:lnTo>
                  <a:pt x="1080" y="1440"/>
                </a:lnTo>
                <a:lnTo>
                  <a:pt x="1089" y="1425"/>
                </a:lnTo>
                <a:lnTo>
                  <a:pt x="1089" y="1425"/>
                </a:lnTo>
                <a:lnTo>
                  <a:pt x="1091" y="1422"/>
                </a:lnTo>
                <a:lnTo>
                  <a:pt x="1094" y="1418"/>
                </a:lnTo>
                <a:lnTo>
                  <a:pt x="1094" y="1418"/>
                </a:lnTo>
                <a:lnTo>
                  <a:pt x="1103" y="1412"/>
                </a:lnTo>
                <a:lnTo>
                  <a:pt x="1112" y="1407"/>
                </a:lnTo>
                <a:lnTo>
                  <a:pt x="1112" y="1407"/>
                </a:lnTo>
                <a:lnTo>
                  <a:pt x="1132" y="1396"/>
                </a:lnTo>
                <a:lnTo>
                  <a:pt x="1141" y="1394"/>
                </a:lnTo>
                <a:lnTo>
                  <a:pt x="1152" y="1392"/>
                </a:lnTo>
                <a:lnTo>
                  <a:pt x="1152" y="1392"/>
                </a:lnTo>
                <a:lnTo>
                  <a:pt x="1161" y="1396"/>
                </a:lnTo>
                <a:lnTo>
                  <a:pt x="1172" y="1401"/>
                </a:lnTo>
                <a:lnTo>
                  <a:pt x="1183" y="1405"/>
                </a:lnTo>
                <a:lnTo>
                  <a:pt x="1188" y="1405"/>
                </a:lnTo>
                <a:lnTo>
                  <a:pt x="1194" y="1405"/>
                </a:lnTo>
                <a:lnTo>
                  <a:pt x="1194" y="1405"/>
                </a:lnTo>
                <a:lnTo>
                  <a:pt x="1196" y="1401"/>
                </a:lnTo>
                <a:lnTo>
                  <a:pt x="1198" y="1398"/>
                </a:lnTo>
                <a:lnTo>
                  <a:pt x="1198" y="1394"/>
                </a:lnTo>
                <a:lnTo>
                  <a:pt x="1198" y="1389"/>
                </a:lnTo>
                <a:lnTo>
                  <a:pt x="1198" y="1389"/>
                </a:lnTo>
                <a:lnTo>
                  <a:pt x="1201" y="1385"/>
                </a:lnTo>
                <a:lnTo>
                  <a:pt x="1208" y="1381"/>
                </a:lnTo>
                <a:lnTo>
                  <a:pt x="1223" y="1381"/>
                </a:lnTo>
                <a:lnTo>
                  <a:pt x="1223" y="1381"/>
                </a:lnTo>
                <a:lnTo>
                  <a:pt x="1236" y="1381"/>
                </a:lnTo>
                <a:lnTo>
                  <a:pt x="1250" y="1383"/>
                </a:lnTo>
                <a:lnTo>
                  <a:pt x="1261" y="1389"/>
                </a:lnTo>
                <a:lnTo>
                  <a:pt x="1272" y="1398"/>
                </a:lnTo>
                <a:lnTo>
                  <a:pt x="1272" y="1398"/>
                </a:lnTo>
                <a:lnTo>
                  <a:pt x="1277" y="1403"/>
                </a:lnTo>
                <a:lnTo>
                  <a:pt x="1281" y="1409"/>
                </a:lnTo>
                <a:lnTo>
                  <a:pt x="1284" y="1422"/>
                </a:lnTo>
                <a:lnTo>
                  <a:pt x="1292" y="1447"/>
                </a:lnTo>
                <a:lnTo>
                  <a:pt x="1292" y="1447"/>
                </a:lnTo>
                <a:lnTo>
                  <a:pt x="1295" y="1456"/>
                </a:lnTo>
                <a:lnTo>
                  <a:pt x="1301" y="1466"/>
                </a:lnTo>
                <a:lnTo>
                  <a:pt x="1308" y="1475"/>
                </a:lnTo>
                <a:lnTo>
                  <a:pt x="1319" y="1478"/>
                </a:lnTo>
                <a:lnTo>
                  <a:pt x="1319" y="1478"/>
                </a:lnTo>
                <a:lnTo>
                  <a:pt x="1324" y="1480"/>
                </a:lnTo>
                <a:lnTo>
                  <a:pt x="1328" y="1478"/>
                </a:lnTo>
                <a:lnTo>
                  <a:pt x="1330" y="1475"/>
                </a:lnTo>
                <a:lnTo>
                  <a:pt x="1332" y="1471"/>
                </a:lnTo>
                <a:lnTo>
                  <a:pt x="1333" y="1462"/>
                </a:lnTo>
                <a:lnTo>
                  <a:pt x="1333" y="1453"/>
                </a:lnTo>
                <a:lnTo>
                  <a:pt x="1333" y="1453"/>
                </a:lnTo>
                <a:lnTo>
                  <a:pt x="1330" y="1442"/>
                </a:lnTo>
                <a:lnTo>
                  <a:pt x="1326" y="1431"/>
                </a:lnTo>
                <a:lnTo>
                  <a:pt x="1317" y="1409"/>
                </a:lnTo>
                <a:lnTo>
                  <a:pt x="1317" y="1409"/>
                </a:lnTo>
                <a:lnTo>
                  <a:pt x="1313" y="1398"/>
                </a:lnTo>
                <a:lnTo>
                  <a:pt x="1312" y="1385"/>
                </a:lnTo>
                <a:lnTo>
                  <a:pt x="1313" y="1374"/>
                </a:lnTo>
                <a:lnTo>
                  <a:pt x="1319" y="1361"/>
                </a:lnTo>
                <a:lnTo>
                  <a:pt x="1319" y="1361"/>
                </a:lnTo>
                <a:lnTo>
                  <a:pt x="1324" y="1352"/>
                </a:lnTo>
                <a:lnTo>
                  <a:pt x="1333" y="1341"/>
                </a:lnTo>
                <a:lnTo>
                  <a:pt x="1352" y="1322"/>
                </a:lnTo>
                <a:lnTo>
                  <a:pt x="1352" y="1322"/>
                </a:lnTo>
                <a:lnTo>
                  <a:pt x="1366" y="1311"/>
                </a:lnTo>
                <a:lnTo>
                  <a:pt x="1373" y="1304"/>
                </a:lnTo>
                <a:lnTo>
                  <a:pt x="1381" y="1297"/>
                </a:lnTo>
                <a:lnTo>
                  <a:pt x="1381" y="1297"/>
                </a:lnTo>
                <a:lnTo>
                  <a:pt x="1384" y="1286"/>
                </a:lnTo>
                <a:lnTo>
                  <a:pt x="1386" y="1275"/>
                </a:lnTo>
                <a:lnTo>
                  <a:pt x="1386" y="1275"/>
                </a:lnTo>
                <a:lnTo>
                  <a:pt x="1384" y="1262"/>
                </a:lnTo>
                <a:lnTo>
                  <a:pt x="1384" y="1262"/>
                </a:lnTo>
                <a:lnTo>
                  <a:pt x="1384" y="1245"/>
                </a:lnTo>
                <a:lnTo>
                  <a:pt x="1384" y="1245"/>
                </a:lnTo>
                <a:lnTo>
                  <a:pt x="1381" y="1229"/>
                </a:lnTo>
                <a:lnTo>
                  <a:pt x="1381" y="1220"/>
                </a:lnTo>
                <a:lnTo>
                  <a:pt x="1382" y="1212"/>
                </a:lnTo>
                <a:lnTo>
                  <a:pt x="1382" y="1212"/>
                </a:lnTo>
                <a:lnTo>
                  <a:pt x="1384" y="1207"/>
                </a:lnTo>
                <a:lnTo>
                  <a:pt x="1388" y="1201"/>
                </a:lnTo>
                <a:lnTo>
                  <a:pt x="1391" y="1198"/>
                </a:lnTo>
                <a:lnTo>
                  <a:pt x="1393" y="1198"/>
                </a:lnTo>
                <a:lnTo>
                  <a:pt x="1397" y="1200"/>
                </a:lnTo>
                <a:lnTo>
                  <a:pt x="1397" y="1200"/>
                </a:lnTo>
                <a:lnTo>
                  <a:pt x="1397" y="1203"/>
                </a:lnTo>
                <a:lnTo>
                  <a:pt x="1397" y="1205"/>
                </a:lnTo>
                <a:lnTo>
                  <a:pt x="1395" y="1212"/>
                </a:lnTo>
                <a:lnTo>
                  <a:pt x="1395" y="1212"/>
                </a:lnTo>
                <a:lnTo>
                  <a:pt x="1395" y="1220"/>
                </a:lnTo>
                <a:lnTo>
                  <a:pt x="1395" y="1222"/>
                </a:lnTo>
                <a:lnTo>
                  <a:pt x="1397" y="1225"/>
                </a:lnTo>
                <a:lnTo>
                  <a:pt x="1397" y="1225"/>
                </a:lnTo>
                <a:lnTo>
                  <a:pt x="1400" y="1229"/>
                </a:lnTo>
                <a:lnTo>
                  <a:pt x="1406" y="1229"/>
                </a:lnTo>
                <a:lnTo>
                  <a:pt x="1409" y="1229"/>
                </a:lnTo>
                <a:lnTo>
                  <a:pt x="1413" y="1225"/>
                </a:lnTo>
                <a:lnTo>
                  <a:pt x="1413" y="1225"/>
                </a:lnTo>
                <a:lnTo>
                  <a:pt x="1415" y="1220"/>
                </a:lnTo>
                <a:lnTo>
                  <a:pt x="1413" y="1216"/>
                </a:lnTo>
                <a:lnTo>
                  <a:pt x="1413" y="1207"/>
                </a:lnTo>
                <a:lnTo>
                  <a:pt x="1413" y="1207"/>
                </a:lnTo>
                <a:lnTo>
                  <a:pt x="1413" y="1201"/>
                </a:lnTo>
                <a:lnTo>
                  <a:pt x="1415" y="1198"/>
                </a:lnTo>
                <a:lnTo>
                  <a:pt x="1415" y="1198"/>
                </a:lnTo>
                <a:lnTo>
                  <a:pt x="1422" y="1189"/>
                </a:lnTo>
                <a:lnTo>
                  <a:pt x="1429" y="1179"/>
                </a:lnTo>
                <a:lnTo>
                  <a:pt x="1429" y="1179"/>
                </a:lnTo>
                <a:lnTo>
                  <a:pt x="1431" y="1176"/>
                </a:lnTo>
                <a:lnTo>
                  <a:pt x="1431" y="1170"/>
                </a:lnTo>
                <a:lnTo>
                  <a:pt x="1431" y="1170"/>
                </a:lnTo>
                <a:lnTo>
                  <a:pt x="1438" y="1157"/>
                </a:lnTo>
                <a:lnTo>
                  <a:pt x="1438" y="1157"/>
                </a:lnTo>
                <a:lnTo>
                  <a:pt x="1457" y="1135"/>
                </a:lnTo>
                <a:lnTo>
                  <a:pt x="1475" y="1113"/>
                </a:lnTo>
                <a:lnTo>
                  <a:pt x="1475" y="1113"/>
                </a:lnTo>
                <a:lnTo>
                  <a:pt x="1493" y="1097"/>
                </a:lnTo>
                <a:lnTo>
                  <a:pt x="1502" y="1091"/>
                </a:lnTo>
                <a:lnTo>
                  <a:pt x="1513" y="1088"/>
                </a:lnTo>
                <a:lnTo>
                  <a:pt x="1513" y="1088"/>
                </a:lnTo>
                <a:lnTo>
                  <a:pt x="1524" y="1086"/>
                </a:lnTo>
                <a:lnTo>
                  <a:pt x="1527" y="1084"/>
                </a:lnTo>
                <a:lnTo>
                  <a:pt x="1531" y="1080"/>
                </a:lnTo>
                <a:lnTo>
                  <a:pt x="1531" y="1080"/>
                </a:lnTo>
                <a:lnTo>
                  <a:pt x="1534" y="1073"/>
                </a:lnTo>
                <a:lnTo>
                  <a:pt x="1536" y="1071"/>
                </a:lnTo>
                <a:lnTo>
                  <a:pt x="1540" y="1069"/>
                </a:lnTo>
                <a:lnTo>
                  <a:pt x="1540" y="1069"/>
                </a:lnTo>
                <a:lnTo>
                  <a:pt x="1545" y="1066"/>
                </a:lnTo>
                <a:lnTo>
                  <a:pt x="1554" y="1064"/>
                </a:lnTo>
                <a:lnTo>
                  <a:pt x="1558" y="1064"/>
                </a:lnTo>
                <a:lnTo>
                  <a:pt x="1562" y="1066"/>
                </a:lnTo>
                <a:lnTo>
                  <a:pt x="1563" y="1068"/>
                </a:lnTo>
                <a:lnTo>
                  <a:pt x="1563" y="1071"/>
                </a:lnTo>
                <a:lnTo>
                  <a:pt x="1563" y="1071"/>
                </a:lnTo>
                <a:lnTo>
                  <a:pt x="1563" y="1073"/>
                </a:lnTo>
                <a:lnTo>
                  <a:pt x="1560" y="1077"/>
                </a:lnTo>
                <a:lnTo>
                  <a:pt x="1554" y="1082"/>
                </a:lnTo>
                <a:lnTo>
                  <a:pt x="1554" y="1082"/>
                </a:lnTo>
                <a:lnTo>
                  <a:pt x="1551" y="1084"/>
                </a:lnTo>
                <a:lnTo>
                  <a:pt x="1549" y="1088"/>
                </a:lnTo>
                <a:lnTo>
                  <a:pt x="1549" y="1093"/>
                </a:lnTo>
                <a:lnTo>
                  <a:pt x="1551" y="1097"/>
                </a:lnTo>
                <a:lnTo>
                  <a:pt x="1551" y="1097"/>
                </a:lnTo>
                <a:lnTo>
                  <a:pt x="1554" y="1101"/>
                </a:lnTo>
                <a:lnTo>
                  <a:pt x="1560" y="1102"/>
                </a:lnTo>
                <a:lnTo>
                  <a:pt x="1569" y="1104"/>
                </a:lnTo>
                <a:lnTo>
                  <a:pt x="1569" y="1104"/>
                </a:lnTo>
                <a:lnTo>
                  <a:pt x="1574" y="1104"/>
                </a:lnTo>
                <a:lnTo>
                  <a:pt x="1580" y="1102"/>
                </a:lnTo>
                <a:lnTo>
                  <a:pt x="1587" y="1095"/>
                </a:lnTo>
                <a:lnTo>
                  <a:pt x="1587" y="1095"/>
                </a:lnTo>
                <a:lnTo>
                  <a:pt x="1592" y="1086"/>
                </a:lnTo>
                <a:lnTo>
                  <a:pt x="1600" y="1079"/>
                </a:lnTo>
                <a:lnTo>
                  <a:pt x="1600" y="1079"/>
                </a:lnTo>
                <a:lnTo>
                  <a:pt x="1609" y="1073"/>
                </a:lnTo>
                <a:lnTo>
                  <a:pt x="1614" y="1071"/>
                </a:lnTo>
                <a:lnTo>
                  <a:pt x="1618" y="1068"/>
                </a:lnTo>
                <a:lnTo>
                  <a:pt x="1618" y="1068"/>
                </a:lnTo>
                <a:lnTo>
                  <a:pt x="1618" y="1064"/>
                </a:lnTo>
                <a:lnTo>
                  <a:pt x="1616" y="1060"/>
                </a:lnTo>
                <a:lnTo>
                  <a:pt x="1612" y="1058"/>
                </a:lnTo>
                <a:lnTo>
                  <a:pt x="1607" y="1058"/>
                </a:lnTo>
                <a:lnTo>
                  <a:pt x="1591" y="1058"/>
                </a:lnTo>
                <a:lnTo>
                  <a:pt x="1591" y="1058"/>
                </a:lnTo>
                <a:lnTo>
                  <a:pt x="1582" y="1055"/>
                </a:lnTo>
                <a:lnTo>
                  <a:pt x="1576" y="1047"/>
                </a:lnTo>
                <a:lnTo>
                  <a:pt x="1571" y="1042"/>
                </a:lnTo>
                <a:lnTo>
                  <a:pt x="1569" y="1033"/>
                </a:lnTo>
                <a:lnTo>
                  <a:pt x="1569" y="1033"/>
                </a:lnTo>
                <a:lnTo>
                  <a:pt x="1567" y="1022"/>
                </a:lnTo>
                <a:lnTo>
                  <a:pt x="1565" y="1016"/>
                </a:lnTo>
                <a:lnTo>
                  <a:pt x="1562" y="1011"/>
                </a:lnTo>
                <a:lnTo>
                  <a:pt x="1562" y="1011"/>
                </a:lnTo>
                <a:lnTo>
                  <a:pt x="1556" y="1009"/>
                </a:lnTo>
                <a:lnTo>
                  <a:pt x="1551" y="1005"/>
                </a:lnTo>
                <a:lnTo>
                  <a:pt x="1551" y="1005"/>
                </a:lnTo>
                <a:lnTo>
                  <a:pt x="1549" y="1003"/>
                </a:lnTo>
                <a:lnTo>
                  <a:pt x="1549" y="1000"/>
                </a:lnTo>
                <a:lnTo>
                  <a:pt x="1551" y="998"/>
                </a:lnTo>
                <a:lnTo>
                  <a:pt x="1553" y="996"/>
                </a:lnTo>
                <a:lnTo>
                  <a:pt x="1553" y="996"/>
                </a:lnTo>
                <a:lnTo>
                  <a:pt x="1556" y="994"/>
                </a:lnTo>
                <a:lnTo>
                  <a:pt x="1560" y="994"/>
                </a:lnTo>
                <a:lnTo>
                  <a:pt x="1563" y="994"/>
                </a:lnTo>
                <a:lnTo>
                  <a:pt x="1567" y="992"/>
                </a:lnTo>
                <a:lnTo>
                  <a:pt x="1567" y="992"/>
                </a:lnTo>
                <a:lnTo>
                  <a:pt x="1569" y="990"/>
                </a:lnTo>
                <a:lnTo>
                  <a:pt x="1571" y="987"/>
                </a:lnTo>
                <a:lnTo>
                  <a:pt x="1571" y="983"/>
                </a:lnTo>
                <a:lnTo>
                  <a:pt x="1571" y="979"/>
                </a:lnTo>
                <a:lnTo>
                  <a:pt x="1571" y="979"/>
                </a:lnTo>
                <a:lnTo>
                  <a:pt x="1565" y="972"/>
                </a:lnTo>
                <a:lnTo>
                  <a:pt x="1560" y="967"/>
                </a:lnTo>
                <a:lnTo>
                  <a:pt x="1551" y="967"/>
                </a:lnTo>
                <a:lnTo>
                  <a:pt x="1544" y="968"/>
                </a:lnTo>
                <a:lnTo>
                  <a:pt x="1544" y="968"/>
                </a:lnTo>
                <a:lnTo>
                  <a:pt x="1533" y="974"/>
                </a:lnTo>
                <a:lnTo>
                  <a:pt x="1533" y="974"/>
                </a:lnTo>
                <a:lnTo>
                  <a:pt x="1518" y="981"/>
                </a:lnTo>
                <a:lnTo>
                  <a:pt x="1511" y="987"/>
                </a:lnTo>
                <a:lnTo>
                  <a:pt x="1506" y="994"/>
                </a:lnTo>
                <a:lnTo>
                  <a:pt x="1506" y="994"/>
                </a:lnTo>
                <a:lnTo>
                  <a:pt x="1502" y="998"/>
                </a:lnTo>
                <a:lnTo>
                  <a:pt x="1500" y="1000"/>
                </a:lnTo>
                <a:lnTo>
                  <a:pt x="1498" y="1000"/>
                </a:lnTo>
                <a:lnTo>
                  <a:pt x="1498" y="1000"/>
                </a:lnTo>
                <a:lnTo>
                  <a:pt x="1496" y="996"/>
                </a:lnTo>
                <a:lnTo>
                  <a:pt x="1496" y="992"/>
                </a:lnTo>
                <a:lnTo>
                  <a:pt x="1500" y="985"/>
                </a:lnTo>
                <a:lnTo>
                  <a:pt x="1500" y="985"/>
                </a:lnTo>
                <a:lnTo>
                  <a:pt x="1515" y="968"/>
                </a:lnTo>
                <a:lnTo>
                  <a:pt x="1515" y="968"/>
                </a:lnTo>
                <a:lnTo>
                  <a:pt x="1522" y="961"/>
                </a:lnTo>
                <a:lnTo>
                  <a:pt x="1529" y="956"/>
                </a:lnTo>
                <a:lnTo>
                  <a:pt x="1538" y="952"/>
                </a:lnTo>
                <a:lnTo>
                  <a:pt x="1549" y="948"/>
                </a:lnTo>
                <a:lnTo>
                  <a:pt x="1549" y="948"/>
                </a:lnTo>
                <a:lnTo>
                  <a:pt x="1563" y="948"/>
                </a:lnTo>
                <a:lnTo>
                  <a:pt x="1563" y="948"/>
                </a:lnTo>
                <a:lnTo>
                  <a:pt x="1602" y="948"/>
                </a:lnTo>
                <a:lnTo>
                  <a:pt x="1602" y="948"/>
                </a:lnTo>
                <a:lnTo>
                  <a:pt x="1616" y="948"/>
                </a:lnTo>
                <a:lnTo>
                  <a:pt x="1631" y="946"/>
                </a:lnTo>
                <a:lnTo>
                  <a:pt x="1631" y="946"/>
                </a:lnTo>
                <a:lnTo>
                  <a:pt x="1643" y="941"/>
                </a:lnTo>
                <a:lnTo>
                  <a:pt x="1643" y="941"/>
                </a:lnTo>
                <a:lnTo>
                  <a:pt x="1650" y="937"/>
                </a:lnTo>
                <a:lnTo>
                  <a:pt x="1660" y="932"/>
                </a:lnTo>
                <a:lnTo>
                  <a:pt x="1660" y="932"/>
                </a:lnTo>
                <a:lnTo>
                  <a:pt x="1661" y="928"/>
                </a:lnTo>
                <a:lnTo>
                  <a:pt x="1663" y="923"/>
                </a:lnTo>
                <a:lnTo>
                  <a:pt x="1663" y="919"/>
                </a:lnTo>
                <a:lnTo>
                  <a:pt x="1665" y="913"/>
                </a:lnTo>
                <a:lnTo>
                  <a:pt x="1665" y="913"/>
                </a:lnTo>
                <a:lnTo>
                  <a:pt x="1670" y="910"/>
                </a:lnTo>
                <a:lnTo>
                  <a:pt x="1676" y="908"/>
                </a:lnTo>
                <a:lnTo>
                  <a:pt x="1687" y="910"/>
                </a:lnTo>
                <a:lnTo>
                  <a:pt x="1698" y="912"/>
                </a:lnTo>
                <a:lnTo>
                  <a:pt x="1703" y="910"/>
                </a:lnTo>
                <a:lnTo>
                  <a:pt x="1708" y="908"/>
                </a:lnTo>
                <a:lnTo>
                  <a:pt x="1708" y="908"/>
                </a:lnTo>
                <a:lnTo>
                  <a:pt x="1712" y="902"/>
                </a:lnTo>
                <a:lnTo>
                  <a:pt x="1716" y="897"/>
                </a:lnTo>
                <a:lnTo>
                  <a:pt x="1717" y="891"/>
                </a:lnTo>
                <a:lnTo>
                  <a:pt x="1717" y="886"/>
                </a:lnTo>
                <a:lnTo>
                  <a:pt x="1717" y="886"/>
                </a:lnTo>
                <a:lnTo>
                  <a:pt x="1716" y="880"/>
                </a:lnTo>
                <a:lnTo>
                  <a:pt x="1714" y="877"/>
                </a:lnTo>
                <a:lnTo>
                  <a:pt x="1705" y="875"/>
                </a:lnTo>
                <a:lnTo>
                  <a:pt x="1705" y="875"/>
                </a:lnTo>
                <a:lnTo>
                  <a:pt x="1699" y="871"/>
                </a:lnTo>
                <a:lnTo>
                  <a:pt x="1696" y="869"/>
                </a:lnTo>
                <a:lnTo>
                  <a:pt x="1692" y="869"/>
                </a:lnTo>
                <a:lnTo>
                  <a:pt x="1692" y="869"/>
                </a:lnTo>
                <a:lnTo>
                  <a:pt x="1685" y="871"/>
                </a:lnTo>
                <a:lnTo>
                  <a:pt x="1679" y="875"/>
                </a:lnTo>
                <a:lnTo>
                  <a:pt x="1679" y="875"/>
                </a:lnTo>
                <a:lnTo>
                  <a:pt x="1667" y="882"/>
                </a:lnTo>
                <a:lnTo>
                  <a:pt x="1660" y="884"/>
                </a:lnTo>
                <a:lnTo>
                  <a:pt x="1652" y="884"/>
                </a:lnTo>
                <a:lnTo>
                  <a:pt x="1652" y="884"/>
                </a:lnTo>
                <a:lnTo>
                  <a:pt x="1647" y="884"/>
                </a:lnTo>
                <a:lnTo>
                  <a:pt x="1643" y="880"/>
                </a:lnTo>
                <a:lnTo>
                  <a:pt x="1641" y="877"/>
                </a:lnTo>
                <a:lnTo>
                  <a:pt x="1640" y="871"/>
                </a:lnTo>
                <a:lnTo>
                  <a:pt x="1640" y="871"/>
                </a:lnTo>
                <a:lnTo>
                  <a:pt x="1643" y="866"/>
                </a:lnTo>
                <a:lnTo>
                  <a:pt x="1647" y="862"/>
                </a:lnTo>
                <a:lnTo>
                  <a:pt x="1658" y="855"/>
                </a:lnTo>
                <a:lnTo>
                  <a:pt x="1658" y="855"/>
                </a:lnTo>
                <a:lnTo>
                  <a:pt x="1661" y="851"/>
                </a:lnTo>
                <a:lnTo>
                  <a:pt x="1663" y="847"/>
                </a:lnTo>
                <a:lnTo>
                  <a:pt x="1663" y="844"/>
                </a:lnTo>
                <a:lnTo>
                  <a:pt x="1660" y="840"/>
                </a:lnTo>
                <a:lnTo>
                  <a:pt x="1660" y="840"/>
                </a:lnTo>
                <a:lnTo>
                  <a:pt x="1652" y="838"/>
                </a:lnTo>
                <a:lnTo>
                  <a:pt x="1647" y="836"/>
                </a:lnTo>
                <a:lnTo>
                  <a:pt x="1634" y="835"/>
                </a:lnTo>
                <a:lnTo>
                  <a:pt x="1634" y="835"/>
                </a:lnTo>
                <a:lnTo>
                  <a:pt x="1627" y="833"/>
                </a:lnTo>
                <a:lnTo>
                  <a:pt x="1623" y="827"/>
                </a:lnTo>
                <a:lnTo>
                  <a:pt x="1623" y="822"/>
                </a:lnTo>
                <a:lnTo>
                  <a:pt x="1623" y="814"/>
                </a:lnTo>
                <a:lnTo>
                  <a:pt x="1623" y="814"/>
                </a:lnTo>
                <a:lnTo>
                  <a:pt x="1621" y="802"/>
                </a:lnTo>
                <a:lnTo>
                  <a:pt x="1621" y="802"/>
                </a:lnTo>
                <a:lnTo>
                  <a:pt x="1618" y="794"/>
                </a:lnTo>
                <a:lnTo>
                  <a:pt x="1616" y="787"/>
                </a:lnTo>
                <a:lnTo>
                  <a:pt x="1616" y="787"/>
                </a:lnTo>
                <a:lnTo>
                  <a:pt x="1614" y="769"/>
                </a:lnTo>
                <a:lnTo>
                  <a:pt x="1614" y="769"/>
                </a:lnTo>
                <a:lnTo>
                  <a:pt x="1612" y="761"/>
                </a:lnTo>
                <a:lnTo>
                  <a:pt x="1611" y="758"/>
                </a:lnTo>
                <a:lnTo>
                  <a:pt x="1609" y="752"/>
                </a:lnTo>
                <a:lnTo>
                  <a:pt x="1609" y="752"/>
                </a:lnTo>
                <a:lnTo>
                  <a:pt x="1598" y="743"/>
                </a:lnTo>
                <a:lnTo>
                  <a:pt x="1587" y="734"/>
                </a:lnTo>
                <a:lnTo>
                  <a:pt x="1587" y="734"/>
                </a:lnTo>
                <a:lnTo>
                  <a:pt x="1583" y="728"/>
                </a:lnTo>
                <a:lnTo>
                  <a:pt x="1583" y="725"/>
                </a:lnTo>
                <a:lnTo>
                  <a:pt x="1582" y="715"/>
                </a:lnTo>
                <a:lnTo>
                  <a:pt x="1582" y="715"/>
                </a:lnTo>
                <a:lnTo>
                  <a:pt x="1578" y="710"/>
                </a:lnTo>
                <a:lnTo>
                  <a:pt x="1574" y="704"/>
                </a:lnTo>
                <a:lnTo>
                  <a:pt x="1569" y="704"/>
                </a:lnTo>
                <a:lnTo>
                  <a:pt x="1563" y="706"/>
                </a:lnTo>
                <a:lnTo>
                  <a:pt x="1563" y="706"/>
                </a:lnTo>
                <a:lnTo>
                  <a:pt x="1560" y="710"/>
                </a:lnTo>
                <a:lnTo>
                  <a:pt x="1556" y="714"/>
                </a:lnTo>
                <a:lnTo>
                  <a:pt x="1551" y="725"/>
                </a:lnTo>
                <a:lnTo>
                  <a:pt x="1551" y="725"/>
                </a:lnTo>
                <a:lnTo>
                  <a:pt x="1544" y="730"/>
                </a:lnTo>
                <a:lnTo>
                  <a:pt x="1534" y="734"/>
                </a:lnTo>
                <a:lnTo>
                  <a:pt x="1524" y="734"/>
                </a:lnTo>
                <a:lnTo>
                  <a:pt x="1515" y="732"/>
                </a:lnTo>
                <a:lnTo>
                  <a:pt x="1515" y="732"/>
                </a:lnTo>
                <a:lnTo>
                  <a:pt x="1507" y="726"/>
                </a:lnTo>
                <a:lnTo>
                  <a:pt x="1500" y="721"/>
                </a:lnTo>
                <a:lnTo>
                  <a:pt x="1496" y="712"/>
                </a:lnTo>
                <a:lnTo>
                  <a:pt x="1495" y="704"/>
                </a:lnTo>
                <a:lnTo>
                  <a:pt x="1495" y="704"/>
                </a:lnTo>
                <a:lnTo>
                  <a:pt x="1493" y="688"/>
                </a:lnTo>
                <a:lnTo>
                  <a:pt x="1489" y="680"/>
                </a:lnTo>
                <a:lnTo>
                  <a:pt x="1484" y="673"/>
                </a:lnTo>
                <a:lnTo>
                  <a:pt x="1484" y="673"/>
                </a:lnTo>
                <a:lnTo>
                  <a:pt x="1477" y="668"/>
                </a:lnTo>
                <a:lnTo>
                  <a:pt x="1467" y="664"/>
                </a:lnTo>
                <a:lnTo>
                  <a:pt x="1460" y="658"/>
                </a:lnTo>
                <a:lnTo>
                  <a:pt x="1453" y="653"/>
                </a:lnTo>
                <a:lnTo>
                  <a:pt x="1453" y="653"/>
                </a:lnTo>
                <a:lnTo>
                  <a:pt x="1442" y="644"/>
                </a:lnTo>
                <a:lnTo>
                  <a:pt x="1437" y="638"/>
                </a:lnTo>
                <a:lnTo>
                  <a:pt x="1431" y="636"/>
                </a:lnTo>
                <a:lnTo>
                  <a:pt x="1431" y="636"/>
                </a:lnTo>
                <a:lnTo>
                  <a:pt x="1424" y="635"/>
                </a:lnTo>
                <a:lnTo>
                  <a:pt x="1415" y="636"/>
                </a:lnTo>
                <a:lnTo>
                  <a:pt x="1400" y="644"/>
                </a:lnTo>
                <a:lnTo>
                  <a:pt x="1400" y="644"/>
                </a:lnTo>
                <a:lnTo>
                  <a:pt x="1395" y="646"/>
                </a:lnTo>
                <a:lnTo>
                  <a:pt x="1388" y="647"/>
                </a:lnTo>
                <a:lnTo>
                  <a:pt x="1381" y="647"/>
                </a:lnTo>
                <a:lnTo>
                  <a:pt x="1375" y="649"/>
                </a:lnTo>
                <a:lnTo>
                  <a:pt x="1375" y="649"/>
                </a:lnTo>
                <a:lnTo>
                  <a:pt x="1371" y="651"/>
                </a:lnTo>
                <a:lnTo>
                  <a:pt x="1368" y="655"/>
                </a:lnTo>
                <a:lnTo>
                  <a:pt x="1368" y="658"/>
                </a:lnTo>
                <a:lnTo>
                  <a:pt x="1368" y="664"/>
                </a:lnTo>
                <a:lnTo>
                  <a:pt x="1370" y="675"/>
                </a:lnTo>
                <a:lnTo>
                  <a:pt x="1370" y="679"/>
                </a:lnTo>
                <a:lnTo>
                  <a:pt x="1368" y="684"/>
                </a:lnTo>
                <a:lnTo>
                  <a:pt x="1368" y="684"/>
                </a:lnTo>
                <a:lnTo>
                  <a:pt x="1366" y="688"/>
                </a:lnTo>
                <a:lnTo>
                  <a:pt x="1364" y="690"/>
                </a:lnTo>
                <a:lnTo>
                  <a:pt x="1366" y="693"/>
                </a:lnTo>
                <a:lnTo>
                  <a:pt x="1366" y="693"/>
                </a:lnTo>
                <a:lnTo>
                  <a:pt x="1368" y="697"/>
                </a:lnTo>
                <a:lnTo>
                  <a:pt x="1370" y="701"/>
                </a:lnTo>
                <a:lnTo>
                  <a:pt x="1370" y="701"/>
                </a:lnTo>
                <a:lnTo>
                  <a:pt x="1370" y="704"/>
                </a:lnTo>
                <a:lnTo>
                  <a:pt x="1368" y="708"/>
                </a:lnTo>
                <a:lnTo>
                  <a:pt x="1364" y="714"/>
                </a:lnTo>
                <a:lnTo>
                  <a:pt x="1364" y="714"/>
                </a:lnTo>
                <a:lnTo>
                  <a:pt x="1361" y="719"/>
                </a:lnTo>
                <a:lnTo>
                  <a:pt x="1355" y="723"/>
                </a:lnTo>
                <a:lnTo>
                  <a:pt x="1352" y="726"/>
                </a:lnTo>
                <a:lnTo>
                  <a:pt x="1350" y="732"/>
                </a:lnTo>
                <a:lnTo>
                  <a:pt x="1350" y="732"/>
                </a:lnTo>
                <a:lnTo>
                  <a:pt x="1350" y="736"/>
                </a:lnTo>
                <a:lnTo>
                  <a:pt x="1352" y="739"/>
                </a:lnTo>
                <a:lnTo>
                  <a:pt x="1357" y="743"/>
                </a:lnTo>
                <a:lnTo>
                  <a:pt x="1362" y="747"/>
                </a:lnTo>
                <a:lnTo>
                  <a:pt x="1368" y="750"/>
                </a:lnTo>
                <a:lnTo>
                  <a:pt x="1368" y="750"/>
                </a:lnTo>
                <a:lnTo>
                  <a:pt x="1371" y="758"/>
                </a:lnTo>
                <a:lnTo>
                  <a:pt x="1373" y="763"/>
                </a:lnTo>
                <a:lnTo>
                  <a:pt x="1373" y="763"/>
                </a:lnTo>
                <a:lnTo>
                  <a:pt x="1379" y="774"/>
                </a:lnTo>
                <a:lnTo>
                  <a:pt x="1382" y="783"/>
                </a:lnTo>
                <a:lnTo>
                  <a:pt x="1382" y="783"/>
                </a:lnTo>
                <a:lnTo>
                  <a:pt x="1384" y="796"/>
                </a:lnTo>
                <a:lnTo>
                  <a:pt x="1386" y="802"/>
                </a:lnTo>
                <a:lnTo>
                  <a:pt x="1384" y="807"/>
                </a:lnTo>
                <a:lnTo>
                  <a:pt x="1384" y="807"/>
                </a:lnTo>
                <a:lnTo>
                  <a:pt x="1379" y="818"/>
                </a:lnTo>
                <a:lnTo>
                  <a:pt x="1375" y="824"/>
                </a:lnTo>
                <a:lnTo>
                  <a:pt x="1370" y="827"/>
                </a:lnTo>
                <a:lnTo>
                  <a:pt x="1370" y="827"/>
                </a:lnTo>
                <a:lnTo>
                  <a:pt x="1361" y="833"/>
                </a:lnTo>
                <a:lnTo>
                  <a:pt x="1355" y="836"/>
                </a:lnTo>
                <a:lnTo>
                  <a:pt x="1352" y="842"/>
                </a:lnTo>
                <a:lnTo>
                  <a:pt x="1352" y="842"/>
                </a:lnTo>
                <a:lnTo>
                  <a:pt x="1348" y="847"/>
                </a:lnTo>
                <a:lnTo>
                  <a:pt x="1348" y="855"/>
                </a:lnTo>
                <a:lnTo>
                  <a:pt x="1352" y="871"/>
                </a:lnTo>
                <a:lnTo>
                  <a:pt x="1352" y="871"/>
                </a:lnTo>
                <a:lnTo>
                  <a:pt x="1352" y="877"/>
                </a:lnTo>
                <a:lnTo>
                  <a:pt x="1352" y="882"/>
                </a:lnTo>
                <a:lnTo>
                  <a:pt x="1350" y="890"/>
                </a:lnTo>
                <a:lnTo>
                  <a:pt x="1348" y="893"/>
                </a:lnTo>
                <a:lnTo>
                  <a:pt x="1348" y="893"/>
                </a:lnTo>
                <a:lnTo>
                  <a:pt x="1342" y="899"/>
                </a:lnTo>
                <a:lnTo>
                  <a:pt x="1337" y="901"/>
                </a:lnTo>
                <a:lnTo>
                  <a:pt x="1330" y="902"/>
                </a:lnTo>
                <a:lnTo>
                  <a:pt x="1324" y="902"/>
                </a:lnTo>
                <a:lnTo>
                  <a:pt x="1324" y="902"/>
                </a:lnTo>
                <a:lnTo>
                  <a:pt x="1319" y="901"/>
                </a:lnTo>
                <a:lnTo>
                  <a:pt x="1317" y="899"/>
                </a:lnTo>
                <a:lnTo>
                  <a:pt x="1312" y="891"/>
                </a:lnTo>
                <a:lnTo>
                  <a:pt x="1308" y="882"/>
                </a:lnTo>
                <a:lnTo>
                  <a:pt x="1306" y="875"/>
                </a:lnTo>
                <a:lnTo>
                  <a:pt x="1306" y="875"/>
                </a:lnTo>
                <a:lnTo>
                  <a:pt x="1304" y="866"/>
                </a:lnTo>
                <a:lnTo>
                  <a:pt x="1304" y="855"/>
                </a:lnTo>
                <a:lnTo>
                  <a:pt x="1304" y="844"/>
                </a:lnTo>
                <a:lnTo>
                  <a:pt x="1303" y="840"/>
                </a:lnTo>
                <a:lnTo>
                  <a:pt x="1299" y="836"/>
                </a:lnTo>
                <a:lnTo>
                  <a:pt x="1299" y="836"/>
                </a:lnTo>
                <a:lnTo>
                  <a:pt x="1292" y="831"/>
                </a:lnTo>
                <a:lnTo>
                  <a:pt x="1283" y="827"/>
                </a:lnTo>
                <a:lnTo>
                  <a:pt x="1265" y="824"/>
                </a:lnTo>
                <a:lnTo>
                  <a:pt x="1265" y="824"/>
                </a:lnTo>
                <a:lnTo>
                  <a:pt x="1254" y="822"/>
                </a:lnTo>
                <a:lnTo>
                  <a:pt x="1245" y="816"/>
                </a:lnTo>
                <a:lnTo>
                  <a:pt x="1227" y="803"/>
                </a:lnTo>
                <a:lnTo>
                  <a:pt x="1227" y="803"/>
                </a:lnTo>
                <a:lnTo>
                  <a:pt x="1217" y="796"/>
                </a:lnTo>
                <a:lnTo>
                  <a:pt x="1207" y="791"/>
                </a:lnTo>
                <a:lnTo>
                  <a:pt x="1207" y="791"/>
                </a:lnTo>
                <a:lnTo>
                  <a:pt x="1194" y="787"/>
                </a:lnTo>
                <a:lnTo>
                  <a:pt x="1181" y="783"/>
                </a:lnTo>
                <a:lnTo>
                  <a:pt x="1181" y="783"/>
                </a:lnTo>
                <a:lnTo>
                  <a:pt x="1167" y="780"/>
                </a:lnTo>
                <a:lnTo>
                  <a:pt x="1152" y="770"/>
                </a:lnTo>
                <a:lnTo>
                  <a:pt x="1147" y="767"/>
                </a:lnTo>
                <a:lnTo>
                  <a:pt x="1141" y="759"/>
                </a:lnTo>
                <a:lnTo>
                  <a:pt x="1138" y="752"/>
                </a:lnTo>
                <a:lnTo>
                  <a:pt x="1136" y="745"/>
                </a:lnTo>
                <a:lnTo>
                  <a:pt x="1136" y="745"/>
                </a:lnTo>
                <a:lnTo>
                  <a:pt x="1132" y="737"/>
                </a:lnTo>
                <a:lnTo>
                  <a:pt x="1127" y="730"/>
                </a:lnTo>
                <a:lnTo>
                  <a:pt x="1123" y="723"/>
                </a:lnTo>
                <a:lnTo>
                  <a:pt x="1118" y="715"/>
                </a:lnTo>
                <a:lnTo>
                  <a:pt x="1118" y="715"/>
                </a:lnTo>
                <a:lnTo>
                  <a:pt x="1116" y="704"/>
                </a:lnTo>
                <a:lnTo>
                  <a:pt x="1116" y="693"/>
                </a:lnTo>
                <a:lnTo>
                  <a:pt x="1120" y="684"/>
                </a:lnTo>
                <a:lnTo>
                  <a:pt x="1125" y="675"/>
                </a:lnTo>
                <a:lnTo>
                  <a:pt x="1125" y="675"/>
                </a:lnTo>
                <a:lnTo>
                  <a:pt x="1134" y="664"/>
                </a:lnTo>
                <a:lnTo>
                  <a:pt x="1145" y="657"/>
                </a:lnTo>
                <a:lnTo>
                  <a:pt x="1145" y="657"/>
                </a:lnTo>
                <a:lnTo>
                  <a:pt x="1154" y="649"/>
                </a:lnTo>
                <a:lnTo>
                  <a:pt x="1161" y="642"/>
                </a:lnTo>
                <a:lnTo>
                  <a:pt x="1161" y="642"/>
                </a:lnTo>
                <a:lnTo>
                  <a:pt x="1165" y="636"/>
                </a:lnTo>
                <a:lnTo>
                  <a:pt x="1167" y="631"/>
                </a:lnTo>
                <a:lnTo>
                  <a:pt x="1169" y="625"/>
                </a:lnTo>
                <a:lnTo>
                  <a:pt x="1170" y="622"/>
                </a:lnTo>
                <a:lnTo>
                  <a:pt x="1170" y="622"/>
                </a:lnTo>
                <a:lnTo>
                  <a:pt x="1174" y="618"/>
                </a:lnTo>
                <a:lnTo>
                  <a:pt x="1179" y="614"/>
                </a:lnTo>
                <a:lnTo>
                  <a:pt x="1179" y="614"/>
                </a:lnTo>
                <a:lnTo>
                  <a:pt x="1196" y="609"/>
                </a:lnTo>
                <a:lnTo>
                  <a:pt x="1210" y="603"/>
                </a:lnTo>
                <a:lnTo>
                  <a:pt x="1210" y="603"/>
                </a:lnTo>
                <a:lnTo>
                  <a:pt x="1217" y="600"/>
                </a:lnTo>
                <a:lnTo>
                  <a:pt x="1219" y="598"/>
                </a:lnTo>
                <a:lnTo>
                  <a:pt x="1221" y="594"/>
                </a:lnTo>
                <a:lnTo>
                  <a:pt x="1221" y="594"/>
                </a:lnTo>
                <a:lnTo>
                  <a:pt x="1217" y="587"/>
                </a:lnTo>
                <a:lnTo>
                  <a:pt x="1214" y="581"/>
                </a:lnTo>
                <a:lnTo>
                  <a:pt x="1214" y="581"/>
                </a:lnTo>
                <a:lnTo>
                  <a:pt x="1210" y="578"/>
                </a:lnTo>
                <a:lnTo>
                  <a:pt x="1207" y="576"/>
                </a:lnTo>
                <a:lnTo>
                  <a:pt x="1198" y="574"/>
                </a:lnTo>
                <a:lnTo>
                  <a:pt x="1198" y="574"/>
                </a:lnTo>
                <a:lnTo>
                  <a:pt x="1192" y="574"/>
                </a:lnTo>
                <a:lnTo>
                  <a:pt x="1185" y="574"/>
                </a:lnTo>
                <a:lnTo>
                  <a:pt x="1183" y="572"/>
                </a:lnTo>
                <a:lnTo>
                  <a:pt x="1181" y="570"/>
                </a:lnTo>
                <a:lnTo>
                  <a:pt x="1181" y="569"/>
                </a:lnTo>
                <a:lnTo>
                  <a:pt x="1183" y="565"/>
                </a:lnTo>
                <a:lnTo>
                  <a:pt x="1183" y="565"/>
                </a:lnTo>
                <a:lnTo>
                  <a:pt x="1185" y="563"/>
                </a:lnTo>
                <a:lnTo>
                  <a:pt x="1187" y="561"/>
                </a:lnTo>
                <a:lnTo>
                  <a:pt x="1194" y="559"/>
                </a:lnTo>
                <a:lnTo>
                  <a:pt x="1207" y="561"/>
                </a:lnTo>
                <a:lnTo>
                  <a:pt x="1207" y="561"/>
                </a:lnTo>
                <a:lnTo>
                  <a:pt x="1216" y="565"/>
                </a:lnTo>
                <a:lnTo>
                  <a:pt x="1221" y="567"/>
                </a:lnTo>
                <a:lnTo>
                  <a:pt x="1225" y="567"/>
                </a:lnTo>
                <a:lnTo>
                  <a:pt x="1225" y="567"/>
                </a:lnTo>
                <a:lnTo>
                  <a:pt x="1228" y="565"/>
                </a:lnTo>
                <a:lnTo>
                  <a:pt x="1232" y="563"/>
                </a:lnTo>
                <a:lnTo>
                  <a:pt x="1236" y="558"/>
                </a:lnTo>
                <a:lnTo>
                  <a:pt x="1239" y="550"/>
                </a:lnTo>
                <a:lnTo>
                  <a:pt x="1243" y="547"/>
                </a:lnTo>
                <a:lnTo>
                  <a:pt x="1246" y="545"/>
                </a:lnTo>
                <a:lnTo>
                  <a:pt x="1246" y="545"/>
                </a:lnTo>
                <a:lnTo>
                  <a:pt x="1250" y="545"/>
                </a:lnTo>
                <a:lnTo>
                  <a:pt x="1254" y="545"/>
                </a:lnTo>
                <a:lnTo>
                  <a:pt x="1259" y="548"/>
                </a:lnTo>
                <a:lnTo>
                  <a:pt x="1259" y="548"/>
                </a:lnTo>
                <a:lnTo>
                  <a:pt x="1265" y="548"/>
                </a:lnTo>
                <a:lnTo>
                  <a:pt x="1268" y="548"/>
                </a:lnTo>
                <a:lnTo>
                  <a:pt x="1277" y="547"/>
                </a:lnTo>
                <a:lnTo>
                  <a:pt x="1292" y="537"/>
                </a:lnTo>
                <a:lnTo>
                  <a:pt x="1292" y="537"/>
                </a:lnTo>
                <a:lnTo>
                  <a:pt x="1306" y="532"/>
                </a:lnTo>
                <a:lnTo>
                  <a:pt x="1321" y="528"/>
                </a:lnTo>
                <a:lnTo>
                  <a:pt x="1321" y="528"/>
                </a:lnTo>
                <a:lnTo>
                  <a:pt x="1326" y="526"/>
                </a:lnTo>
                <a:lnTo>
                  <a:pt x="1330" y="523"/>
                </a:lnTo>
                <a:lnTo>
                  <a:pt x="1332" y="519"/>
                </a:lnTo>
                <a:lnTo>
                  <a:pt x="1332" y="514"/>
                </a:lnTo>
                <a:lnTo>
                  <a:pt x="1332" y="514"/>
                </a:lnTo>
                <a:lnTo>
                  <a:pt x="1330" y="506"/>
                </a:lnTo>
                <a:lnTo>
                  <a:pt x="1324" y="503"/>
                </a:lnTo>
                <a:lnTo>
                  <a:pt x="1321" y="499"/>
                </a:lnTo>
                <a:lnTo>
                  <a:pt x="1315" y="493"/>
                </a:lnTo>
                <a:lnTo>
                  <a:pt x="1315" y="493"/>
                </a:lnTo>
                <a:lnTo>
                  <a:pt x="1313" y="486"/>
                </a:lnTo>
                <a:lnTo>
                  <a:pt x="1313" y="486"/>
                </a:lnTo>
                <a:lnTo>
                  <a:pt x="1313" y="479"/>
                </a:lnTo>
                <a:lnTo>
                  <a:pt x="1313" y="471"/>
                </a:lnTo>
                <a:lnTo>
                  <a:pt x="1313" y="471"/>
                </a:lnTo>
                <a:lnTo>
                  <a:pt x="1315" y="466"/>
                </a:lnTo>
                <a:lnTo>
                  <a:pt x="1315" y="464"/>
                </a:lnTo>
                <a:lnTo>
                  <a:pt x="1315" y="462"/>
                </a:lnTo>
                <a:lnTo>
                  <a:pt x="1315" y="462"/>
                </a:lnTo>
                <a:lnTo>
                  <a:pt x="1313" y="459"/>
                </a:lnTo>
                <a:lnTo>
                  <a:pt x="1310" y="457"/>
                </a:lnTo>
                <a:lnTo>
                  <a:pt x="1303" y="453"/>
                </a:lnTo>
                <a:lnTo>
                  <a:pt x="1303" y="453"/>
                </a:lnTo>
                <a:lnTo>
                  <a:pt x="1299" y="448"/>
                </a:lnTo>
                <a:lnTo>
                  <a:pt x="1294" y="444"/>
                </a:lnTo>
                <a:lnTo>
                  <a:pt x="1294" y="444"/>
                </a:lnTo>
                <a:lnTo>
                  <a:pt x="1281" y="444"/>
                </a:lnTo>
                <a:lnTo>
                  <a:pt x="1268" y="444"/>
                </a:lnTo>
                <a:lnTo>
                  <a:pt x="1268" y="444"/>
                </a:lnTo>
                <a:lnTo>
                  <a:pt x="1265" y="446"/>
                </a:lnTo>
                <a:lnTo>
                  <a:pt x="1261" y="449"/>
                </a:lnTo>
                <a:lnTo>
                  <a:pt x="1259" y="453"/>
                </a:lnTo>
                <a:lnTo>
                  <a:pt x="1261" y="457"/>
                </a:lnTo>
                <a:lnTo>
                  <a:pt x="1261" y="457"/>
                </a:lnTo>
                <a:lnTo>
                  <a:pt x="1263" y="460"/>
                </a:lnTo>
                <a:lnTo>
                  <a:pt x="1266" y="464"/>
                </a:lnTo>
                <a:lnTo>
                  <a:pt x="1270" y="468"/>
                </a:lnTo>
                <a:lnTo>
                  <a:pt x="1270" y="470"/>
                </a:lnTo>
                <a:lnTo>
                  <a:pt x="1268" y="471"/>
                </a:lnTo>
                <a:lnTo>
                  <a:pt x="1268" y="471"/>
                </a:lnTo>
                <a:lnTo>
                  <a:pt x="1265" y="471"/>
                </a:lnTo>
                <a:lnTo>
                  <a:pt x="1261" y="473"/>
                </a:lnTo>
                <a:lnTo>
                  <a:pt x="1261" y="473"/>
                </a:lnTo>
                <a:lnTo>
                  <a:pt x="1257" y="475"/>
                </a:lnTo>
                <a:lnTo>
                  <a:pt x="1255" y="481"/>
                </a:lnTo>
                <a:lnTo>
                  <a:pt x="1255" y="481"/>
                </a:lnTo>
                <a:lnTo>
                  <a:pt x="1254" y="482"/>
                </a:lnTo>
                <a:lnTo>
                  <a:pt x="1254" y="486"/>
                </a:lnTo>
                <a:lnTo>
                  <a:pt x="1255" y="493"/>
                </a:lnTo>
                <a:lnTo>
                  <a:pt x="1255" y="493"/>
                </a:lnTo>
                <a:lnTo>
                  <a:pt x="1254" y="497"/>
                </a:lnTo>
                <a:lnTo>
                  <a:pt x="1250" y="501"/>
                </a:lnTo>
                <a:lnTo>
                  <a:pt x="1250" y="501"/>
                </a:lnTo>
                <a:lnTo>
                  <a:pt x="1241" y="514"/>
                </a:lnTo>
                <a:lnTo>
                  <a:pt x="1236" y="517"/>
                </a:lnTo>
                <a:lnTo>
                  <a:pt x="1232" y="519"/>
                </a:lnTo>
                <a:lnTo>
                  <a:pt x="1228" y="519"/>
                </a:lnTo>
                <a:lnTo>
                  <a:pt x="1228" y="519"/>
                </a:lnTo>
                <a:lnTo>
                  <a:pt x="1225" y="517"/>
                </a:lnTo>
                <a:lnTo>
                  <a:pt x="1221" y="515"/>
                </a:lnTo>
                <a:lnTo>
                  <a:pt x="1217" y="508"/>
                </a:lnTo>
                <a:lnTo>
                  <a:pt x="1217" y="508"/>
                </a:lnTo>
                <a:lnTo>
                  <a:pt x="1214" y="499"/>
                </a:lnTo>
                <a:lnTo>
                  <a:pt x="1214" y="490"/>
                </a:lnTo>
                <a:lnTo>
                  <a:pt x="1216" y="471"/>
                </a:lnTo>
                <a:lnTo>
                  <a:pt x="1216" y="471"/>
                </a:lnTo>
                <a:lnTo>
                  <a:pt x="1214" y="466"/>
                </a:lnTo>
                <a:lnTo>
                  <a:pt x="1212" y="460"/>
                </a:lnTo>
                <a:lnTo>
                  <a:pt x="1208" y="459"/>
                </a:lnTo>
                <a:lnTo>
                  <a:pt x="1207" y="457"/>
                </a:lnTo>
                <a:lnTo>
                  <a:pt x="1203" y="459"/>
                </a:lnTo>
                <a:lnTo>
                  <a:pt x="1199" y="460"/>
                </a:lnTo>
                <a:lnTo>
                  <a:pt x="1199" y="460"/>
                </a:lnTo>
                <a:lnTo>
                  <a:pt x="1198" y="464"/>
                </a:lnTo>
                <a:lnTo>
                  <a:pt x="1198" y="468"/>
                </a:lnTo>
                <a:lnTo>
                  <a:pt x="1196" y="477"/>
                </a:lnTo>
                <a:lnTo>
                  <a:pt x="1194" y="481"/>
                </a:lnTo>
                <a:lnTo>
                  <a:pt x="1192" y="482"/>
                </a:lnTo>
                <a:lnTo>
                  <a:pt x="1190" y="484"/>
                </a:lnTo>
                <a:lnTo>
                  <a:pt x="1185" y="482"/>
                </a:lnTo>
                <a:lnTo>
                  <a:pt x="1185" y="482"/>
                </a:lnTo>
                <a:lnTo>
                  <a:pt x="1181" y="479"/>
                </a:lnTo>
                <a:lnTo>
                  <a:pt x="1179" y="473"/>
                </a:lnTo>
                <a:lnTo>
                  <a:pt x="1179" y="473"/>
                </a:lnTo>
                <a:lnTo>
                  <a:pt x="1176" y="462"/>
                </a:lnTo>
                <a:lnTo>
                  <a:pt x="1174" y="459"/>
                </a:lnTo>
                <a:lnTo>
                  <a:pt x="1169" y="457"/>
                </a:lnTo>
                <a:lnTo>
                  <a:pt x="1169" y="457"/>
                </a:lnTo>
                <a:lnTo>
                  <a:pt x="1165" y="455"/>
                </a:lnTo>
                <a:lnTo>
                  <a:pt x="1161" y="451"/>
                </a:lnTo>
                <a:lnTo>
                  <a:pt x="1156" y="444"/>
                </a:lnTo>
                <a:lnTo>
                  <a:pt x="1156" y="444"/>
                </a:lnTo>
                <a:lnTo>
                  <a:pt x="1156" y="440"/>
                </a:lnTo>
                <a:lnTo>
                  <a:pt x="1156" y="437"/>
                </a:lnTo>
                <a:lnTo>
                  <a:pt x="1156" y="437"/>
                </a:lnTo>
                <a:lnTo>
                  <a:pt x="1158" y="433"/>
                </a:lnTo>
                <a:lnTo>
                  <a:pt x="1158" y="431"/>
                </a:lnTo>
                <a:lnTo>
                  <a:pt x="1158" y="429"/>
                </a:lnTo>
                <a:lnTo>
                  <a:pt x="1158" y="429"/>
                </a:lnTo>
                <a:lnTo>
                  <a:pt x="1156" y="427"/>
                </a:lnTo>
                <a:lnTo>
                  <a:pt x="1152" y="427"/>
                </a:lnTo>
                <a:lnTo>
                  <a:pt x="1152" y="427"/>
                </a:lnTo>
                <a:lnTo>
                  <a:pt x="1150" y="426"/>
                </a:lnTo>
                <a:lnTo>
                  <a:pt x="1150" y="424"/>
                </a:lnTo>
                <a:lnTo>
                  <a:pt x="1152" y="422"/>
                </a:lnTo>
                <a:lnTo>
                  <a:pt x="1152" y="422"/>
                </a:lnTo>
                <a:lnTo>
                  <a:pt x="1156" y="422"/>
                </a:lnTo>
                <a:lnTo>
                  <a:pt x="1158" y="422"/>
                </a:lnTo>
                <a:lnTo>
                  <a:pt x="1161" y="424"/>
                </a:lnTo>
                <a:lnTo>
                  <a:pt x="1163" y="422"/>
                </a:lnTo>
                <a:lnTo>
                  <a:pt x="1163" y="422"/>
                </a:lnTo>
                <a:lnTo>
                  <a:pt x="1165" y="420"/>
                </a:lnTo>
                <a:lnTo>
                  <a:pt x="1165" y="416"/>
                </a:lnTo>
                <a:lnTo>
                  <a:pt x="1161" y="411"/>
                </a:lnTo>
                <a:lnTo>
                  <a:pt x="1161" y="411"/>
                </a:lnTo>
                <a:lnTo>
                  <a:pt x="1158" y="407"/>
                </a:lnTo>
                <a:lnTo>
                  <a:pt x="1152" y="405"/>
                </a:lnTo>
                <a:lnTo>
                  <a:pt x="1143" y="402"/>
                </a:lnTo>
                <a:lnTo>
                  <a:pt x="1143" y="402"/>
                </a:lnTo>
                <a:lnTo>
                  <a:pt x="1129" y="391"/>
                </a:lnTo>
                <a:lnTo>
                  <a:pt x="1129" y="391"/>
                </a:lnTo>
                <a:lnTo>
                  <a:pt x="1125" y="389"/>
                </a:lnTo>
                <a:lnTo>
                  <a:pt x="1121" y="383"/>
                </a:lnTo>
                <a:lnTo>
                  <a:pt x="1118" y="378"/>
                </a:lnTo>
                <a:lnTo>
                  <a:pt x="1118" y="374"/>
                </a:lnTo>
                <a:lnTo>
                  <a:pt x="1118" y="374"/>
                </a:lnTo>
                <a:lnTo>
                  <a:pt x="1121" y="371"/>
                </a:lnTo>
                <a:lnTo>
                  <a:pt x="1125" y="369"/>
                </a:lnTo>
                <a:lnTo>
                  <a:pt x="1125" y="367"/>
                </a:lnTo>
                <a:lnTo>
                  <a:pt x="1125" y="367"/>
                </a:lnTo>
                <a:lnTo>
                  <a:pt x="1125" y="361"/>
                </a:lnTo>
                <a:lnTo>
                  <a:pt x="1123" y="358"/>
                </a:lnTo>
                <a:lnTo>
                  <a:pt x="1123" y="358"/>
                </a:lnTo>
                <a:lnTo>
                  <a:pt x="1123" y="356"/>
                </a:lnTo>
                <a:lnTo>
                  <a:pt x="1127" y="354"/>
                </a:lnTo>
                <a:lnTo>
                  <a:pt x="1136" y="352"/>
                </a:lnTo>
                <a:lnTo>
                  <a:pt x="1136" y="352"/>
                </a:lnTo>
                <a:lnTo>
                  <a:pt x="1143" y="350"/>
                </a:lnTo>
                <a:lnTo>
                  <a:pt x="1150" y="349"/>
                </a:lnTo>
                <a:lnTo>
                  <a:pt x="1150" y="349"/>
                </a:lnTo>
                <a:lnTo>
                  <a:pt x="1158" y="350"/>
                </a:lnTo>
                <a:lnTo>
                  <a:pt x="1161" y="350"/>
                </a:lnTo>
                <a:lnTo>
                  <a:pt x="1165" y="349"/>
                </a:lnTo>
                <a:lnTo>
                  <a:pt x="1165" y="349"/>
                </a:lnTo>
                <a:lnTo>
                  <a:pt x="1170" y="345"/>
                </a:lnTo>
                <a:lnTo>
                  <a:pt x="1174" y="339"/>
                </a:lnTo>
                <a:lnTo>
                  <a:pt x="1176" y="332"/>
                </a:lnTo>
                <a:lnTo>
                  <a:pt x="1176" y="328"/>
                </a:lnTo>
                <a:lnTo>
                  <a:pt x="1174" y="325"/>
                </a:lnTo>
                <a:lnTo>
                  <a:pt x="1174" y="325"/>
                </a:lnTo>
                <a:lnTo>
                  <a:pt x="1170" y="321"/>
                </a:lnTo>
                <a:lnTo>
                  <a:pt x="1163" y="315"/>
                </a:lnTo>
                <a:lnTo>
                  <a:pt x="1152" y="310"/>
                </a:lnTo>
                <a:lnTo>
                  <a:pt x="1152" y="310"/>
                </a:lnTo>
                <a:lnTo>
                  <a:pt x="1136" y="308"/>
                </a:lnTo>
                <a:lnTo>
                  <a:pt x="1127" y="308"/>
                </a:lnTo>
                <a:lnTo>
                  <a:pt x="1120" y="308"/>
                </a:lnTo>
                <a:lnTo>
                  <a:pt x="1120" y="308"/>
                </a:lnTo>
                <a:lnTo>
                  <a:pt x="1109" y="314"/>
                </a:lnTo>
                <a:lnTo>
                  <a:pt x="1109" y="314"/>
                </a:lnTo>
                <a:lnTo>
                  <a:pt x="1103" y="315"/>
                </a:lnTo>
                <a:lnTo>
                  <a:pt x="1100" y="317"/>
                </a:lnTo>
                <a:lnTo>
                  <a:pt x="1100" y="317"/>
                </a:lnTo>
                <a:lnTo>
                  <a:pt x="1096" y="323"/>
                </a:lnTo>
                <a:lnTo>
                  <a:pt x="1096" y="330"/>
                </a:lnTo>
                <a:lnTo>
                  <a:pt x="1098" y="336"/>
                </a:lnTo>
                <a:lnTo>
                  <a:pt x="1100" y="341"/>
                </a:lnTo>
                <a:lnTo>
                  <a:pt x="1100" y="341"/>
                </a:lnTo>
                <a:lnTo>
                  <a:pt x="1102" y="345"/>
                </a:lnTo>
                <a:lnTo>
                  <a:pt x="1103" y="350"/>
                </a:lnTo>
                <a:lnTo>
                  <a:pt x="1103" y="350"/>
                </a:lnTo>
                <a:lnTo>
                  <a:pt x="1103" y="356"/>
                </a:lnTo>
                <a:lnTo>
                  <a:pt x="1102" y="360"/>
                </a:lnTo>
                <a:lnTo>
                  <a:pt x="1103" y="361"/>
                </a:lnTo>
                <a:lnTo>
                  <a:pt x="1103" y="361"/>
                </a:lnTo>
                <a:lnTo>
                  <a:pt x="1107" y="365"/>
                </a:lnTo>
                <a:lnTo>
                  <a:pt x="1109" y="367"/>
                </a:lnTo>
                <a:lnTo>
                  <a:pt x="1111" y="369"/>
                </a:lnTo>
                <a:lnTo>
                  <a:pt x="1111" y="369"/>
                </a:lnTo>
                <a:lnTo>
                  <a:pt x="1111" y="374"/>
                </a:lnTo>
                <a:lnTo>
                  <a:pt x="1109" y="378"/>
                </a:lnTo>
                <a:lnTo>
                  <a:pt x="1102" y="383"/>
                </a:lnTo>
                <a:lnTo>
                  <a:pt x="1102" y="383"/>
                </a:lnTo>
                <a:lnTo>
                  <a:pt x="1098" y="391"/>
                </a:lnTo>
                <a:lnTo>
                  <a:pt x="1096" y="400"/>
                </a:lnTo>
                <a:lnTo>
                  <a:pt x="1096" y="400"/>
                </a:lnTo>
                <a:lnTo>
                  <a:pt x="1094" y="404"/>
                </a:lnTo>
                <a:lnTo>
                  <a:pt x="1091" y="407"/>
                </a:lnTo>
                <a:lnTo>
                  <a:pt x="1091" y="407"/>
                </a:lnTo>
                <a:lnTo>
                  <a:pt x="1087" y="413"/>
                </a:lnTo>
                <a:lnTo>
                  <a:pt x="1083" y="422"/>
                </a:lnTo>
                <a:lnTo>
                  <a:pt x="1083" y="422"/>
                </a:lnTo>
                <a:lnTo>
                  <a:pt x="1083" y="426"/>
                </a:lnTo>
                <a:lnTo>
                  <a:pt x="1085" y="431"/>
                </a:lnTo>
                <a:lnTo>
                  <a:pt x="1087" y="433"/>
                </a:lnTo>
                <a:lnTo>
                  <a:pt x="1091" y="437"/>
                </a:lnTo>
                <a:lnTo>
                  <a:pt x="1091" y="437"/>
                </a:lnTo>
                <a:lnTo>
                  <a:pt x="1096" y="438"/>
                </a:lnTo>
                <a:lnTo>
                  <a:pt x="1102" y="438"/>
                </a:lnTo>
                <a:lnTo>
                  <a:pt x="1112" y="438"/>
                </a:lnTo>
                <a:lnTo>
                  <a:pt x="1112" y="438"/>
                </a:lnTo>
                <a:lnTo>
                  <a:pt x="1121" y="440"/>
                </a:lnTo>
                <a:lnTo>
                  <a:pt x="1125" y="444"/>
                </a:lnTo>
                <a:lnTo>
                  <a:pt x="1129" y="448"/>
                </a:lnTo>
                <a:lnTo>
                  <a:pt x="1129" y="448"/>
                </a:lnTo>
                <a:lnTo>
                  <a:pt x="1130" y="451"/>
                </a:lnTo>
                <a:lnTo>
                  <a:pt x="1130" y="453"/>
                </a:lnTo>
                <a:lnTo>
                  <a:pt x="1129" y="457"/>
                </a:lnTo>
                <a:lnTo>
                  <a:pt x="1125" y="459"/>
                </a:lnTo>
                <a:lnTo>
                  <a:pt x="1125" y="459"/>
                </a:lnTo>
                <a:lnTo>
                  <a:pt x="1118" y="460"/>
                </a:lnTo>
                <a:lnTo>
                  <a:pt x="1116" y="464"/>
                </a:lnTo>
                <a:lnTo>
                  <a:pt x="1116" y="468"/>
                </a:lnTo>
                <a:lnTo>
                  <a:pt x="1116" y="468"/>
                </a:lnTo>
                <a:lnTo>
                  <a:pt x="1118" y="471"/>
                </a:lnTo>
                <a:lnTo>
                  <a:pt x="1121" y="473"/>
                </a:lnTo>
                <a:lnTo>
                  <a:pt x="1123" y="475"/>
                </a:lnTo>
                <a:lnTo>
                  <a:pt x="1125" y="479"/>
                </a:lnTo>
                <a:lnTo>
                  <a:pt x="1125" y="479"/>
                </a:lnTo>
                <a:lnTo>
                  <a:pt x="1125" y="481"/>
                </a:lnTo>
                <a:lnTo>
                  <a:pt x="1123" y="484"/>
                </a:lnTo>
                <a:lnTo>
                  <a:pt x="1114" y="490"/>
                </a:lnTo>
                <a:lnTo>
                  <a:pt x="1105" y="493"/>
                </a:lnTo>
                <a:lnTo>
                  <a:pt x="1100" y="499"/>
                </a:lnTo>
                <a:lnTo>
                  <a:pt x="1100" y="499"/>
                </a:lnTo>
                <a:lnTo>
                  <a:pt x="1098" y="504"/>
                </a:lnTo>
                <a:lnTo>
                  <a:pt x="1098" y="508"/>
                </a:lnTo>
                <a:lnTo>
                  <a:pt x="1098" y="514"/>
                </a:lnTo>
                <a:lnTo>
                  <a:pt x="1096" y="519"/>
                </a:lnTo>
                <a:lnTo>
                  <a:pt x="1096" y="519"/>
                </a:lnTo>
                <a:lnTo>
                  <a:pt x="1094" y="521"/>
                </a:lnTo>
                <a:lnTo>
                  <a:pt x="1091" y="521"/>
                </a:lnTo>
                <a:lnTo>
                  <a:pt x="1087" y="521"/>
                </a:lnTo>
                <a:lnTo>
                  <a:pt x="1085" y="517"/>
                </a:lnTo>
                <a:lnTo>
                  <a:pt x="1085" y="517"/>
                </a:lnTo>
                <a:lnTo>
                  <a:pt x="1082" y="514"/>
                </a:lnTo>
                <a:lnTo>
                  <a:pt x="1080" y="510"/>
                </a:lnTo>
                <a:lnTo>
                  <a:pt x="1078" y="499"/>
                </a:lnTo>
                <a:lnTo>
                  <a:pt x="1076" y="490"/>
                </a:lnTo>
                <a:lnTo>
                  <a:pt x="1073" y="488"/>
                </a:lnTo>
                <a:lnTo>
                  <a:pt x="1067" y="486"/>
                </a:lnTo>
                <a:lnTo>
                  <a:pt x="1067" y="486"/>
                </a:lnTo>
                <a:lnTo>
                  <a:pt x="1062" y="484"/>
                </a:lnTo>
                <a:lnTo>
                  <a:pt x="1060" y="486"/>
                </a:lnTo>
                <a:lnTo>
                  <a:pt x="1056" y="490"/>
                </a:lnTo>
                <a:lnTo>
                  <a:pt x="1056" y="495"/>
                </a:lnTo>
                <a:lnTo>
                  <a:pt x="1056" y="495"/>
                </a:lnTo>
                <a:lnTo>
                  <a:pt x="1053" y="501"/>
                </a:lnTo>
                <a:lnTo>
                  <a:pt x="1047" y="504"/>
                </a:lnTo>
                <a:lnTo>
                  <a:pt x="1040" y="508"/>
                </a:lnTo>
                <a:lnTo>
                  <a:pt x="1034" y="508"/>
                </a:lnTo>
                <a:lnTo>
                  <a:pt x="1034" y="508"/>
                </a:lnTo>
                <a:lnTo>
                  <a:pt x="1022" y="504"/>
                </a:lnTo>
                <a:lnTo>
                  <a:pt x="1016" y="503"/>
                </a:lnTo>
                <a:lnTo>
                  <a:pt x="1011" y="503"/>
                </a:lnTo>
                <a:lnTo>
                  <a:pt x="1011" y="503"/>
                </a:lnTo>
                <a:lnTo>
                  <a:pt x="1005" y="504"/>
                </a:lnTo>
                <a:lnTo>
                  <a:pt x="1000" y="504"/>
                </a:lnTo>
                <a:lnTo>
                  <a:pt x="1000" y="504"/>
                </a:lnTo>
                <a:lnTo>
                  <a:pt x="996" y="501"/>
                </a:lnTo>
                <a:lnTo>
                  <a:pt x="993" y="497"/>
                </a:lnTo>
                <a:lnTo>
                  <a:pt x="989" y="493"/>
                </a:lnTo>
                <a:lnTo>
                  <a:pt x="986" y="490"/>
                </a:lnTo>
                <a:lnTo>
                  <a:pt x="986" y="490"/>
                </a:lnTo>
                <a:lnTo>
                  <a:pt x="980" y="490"/>
                </a:lnTo>
                <a:lnTo>
                  <a:pt x="973" y="490"/>
                </a:lnTo>
                <a:lnTo>
                  <a:pt x="973" y="490"/>
                </a:lnTo>
                <a:lnTo>
                  <a:pt x="966" y="490"/>
                </a:lnTo>
                <a:lnTo>
                  <a:pt x="958" y="486"/>
                </a:lnTo>
                <a:lnTo>
                  <a:pt x="946" y="475"/>
                </a:lnTo>
                <a:lnTo>
                  <a:pt x="946" y="475"/>
                </a:lnTo>
                <a:lnTo>
                  <a:pt x="940" y="473"/>
                </a:lnTo>
                <a:lnTo>
                  <a:pt x="937" y="471"/>
                </a:lnTo>
                <a:lnTo>
                  <a:pt x="926" y="471"/>
                </a:lnTo>
                <a:lnTo>
                  <a:pt x="926" y="471"/>
                </a:lnTo>
                <a:lnTo>
                  <a:pt x="919" y="471"/>
                </a:lnTo>
                <a:lnTo>
                  <a:pt x="908" y="471"/>
                </a:lnTo>
                <a:lnTo>
                  <a:pt x="902" y="473"/>
                </a:lnTo>
                <a:lnTo>
                  <a:pt x="899" y="475"/>
                </a:lnTo>
                <a:lnTo>
                  <a:pt x="897" y="479"/>
                </a:lnTo>
                <a:lnTo>
                  <a:pt x="899" y="484"/>
                </a:lnTo>
                <a:lnTo>
                  <a:pt x="899" y="484"/>
                </a:lnTo>
                <a:lnTo>
                  <a:pt x="900" y="488"/>
                </a:lnTo>
                <a:lnTo>
                  <a:pt x="904" y="488"/>
                </a:lnTo>
                <a:lnTo>
                  <a:pt x="913" y="486"/>
                </a:lnTo>
                <a:lnTo>
                  <a:pt x="913" y="486"/>
                </a:lnTo>
                <a:lnTo>
                  <a:pt x="917" y="484"/>
                </a:lnTo>
                <a:lnTo>
                  <a:pt x="920" y="486"/>
                </a:lnTo>
                <a:lnTo>
                  <a:pt x="922" y="490"/>
                </a:lnTo>
                <a:lnTo>
                  <a:pt x="920" y="493"/>
                </a:lnTo>
                <a:lnTo>
                  <a:pt x="920" y="493"/>
                </a:lnTo>
                <a:lnTo>
                  <a:pt x="917" y="497"/>
                </a:lnTo>
                <a:lnTo>
                  <a:pt x="913" y="499"/>
                </a:lnTo>
                <a:lnTo>
                  <a:pt x="904" y="503"/>
                </a:lnTo>
                <a:lnTo>
                  <a:pt x="904" y="503"/>
                </a:lnTo>
                <a:lnTo>
                  <a:pt x="900" y="506"/>
                </a:lnTo>
                <a:lnTo>
                  <a:pt x="900" y="514"/>
                </a:lnTo>
                <a:lnTo>
                  <a:pt x="900" y="519"/>
                </a:lnTo>
                <a:lnTo>
                  <a:pt x="902" y="525"/>
                </a:lnTo>
                <a:lnTo>
                  <a:pt x="902" y="525"/>
                </a:lnTo>
                <a:lnTo>
                  <a:pt x="902" y="530"/>
                </a:lnTo>
                <a:lnTo>
                  <a:pt x="902" y="532"/>
                </a:lnTo>
                <a:lnTo>
                  <a:pt x="900" y="532"/>
                </a:lnTo>
                <a:lnTo>
                  <a:pt x="900" y="532"/>
                </a:lnTo>
                <a:lnTo>
                  <a:pt x="895" y="532"/>
                </a:lnTo>
                <a:lnTo>
                  <a:pt x="890" y="530"/>
                </a:lnTo>
                <a:lnTo>
                  <a:pt x="890" y="530"/>
                </a:lnTo>
                <a:lnTo>
                  <a:pt x="888" y="525"/>
                </a:lnTo>
                <a:lnTo>
                  <a:pt x="886" y="519"/>
                </a:lnTo>
                <a:lnTo>
                  <a:pt x="886" y="514"/>
                </a:lnTo>
                <a:lnTo>
                  <a:pt x="884" y="508"/>
                </a:lnTo>
                <a:lnTo>
                  <a:pt x="884" y="508"/>
                </a:lnTo>
                <a:lnTo>
                  <a:pt x="880" y="503"/>
                </a:lnTo>
                <a:lnTo>
                  <a:pt x="877" y="501"/>
                </a:lnTo>
                <a:lnTo>
                  <a:pt x="866" y="497"/>
                </a:lnTo>
                <a:lnTo>
                  <a:pt x="866" y="497"/>
                </a:lnTo>
                <a:lnTo>
                  <a:pt x="853" y="497"/>
                </a:lnTo>
                <a:lnTo>
                  <a:pt x="842" y="501"/>
                </a:lnTo>
                <a:lnTo>
                  <a:pt x="842" y="501"/>
                </a:lnTo>
                <a:lnTo>
                  <a:pt x="835" y="501"/>
                </a:lnTo>
                <a:lnTo>
                  <a:pt x="828" y="503"/>
                </a:lnTo>
                <a:lnTo>
                  <a:pt x="828" y="503"/>
                </a:lnTo>
                <a:lnTo>
                  <a:pt x="823" y="503"/>
                </a:lnTo>
                <a:lnTo>
                  <a:pt x="819" y="501"/>
                </a:lnTo>
                <a:lnTo>
                  <a:pt x="817" y="499"/>
                </a:lnTo>
                <a:lnTo>
                  <a:pt x="817" y="499"/>
                </a:lnTo>
                <a:lnTo>
                  <a:pt x="813" y="490"/>
                </a:lnTo>
                <a:lnTo>
                  <a:pt x="812" y="482"/>
                </a:lnTo>
                <a:lnTo>
                  <a:pt x="812" y="482"/>
                </a:lnTo>
                <a:lnTo>
                  <a:pt x="806" y="477"/>
                </a:lnTo>
                <a:lnTo>
                  <a:pt x="801" y="473"/>
                </a:lnTo>
                <a:lnTo>
                  <a:pt x="801" y="473"/>
                </a:lnTo>
                <a:lnTo>
                  <a:pt x="794" y="473"/>
                </a:lnTo>
                <a:lnTo>
                  <a:pt x="786" y="473"/>
                </a:lnTo>
                <a:lnTo>
                  <a:pt x="779" y="473"/>
                </a:lnTo>
                <a:lnTo>
                  <a:pt x="772" y="473"/>
                </a:lnTo>
                <a:lnTo>
                  <a:pt x="772" y="473"/>
                </a:lnTo>
                <a:lnTo>
                  <a:pt x="761" y="470"/>
                </a:lnTo>
                <a:lnTo>
                  <a:pt x="752" y="464"/>
                </a:lnTo>
                <a:lnTo>
                  <a:pt x="752" y="464"/>
                </a:lnTo>
                <a:lnTo>
                  <a:pt x="743" y="455"/>
                </a:lnTo>
                <a:lnTo>
                  <a:pt x="730" y="448"/>
                </a:lnTo>
                <a:lnTo>
                  <a:pt x="717" y="442"/>
                </a:lnTo>
                <a:lnTo>
                  <a:pt x="705" y="440"/>
                </a:lnTo>
                <a:lnTo>
                  <a:pt x="705" y="440"/>
                </a:lnTo>
                <a:lnTo>
                  <a:pt x="697" y="442"/>
                </a:lnTo>
                <a:lnTo>
                  <a:pt x="692" y="444"/>
                </a:lnTo>
                <a:lnTo>
                  <a:pt x="681" y="448"/>
                </a:lnTo>
                <a:lnTo>
                  <a:pt x="681" y="448"/>
                </a:lnTo>
                <a:lnTo>
                  <a:pt x="678" y="448"/>
                </a:lnTo>
                <a:lnTo>
                  <a:pt x="676" y="446"/>
                </a:lnTo>
                <a:lnTo>
                  <a:pt x="674" y="438"/>
                </a:lnTo>
                <a:lnTo>
                  <a:pt x="674" y="438"/>
                </a:lnTo>
                <a:lnTo>
                  <a:pt x="670" y="435"/>
                </a:lnTo>
                <a:lnTo>
                  <a:pt x="669" y="433"/>
                </a:lnTo>
                <a:lnTo>
                  <a:pt x="667" y="433"/>
                </a:lnTo>
                <a:lnTo>
                  <a:pt x="667" y="433"/>
                </a:lnTo>
                <a:lnTo>
                  <a:pt x="663" y="433"/>
                </a:lnTo>
                <a:lnTo>
                  <a:pt x="663" y="435"/>
                </a:lnTo>
                <a:lnTo>
                  <a:pt x="661" y="440"/>
                </a:lnTo>
                <a:lnTo>
                  <a:pt x="661" y="440"/>
                </a:lnTo>
                <a:lnTo>
                  <a:pt x="661" y="451"/>
                </a:lnTo>
                <a:lnTo>
                  <a:pt x="659" y="453"/>
                </a:lnTo>
                <a:lnTo>
                  <a:pt x="656" y="457"/>
                </a:lnTo>
                <a:lnTo>
                  <a:pt x="656" y="457"/>
                </a:lnTo>
                <a:lnTo>
                  <a:pt x="647" y="457"/>
                </a:lnTo>
                <a:lnTo>
                  <a:pt x="640" y="455"/>
                </a:lnTo>
                <a:lnTo>
                  <a:pt x="640" y="455"/>
                </a:lnTo>
                <a:lnTo>
                  <a:pt x="634" y="449"/>
                </a:lnTo>
                <a:lnTo>
                  <a:pt x="632" y="444"/>
                </a:lnTo>
                <a:lnTo>
                  <a:pt x="630" y="429"/>
                </a:lnTo>
                <a:lnTo>
                  <a:pt x="630" y="429"/>
                </a:lnTo>
                <a:lnTo>
                  <a:pt x="627" y="420"/>
                </a:lnTo>
                <a:lnTo>
                  <a:pt x="627" y="420"/>
                </a:lnTo>
                <a:lnTo>
                  <a:pt x="623" y="413"/>
                </a:lnTo>
                <a:lnTo>
                  <a:pt x="618" y="407"/>
                </a:lnTo>
                <a:lnTo>
                  <a:pt x="618" y="407"/>
                </a:lnTo>
                <a:lnTo>
                  <a:pt x="612" y="405"/>
                </a:lnTo>
                <a:lnTo>
                  <a:pt x="607" y="404"/>
                </a:lnTo>
                <a:lnTo>
                  <a:pt x="601" y="407"/>
                </a:lnTo>
                <a:lnTo>
                  <a:pt x="598" y="411"/>
                </a:lnTo>
                <a:lnTo>
                  <a:pt x="598" y="411"/>
                </a:lnTo>
                <a:lnTo>
                  <a:pt x="596" y="418"/>
                </a:lnTo>
                <a:lnTo>
                  <a:pt x="594" y="426"/>
                </a:lnTo>
                <a:lnTo>
                  <a:pt x="592" y="433"/>
                </a:lnTo>
                <a:lnTo>
                  <a:pt x="591" y="438"/>
                </a:lnTo>
                <a:lnTo>
                  <a:pt x="591" y="438"/>
                </a:lnTo>
                <a:lnTo>
                  <a:pt x="585" y="438"/>
                </a:lnTo>
                <a:lnTo>
                  <a:pt x="580" y="438"/>
                </a:lnTo>
                <a:lnTo>
                  <a:pt x="580" y="438"/>
                </a:lnTo>
                <a:lnTo>
                  <a:pt x="571" y="442"/>
                </a:lnTo>
                <a:lnTo>
                  <a:pt x="567" y="444"/>
                </a:lnTo>
                <a:lnTo>
                  <a:pt x="563" y="448"/>
                </a:lnTo>
                <a:lnTo>
                  <a:pt x="563" y="448"/>
                </a:lnTo>
                <a:lnTo>
                  <a:pt x="562" y="451"/>
                </a:lnTo>
                <a:lnTo>
                  <a:pt x="562" y="455"/>
                </a:lnTo>
                <a:lnTo>
                  <a:pt x="560" y="462"/>
                </a:lnTo>
                <a:lnTo>
                  <a:pt x="560" y="462"/>
                </a:lnTo>
                <a:lnTo>
                  <a:pt x="556" y="464"/>
                </a:lnTo>
                <a:lnTo>
                  <a:pt x="553" y="464"/>
                </a:lnTo>
                <a:lnTo>
                  <a:pt x="545" y="466"/>
                </a:lnTo>
                <a:lnTo>
                  <a:pt x="545" y="466"/>
                </a:lnTo>
                <a:lnTo>
                  <a:pt x="542" y="468"/>
                </a:lnTo>
                <a:lnTo>
                  <a:pt x="538" y="468"/>
                </a:lnTo>
                <a:lnTo>
                  <a:pt x="534" y="468"/>
                </a:lnTo>
                <a:lnTo>
                  <a:pt x="534" y="462"/>
                </a:lnTo>
                <a:lnTo>
                  <a:pt x="534" y="462"/>
                </a:lnTo>
                <a:lnTo>
                  <a:pt x="534" y="455"/>
                </a:lnTo>
                <a:lnTo>
                  <a:pt x="538" y="449"/>
                </a:lnTo>
                <a:lnTo>
                  <a:pt x="544" y="444"/>
                </a:lnTo>
                <a:lnTo>
                  <a:pt x="549" y="440"/>
                </a:lnTo>
                <a:lnTo>
                  <a:pt x="549" y="440"/>
                </a:lnTo>
                <a:lnTo>
                  <a:pt x="562" y="437"/>
                </a:lnTo>
                <a:lnTo>
                  <a:pt x="567" y="435"/>
                </a:lnTo>
                <a:lnTo>
                  <a:pt x="571" y="431"/>
                </a:lnTo>
                <a:lnTo>
                  <a:pt x="571" y="431"/>
                </a:lnTo>
                <a:lnTo>
                  <a:pt x="571" y="427"/>
                </a:lnTo>
                <a:lnTo>
                  <a:pt x="569" y="426"/>
                </a:lnTo>
                <a:lnTo>
                  <a:pt x="565" y="424"/>
                </a:lnTo>
                <a:lnTo>
                  <a:pt x="560" y="422"/>
                </a:lnTo>
                <a:lnTo>
                  <a:pt x="556" y="424"/>
                </a:lnTo>
                <a:lnTo>
                  <a:pt x="556" y="424"/>
                </a:lnTo>
                <a:lnTo>
                  <a:pt x="549" y="427"/>
                </a:lnTo>
                <a:lnTo>
                  <a:pt x="544" y="431"/>
                </a:lnTo>
                <a:lnTo>
                  <a:pt x="536" y="437"/>
                </a:lnTo>
                <a:lnTo>
                  <a:pt x="529" y="438"/>
                </a:lnTo>
                <a:lnTo>
                  <a:pt x="529" y="438"/>
                </a:lnTo>
                <a:lnTo>
                  <a:pt x="520" y="438"/>
                </a:lnTo>
                <a:lnTo>
                  <a:pt x="513" y="438"/>
                </a:lnTo>
                <a:lnTo>
                  <a:pt x="513" y="438"/>
                </a:lnTo>
                <a:lnTo>
                  <a:pt x="507" y="440"/>
                </a:lnTo>
                <a:lnTo>
                  <a:pt x="504" y="442"/>
                </a:lnTo>
                <a:lnTo>
                  <a:pt x="496" y="448"/>
                </a:lnTo>
                <a:lnTo>
                  <a:pt x="496" y="448"/>
                </a:lnTo>
                <a:lnTo>
                  <a:pt x="487" y="457"/>
                </a:lnTo>
                <a:lnTo>
                  <a:pt x="482" y="460"/>
                </a:lnTo>
                <a:lnTo>
                  <a:pt x="476" y="460"/>
                </a:lnTo>
                <a:lnTo>
                  <a:pt x="476" y="460"/>
                </a:lnTo>
                <a:lnTo>
                  <a:pt x="464" y="457"/>
                </a:lnTo>
                <a:lnTo>
                  <a:pt x="451" y="451"/>
                </a:lnTo>
                <a:lnTo>
                  <a:pt x="451" y="451"/>
                </a:lnTo>
                <a:lnTo>
                  <a:pt x="444" y="448"/>
                </a:lnTo>
                <a:lnTo>
                  <a:pt x="435" y="444"/>
                </a:lnTo>
                <a:lnTo>
                  <a:pt x="435" y="444"/>
                </a:lnTo>
                <a:lnTo>
                  <a:pt x="415" y="438"/>
                </a:lnTo>
                <a:lnTo>
                  <a:pt x="395" y="437"/>
                </a:lnTo>
                <a:lnTo>
                  <a:pt x="375" y="435"/>
                </a:lnTo>
                <a:lnTo>
                  <a:pt x="355" y="435"/>
                </a:lnTo>
                <a:lnTo>
                  <a:pt x="355" y="435"/>
                </a:lnTo>
                <a:lnTo>
                  <a:pt x="339" y="435"/>
                </a:lnTo>
                <a:lnTo>
                  <a:pt x="324" y="433"/>
                </a:lnTo>
                <a:lnTo>
                  <a:pt x="293" y="427"/>
                </a:lnTo>
                <a:lnTo>
                  <a:pt x="293" y="427"/>
                </a:lnTo>
                <a:lnTo>
                  <a:pt x="265" y="422"/>
                </a:lnTo>
                <a:lnTo>
                  <a:pt x="236" y="415"/>
                </a:lnTo>
                <a:lnTo>
                  <a:pt x="236" y="415"/>
                </a:lnTo>
                <a:lnTo>
                  <a:pt x="212" y="411"/>
                </a:lnTo>
                <a:lnTo>
                  <a:pt x="190" y="407"/>
                </a:lnTo>
                <a:lnTo>
                  <a:pt x="190" y="407"/>
                </a:lnTo>
                <a:lnTo>
                  <a:pt x="168" y="407"/>
                </a:lnTo>
                <a:lnTo>
                  <a:pt x="168" y="407"/>
                </a:lnTo>
                <a:lnTo>
                  <a:pt x="149" y="407"/>
                </a:lnTo>
                <a:lnTo>
                  <a:pt x="139" y="409"/>
                </a:lnTo>
                <a:lnTo>
                  <a:pt x="130" y="411"/>
                </a:lnTo>
                <a:lnTo>
                  <a:pt x="130" y="411"/>
                </a:lnTo>
                <a:lnTo>
                  <a:pt x="107" y="420"/>
                </a:lnTo>
                <a:lnTo>
                  <a:pt x="96" y="426"/>
                </a:lnTo>
                <a:lnTo>
                  <a:pt x="83" y="431"/>
                </a:lnTo>
                <a:lnTo>
                  <a:pt x="83" y="431"/>
                </a:lnTo>
                <a:lnTo>
                  <a:pt x="72" y="440"/>
                </a:lnTo>
                <a:lnTo>
                  <a:pt x="69" y="446"/>
                </a:lnTo>
                <a:lnTo>
                  <a:pt x="65" y="451"/>
                </a:lnTo>
                <a:lnTo>
                  <a:pt x="65" y="451"/>
                </a:lnTo>
                <a:lnTo>
                  <a:pt x="63" y="455"/>
                </a:lnTo>
                <a:lnTo>
                  <a:pt x="63" y="460"/>
                </a:lnTo>
                <a:lnTo>
                  <a:pt x="63" y="460"/>
                </a:lnTo>
                <a:lnTo>
                  <a:pt x="62" y="464"/>
                </a:lnTo>
                <a:lnTo>
                  <a:pt x="58" y="464"/>
                </a:lnTo>
                <a:lnTo>
                  <a:pt x="51" y="464"/>
                </a:lnTo>
                <a:lnTo>
                  <a:pt x="34" y="457"/>
                </a:lnTo>
                <a:lnTo>
                  <a:pt x="34" y="457"/>
                </a:lnTo>
                <a:lnTo>
                  <a:pt x="25" y="455"/>
                </a:lnTo>
                <a:lnTo>
                  <a:pt x="20" y="457"/>
                </a:lnTo>
                <a:lnTo>
                  <a:pt x="14" y="459"/>
                </a:lnTo>
                <a:lnTo>
                  <a:pt x="14" y="459"/>
                </a:lnTo>
                <a:lnTo>
                  <a:pt x="11" y="464"/>
                </a:lnTo>
                <a:lnTo>
                  <a:pt x="7" y="470"/>
                </a:lnTo>
                <a:lnTo>
                  <a:pt x="2" y="482"/>
                </a:lnTo>
                <a:lnTo>
                  <a:pt x="2" y="482"/>
                </a:lnTo>
                <a:lnTo>
                  <a:pt x="0" y="490"/>
                </a:lnTo>
                <a:lnTo>
                  <a:pt x="2" y="497"/>
                </a:lnTo>
                <a:lnTo>
                  <a:pt x="4" y="504"/>
                </a:lnTo>
                <a:lnTo>
                  <a:pt x="7" y="510"/>
                </a:lnTo>
                <a:lnTo>
                  <a:pt x="13" y="515"/>
                </a:lnTo>
                <a:lnTo>
                  <a:pt x="20" y="517"/>
                </a:lnTo>
                <a:lnTo>
                  <a:pt x="25" y="521"/>
                </a:lnTo>
                <a:lnTo>
                  <a:pt x="34" y="521"/>
                </a:lnTo>
                <a:lnTo>
                  <a:pt x="34" y="521"/>
                </a:lnTo>
                <a:lnTo>
                  <a:pt x="45" y="519"/>
                </a:lnTo>
                <a:lnTo>
                  <a:pt x="58" y="517"/>
                </a:lnTo>
                <a:lnTo>
                  <a:pt x="71" y="515"/>
                </a:lnTo>
                <a:lnTo>
                  <a:pt x="76" y="517"/>
                </a:lnTo>
                <a:lnTo>
                  <a:pt x="83" y="519"/>
                </a:lnTo>
                <a:lnTo>
                  <a:pt x="83" y="519"/>
                </a:lnTo>
                <a:lnTo>
                  <a:pt x="91" y="521"/>
                </a:lnTo>
                <a:lnTo>
                  <a:pt x="98" y="525"/>
                </a:lnTo>
                <a:lnTo>
                  <a:pt x="101" y="530"/>
                </a:lnTo>
                <a:lnTo>
                  <a:pt x="103" y="534"/>
                </a:lnTo>
                <a:lnTo>
                  <a:pt x="101" y="537"/>
                </a:lnTo>
                <a:lnTo>
                  <a:pt x="101" y="537"/>
                </a:lnTo>
                <a:lnTo>
                  <a:pt x="100" y="543"/>
                </a:lnTo>
                <a:lnTo>
                  <a:pt x="94" y="547"/>
                </a:lnTo>
                <a:lnTo>
                  <a:pt x="89" y="548"/>
                </a:lnTo>
                <a:lnTo>
                  <a:pt x="82" y="548"/>
                </a:lnTo>
                <a:lnTo>
                  <a:pt x="82" y="548"/>
                </a:lnTo>
                <a:lnTo>
                  <a:pt x="76" y="548"/>
                </a:lnTo>
                <a:lnTo>
                  <a:pt x="72" y="545"/>
                </a:lnTo>
                <a:lnTo>
                  <a:pt x="63" y="539"/>
                </a:lnTo>
                <a:lnTo>
                  <a:pt x="63" y="539"/>
                </a:lnTo>
                <a:lnTo>
                  <a:pt x="54" y="537"/>
                </a:lnTo>
                <a:lnTo>
                  <a:pt x="47" y="537"/>
                </a:lnTo>
                <a:lnTo>
                  <a:pt x="47" y="537"/>
                </a:lnTo>
                <a:lnTo>
                  <a:pt x="43" y="539"/>
                </a:lnTo>
                <a:lnTo>
                  <a:pt x="40" y="541"/>
                </a:lnTo>
                <a:lnTo>
                  <a:pt x="33" y="545"/>
                </a:lnTo>
                <a:lnTo>
                  <a:pt x="33" y="545"/>
                </a:lnTo>
                <a:lnTo>
                  <a:pt x="24" y="545"/>
                </a:lnTo>
                <a:lnTo>
                  <a:pt x="14" y="545"/>
                </a:lnTo>
                <a:lnTo>
                  <a:pt x="14" y="545"/>
                </a:lnTo>
                <a:lnTo>
                  <a:pt x="9" y="548"/>
                </a:lnTo>
                <a:lnTo>
                  <a:pt x="5" y="552"/>
                </a:lnTo>
                <a:lnTo>
                  <a:pt x="4" y="559"/>
                </a:lnTo>
                <a:lnTo>
                  <a:pt x="4" y="565"/>
                </a:lnTo>
                <a:lnTo>
                  <a:pt x="4" y="565"/>
                </a:lnTo>
                <a:lnTo>
                  <a:pt x="7" y="572"/>
                </a:lnTo>
                <a:lnTo>
                  <a:pt x="11" y="578"/>
                </a:lnTo>
                <a:lnTo>
                  <a:pt x="18" y="580"/>
                </a:lnTo>
                <a:lnTo>
                  <a:pt x="25" y="581"/>
                </a:lnTo>
                <a:lnTo>
                  <a:pt x="40" y="581"/>
                </a:lnTo>
                <a:lnTo>
                  <a:pt x="53" y="580"/>
                </a:lnTo>
                <a:lnTo>
                  <a:pt x="53" y="580"/>
                </a:lnTo>
                <a:lnTo>
                  <a:pt x="60" y="580"/>
                </a:lnTo>
                <a:lnTo>
                  <a:pt x="67" y="580"/>
                </a:lnTo>
                <a:lnTo>
                  <a:pt x="67" y="580"/>
                </a:lnTo>
                <a:lnTo>
                  <a:pt x="72" y="585"/>
                </a:lnTo>
                <a:lnTo>
                  <a:pt x="72" y="585"/>
                </a:lnTo>
                <a:lnTo>
                  <a:pt x="78" y="585"/>
                </a:lnTo>
                <a:lnTo>
                  <a:pt x="85" y="585"/>
                </a:lnTo>
                <a:lnTo>
                  <a:pt x="85" y="585"/>
                </a:lnTo>
                <a:lnTo>
                  <a:pt x="92" y="585"/>
                </a:lnTo>
                <a:lnTo>
                  <a:pt x="100" y="585"/>
                </a:lnTo>
                <a:lnTo>
                  <a:pt x="107" y="589"/>
                </a:lnTo>
                <a:lnTo>
                  <a:pt x="111" y="592"/>
                </a:lnTo>
                <a:lnTo>
                  <a:pt x="111" y="592"/>
                </a:lnTo>
                <a:lnTo>
                  <a:pt x="114" y="598"/>
                </a:lnTo>
                <a:lnTo>
                  <a:pt x="112" y="603"/>
                </a:lnTo>
                <a:lnTo>
                  <a:pt x="111" y="609"/>
                </a:lnTo>
                <a:lnTo>
                  <a:pt x="107" y="613"/>
                </a:lnTo>
                <a:lnTo>
                  <a:pt x="107" y="613"/>
                </a:lnTo>
                <a:lnTo>
                  <a:pt x="103" y="616"/>
                </a:lnTo>
                <a:lnTo>
                  <a:pt x="100" y="620"/>
                </a:lnTo>
                <a:lnTo>
                  <a:pt x="100" y="620"/>
                </a:lnTo>
                <a:lnTo>
                  <a:pt x="96" y="620"/>
                </a:lnTo>
                <a:lnTo>
                  <a:pt x="92" y="620"/>
                </a:lnTo>
                <a:lnTo>
                  <a:pt x="83" y="620"/>
                </a:lnTo>
                <a:lnTo>
                  <a:pt x="83" y="620"/>
                </a:lnTo>
                <a:lnTo>
                  <a:pt x="78" y="622"/>
                </a:lnTo>
                <a:lnTo>
                  <a:pt x="74" y="622"/>
                </a:lnTo>
                <a:lnTo>
                  <a:pt x="74" y="622"/>
                </a:lnTo>
                <a:lnTo>
                  <a:pt x="63" y="620"/>
                </a:lnTo>
                <a:lnTo>
                  <a:pt x="58" y="618"/>
                </a:lnTo>
                <a:lnTo>
                  <a:pt x="53" y="622"/>
                </a:lnTo>
                <a:lnTo>
                  <a:pt x="53" y="622"/>
                </a:lnTo>
                <a:lnTo>
                  <a:pt x="51" y="625"/>
                </a:lnTo>
                <a:lnTo>
                  <a:pt x="51" y="629"/>
                </a:lnTo>
                <a:lnTo>
                  <a:pt x="53" y="633"/>
                </a:lnTo>
                <a:lnTo>
                  <a:pt x="53" y="638"/>
                </a:lnTo>
                <a:lnTo>
                  <a:pt x="53" y="638"/>
                </a:lnTo>
                <a:lnTo>
                  <a:pt x="51" y="642"/>
                </a:lnTo>
                <a:lnTo>
                  <a:pt x="47" y="644"/>
                </a:lnTo>
                <a:lnTo>
                  <a:pt x="40" y="646"/>
                </a:lnTo>
                <a:lnTo>
                  <a:pt x="40" y="646"/>
                </a:lnTo>
                <a:lnTo>
                  <a:pt x="31" y="651"/>
                </a:lnTo>
                <a:lnTo>
                  <a:pt x="29" y="655"/>
                </a:lnTo>
                <a:lnTo>
                  <a:pt x="27" y="660"/>
                </a:lnTo>
                <a:lnTo>
                  <a:pt x="27" y="660"/>
                </a:lnTo>
                <a:lnTo>
                  <a:pt x="29" y="664"/>
                </a:lnTo>
                <a:lnTo>
                  <a:pt x="33" y="668"/>
                </a:lnTo>
                <a:lnTo>
                  <a:pt x="42" y="671"/>
                </a:lnTo>
                <a:lnTo>
                  <a:pt x="42" y="671"/>
                </a:lnTo>
                <a:lnTo>
                  <a:pt x="49" y="673"/>
                </a:lnTo>
                <a:lnTo>
                  <a:pt x="54" y="673"/>
                </a:lnTo>
                <a:lnTo>
                  <a:pt x="56" y="675"/>
                </a:lnTo>
                <a:lnTo>
                  <a:pt x="56" y="675"/>
                </a:lnTo>
                <a:lnTo>
                  <a:pt x="54" y="679"/>
                </a:lnTo>
                <a:lnTo>
                  <a:pt x="53" y="682"/>
                </a:lnTo>
                <a:lnTo>
                  <a:pt x="47" y="688"/>
                </a:lnTo>
                <a:lnTo>
                  <a:pt x="47" y="688"/>
                </a:lnTo>
                <a:lnTo>
                  <a:pt x="45" y="697"/>
                </a:lnTo>
                <a:lnTo>
                  <a:pt x="47" y="704"/>
                </a:lnTo>
                <a:lnTo>
                  <a:pt x="51" y="708"/>
                </a:lnTo>
                <a:lnTo>
                  <a:pt x="54" y="710"/>
                </a:lnTo>
                <a:lnTo>
                  <a:pt x="58" y="710"/>
                </a:lnTo>
                <a:lnTo>
                  <a:pt x="62" y="710"/>
                </a:lnTo>
                <a:lnTo>
                  <a:pt x="62" y="710"/>
                </a:lnTo>
                <a:lnTo>
                  <a:pt x="67" y="706"/>
                </a:lnTo>
                <a:lnTo>
                  <a:pt x="74" y="703"/>
                </a:lnTo>
                <a:lnTo>
                  <a:pt x="76" y="703"/>
                </a:lnTo>
                <a:lnTo>
                  <a:pt x="78" y="703"/>
                </a:lnTo>
                <a:lnTo>
                  <a:pt x="80" y="704"/>
                </a:lnTo>
                <a:lnTo>
                  <a:pt x="82" y="708"/>
                </a:lnTo>
                <a:lnTo>
                  <a:pt x="82" y="708"/>
                </a:lnTo>
                <a:lnTo>
                  <a:pt x="83" y="721"/>
                </a:lnTo>
                <a:lnTo>
                  <a:pt x="85" y="726"/>
                </a:lnTo>
                <a:lnTo>
                  <a:pt x="87" y="730"/>
                </a:lnTo>
                <a:lnTo>
                  <a:pt x="87" y="730"/>
                </a:lnTo>
                <a:lnTo>
                  <a:pt x="92" y="734"/>
                </a:lnTo>
                <a:lnTo>
                  <a:pt x="98" y="732"/>
                </a:lnTo>
                <a:lnTo>
                  <a:pt x="101" y="730"/>
                </a:lnTo>
                <a:lnTo>
                  <a:pt x="105" y="728"/>
                </a:lnTo>
                <a:lnTo>
                  <a:pt x="105" y="728"/>
                </a:lnTo>
                <a:lnTo>
                  <a:pt x="111" y="728"/>
                </a:lnTo>
                <a:lnTo>
                  <a:pt x="114" y="730"/>
                </a:lnTo>
                <a:lnTo>
                  <a:pt x="121" y="736"/>
                </a:lnTo>
                <a:lnTo>
                  <a:pt x="121" y="736"/>
                </a:lnTo>
                <a:lnTo>
                  <a:pt x="127" y="737"/>
                </a:lnTo>
                <a:lnTo>
                  <a:pt x="132" y="739"/>
                </a:lnTo>
                <a:lnTo>
                  <a:pt x="132" y="739"/>
                </a:lnTo>
                <a:lnTo>
                  <a:pt x="138" y="736"/>
                </a:lnTo>
                <a:lnTo>
                  <a:pt x="145" y="732"/>
                </a:lnTo>
                <a:lnTo>
                  <a:pt x="145" y="732"/>
                </a:lnTo>
                <a:lnTo>
                  <a:pt x="152" y="730"/>
                </a:lnTo>
                <a:lnTo>
                  <a:pt x="152" y="730"/>
                </a:lnTo>
                <a:lnTo>
                  <a:pt x="159" y="730"/>
                </a:lnTo>
                <a:lnTo>
                  <a:pt x="163" y="730"/>
                </a:lnTo>
                <a:lnTo>
                  <a:pt x="165" y="732"/>
                </a:lnTo>
                <a:lnTo>
                  <a:pt x="165" y="732"/>
                </a:lnTo>
                <a:lnTo>
                  <a:pt x="167" y="736"/>
                </a:lnTo>
                <a:lnTo>
                  <a:pt x="167" y="739"/>
                </a:lnTo>
                <a:lnTo>
                  <a:pt x="165" y="747"/>
                </a:lnTo>
                <a:lnTo>
                  <a:pt x="165" y="747"/>
                </a:lnTo>
                <a:lnTo>
                  <a:pt x="161" y="750"/>
                </a:lnTo>
                <a:lnTo>
                  <a:pt x="158" y="752"/>
                </a:lnTo>
                <a:lnTo>
                  <a:pt x="158" y="752"/>
                </a:lnTo>
                <a:lnTo>
                  <a:pt x="150" y="759"/>
                </a:lnTo>
                <a:lnTo>
                  <a:pt x="149" y="767"/>
                </a:lnTo>
                <a:lnTo>
                  <a:pt x="149" y="767"/>
                </a:lnTo>
                <a:lnTo>
                  <a:pt x="145" y="776"/>
                </a:lnTo>
                <a:lnTo>
                  <a:pt x="139" y="781"/>
                </a:lnTo>
                <a:lnTo>
                  <a:pt x="132" y="787"/>
                </a:lnTo>
                <a:lnTo>
                  <a:pt x="123" y="792"/>
                </a:lnTo>
                <a:lnTo>
                  <a:pt x="123" y="792"/>
                </a:lnTo>
                <a:lnTo>
                  <a:pt x="98" y="805"/>
                </a:lnTo>
                <a:lnTo>
                  <a:pt x="87" y="811"/>
                </a:lnTo>
                <a:lnTo>
                  <a:pt x="76" y="820"/>
                </a:lnTo>
                <a:lnTo>
                  <a:pt x="76" y="820"/>
                </a:lnTo>
                <a:lnTo>
                  <a:pt x="72" y="822"/>
                </a:lnTo>
                <a:lnTo>
                  <a:pt x="72" y="825"/>
                </a:lnTo>
                <a:lnTo>
                  <a:pt x="72" y="833"/>
                </a:lnTo>
                <a:lnTo>
                  <a:pt x="74" y="836"/>
                </a:lnTo>
                <a:lnTo>
                  <a:pt x="76" y="838"/>
                </a:lnTo>
                <a:lnTo>
                  <a:pt x="80" y="840"/>
                </a:lnTo>
                <a:lnTo>
                  <a:pt x="83" y="838"/>
                </a:lnTo>
                <a:lnTo>
                  <a:pt x="83" y="838"/>
                </a:lnTo>
                <a:lnTo>
                  <a:pt x="89" y="836"/>
                </a:lnTo>
                <a:lnTo>
                  <a:pt x="91" y="831"/>
                </a:lnTo>
                <a:lnTo>
                  <a:pt x="96" y="822"/>
                </a:lnTo>
                <a:lnTo>
                  <a:pt x="96" y="822"/>
                </a:lnTo>
                <a:lnTo>
                  <a:pt x="101" y="816"/>
                </a:lnTo>
                <a:lnTo>
                  <a:pt x="109" y="811"/>
                </a:lnTo>
                <a:lnTo>
                  <a:pt x="125" y="803"/>
                </a:lnTo>
                <a:lnTo>
                  <a:pt x="141" y="796"/>
                </a:lnTo>
                <a:lnTo>
                  <a:pt x="156" y="787"/>
                </a:lnTo>
                <a:lnTo>
                  <a:pt x="156" y="787"/>
                </a:lnTo>
                <a:lnTo>
                  <a:pt x="161" y="780"/>
                </a:lnTo>
                <a:lnTo>
                  <a:pt x="167" y="772"/>
                </a:lnTo>
                <a:lnTo>
                  <a:pt x="167" y="772"/>
                </a:lnTo>
                <a:lnTo>
                  <a:pt x="172" y="765"/>
                </a:lnTo>
                <a:lnTo>
                  <a:pt x="178" y="759"/>
                </a:lnTo>
                <a:lnTo>
                  <a:pt x="190" y="750"/>
                </a:lnTo>
                <a:lnTo>
                  <a:pt x="190" y="750"/>
                </a:lnTo>
                <a:lnTo>
                  <a:pt x="203" y="737"/>
                </a:lnTo>
                <a:lnTo>
                  <a:pt x="207" y="730"/>
                </a:lnTo>
                <a:lnTo>
                  <a:pt x="210" y="721"/>
                </a:lnTo>
                <a:lnTo>
                  <a:pt x="210" y="721"/>
                </a:lnTo>
                <a:lnTo>
                  <a:pt x="210" y="715"/>
                </a:lnTo>
                <a:lnTo>
                  <a:pt x="214" y="710"/>
                </a:lnTo>
                <a:lnTo>
                  <a:pt x="217" y="706"/>
                </a:lnTo>
                <a:lnTo>
                  <a:pt x="223" y="703"/>
                </a:lnTo>
                <a:lnTo>
                  <a:pt x="223" y="703"/>
                </a:lnTo>
                <a:lnTo>
                  <a:pt x="223" y="699"/>
                </a:lnTo>
                <a:lnTo>
                  <a:pt x="225" y="697"/>
                </a:lnTo>
                <a:lnTo>
                  <a:pt x="232" y="695"/>
                </a:lnTo>
                <a:lnTo>
                  <a:pt x="232" y="695"/>
                </a:lnTo>
                <a:lnTo>
                  <a:pt x="236" y="693"/>
                </a:lnTo>
                <a:lnTo>
                  <a:pt x="237" y="690"/>
                </a:lnTo>
                <a:lnTo>
                  <a:pt x="239" y="684"/>
                </a:lnTo>
                <a:lnTo>
                  <a:pt x="239" y="684"/>
                </a:lnTo>
                <a:lnTo>
                  <a:pt x="241" y="679"/>
                </a:lnTo>
                <a:lnTo>
                  <a:pt x="245" y="675"/>
                </a:lnTo>
                <a:lnTo>
                  <a:pt x="250" y="671"/>
                </a:lnTo>
                <a:lnTo>
                  <a:pt x="252" y="673"/>
                </a:lnTo>
                <a:lnTo>
                  <a:pt x="254" y="675"/>
                </a:lnTo>
                <a:lnTo>
                  <a:pt x="254" y="675"/>
                </a:lnTo>
                <a:lnTo>
                  <a:pt x="255" y="679"/>
                </a:lnTo>
                <a:lnTo>
                  <a:pt x="254" y="686"/>
                </a:lnTo>
                <a:lnTo>
                  <a:pt x="250" y="695"/>
                </a:lnTo>
                <a:lnTo>
                  <a:pt x="250" y="695"/>
                </a:lnTo>
                <a:lnTo>
                  <a:pt x="241" y="708"/>
                </a:lnTo>
                <a:lnTo>
                  <a:pt x="237" y="717"/>
                </a:lnTo>
                <a:lnTo>
                  <a:pt x="236" y="725"/>
                </a:lnTo>
                <a:lnTo>
                  <a:pt x="236" y="725"/>
                </a:lnTo>
                <a:lnTo>
                  <a:pt x="236" y="728"/>
                </a:lnTo>
                <a:lnTo>
                  <a:pt x="237" y="730"/>
                </a:lnTo>
                <a:lnTo>
                  <a:pt x="239" y="732"/>
                </a:lnTo>
                <a:lnTo>
                  <a:pt x="241" y="734"/>
                </a:lnTo>
                <a:lnTo>
                  <a:pt x="248" y="732"/>
                </a:lnTo>
                <a:lnTo>
                  <a:pt x="254" y="730"/>
                </a:lnTo>
                <a:lnTo>
                  <a:pt x="254" y="730"/>
                </a:lnTo>
                <a:lnTo>
                  <a:pt x="263" y="725"/>
                </a:lnTo>
                <a:lnTo>
                  <a:pt x="272" y="719"/>
                </a:lnTo>
                <a:lnTo>
                  <a:pt x="272" y="719"/>
                </a:lnTo>
                <a:lnTo>
                  <a:pt x="286" y="706"/>
                </a:lnTo>
                <a:lnTo>
                  <a:pt x="286" y="706"/>
                </a:lnTo>
                <a:lnTo>
                  <a:pt x="292" y="703"/>
                </a:lnTo>
                <a:lnTo>
                  <a:pt x="293" y="703"/>
                </a:lnTo>
                <a:lnTo>
                  <a:pt x="293" y="699"/>
                </a:lnTo>
                <a:lnTo>
                  <a:pt x="293" y="699"/>
                </a:lnTo>
                <a:lnTo>
                  <a:pt x="293" y="695"/>
                </a:lnTo>
                <a:lnTo>
                  <a:pt x="292" y="692"/>
                </a:lnTo>
                <a:lnTo>
                  <a:pt x="292" y="688"/>
                </a:lnTo>
                <a:lnTo>
                  <a:pt x="290" y="686"/>
                </a:lnTo>
                <a:lnTo>
                  <a:pt x="290" y="686"/>
                </a:lnTo>
                <a:lnTo>
                  <a:pt x="292" y="682"/>
                </a:lnTo>
                <a:lnTo>
                  <a:pt x="295" y="680"/>
                </a:lnTo>
                <a:lnTo>
                  <a:pt x="303" y="680"/>
                </a:lnTo>
                <a:lnTo>
                  <a:pt x="303" y="680"/>
                </a:lnTo>
                <a:lnTo>
                  <a:pt x="313" y="679"/>
                </a:lnTo>
                <a:lnTo>
                  <a:pt x="324" y="679"/>
                </a:lnTo>
                <a:lnTo>
                  <a:pt x="324" y="679"/>
                </a:lnTo>
                <a:lnTo>
                  <a:pt x="335" y="680"/>
                </a:lnTo>
                <a:lnTo>
                  <a:pt x="344" y="684"/>
                </a:lnTo>
                <a:lnTo>
                  <a:pt x="353" y="692"/>
                </a:lnTo>
                <a:lnTo>
                  <a:pt x="359" y="699"/>
                </a:lnTo>
                <a:lnTo>
                  <a:pt x="359" y="699"/>
                </a:lnTo>
                <a:lnTo>
                  <a:pt x="362" y="703"/>
                </a:lnTo>
                <a:lnTo>
                  <a:pt x="366" y="704"/>
                </a:lnTo>
                <a:lnTo>
                  <a:pt x="373" y="704"/>
                </a:lnTo>
                <a:lnTo>
                  <a:pt x="380" y="703"/>
                </a:lnTo>
                <a:lnTo>
                  <a:pt x="388" y="703"/>
                </a:lnTo>
                <a:lnTo>
                  <a:pt x="388" y="703"/>
                </a:lnTo>
                <a:lnTo>
                  <a:pt x="397" y="704"/>
                </a:lnTo>
                <a:lnTo>
                  <a:pt x="404" y="708"/>
                </a:lnTo>
                <a:lnTo>
                  <a:pt x="418" y="715"/>
                </a:lnTo>
                <a:lnTo>
                  <a:pt x="418" y="715"/>
                </a:lnTo>
                <a:lnTo>
                  <a:pt x="435" y="721"/>
                </a:lnTo>
                <a:lnTo>
                  <a:pt x="449" y="728"/>
                </a:lnTo>
                <a:lnTo>
                  <a:pt x="449" y="728"/>
                </a:lnTo>
                <a:lnTo>
                  <a:pt x="458" y="736"/>
                </a:lnTo>
                <a:lnTo>
                  <a:pt x="469" y="743"/>
                </a:lnTo>
                <a:lnTo>
                  <a:pt x="469" y="743"/>
                </a:lnTo>
                <a:lnTo>
                  <a:pt x="475" y="750"/>
                </a:lnTo>
                <a:lnTo>
                  <a:pt x="478" y="758"/>
                </a:lnTo>
                <a:lnTo>
                  <a:pt x="487" y="772"/>
                </a:lnTo>
                <a:lnTo>
                  <a:pt x="487" y="772"/>
                </a:lnTo>
                <a:lnTo>
                  <a:pt x="491" y="780"/>
                </a:lnTo>
                <a:lnTo>
                  <a:pt x="496" y="787"/>
                </a:lnTo>
                <a:lnTo>
                  <a:pt x="496" y="787"/>
                </a:lnTo>
                <a:lnTo>
                  <a:pt x="504" y="794"/>
                </a:lnTo>
                <a:lnTo>
                  <a:pt x="504" y="794"/>
                </a:lnTo>
                <a:lnTo>
                  <a:pt x="507" y="798"/>
                </a:lnTo>
                <a:lnTo>
                  <a:pt x="511" y="800"/>
                </a:lnTo>
                <a:lnTo>
                  <a:pt x="515" y="800"/>
                </a:lnTo>
                <a:lnTo>
                  <a:pt x="515" y="800"/>
                </a:lnTo>
                <a:lnTo>
                  <a:pt x="516" y="800"/>
                </a:lnTo>
                <a:lnTo>
                  <a:pt x="518" y="796"/>
                </a:lnTo>
                <a:lnTo>
                  <a:pt x="520" y="792"/>
                </a:lnTo>
                <a:lnTo>
                  <a:pt x="518" y="789"/>
                </a:lnTo>
                <a:lnTo>
                  <a:pt x="518" y="789"/>
                </a:lnTo>
                <a:lnTo>
                  <a:pt x="513" y="781"/>
                </a:lnTo>
                <a:lnTo>
                  <a:pt x="507" y="774"/>
                </a:lnTo>
                <a:lnTo>
                  <a:pt x="507" y="774"/>
                </a:lnTo>
                <a:lnTo>
                  <a:pt x="504" y="769"/>
                </a:lnTo>
                <a:lnTo>
                  <a:pt x="504" y="765"/>
                </a:lnTo>
                <a:lnTo>
                  <a:pt x="504" y="761"/>
                </a:lnTo>
                <a:lnTo>
                  <a:pt x="504" y="761"/>
                </a:lnTo>
                <a:lnTo>
                  <a:pt x="507" y="759"/>
                </a:lnTo>
                <a:lnTo>
                  <a:pt x="511" y="759"/>
                </a:lnTo>
                <a:lnTo>
                  <a:pt x="515" y="759"/>
                </a:lnTo>
                <a:lnTo>
                  <a:pt x="518" y="763"/>
                </a:lnTo>
                <a:lnTo>
                  <a:pt x="518" y="763"/>
                </a:lnTo>
                <a:lnTo>
                  <a:pt x="529" y="781"/>
                </a:lnTo>
                <a:lnTo>
                  <a:pt x="529" y="781"/>
                </a:lnTo>
                <a:lnTo>
                  <a:pt x="544" y="809"/>
                </a:lnTo>
                <a:lnTo>
                  <a:pt x="544" y="809"/>
                </a:lnTo>
                <a:lnTo>
                  <a:pt x="554" y="833"/>
                </a:lnTo>
                <a:lnTo>
                  <a:pt x="565" y="855"/>
                </a:lnTo>
                <a:lnTo>
                  <a:pt x="565" y="855"/>
                </a:lnTo>
                <a:lnTo>
                  <a:pt x="574" y="866"/>
                </a:lnTo>
                <a:lnTo>
                  <a:pt x="582" y="877"/>
                </a:lnTo>
                <a:lnTo>
                  <a:pt x="591" y="888"/>
                </a:lnTo>
                <a:lnTo>
                  <a:pt x="596" y="901"/>
                </a:lnTo>
                <a:lnTo>
                  <a:pt x="596" y="901"/>
                </a:lnTo>
                <a:lnTo>
                  <a:pt x="609" y="930"/>
                </a:lnTo>
                <a:lnTo>
                  <a:pt x="609" y="930"/>
                </a:lnTo>
                <a:lnTo>
                  <a:pt x="612" y="941"/>
                </a:lnTo>
                <a:lnTo>
                  <a:pt x="614" y="946"/>
                </a:lnTo>
                <a:lnTo>
                  <a:pt x="618" y="952"/>
                </a:lnTo>
                <a:lnTo>
                  <a:pt x="618" y="952"/>
                </a:lnTo>
                <a:lnTo>
                  <a:pt x="623" y="956"/>
                </a:lnTo>
                <a:lnTo>
                  <a:pt x="629" y="956"/>
                </a:lnTo>
                <a:lnTo>
                  <a:pt x="634" y="954"/>
                </a:lnTo>
                <a:lnTo>
                  <a:pt x="641" y="950"/>
                </a:lnTo>
                <a:lnTo>
                  <a:pt x="641" y="950"/>
                </a:lnTo>
                <a:lnTo>
                  <a:pt x="645" y="948"/>
                </a:lnTo>
                <a:lnTo>
                  <a:pt x="652" y="946"/>
                </a:lnTo>
                <a:lnTo>
                  <a:pt x="658" y="946"/>
                </a:lnTo>
                <a:lnTo>
                  <a:pt x="665" y="948"/>
                </a:lnTo>
                <a:lnTo>
                  <a:pt x="670" y="950"/>
                </a:lnTo>
                <a:lnTo>
                  <a:pt x="676" y="954"/>
                </a:lnTo>
                <a:lnTo>
                  <a:pt x="681" y="957"/>
                </a:lnTo>
                <a:lnTo>
                  <a:pt x="685" y="963"/>
                </a:lnTo>
                <a:lnTo>
                  <a:pt x="685" y="963"/>
                </a:lnTo>
                <a:lnTo>
                  <a:pt x="687" y="970"/>
                </a:lnTo>
                <a:lnTo>
                  <a:pt x="685" y="978"/>
                </a:lnTo>
                <a:lnTo>
                  <a:pt x="683" y="985"/>
                </a:lnTo>
                <a:lnTo>
                  <a:pt x="678" y="989"/>
                </a:lnTo>
                <a:lnTo>
                  <a:pt x="678" y="989"/>
                </a:lnTo>
                <a:lnTo>
                  <a:pt x="672" y="992"/>
                </a:lnTo>
                <a:lnTo>
                  <a:pt x="665" y="992"/>
                </a:lnTo>
                <a:lnTo>
                  <a:pt x="658" y="990"/>
                </a:lnTo>
                <a:lnTo>
                  <a:pt x="650" y="990"/>
                </a:lnTo>
                <a:lnTo>
                  <a:pt x="650" y="990"/>
                </a:lnTo>
                <a:lnTo>
                  <a:pt x="647" y="992"/>
                </a:lnTo>
                <a:lnTo>
                  <a:pt x="645" y="994"/>
                </a:lnTo>
                <a:lnTo>
                  <a:pt x="641" y="1000"/>
                </a:lnTo>
                <a:lnTo>
                  <a:pt x="640" y="1009"/>
                </a:lnTo>
                <a:lnTo>
                  <a:pt x="640" y="1016"/>
                </a:lnTo>
                <a:lnTo>
                  <a:pt x="640" y="1016"/>
                </a:lnTo>
                <a:lnTo>
                  <a:pt x="643" y="1027"/>
                </a:lnTo>
                <a:lnTo>
                  <a:pt x="649" y="1036"/>
                </a:lnTo>
                <a:lnTo>
                  <a:pt x="663" y="1053"/>
                </a:lnTo>
                <a:lnTo>
                  <a:pt x="663" y="1053"/>
                </a:lnTo>
                <a:lnTo>
                  <a:pt x="672" y="1064"/>
                </a:lnTo>
                <a:lnTo>
                  <a:pt x="674" y="1071"/>
                </a:lnTo>
                <a:lnTo>
                  <a:pt x="676" y="1079"/>
                </a:lnTo>
                <a:lnTo>
                  <a:pt x="676" y="1079"/>
                </a:lnTo>
                <a:lnTo>
                  <a:pt x="678" y="1097"/>
                </a:lnTo>
                <a:lnTo>
                  <a:pt x="676" y="1113"/>
                </a:lnTo>
                <a:lnTo>
                  <a:pt x="672" y="1148"/>
                </a:lnTo>
                <a:lnTo>
                  <a:pt x="672" y="1148"/>
                </a:lnTo>
                <a:lnTo>
                  <a:pt x="670" y="1165"/>
                </a:lnTo>
                <a:lnTo>
                  <a:pt x="670" y="1172"/>
                </a:lnTo>
                <a:lnTo>
                  <a:pt x="672" y="1181"/>
                </a:lnTo>
                <a:lnTo>
                  <a:pt x="672" y="1181"/>
                </a:lnTo>
                <a:lnTo>
                  <a:pt x="683" y="1207"/>
                </a:lnTo>
                <a:lnTo>
                  <a:pt x="687" y="1218"/>
                </a:lnTo>
                <a:lnTo>
                  <a:pt x="690" y="1233"/>
                </a:lnTo>
                <a:lnTo>
                  <a:pt x="690" y="1233"/>
                </a:lnTo>
                <a:lnTo>
                  <a:pt x="696" y="1245"/>
                </a:lnTo>
                <a:lnTo>
                  <a:pt x="701" y="1256"/>
                </a:lnTo>
                <a:lnTo>
                  <a:pt x="701" y="1256"/>
                </a:lnTo>
                <a:lnTo>
                  <a:pt x="714" y="1286"/>
                </a:lnTo>
                <a:lnTo>
                  <a:pt x="714" y="1286"/>
                </a:lnTo>
                <a:lnTo>
                  <a:pt x="726" y="1304"/>
                </a:lnTo>
                <a:lnTo>
                  <a:pt x="741" y="1321"/>
                </a:lnTo>
                <a:lnTo>
                  <a:pt x="741" y="1321"/>
                </a:lnTo>
                <a:lnTo>
                  <a:pt x="752" y="1328"/>
                </a:lnTo>
                <a:lnTo>
                  <a:pt x="761" y="1335"/>
                </a:lnTo>
                <a:lnTo>
                  <a:pt x="772" y="1341"/>
                </a:lnTo>
                <a:lnTo>
                  <a:pt x="779" y="1350"/>
                </a:lnTo>
                <a:lnTo>
                  <a:pt x="779" y="1350"/>
                </a:lnTo>
                <a:lnTo>
                  <a:pt x="784" y="1357"/>
                </a:lnTo>
                <a:lnTo>
                  <a:pt x="786" y="1365"/>
                </a:lnTo>
                <a:lnTo>
                  <a:pt x="794" y="1379"/>
                </a:lnTo>
                <a:lnTo>
                  <a:pt x="794" y="1379"/>
                </a:lnTo>
                <a:lnTo>
                  <a:pt x="804" y="1394"/>
                </a:lnTo>
                <a:lnTo>
                  <a:pt x="813" y="1409"/>
                </a:lnTo>
                <a:lnTo>
                  <a:pt x="813" y="1409"/>
                </a:lnTo>
                <a:lnTo>
                  <a:pt x="815" y="1414"/>
                </a:lnTo>
                <a:lnTo>
                  <a:pt x="815" y="1422"/>
                </a:lnTo>
                <a:lnTo>
                  <a:pt x="810" y="1433"/>
                </a:lnTo>
                <a:lnTo>
                  <a:pt x="810" y="1433"/>
                </a:lnTo>
                <a:lnTo>
                  <a:pt x="810" y="1436"/>
                </a:lnTo>
                <a:lnTo>
                  <a:pt x="812" y="1440"/>
                </a:lnTo>
                <a:lnTo>
                  <a:pt x="815" y="1447"/>
                </a:lnTo>
                <a:lnTo>
                  <a:pt x="828" y="1456"/>
                </a:lnTo>
                <a:lnTo>
                  <a:pt x="828" y="1456"/>
                </a:lnTo>
                <a:lnTo>
                  <a:pt x="837" y="1467"/>
                </a:lnTo>
                <a:lnTo>
                  <a:pt x="846" y="1478"/>
                </a:lnTo>
                <a:lnTo>
                  <a:pt x="846" y="1478"/>
                </a:lnTo>
                <a:lnTo>
                  <a:pt x="853" y="1493"/>
                </a:lnTo>
                <a:lnTo>
                  <a:pt x="859" y="1508"/>
                </a:lnTo>
                <a:lnTo>
                  <a:pt x="859" y="1508"/>
                </a:lnTo>
                <a:lnTo>
                  <a:pt x="862" y="1513"/>
                </a:lnTo>
                <a:lnTo>
                  <a:pt x="864" y="1517"/>
                </a:lnTo>
                <a:lnTo>
                  <a:pt x="868" y="1521"/>
                </a:lnTo>
                <a:lnTo>
                  <a:pt x="873" y="1521"/>
                </a:lnTo>
                <a:lnTo>
                  <a:pt x="873" y="1521"/>
                </a:lnTo>
                <a:lnTo>
                  <a:pt x="877" y="1521"/>
                </a:lnTo>
                <a:lnTo>
                  <a:pt x="880" y="1517"/>
                </a:lnTo>
                <a:lnTo>
                  <a:pt x="880" y="1513"/>
                </a:lnTo>
                <a:lnTo>
                  <a:pt x="880" y="1510"/>
                </a:lnTo>
                <a:lnTo>
                  <a:pt x="880" y="1510"/>
                </a:lnTo>
                <a:lnTo>
                  <a:pt x="877" y="1502"/>
                </a:lnTo>
                <a:lnTo>
                  <a:pt x="873" y="1495"/>
                </a:lnTo>
                <a:lnTo>
                  <a:pt x="873" y="1495"/>
                </a:lnTo>
                <a:lnTo>
                  <a:pt x="861" y="1477"/>
                </a:lnTo>
                <a:lnTo>
                  <a:pt x="861" y="1477"/>
                </a:lnTo>
                <a:lnTo>
                  <a:pt x="855" y="1469"/>
                </a:lnTo>
                <a:lnTo>
                  <a:pt x="848" y="1460"/>
                </a:lnTo>
                <a:lnTo>
                  <a:pt x="848" y="1460"/>
                </a:lnTo>
                <a:lnTo>
                  <a:pt x="841" y="1447"/>
                </a:lnTo>
                <a:lnTo>
                  <a:pt x="833" y="1433"/>
                </a:lnTo>
                <a:lnTo>
                  <a:pt x="833" y="1433"/>
                </a:lnTo>
                <a:lnTo>
                  <a:pt x="828" y="1418"/>
                </a:lnTo>
                <a:lnTo>
                  <a:pt x="823" y="1401"/>
                </a:lnTo>
                <a:lnTo>
                  <a:pt x="823" y="1401"/>
                </a:lnTo>
                <a:lnTo>
                  <a:pt x="819" y="1389"/>
                </a:lnTo>
                <a:lnTo>
                  <a:pt x="819" y="1376"/>
                </a:lnTo>
                <a:lnTo>
                  <a:pt x="819" y="1376"/>
                </a:lnTo>
                <a:lnTo>
                  <a:pt x="821" y="1372"/>
                </a:lnTo>
                <a:lnTo>
                  <a:pt x="821" y="1368"/>
                </a:lnTo>
                <a:lnTo>
                  <a:pt x="824" y="1365"/>
                </a:lnTo>
                <a:lnTo>
                  <a:pt x="826" y="1363"/>
                </a:lnTo>
                <a:lnTo>
                  <a:pt x="833" y="1363"/>
                </a:lnTo>
                <a:lnTo>
                  <a:pt x="841" y="1366"/>
                </a:lnTo>
                <a:lnTo>
                  <a:pt x="841" y="1366"/>
                </a:lnTo>
                <a:lnTo>
                  <a:pt x="846" y="1372"/>
                </a:lnTo>
                <a:lnTo>
                  <a:pt x="851" y="1379"/>
                </a:lnTo>
                <a:lnTo>
                  <a:pt x="859" y="1394"/>
                </a:lnTo>
                <a:lnTo>
                  <a:pt x="859" y="1394"/>
                </a:lnTo>
                <a:lnTo>
                  <a:pt x="879" y="1425"/>
                </a:lnTo>
                <a:lnTo>
                  <a:pt x="879" y="1425"/>
                </a:lnTo>
                <a:lnTo>
                  <a:pt x="924" y="1504"/>
                </a:lnTo>
                <a:lnTo>
                  <a:pt x="924" y="1504"/>
                </a:lnTo>
                <a:lnTo>
                  <a:pt x="937" y="1522"/>
                </a:lnTo>
                <a:lnTo>
                  <a:pt x="937" y="1522"/>
                </a:lnTo>
                <a:lnTo>
                  <a:pt x="944" y="1535"/>
                </a:lnTo>
                <a:lnTo>
                  <a:pt x="944" y="1535"/>
                </a:lnTo>
                <a:lnTo>
                  <a:pt x="951" y="1546"/>
                </a:lnTo>
                <a:lnTo>
                  <a:pt x="953" y="1552"/>
                </a:lnTo>
                <a:lnTo>
                  <a:pt x="955" y="1557"/>
                </a:lnTo>
                <a:lnTo>
                  <a:pt x="955" y="1557"/>
                </a:lnTo>
                <a:lnTo>
                  <a:pt x="955" y="1574"/>
                </a:lnTo>
                <a:lnTo>
                  <a:pt x="955" y="1588"/>
                </a:lnTo>
                <a:lnTo>
                  <a:pt x="955" y="1588"/>
                </a:lnTo>
                <a:lnTo>
                  <a:pt x="958" y="1607"/>
                </a:lnTo>
                <a:lnTo>
                  <a:pt x="962" y="1614"/>
                </a:lnTo>
                <a:lnTo>
                  <a:pt x="966" y="1621"/>
                </a:lnTo>
                <a:lnTo>
                  <a:pt x="966" y="1621"/>
                </a:lnTo>
                <a:lnTo>
                  <a:pt x="973" y="1625"/>
                </a:lnTo>
                <a:lnTo>
                  <a:pt x="980" y="1627"/>
                </a:lnTo>
                <a:lnTo>
                  <a:pt x="986" y="1631"/>
                </a:lnTo>
                <a:lnTo>
                  <a:pt x="993" y="1632"/>
                </a:lnTo>
                <a:lnTo>
                  <a:pt x="993" y="1632"/>
                </a:lnTo>
                <a:lnTo>
                  <a:pt x="1000" y="1640"/>
                </a:lnTo>
                <a:lnTo>
                  <a:pt x="1004" y="1643"/>
                </a:lnTo>
                <a:lnTo>
                  <a:pt x="1009" y="1645"/>
                </a:lnTo>
                <a:lnTo>
                  <a:pt x="1009" y="1645"/>
                </a:lnTo>
                <a:lnTo>
                  <a:pt x="1018" y="1647"/>
                </a:lnTo>
                <a:lnTo>
                  <a:pt x="1022" y="1647"/>
                </a:lnTo>
                <a:lnTo>
                  <a:pt x="1025" y="1649"/>
                </a:lnTo>
                <a:lnTo>
                  <a:pt x="1025" y="1649"/>
                </a:lnTo>
                <a:lnTo>
                  <a:pt x="1033" y="1656"/>
                </a:lnTo>
                <a:lnTo>
                  <a:pt x="1033" y="1656"/>
                </a:lnTo>
                <a:lnTo>
                  <a:pt x="1044" y="1665"/>
                </a:lnTo>
                <a:lnTo>
                  <a:pt x="1054" y="1673"/>
                </a:lnTo>
                <a:lnTo>
                  <a:pt x="1054" y="1673"/>
                </a:lnTo>
                <a:lnTo>
                  <a:pt x="1065" y="1676"/>
                </a:lnTo>
                <a:lnTo>
                  <a:pt x="1076" y="1678"/>
                </a:lnTo>
                <a:lnTo>
                  <a:pt x="1089" y="1676"/>
                </a:lnTo>
                <a:lnTo>
                  <a:pt x="1100" y="1675"/>
                </a:lnTo>
                <a:lnTo>
                  <a:pt x="1100" y="1675"/>
                </a:lnTo>
                <a:lnTo>
                  <a:pt x="1114" y="1669"/>
                </a:lnTo>
                <a:lnTo>
                  <a:pt x="1123" y="1669"/>
                </a:lnTo>
                <a:lnTo>
                  <a:pt x="1130" y="1671"/>
                </a:lnTo>
                <a:lnTo>
                  <a:pt x="1130" y="1671"/>
                </a:lnTo>
                <a:lnTo>
                  <a:pt x="1141" y="1680"/>
                </a:lnTo>
                <a:lnTo>
                  <a:pt x="1152" y="1689"/>
                </a:lnTo>
                <a:lnTo>
                  <a:pt x="1152" y="1689"/>
                </a:lnTo>
                <a:lnTo>
                  <a:pt x="1158" y="1695"/>
                </a:lnTo>
                <a:lnTo>
                  <a:pt x="1165" y="1702"/>
                </a:lnTo>
                <a:lnTo>
                  <a:pt x="1170" y="1709"/>
                </a:lnTo>
                <a:lnTo>
                  <a:pt x="1178" y="1715"/>
                </a:lnTo>
                <a:lnTo>
                  <a:pt x="1178" y="1715"/>
                </a:lnTo>
                <a:lnTo>
                  <a:pt x="1183" y="1717"/>
                </a:lnTo>
                <a:lnTo>
                  <a:pt x="1190" y="1719"/>
                </a:lnTo>
                <a:lnTo>
                  <a:pt x="1190" y="1719"/>
                </a:lnTo>
                <a:lnTo>
                  <a:pt x="1199" y="1720"/>
                </a:lnTo>
                <a:lnTo>
                  <a:pt x="1207" y="1724"/>
                </a:lnTo>
                <a:lnTo>
                  <a:pt x="1214" y="1728"/>
                </a:lnTo>
                <a:lnTo>
                  <a:pt x="1221" y="1735"/>
                </a:lnTo>
                <a:lnTo>
                  <a:pt x="1221" y="1735"/>
                </a:lnTo>
                <a:lnTo>
                  <a:pt x="1225" y="1739"/>
                </a:lnTo>
                <a:lnTo>
                  <a:pt x="1227" y="1744"/>
                </a:lnTo>
                <a:lnTo>
                  <a:pt x="1230" y="1757"/>
                </a:lnTo>
                <a:lnTo>
                  <a:pt x="1234" y="1768"/>
                </a:lnTo>
                <a:lnTo>
                  <a:pt x="1236" y="1774"/>
                </a:lnTo>
                <a:lnTo>
                  <a:pt x="1239" y="1779"/>
                </a:lnTo>
                <a:lnTo>
                  <a:pt x="1239" y="1779"/>
                </a:lnTo>
                <a:lnTo>
                  <a:pt x="1245" y="1783"/>
                </a:lnTo>
                <a:lnTo>
                  <a:pt x="1250" y="1787"/>
                </a:lnTo>
                <a:lnTo>
                  <a:pt x="1259" y="1790"/>
                </a:lnTo>
                <a:lnTo>
                  <a:pt x="1259" y="1790"/>
                </a:lnTo>
                <a:lnTo>
                  <a:pt x="1265" y="1796"/>
                </a:lnTo>
                <a:lnTo>
                  <a:pt x="1270" y="1801"/>
                </a:lnTo>
                <a:lnTo>
                  <a:pt x="1274" y="1807"/>
                </a:lnTo>
                <a:lnTo>
                  <a:pt x="1279" y="1812"/>
                </a:lnTo>
                <a:lnTo>
                  <a:pt x="1279" y="1812"/>
                </a:lnTo>
                <a:lnTo>
                  <a:pt x="1288" y="1814"/>
                </a:lnTo>
                <a:lnTo>
                  <a:pt x="1297" y="1816"/>
                </a:lnTo>
                <a:lnTo>
                  <a:pt x="1317" y="1812"/>
                </a:lnTo>
                <a:lnTo>
                  <a:pt x="1317" y="1812"/>
                </a:lnTo>
                <a:lnTo>
                  <a:pt x="1332" y="1809"/>
                </a:lnTo>
                <a:lnTo>
                  <a:pt x="1339" y="1809"/>
                </a:lnTo>
                <a:lnTo>
                  <a:pt x="1346" y="1809"/>
                </a:lnTo>
                <a:lnTo>
                  <a:pt x="1346" y="1809"/>
                </a:lnTo>
                <a:lnTo>
                  <a:pt x="1348" y="1810"/>
                </a:lnTo>
                <a:lnTo>
                  <a:pt x="1348" y="1810"/>
                </a:lnTo>
                <a:lnTo>
                  <a:pt x="1352" y="1810"/>
                </a:lnTo>
                <a:lnTo>
                  <a:pt x="1357" y="1814"/>
                </a:lnTo>
                <a:lnTo>
                  <a:pt x="1359" y="1818"/>
                </a:lnTo>
                <a:lnTo>
                  <a:pt x="1361" y="1821"/>
                </a:lnTo>
                <a:lnTo>
                  <a:pt x="1361" y="1821"/>
                </a:lnTo>
                <a:lnTo>
                  <a:pt x="1362" y="1832"/>
                </a:lnTo>
                <a:lnTo>
                  <a:pt x="1362" y="1836"/>
                </a:lnTo>
                <a:lnTo>
                  <a:pt x="1366" y="1840"/>
                </a:lnTo>
                <a:lnTo>
                  <a:pt x="1366" y="1840"/>
                </a:lnTo>
                <a:lnTo>
                  <a:pt x="1371" y="1845"/>
                </a:lnTo>
                <a:lnTo>
                  <a:pt x="1375" y="1851"/>
                </a:lnTo>
                <a:lnTo>
                  <a:pt x="1375" y="1858"/>
                </a:lnTo>
                <a:lnTo>
                  <a:pt x="1375" y="1864"/>
                </a:lnTo>
                <a:lnTo>
                  <a:pt x="1373" y="1878"/>
                </a:lnTo>
                <a:lnTo>
                  <a:pt x="1370" y="1891"/>
                </a:lnTo>
                <a:lnTo>
                  <a:pt x="1370" y="1891"/>
                </a:lnTo>
                <a:lnTo>
                  <a:pt x="1368" y="1902"/>
                </a:lnTo>
                <a:lnTo>
                  <a:pt x="1366" y="1913"/>
                </a:lnTo>
                <a:lnTo>
                  <a:pt x="1366" y="1913"/>
                </a:lnTo>
                <a:lnTo>
                  <a:pt x="1370" y="1935"/>
                </a:lnTo>
                <a:lnTo>
                  <a:pt x="1370" y="1935"/>
                </a:lnTo>
                <a:lnTo>
                  <a:pt x="1370" y="1941"/>
                </a:lnTo>
                <a:lnTo>
                  <a:pt x="1370" y="1946"/>
                </a:lnTo>
                <a:lnTo>
                  <a:pt x="1364" y="1959"/>
                </a:lnTo>
                <a:lnTo>
                  <a:pt x="1364" y="1959"/>
                </a:lnTo>
                <a:lnTo>
                  <a:pt x="1355" y="1974"/>
                </a:lnTo>
                <a:lnTo>
                  <a:pt x="1346" y="1986"/>
                </a:lnTo>
                <a:lnTo>
                  <a:pt x="1328" y="2014"/>
                </a:lnTo>
                <a:lnTo>
                  <a:pt x="1328" y="2014"/>
                </a:lnTo>
                <a:lnTo>
                  <a:pt x="1323" y="2027"/>
                </a:lnTo>
                <a:lnTo>
                  <a:pt x="1319" y="2041"/>
                </a:lnTo>
                <a:lnTo>
                  <a:pt x="1319" y="2056"/>
                </a:lnTo>
                <a:lnTo>
                  <a:pt x="1319" y="2069"/>
                </a:lnTo>
                <a:lnTo>
                  <a:pt x="1319" y="2069"/>
                </a:lnTo>
                <a:lnTo>
                  <a:pt x="1321" y="2078"/>
                </a:lnTo>
                <a:lnTo>
                  <a:pt x="1323" y="2087"/>
                </a:lnTo>
                <a:lnTo>
                  <a:pt x="1330" y="2102"/>
                </a:lnTo>
                <a:lnTo>
                  <a:pt x="1341" y="2117"/>
                </a:lnTo>
                <a:lnTo>
                  <a:pt x="1352" y="2130"/>
                </a:lnTo>
                <a:lnTo>
                  <a:pt x="1352" y="2130"/>
                </a:lnTo>
                <a:lnTo>
                  <a:pt x="1357" y="2135"/>
                </a:lnTo>
                <a:lnTo>
                  <a:pt x="1362" y="2141"/>
                </a:lnTo>
                <a:lnTo>
                  <a:pt x="1368" y="2153"/>
                </a:lnTo>
                <a:lnTo>
                  <a:pt x="1373" y="2183"/>
                </a:lnTo>
                <a:lnTo>
                  <a:pt x="1373" y="2183"/>
                </a:lnTo>
                <a:lnTo>
                  <a:pt x="1379" y="2196"/>
                </a:lnTo>
                <a:lnTo>
                  <a:pt x="1384" y="2208"/>
                </a:lnTo>
                <a:lnTo>
                  <a:pt x="1384" y="2208"/>
                </a:lnTo>
                <a:lnTo>
                  <a:pt x="1391" y="2218"/>
                </a:lnTo>
                <a:lnTo>
                  <a:pt x="1393" y="2223"/>
                </a:lnTo>
                <a:lnTo>
                  <a:pt x="1393" y="2230"/>
                </a:lnTo>
                <a:lnTo>
                  <a:pt x="1393" y="2230"/>
                </a:lnTo>
                <a:lnTo>
                  <a:pt x="1393" y="2245"/>
                </a:lnTo>
                <a:lnTo>
                  <a:pt x="1393" y="2245"/>
                </a:lnTo>
                <a:lnTo>
                  <a:pt x="1395" y="2252"/>
                </a:lnTo>
                <a:lnTo>
                  <a:pt x="1397" y="2262"/>
                </a:lnTo>
                <a:lnTo>
                  <a:pt x="1400" y="2271"/>
                </a:lnTo>
                <a:lnTo>
                  <a:pt x="1406" y="2278"/>
                </a:lnTo>
                <a:lnTo>
                  <a:pt x="1406" y="2278"/>
                </a:lnTo>
                <a:lnTo>
                  <a:pt x="1415" y="2282"/>
                </a:lnTo>
                <a:lnTo>
                  <a:pt x="1424" y="2285"/>
                </a:lnTo>
                <a:lnTo>
                  <a:pt x="1424" y="2285"/>
                </a:lnTo>
                <a:lnTo>
                  <a:pt x="1438" y="2291"/>
                </a:lnTo>
                <a:lnTo>
                  <a:pt x="1446" y="2295"/>
                </a:lnTo>
                <a:lnTo>
                  <a:pt x="1451" y="2300"/>
                </a:lnTo>
                <a:lnTo>
                  <a:pt x="1451" y="2300"/>
                </a:lnTo>
                <a:lnTo>
                  <a:pt x="1464" y="2309"/>
                </a:lnTo>
                <a:lnTo>
                  <a:pt x="1473" y="2320"/>
                </a:lnTo>
                <a:lnTo>
                  <a:pt x="1473" y="2320"/>
                </a:lnTo>
                <a:lnTo>
                  <a:pt x="1478" y="2328"/>
                </a:lnTo>
                <a:lnTo>
                  <a:pt x="1482" y="2337"/>
                </a:lnTo>
                <a:lnTo>
                  <a:pt x="1482" y="2337"/>
                </a:lnTo>
                <a:lnTo>
                  <a:pt x="1484" y="2353"/>
                </a:lnTo>
                <a:lnTo>
                  <a:pt x="1484" y="2368"/>
                </a:lnTo>
                <a:lnTo>
                  <a:pt x="1484" y="2368"/>
                </a:lnTo>
                <a:lnTo>
                  <a:pt x="1484" y="2384"/>
                </a:lnTo>
                <a:lnTo>
                  <a:pt x="1484" y="2384"/>
                </a:lnTo>
                <a:lnTo>
                  <a:pt x="1484" y="2390"/>
                </a:lnTo>
                <a:lnTo>
                  <a:pt x="1484" y="2397"/>
                </a:lnTo>
                <a:lnTo>
                  <a:pt x="1484" y="2397"/>
                </a:lnTo>
                <a:lnTo>
                  <a:pt x="1482" y="2412"/>
                </a:lnTo>
                <a:lnTo>
                  <a:pt x="1482" y="2412"/>
                </a:lnTo>
                <a:lnTo>
                  <a:pt x="1478" y="2427"/>
                </a:lnTo>
                <a:lnTo>
                  <a:pt x="1477" y="2436"/>
                </a:lnTo>
                <a:lnTo>
                  <a:pt x="1477" y="2443"/>
                </a:lnTo>
                <a:lnTo>
                  <a:pt x="1477" y="2443"/>
                </a:lnTo>
                <a:lnTo>
                  <a:pt x="1477" y="2456"/>
                </a:lnTo>
                <a:lnTo>
                  <a:pt x="1478" y="2463"/>
                </a:lnTo>
                <a:lnTo>
                  <a:pt x="1477" y="2469"/>
                </a:lnTo>
                <a:lnTo>
                  <a:pt x="1477" y="2469"/>
                </a:lnTo>
                <a:lnTo>
                  <a:pt x="1473" y="2480"/>
                </a:lnTo>
                <a:lnTo>
                  <a:pt x="1473" y="2491"/>
                </a:lnTo>
                <a:lnTo>
                  <a:pt x="1473" y="2491"/>
                </a:lnTo>
                <a:lnTo>
                  <a:pt x="1475" y="2498"/>
                </a:lnTo>
                <a:lnTo>
                  <a:pt x="1475" y="2507"/>
                </a:lnTo>
                <a:lnTo>
                  <a:pt x="1475" y="2507"/>
                </a:lnTo>
                <a:lnTo>
                  <a:pt x="1473" y="2515"/>
                </a:lnTo>
                <a:lnTo>
                  <a:pt x="1471" y="2524"/>
                </a:lnTo>
                <a:lnTo>
                  <a:pt x="1471" y="2524"/>
                </a:lnTo>
                <a:lnTo>
                  <a:pt x="1467" y="2539"/>
                </a:lnTo>
                <a:lnTo>
                  <a:pt x="1467" y="2539"/>
                </a:lnTo>
                <a:lnTo>
                  <a:pt x="1466" y="2546"/>
                </a:lnTo>
                <a:lnTo>
                  <a:pt x="1464" y="2555"/>
                </a:lnTo>
                <a:lnTo>
                  <a:pt x="1464" y="2555"/>
                </a:lnTo>
                <a:lnTo>
                  <a:pt x="1466" y="2562"/>
                </a:lnTo>
                <a:lnTo>
                  <a:pt x="1467" y="2568"/>
                </a:lnTo>
                <a:lnTo>
                  <a:pt x="1467" y="2568"/>
                </a:lnTo>
                <a:lnTo>
                  <a:pt x="1464" y="2577"/>
                </a:lnTo>
                <a:lnTo>
                  <a:pt x="1464" y="2581"/>
                </a:lnTo>
                <a:lnTo>
                  <a:pt x="1464" y="2586"/>
                </a:lnTo>
                <a:lnTo>
                  <a:pt x="1464" y="2586"/>
                </a:lnTo>
                <a:lnTo>
                  <a:pt x="1464" y="2590"/>
                </a:lnTo>
                <a:lnTo>
                  <a:pt x="1466" y="2594"/>
                </a:lnTo>
                <a:lnTo>
                  <a:pt x="1469" y="2601"/>
                </a:lnTo>
                <a:lnTo>
                  <a:pt x="1469" y="2601"/>
                </a:lnTo>
                <a:lnTo>
                  <a:pt x="1471" y="2608"/>
                </a:lnTo>
                <a:lnTo>
                  <a:pt x="1471" y="2614"/>
                </a:lnTo>
                <a:lnTo>
                  <a:pt x="1469" y="2619"/>
                </a:lnTo>
                <a:lnTo>
                  <a:pt x="1467" y="2625"/>
                </a:lnTo>
                <a:lnTo>
                  <a:pt x="1460" y="2636"/>
                </a:lnTo>
                <a:lnTo>
                  <a:pt x="1457" y="2647"/>
                </a:lnTo>
                <a:lnTo>
                  <a:pt x="1457" y="2647"/>
                </a:lnTo>
                <a:lnTo>
                  <a:pt x="1449" y="2663"/>
                </a:lnTo>
                <a:lnTo>
                  <a:pt x="1448" y="2672"/>
                </a:lnTo>
                <a:lnTo>
                  <a:pt x="1446" y="2682"/>
                </a:lnTo>
                <a:lnTo>
                  <a:pt x="1446" y="2682"/>
                </a:lnTo>
                <a:lnTo>
                  <a:pt x="1444" y="2698"/>
                </a:lnTo>
                <a:lnTo>
                  <a:pt x="1438" y="2713"/>
                </a:lnTo>
                <a:lnTo>
                  <a:pt x="1438" y="2713"/>
                </a:lnTo>
                <a:lnTo>
                  <a:pt x="1438" y="2718"/>
                </a:lnTo>
                <a:lnTo>
                  <a:pt x="1438" y="2724"/>
                </a:lnTo>
                <a:lnTo>
                  <a:pt x="1442" y="2733"/>
                </a:lnTo>
                <a:lnTo>
                  <a:pt x="1442" y="2733"/>
                </a:lnTo>
                <a:lnTo>
                  <a:pt x="1446" y="2744"/>
                </a:lnTo>
                <a:lnTo>
                  <a:pt x="1448" y="2757"/>
                </a:lnTo>
                <a:lnTo>
                  <a:pt x="1448" y="2757"/>
                </a:lnTo>
                <a:lnTo>
                  <a:pt x="1446" y="2766"/>
                </a:lnTo>
                <a:lnTo>
                  <a:pt x="1444" y="2773"/>
                </a:lnTo>
                <a:lnTo>
                  <a:pt x="1440" y="2783"/>
                </a:lnTo>
                <a:lnTo>
                  <a:pt x="1440" y="2792"/>
                </a:lnTo>
                <a:lnTo>
                  <a:pt x="1440" y="2792"/>
                </a:lnTo>
                <a:lnTo>
                  <a:pt x="1440" y="2799"/>
                </a:lnTo>
                <a:lnTo>
                  <a:pt x="1440" y="2805"/>
                </a:lnTo>
                <a:lnTo>
                  <a:pt x="1440" y="2805"/>
                </a:lnTo>
                <a:lnTo>
                  <a:pt x="1444" y="2810"/>
                </a:lnTo>
                <a:lnTo>
                  <a:pt x="1448" y="2814"/>
                </a:lnTo>
                <a:lnTo>
                  <a:pt x="1448" y="2814"/>
                </a:lnTo>
                <a:lnTo>
                  <a:pt x="1449" y="2817"/>
                </a:lnTo>
                <a:lnTo>
                  <a:pt x="1448" y="2825"/>
                </a:lnTo>
                <a:lnTo>
                  <a:pt x="1448" y="2825"/>
                </a:lnTo>
                <a:lnTo>
                  <a:pt x="1446" y="2845"/>
                </a:lnTo>
                <a:lnTo>
                  <a:pt x="1446" y="2845"/>
                </a:lnTo>
                <a:lnTo>
                  <a:pt x="1446" y="2854"/>
                </a:lnTo>
                <a:lnTo>
                  <a:pt x="1446" y="2858"/>
                </a:lnTo>
                <a:lnTo>
                  <a:pt x="1444" y="2861"/>
                </a:lnTo>
                <a:lnTo>
                  <a:pt x="1444" y="2861"/>
                </a:lnTo>
                <a:lnTo>
                  <a:pt x="1437" y="2869"/>
                </a:lnTo>
                <a:lnTo>
                  <a:pt x="1435" y="2872"/>
                </a:lnTo>
                <a:lnTo>
                  <a:pt x="1431" y="2878"/>
                </a:lnTo>
                <a:lnTo>
                  <a:pt x="1431" y="2878"/>
                </a:lnTo>
                <a:lnTo>
                  <a:pt x="1431" y="2887"/>
                </a:lnTo>
                <a:lnTo>
                  <a:pt x="1435" y="2896"/>
                </a:lnTo>
                <a:lnTo>
                  <a:pt x="1437" y="2905"/>
                </a:lnTo>
                <a:lnTo>
                  <a:pt x="1437" y="2916"/>
                </a:lnTo>
                <a:lnTo>
                  <a:pt x="1437" y="2916"/>
                </a:lnTo>
                <a:lnTo>
                  <a:pt x="1435" y="2926"/>
                </a:lnTo>
                <a:lnTo>
                  <a:pt x="1431" y="2935"/>
                </a:lnTo>
                <a:lnTo>
                  <a:pt x="1428" y="2944"/>
                </a:lnTo>
                <a:lnTo>
                  <a:pt x="1426" y="2955"/>
                </a:lnTo>
                <a:lnTo>
                  <a:pt x="1426" y="2955"/>
                </a:lnTo>
                <a:lnTo>
                  <a:pt x="1424" y="2977"/>
                </a:lnTo>
                <a:lnTo>
                  <a:pt x="1426" y="2999"/>
                </a:lnTo>
                <a:lnTo>
                  <a:pt x="1429" y="3021"/>
                </a:lnTo>
                <a:lnTo>
                  <a:pt x="1435" y="3041"/>
                </a:lnTo>
                <a:lnTo>
                  <a:pt x="1435" y="3041"/>
                </a:lnTo>
                <a:lnTo>
                  <a:pt x="1442" y="3056"/>
                </a:lnTo>
                <a:lnTo>
                  <a:pt x="1449" y="3070"/>
                </a:lnTo>
                <a:lnTo>
                  <a:pt x="1460" y="3081"/>
                </a:lnTo>
                <a:lnTo>
                  <a:pt x="1473" y="3092"/>
                </a:lnTo>
                <a:lnTo>
                  <a:pt x="1473" y="3092"/>
                </a:lnTo>
                <a:lnTo>
                  <a:pt x="1484" y="3100"/>
                </a:lnTo>
                <a:lnTo>
                  <a:pt x="1498" y="3107"/>
                </a:lnTo>
                <a:lnTo>
                  <a:pt x="1506" y="3109"/>
                </a:lnTo>
                <a:lnTo>
                  <a:pt x="1511" y="3109"/>
                </a:lnTo>
                <a:lnTo>
                  <a:pt x="1516" y="3105"/>
                </a:lnTo>
                <a:lnTo>
                  <a:pt x="1518" y="3098"/>
                </a:lnTo>
                <a:lnTo>
                  <a:pt x="1518" y="3098"/>
                </a:lnTo>
                <a:lnTo>
                  <a:pt x="1518" y="3094"/>
                </a:lnTo>
                <a:lnTo>
                  <a:pt x="1516" y="3089"/>
                </a:lnTo>
                <a:lnTo>
                  <a:pt x="1511" y="3081"/>
                </a:lnTo>
                <a:lnTo>
                  <a:pt x="1504" y="3072"/>
                </a:lnTo>
                <a:lnTo>
                  <a:pt x="1498" y="3065"/>
                </a:lnTo>
                <a:lnTo>
                  <a:pt x="1498" y="3065"/>
                </a:lnTo>
                <a:lnTo>
                  <a:pt x="1496" y="3058"/>
                </a:lnTo>
                <a:lnTo>
                  <a:pt x="1496" y="3048"/>
                </a:lnTo>
                <a:lnTo>
                  <a:pt x="1496" y="3034"/>
                </a:lnTo>
                <a:lnTo>
                  <a:pt x="1496" y="3034"/>
                </a:lnTo>
                <a:lnTo>
                  <a:pt x="1496" y="3026"/>
                </a:lnTo>
                <a:lnTo>
                  <a:pt x="1496" y="3019"/>
                </a:lnTo>
                <a:lnTo>
                  <a:pt x="1496" y="3019"/>
                </a:lnTo>
                <a:lnTo>
                  <a:pt x="1502" y="3014"/>
                </a:lnTo>
                <a:lnTo>
                  <a:pt x="1507" y="3008"/>
                </a:lnTo>
                <a:lnTo>
                  <a:pt x="1507" y="3008"/>
                </a:lnTo>
                <a:lnTo>
                  <a:pt x="1506" y="2999"/>
                </a:lnTo>
                <a:lnTo>
                  <a:pt x="1506" y="2997"/>
                </a:lnTo>
                <a:lnTo>
                  <a:pt x="1507" y="2997"/>
                </a:lnTo>
                <a:lnTo>
                  <a:pt x="1509" y="2997"/>
                </a:lnTo>
                <a:lnTo>
                  <a:pt x="1509" y="2997"/>
                </a:lnTo>
                <a:lnTo>
                  <a:pt x="1515" y="3003"/>
                </a:lnTo>
                <a:lnTo>
                  <a:pt x="1516" y="3003"/>
                </a:lnTo>
                <a:lnTo>
                  <a:pt x="1520" y="2999"/>
                </a:lnTo>
                <a:lnTo>
                  <a:pt x="1520" y="2999"/>
                </a:lnTo>
                <a:lnTo>
                  <a:pt x="1522" y="2993"/>
                </a:lnTo>
                <a:lnTo>
                  <a:pt x="1522" y="2990"/>
                </a:lnTo>
                <a:lnTo>
                  <a:pt x="1524" y="2979"/>
                </a:lnTo>
                <a:lnTo>
                  <a:pt x="1524" y="2979"/>
                </a:lnTo>
                <a:lnTo>
                  <a:pt x="1527" y="2973"/>
                </a:lnTo>
                <a:lnTo>
                  <a:pt x="1533" y="2966"/>
                </a:lnTo>
                <a:lnTo>
                  <a:pt x="1533" y="2966"/>
                </a:lnTo>
                <a:lnTo>
                  <a:pt x="1534" y="2960"/>
                </a:lnTo>
                <a:lnTo>
                  <a:pt x="1536" y="2957"/>
                </a:lnTo>
                <a:lnTo>
                  <a:pt x="1540" y="2955"/>
                </a:lnTo>
                <a:lnTo>
                  <a:pt x="1540" y="2955"/>
                </a:lnTo>
                <a:lnTo>
                  <a:pt x="1545" y="2951"/>
                </a:lnTo>
                <a:lnTo>
                  <a:pt x="1551" y="2946"/>
                </a:lnTo>
                <a:lnTo>
                  <a:pt x="1551" y="2946"/>
                </a:lnTo>
                <a:lnTo>
                  <a:pt x="1551" y="2942"/>
                </a:lnTo>
                <a:lnTo>
                  <a:pt x="1551" y="2938"/>
                </a:lnTo>
                <a:lnTo>
                  <a:pt x="1547" y="2929"/>
                </a:lnTo>
                <a:lnTo>
                  <a:pt x="1542" y="2922"/>
                </a:lnTo>
                <a:lnTo>
                  <a:pt x="1536" y="2916"/>
                </a:lnTo>
                <a:lnTo>
                  <a:pt x="1536" y="2916"/>
                </a:lnTo>
                <a:lnTo>
                  <a:pt x="1531" y="2909"/>
                </a:lnTo>
                <a:lnTo>
                  <a:pt x="1531" y="2902"/>
                </a:lnTo>
                <a:lnTo>
                  <a:pt x="1533" y="2894"/>
                </a:lnTo>
                <a:lnTo>
                  <a:pt x="1536" y="2887"/>
                </a:lnTo>
                <a:lnTo>
                  <a:pt x="1536" y="2887"/>
                </a:lnTo>
                <a:lnTo>
                  <a:pt x="1542" y="2883"/>
                </a:lnTo>
                <a:lnTo>
                  <a:pt x="1549" y="2880"/>
                </a:lnTo>
                <a:lnTo>
                  <a:pt x="1554" y="2876"/>
                </a:lnTo>
                <a:lnTo>
                  <a:pt x="1558" y="2874"/>
                </a:lnTo>
                <a:lnTo>
                  <a:pt x="1558" y="2871"/>
                </a:lnTo>
                <a:lnTo>
                  <a:pt x="1558" y="2871"/>
                </a:lnTo>
                <a:lnTo>
                  <a:pt x="1560" y="2861"/>
                </a:lnTo>
                <a:lnTo>
                  <a:pt x="1558" y="2852"/>
                </a:lnTo>
                <a:lnTo>
                  <a:pt x="1558" y="2852"/>
                </a:lnTo>
                <a:lnTo>
                  <a:pt x="1558" y="2849"/>
                </a:lnTo>
                <a:lnTo>
                  <a:pt x="1560" y="2847"/>
                </a:lnTo>
                <a:lnTo>
                  <a:pt x="1563" y="2841"/>
                </a:lnTo>
                <a:lnTo>
                  <a:pt x="1563" y="2841"/>
                </a:lnTo>
                <a:lnTo>
                  <a:pt x="1565" y="2838"/>
                </a:lnTo>
                <a:lnTo>
                  <a:pt x="1565" y="2836"/>
                </a:lnTo>
                <a:lnTo>
                  <a:pt x="1563" y="2834"/>
                </a:lnTo>
                <a:lnTo>
                  <a:pt x="1565" y="2830"/>
                </a:lnTo>
                <a:lnTo>
                  <a:pt x="1565" y="2830"/>
                </a:lnTo>
                <a:lnTo>
                  <a:pt x="1567" y="2830"/>
                </a:lnTo>
                <a:lnTo>
                  <a:pt x="1573" y="2830"/>
                </a:lnTo>
                <a:lnTo>
                  <a:pt x="1576" y="2830"/>
                </a:lnTo>
                <a:lnTo>
                  <a:pt x="1578" y="2828"/>
                </a:lnTo>
                <a:lnTo>
                  <a:pt x="1578" y="2828"/>
                </a:lnTo>
                <a:lnTo>
                  <a:pt x="1580" y="2827"/>
                </a:lnTo>
                <a:lnTo>
                  <a:pt x="1578" y="2827"/>
                </a:lnTo>
                <a:lnTo>
                  <a:pt x="1574" y="2823"/>
                </a:lnTo>
                <a:lnTo>
                  <a:pt x="1569" y="2821"/>
                </a:lnTo>
                <a:lnTo>
                  <a:pt x="1565" y="2817"/>
                </a:lnTo>
                <a:lnTo>
                  <a:pt x="1565" y="2817"/>
                </a:lnTo>
                <a:lnTo>
                  <a:pt x="1563" y="2812"/>
                </a:lnTo>
                <a:lnTo>
                  <a:pt x="1563" y="2806"/>
                </a:lnTo>
                <a:lnTo>
                  <a:pt x="1565" y="2803"/>
                </a:lnTo>
                <a:lnTo>
                  <a:pt x="1569" y="2797"/>
                </a:lnTo>
                <a:lnTo>
                  <a:pt x="1569" y="2797"/>
                </a:lnTo>
                <a:lnTo>
                  <a:pt x="1573" y="2795"/>
                </a:lnTo>
                <a:lnTo>
                  <a:pt x="1576" y="2795"/>
                </a:lnTo>
                <a:lnTo>
                  <a:pt x="1585" y="2795"/>
                </a:lnTo>
                <a:lnTo>
                  <a:pt x="1585" y="2795"/>
                </a:lnTo>
                <a:lnTo>
                  <a:pt x="1591" y="2794"/>
                </a:lnTo>
                <a:lnTo>
                  <a:pt x="1594" y="2792"/>
                </a:lnTo>
                <a:lnTo>
                  <a:pt x="1602" y="2784"/>
                </a:lnTo>
                <a:lnTo>
                  <a:pt x="1607" y="2773"/>
                </a:lnTo>
                <a:lnTo>
                  <a:pt x="1607" y="2770"/>
                </a:lnTo>
                <a:lnTo>
                  <a:pt x="1605" y="2764"/>
                </a:lnTo>
                <a:lnTo>
                  <a:pt x="1605" y="2764"/>
                </a:lnTo>
                <a:lnTo>
                  <a:pt x="1603" y="2760"/>
                </a:lnTo>
                <a:lnTo>
                  <a:pt x="1600" y="2757"/>
                </a:lnTo>
                <a:lnTo>
                  <a:pt x="1600" y="2757"/>
                </a:lnTo>
                <a:lnTo>
                  <a:pt x="1598" y="2751"/>
                </a:lnTo>
                <a:lnTo>
                  <a:pt x="1598" y="2749"/>
                </a:lnTo>
                <a:lnTo>
                  <a:pt x="1600" y="2749"/>
                </a:lnTo>
                <a:lnTo>
                  <a:pt x="1611" y="2749"/>
                </a:lnTo>
                <a:lnTo>
                  <a:pt x="1611" y="2749"/>
                </a:lnTo>
                <a:lnTo>
                  <a:pt x="1618" y="2748"/>
                </a:lnTo>
                <a:lnTo>
                  <a:pt x="1625" y="2744"/>
                </a:lnTo>
                <a:lnTo>
                  <a:pt x="1632" y="2742"/>
                </a:lnTo>
                <a:lnTo>
                  <a:pt x="1640" y="2738"/>
                </a:lnTo>
                <a:lnTo>
                  <a:pt x="1640" y="2738"/>
                </a:lnTo>
                <a:lnTo>
                  <a:pt x="1652" y="2738"/>
                </a:lnTo>
                <a:lnTo>
                  <a:pt x="1658" y="2738"/>
                </a:lnTo>
                <a:lnTo>
                  <a:pt x="1665" y="2737"/>
                </a:lnTo>
                <a:lnTo>
                  <a:pt x="1665" y="2737"/>
                </a:lnTo>
                <a:lnTo>
                  <a:pt x="1669" y="2733"/>
                </a:lnTo>
                <a:lnTo>
                  <a:pt x="1672" y="2727"/>
                </a:lnTo>
                <a:lnTo>
                  <a:pt x="1679" y="2718"/>
                </a:lnTo>
                <a:lnTo>
                  <a:pt x="1679" y="2718"/>
                </a:lnTo>
                <a:lnTo>
                  <a:pt x="1685" y="2711"/>
                </a:lnTo>
                <a:lnTo>
                  <a:pt x="1685" y="2705"/>
                </a:lnTo>
                <a:lnTo>
                  <a:pt x="1685" y="2702"/>
                </a:lnTo>
                <a:lnTo>
                  <a:pt x="1685" y="2702"/>
                </a:lnTo>
                <a:lnTo>
                  <a:pt x="1683" y="2698"/>
                </a:lnTo>
                <a:lnTo>
                  <a:pt x="1679" y="2694"/>
                </a:lnTo>
                <a:lnTo>
                  <a:pt x="1676" y="2693"/>
                </a:lnTo>
                <a:lnTo>
                  <a:pt x="1674" y="2689"/>
                </a:lnTo>
                <a:lnTo>
                  <a:pt x="1674" y="2689"/>
                </a:lnTo>
                <a:lnTo>
                  <a:pt x="1672" y="2685"/>
                </a:lnTo>
                <a:lnTo>
                  <a:pt x="1674" y="2682"/>
                </a:lnTo>
                <a:lnTo>
                  <a:pt x="1676" y="2678"/>
                </a:lnTo>
                <a:lnTo>
                  <a:pt x="1676" y="2674"/>
                </a:lnTo>
                <a:lnTo>
                  <a:pt x="1676" y="2674"/>
                </a:lnTo>
                <a:lnTo>
                  <a:pt x="1676" y="2671"/>
                </a:lnTo>
                <a:lnTo>
                  <a:pt x="1672" y="2669"/>
                </a:lnTo>
                <a:lnTo>
                  <a:pt x="1669" y="2665"/>
                </a:lnTo>
                <a:lnTo>
                  <a:pt x="1661" y="2663"/>
                </a:lnTo>
                <a:lnTo>
                  <a:pt x="1658" y="2658"/>
                </a:lnTo>
                <a:lnTo>
                  <a:pt x="1658" y="2658"/>
                </a:lnTo>
                <a:lnTo>
                  <a:pt x="1654" y="2652"/>
                </a:lnTo>
                <a:lnTo>
                  <a:pt x="1652" y="2647"/>
                </a:lnTo>
                <a:lnTo>
                  <a:pt x="1650" y="2634"/>
                </a:lnTo>
                <a:lnTo>
                  <a:pt x="1650" y="2634"/>
                </a:lnTo>
                <a:lnTo>
                  <a:pt x="1652" y="2628"/>
                </a:lnTo>
                <a:lnTo>
                  <a:pt x="1656" y="2625"/>
                </a:lnTo>
                <a:lnTo>
                  <a:pt x="1660" y="2627"/>
                </a:lnTo>
                <a:lnTo>
                  <a:pt x="1665" y="2632"/>
                </a:lnTo>
                <a:lnTo>
                  <a:pt x="1665" y="2632"/>
                </a:lnTo>
                <a:lnTo>
                  <a:pt x="1667" y="2638"/>
                </a:lnTo>
                <a:lnTo>
                  <a:pt x="1669" y="2645"/>
                </a:lnTo>
                <a:lnTo>
                  <a:pt x="1672" y="2650"/>
                </a:lnTo>
                <a:lnTo>
                  <a:pt x="1674" y="2656"/>
                </a:lnTo>
                <a:lnTo>
                  <a:pt x="1674" y="2656"/>
                </a:lnTo>
                <a:lnTo>
                  <a:pt x="1679" y="2661"/>
                </a:lnTo>
                <a:lnTo>
                  <a:pt x="1683" y="2663"/>
                </a:lnTo>
                <a:lnTo>
                  <a:pt x="1688" y="2663"/>
                </a:lnTo>
                <a:lnTo>
                  <a:pt x="1694" y="2663"/>
                </a:lnTo>
                <a:lnTo>
                  <a:pt x="1694" y="2663"/>
                </a:lnTo>
                <a:lnTo>
                  <a:pt x="1701" y="2661"/>
                </a:lnTo>
                <a:lnTo>
                  <a:pt x="1707" y="2661"/>
                </a:lnTo>
                <a:lnTo>
                  <a:pt x="1707" y="2661"/>
                </a:lnTo>
                <a:lnTo>
                  <a:pt x="1712" y="2661"/>
                </a:lnTo>
                <a:lnTo>
                  <a:pt x="1719" y="2661"/>
                </a:lnTo>
                <a:lnTo>
                  <a:pt x="1719" y="2661"/>
                </a:lnTo>
                <a:lnTo>
                  <a:pt x="1723" y="2660"/>
                </a:lnTo>
                <a:lnTo>
                  <a:pt x="1728" y="2652"/>
                </a:lnTo>
                <a:lnTo>
                  <a:pt x="1741" y="2634"/>
                </a:lnTo>
                <a:lnTo>
                  <a:pt x="1741" y="2634"/>
                </a:lnTo>
                <a:lnTo>
                  <a:pt x="1748" y="2619"/>
                </a:lnTo>
                <a:lnTo>
                  <a:pt x="1748" y="2619"/>
                </a:lnTo>
                <a:lnTo>
                  <a:pt x="1748" y="2616"/>
                </a:lnTo>
                <a:lnTo>
                  <a:pt x="1748" y="2614"/>
                </a:lnTo>
                <a:lnTo>
                  <a:pt x="1746" y="2612"/>
                </a:lnTo>
                <a:lnTo>
                  <a:pt x="1746" y="2608"/>
                </a:lnTo>
                <a:lnTo>
                  <a:pt x="1746" y="2608"/>
                </a:lnTo>
                <a:lnTo>
                  <a:pt x="1748" y="2605"/>
                </a:lnTo>
                <a:lnTo>
                  <a:pt x="1752" y="2601"/>
                </a:lnTo>
                <a:lnTo>
                  <a:pt x="1757" y="2595"/>
                </a:lnTo>
                <a:lnTo>
                  <a:pt x="1757" y="2595"/>
                </a:lnTo>
                <a:lnTo>
                  <a:pt x="1763" y="2586"/>
                </a:lnTo>
                <a:lnTo>
                  <a:pt x="1770" y="2579"/>
                </a:lnTo>
                <a:lnTo>
                  <a:pt x="1770" y="2579"/>
                </a:lnTo>
                <a:lnTo>
                  <a:pt x="1775" y="2577"/>
                </a:lnTo>
                <a:lnTo>
                  <a:pt x="1781" y="2577"/>
                </a:lnTo>
                <a:lnTo>
                  <a:pt x="1781" y="2577"/>
                </a:lnTo>
                <a:lnTo>
                  <a:pt x="1783" y="2573"/>
                </a:lnTo>
                <a:lnTo>
                  <a:pt x="1785" y="2570"/>
                </a:lnTo>
                <a:lnTo>
                  <a:pt x="1788" y="2562"/>
                </a:lnTo>
                <a:lnTo>
                  <a:pt x="1788" y="2562"/>
                </a:lnTo>
                <a:lnTo>
                  <a:pt x="1794" y="2551"/>
                </a:lnTo>
                <a:lnTo>
                  <a:pt x="1801" y="2544"/>
                </a:lnTo>
                <a:lnTo>
                  <a:pt x="1801" y="2544"/>
                </a:lnTo>
                <a:lnTo>
                  <a:pt x="1806" y="2537"/>
                </a:lnTo>
                <a:lnTo>
                  <a:pt x="1808" y="2529"/>
                </a:lnTo>
                <a:lnTo>
                  <a:pt x="1810" y="2522"/>
                </a:lnTo>
                <a:lnTo>
                  <a:pt x="1808" y="2515"/>
                </a:lnTo>
                <a:lnTo>
                  <a:pt x="1804" y="2498"/>
                </a:lnTo>
                <a:lnTo>
                  <a:pt x="1804" y="2491"/>
                </a:lnTo>
                <a:lnTo>
                  <a:pt x="1804" y="2482"/>
                </a:lnTo>
                <a:lnTo>
                  <a:pt x="1804" y="2482"/>
                </a:lnTo>
                <a:lnTo>
                  <a:pt x="1808" y="2473"/>
                </a:lnTo>
                <a:lnTo>
                  <a:pt x="1815" y="2465"/>
                </a:lnTo>
                <a:lnTo>
                  <a:pt x="1830" y="2454"/>
                </a:lnTo>
                <a:lnTo>
                  <a:pt x="1830" y="2454"/>
                </a:lnTo>
                <a:lnTo>
                  <a:pt x="1850" y="2441"/>
                </a:lnTo>
                <a:lnTo>
                  <a:pt x="1850" y="2441"/>
                </a:lnTo>
                <a:lnTo>
                  <a:pt x="1861" y="2432"/>
                </a:lnTo>
                <a:lnTo>
                  <a:pt x="1861" y="2432"/>
                </a:lnTo>
                <a:lnTo>
                  <a:pt x="1879" y="2423"/>
                </a:lnTo>
                <a:lnTo>
                  <a:pt x="1899" y="2416"/>
                </a:lnTo>
                <a:lnTo>
                  <a:pt x="1899" y="2416"/>
                </a:lnTo>
                <a:lnTo>
                  <a:pt x="1911" y="2410"/>
                </a:lnTo>
                <a:lnTo>
                  <a:pt x="1917" y="2406"/>
                </a:lnTo>
                <a:lnTo>
                  <a:pt x="1919" y="2399"/>
                </a:lnTo>
                <a:lnTo>
                  <a:pt x="1919" y="2399"/>
                </a:lnTo>
                <a:lnTo>
                  <a:pt x="1920" y="2392"/>
                </a:lnTo>
                <a:lnTo>
                  <a:pt x="1920" y="2383"/>
                </a:lnTo>
                <a:lnTo>
                  <a:pt x="1920" y="2383"/>
                </a:lnTo>
                <a:lnTo>
                  <a:pt x="1924" y="2377"/>
                </a:lnTo>
                <a:lnTo>
                  <a:pt x="1928" y="2370"/>
                </a:lnTo>
                <a:lnTo>
                  <a:pt x="1928" y="2370"/>
                </a:lnTo>
                <a:lnTo>
                  <a:pt x="1937" y="2361"/>
                </a:lnTo>
                <a:lnTo>
                  <a:pt x="1944" y="2351"/>
                </a:lnTo>
                <a:lnTo>
                  <a:pt x="1944" y="2351"/>
                </a:lnTo>
                <a:lnTo>
                  <a:pt x="1946" y="2346"/>
                </a:lnTo>
                <a:lnTo>
                  <a:pt x="1946" y="2340"/>
                </a:lnTo>
                <a:lnTo>
                  <a:pt x="1944" y="2329"/>
                </a:lnTo>
                <a:lnTo>
                  <a:pt x="1944" y="2329"/>
                </a:lnTo>
                <a:lnTo>
                  <a:pt x="1946" y="2324"/>
                </a:lnTo>
                <a:lnTo>
                  <a:pt x="1948" y="2320"/>
                </a:lnTo>
                <a:lnTo>
                  <a:pt x="1951" y="2311"/>
                </a:lnTo>
                <a:lnTo>
                  <a:pt x="1951" y="2311"/>
                </a:lnTo>
                <a:lnTo>
                  <a:pt x="1953" y="2306"/>
                </a:lnTo>
                <a:lnTo>
                  <a:pt x="1955" y="2298"/>
                </a:lnTo>
                <a:lnTo>
                  <a:pt x="1955" y="2285"/>
                </a:lnTo>
                <a:lnTo>
                  <a:pt x="1955" y="2285"/>
                </a:lnTo>
                <a:lnTo>
                  <a:pt x="1951" y="2269"/>
                </a:lnTo>
                <a:lnTo>
                  <a:pt x="1949" y="2262"/>
                </a:lnTo>
                <a:lnTo>
                  <a:pt x="1948" y="2252"/>
                </a:lnTo>
                <a:lnTo>
                  <a:pt x="1948" y="2252"/>
                </a:lnTo>
                <a:lnTo>
                  <a:pt x="1948" y="2245"/>
                </a:lnTo>
                <a:lnTo>
                  <a:pt x="1949" y="2236"/>
                </a:lnTo>
                <a:lnTo>
                  <a:pt x="1949" y="2236"/>
                </a:lnTo>
                <a:lnTo>
                  <a:pt x="1955" y="2227"/>
                </a:lnTo>
                <a:lnTo>
                  <a:pt x="1958" y="2221"/>
                </a:lnTo>
                <a:lnTo>
                  <a:pt x="1962" y="2219"/>
                </a:lnTo>
                <a:lnTo>
                  <a:pt x="1962" y="2219"/>
                </a:lnTo>
                <a:lnTo>
                  <a:pt x="1969" y="2218"/>
                </a:lnTo>
                <a:lnTo>
                  <a:pt x="1973" y="2218"/>
                </a:lnTo>
                <a:lnTo>
                  <a:pt x="1975" y="2216"/>
                </a:lnTo>
                <a:lnTo>
                  <a:pt x="1975" y="2216"/>
                </a:lnTo>
                <a:lnTo>
                  <a:pt x="1980" y="2210"/>
                </a:lnTo>
                <a:lnTo>
                  <a:pt x="1984" y="2203"/>
                </a:lnTo>
                <a:lnTo>
                  <a:pt x="1989" y="2190"/>
                </a:lnTo>
                <a:lnTo>
                  <a:pt x="1989" y="2190"/>
                </a:lnTo>
                <a:lnTo>
                  <a:pt x="1991" y="2183"/>
                </a:lnTo>
                <a:lnTo>
                  <a:pt x="1995" y="2177"/>
                </a:lnTo>
                <a:lnTo>
                  <a:pt x="1995" y="2177"/>
                </a:lnTo>
                <a:lnTo>
                  <a:pt x="2000" y="2172"/>
                </a:lnTo>
                <a:lnTo>
                  <a:pt x="2006" y="2168"/>
                </a:lnTo>
                <a:lnTo>
                  <a:pt x="2006" y="2168"/>
                </a:lnTo>
                <a:lnTo>
                  <a:pt x="2013" y="2161"/>
                </a:lnTo>
                <a:lnTo>
                  <a:pt x="2016" y="2152"/>
                </a:lnTo>
                <a:lnTo>
                  <a:pt x="2016" y="2152"/>
                </a:lnTo>
                <a:lnTo>
                  <a:pt x="2020" y="2142"/>
                </a:lnTo>
                <a:lnTo>
                  <a:pt x="2024" y="2133"/>
                </a:lnTo>
                <a:lnTo>
                  <a:pt x="2024" y="2122"/>
                </a:lnTo>
                <a:lnTo>
                  <a:pt x="2022" y="2113"/>
                </a:lnTo>
                <a:lnTo>
                  <a:pt x="2022" y="2113"/>
                </a:lnTo>
                <a:lnTo>
                  <a:pt x="2015" y="2095"/>
                </a:lnTo>
                <a:lnTo>
                  <a:pt x="2015" y="2095"/>
                </a:lnTo>
                <a:close/>
                <a:moveTo>
                  <a:pt x="5417" y="580"/>
                </a:moveTo>
                <a:lnTo>
                  <a:pt x="5417" y="580"/>
                </a:lnTo>
                <a:lnTo>
                  <a:pt x="5412" y="581"/>
                </a:lnTo>
                <a:lnTo>
                  <a:pt x="5406" y="583"/>
                </a:lnTo>
                <a:lnTo>
                  <a:pt x="5404" y="587"/>
                </a:lnTo>
                <a:lnTo>
                  <a:pt x="5402" y="594"/>
                </a:lnTo>
                <a:lnTo>
                  <a:pt x="5402" y="594"/>
                </a:lnTo>
                <a:lnTo>
                  <a:pt x="5401" y="602"/>
                </a:lnTo>
                <a:lnTo>
                  <a:pt x="5397" y="605"/>
                </a:lnTo>
                <a:lnTo>
                  <a:pt x="5392" y="605"/>
                </a:lnTo>
                <a:lnTo>
                  <a:pt x="5384" y="603"/>
                </a:lnTo>
                <a:lnTo>
                  <a:pt x="5384" y="603"/>
                </a:lnTo>
                <a:lnTo>
                  <a:pt x="5366" y="600"/>
                </a:lnTo>
                <a:lnTo>
                  <a:pt x="5357" y="596"/>
                </a:lnTo>
                <a:lnTo>
                  <a:pt x="5350" y="591"/>
                </a:lnTo>
                <a:lnTo>
                  <a:pt x="5350" y="591"/>
                </a:lnTo>
                <a:lnTo>
                  <a:pt x="5343" y="580"/>
                </a:lnTo>
                <a:lnTo>
                  <a:pt x="5339" y="576"/>
                </a:lnTo>
                <a:lnTo>
                  <a:pt x="5334" y="572"/>
                </a:lnTo>
                <a:lnTo>
                  <a:pt x="5334" y="572"/>
                </a:lnTo>
                <a:lnTo>
                  <a:pt x="5326" y="572"/>
                </a:lnTo>
                <a:lnTo>
                  <a:pt x="5321" y="574"/>
                </a:lnTo>
                <a:lnTo>
                  <a:pt x="5315" y="576"/>
                </a:lnTo>
                <a:lnTo>
                  <a:pt x="5308" y="576"/>
                </a:lnTo>
                <a:lnTo>
                  <a:pt x="5308" y="576"/>
                </a:lnTo>
                <a:lnTo>
                  <a:pt x="5297" y="574"/>
                </a:lnTo>
                <a:lnTo>
                  <a:pt x="5294" y="574"/>
                </a:lnTo>
                <a:lnTo>
                  <a:pt x="5288" y="576"/>
                </a:lnTo>
                <a:lnTo>
                  <a:pt x="5288" y="576"/>
                </a:lnTo>
                <a:lnTo>
                  <a:pt x="5285" y="581"/>
                </a:lnTo>
                <a:lnTo>
                  <a:pt x="5279" y="585"/>
                </a:lnTo>
                <a:lnTo>
                  <a:pt x="5276" y="591"/>
                </a:lnTo>
                <a:lnTo>
                  <a:pt x="5270" y="594"/>
                </a:lnTo>
                <a:lnTo>
                  <a:pt x="5270" y="594"/>
                </a:lnTo>
                <a:lnTo>
                  <a:pt x="5265" y="594"/>
                </a:lnTo>
                <a:lnTo>
                  <a:pt x="5259" y="592"/>
                </a:lnTo>
                <a:lnTo>
                  <a:pt x="5254" y="592"/>
                </a:lnTo>
                <a:lnTo>
                  <a:pt x="5252" y="594"/>
                </a:lnTo>
                <a:lnTo>
                  <a:pt x="5250" y="596"/>
                </a:lnTo>
                <a:lnTo>
                  <a:pt x="5250" y="596"/>
                </a:lnTo>
                <a:lnTo>
                  <a:pt x="5250" y="598"/>
                </a:lnTo>
                <a:lnTo>
                  <a:pt x="5252" y="602"/>
                </a:lnTo>
                <a:lnTo>
                  <a:pt x="5258" y="607"/>
                </a:lnTo>
                <a:lnTo>
                  <a:pt x="5265" y="613"/>
                </a:lnTo>
                <a:lnTo>
                  <a:pt x="5268" y="616"/>
                </a:lnTo>
                <a:lnTo>
                  <a:pt x="5268" y="616"/>
                </a:lnTo>
                <a:lnTo>
                  <a:pt x="5272" y="625"/>
                </a:lnTo>
                <a:lnTo>
                  <a:pt x="5270" y="633"/>
                </a:lnTo>
                <a:lnTo>
                  <a:pt x="5267" y="640"/>
                </a:lnTo>
                <a:lnTo>
                  <a:pt x="5261" y="647"/>
                </a:lnTo>
                <a:lnTo>
                  <a:pt x="5261" y="647"/>
                </a:lnTo>
                <a:lnTo>
                  <a:pt x="5254" y="653"/>
                </a:lnTo>
                <a:lnTo>
                  <a:pt x="5245" y="655"/>
                </a:lnTo>
                <a:lnTo>
                  <a:pt x="5227" y="657"/>
                </a:lnTo>
                <a:lnTo>
                  <a:pt x="5227" y="657"/>
                </a:lnTo>
                <a:lnTo>
                  <a:pt x="5209" y="660"/>
                </a:lnTo>
                <a:lnTo>
                  <a:pt x="5192" y="666"/>
                </a:lnTo>
                <a:lnTo>
                  <a:pt x="5176" y="675"/>
                </a:lnTo>
                <a:lnTo>
                  <a:pt x="5171" y="680"/>
                </a:lnTo>
                <a:lnTo>
                  <a:pt x="5163" y="686"/>
                </a:lnTo>
                <a:lnTo>
                  <a:pt x="5163" y="686"/>
                </a:lnTo>
                <a:lnTo>
                  <a:pt x="5152" y="701"/>
                </a:lnTo>
                <a:lnTo>
                  <a:pt x="5145" y="706"/>
                </a:lnTo>
                <a:lnTo>
                  <a:pt x="5138" y="710"/>
                </a:lnTo>
                <a:lnTo>
                  <a:pt x="5138" y="710"/>
                </a:lnTo>
                <a:lnTo>
                  <a:pt x="5131" y="708"/>
                </a:lnTo>
                <a:lnTo>
                  <a:pt x="5125" y="706"/>
                </a:lnTo>
                <a:lnTo>
                  <a:pt x="5120" y="703"/>
                </a:lnTo>
                <a:lnTo>
                  <a:pt x="5114" y="701"/>
                </a:lnTo>
                <a:lnTo>
                  <a:pt x="5114" y="701"/>
                </a:lnTo>
                <a:lnTo>
                  <a:pt x="5102" y="701"/>
                </a:lnTo>
                <a:lnTo>
                  <a:pt x="5091" y="704"/>
                </a:lnTo>
                <a:lnTo>
                  <a:pt x="5078" y="708"/>
                </a:lnTo>
                <a:lnTo>
                  <a:pt x="5067" y="712"/>
                </a:lnTo>
                <a:lnTo>
                  <a:pt x="5067" y="712"/>
                </a:lnTo>
                <a:lnTo>
                  <a:pt x="5058" y="715"/>
                </a:lnTo>
                <a:lnTo>
                  <a:pt x="5051" y="719"/>
                </a:lnTo>
                <a:lnTo>
                  <a:pt x="5044" y="726"/>
                </a:lnTo>
                <a:lnTo>
                  <a:pt x="5038" y="734"/>
                </a:lnTo>
                <a:lnTo>
                  <a:pt x="5038" y="734"/>
                </a:lnTo>
                <a:lnTo>
                  <a:pt x="5029" y="745"/>
                </a:lnTo>
                <a:lnTo>
                  <a:pt x="5026" y="752"/>
                </a:lnTo>
                <a:lnTo>
                  <a:pt x="5026" y="759"/>
                </a:lnTo>
                <a:lnTo>
                  <a:pt x="5026" y="759"/>
                </a:lnTo>
                <a:lnTo>
                  <a:pt x="5027" y="767"/>
                </a:lnTo>
                <a:lnTo>
                  <a:pt x="5031" y="774"/>
                </a:lnTo>
                <a:lnTo>
                  <a:pt x="5035" y="781"/>
                </a:lnTo>
                <a:lnTo>
                  <a:pt x="5036" y="789"/>
                </a:lnTo>
                <a:lnTo>
                  <a:pt x="5036" y="789"/>
                </a:lnTo>
                <a:lnTo>
                  <a:pt x="5036" y="796"/>
                </a:lnTo>
                <a:lnTo>
                  <a:pt x="5035" y="802"/>
                </a:lnTo>
                <a:lnTo>
                  <a:pt x="5026" y="811"/>
                </a:lnTo>
                <a:lnTo>
                  <a:pt x="5017" y="820"/>
                </a:lnTo>
                <a:lnTo>
                  <a:pt x="5013" y="825"/>
                </a:lnTo>
                <a:lnTo>
                  <a:pt x="5011" y="831"/>
                </a:lnTo>
                <a:lnTo>
                  <a:pt x="5011" y="831"/>
                </a:lnTo>
                <a:lnTo>
                  <a:pt x="5008" y="844"/>
                </a:lnTo>
                <a:lnTo>
                  <a:pt x="5006" y="849"/>
                </a:lnTo>
                <a:lnTo>
                  <a:pt x="5002" y="855"/>
                </a:lnTo>
                <a:lnTo>
                  <a:pt x="5002" y="855"/>
                </a:lnTo>
                <a:lnTo>
                  <a:pt x="4997" y="858"/>
                </a:lnTo>
                <a:lnTo>
                  <a:pt x="4988" y="862"/>
                </a:lnTo>
                <a:lnTo>
                  <a:pt x="4980" y="864"/>
                </a:lnTo>
                <a:lnTo>
                  <a:pt x="4973" y="868"/>
                </a:lnTo>
                <a:lnTo>
                  <a:pt x="4973" y="868"/>
                </a:lnTo>
                <a:lnTo>
                  <a:pt x="4969" y="873"/>
                </a:lnTo>
                <a:lnTo>
                  <a:pt x="4966" y="880"/>
                </a:lnTo>
                <a:lnTo>
                  <a:pt x="4964" y="897"/>
                </a:lnTo>
                <a:lnTo>
                  <a:pt x="4962" y="906"/>
                </a:lnTo>
                <a:lnTo>
                  <a:pt x="4960" y="913"/>
                </a:lnTo>
                <a:lnTo>
                  <a:pt x="4955" y="919"/>
                </a:lnTo>
                <a:lnTo>
                  <a:pt x="4950" y="923"/>
                </a:lnTo>
                <a:lnTo>
                  <a:pt x="4950" y="923"/>
                </a:lnTo>
                <a:lnTo>
                  <a:pt x="4944" y="924"/>
                </a:lnTo>
                <a:lnTo>
                  <a:pt x="4940" y="923"/>
                </a:lnTo>
                <a:lnTo>
                  <a:pt x="4937" y="923"/>
                </a:lnTo>
                <a:lnTo>
                  <a:pt x="4933" y="921"/>
                </a:lnTo>
                <a:lnTo>
                  <a:pt x="4926" y="913"/>
                </a:lnTo>
                <a:lnTo>
                  <a:pt x="4922" y="904"/>
                </a:lnTo>
                <a:lnTo>
                  <a:pt x="4919" y="893"/>
                </a:lnTo>
                <a:lnTo>
                  <a:pt x="4917" y="882"/>
                </a:lnTo>
                <a:lnTo>
                  <a:pt x="4917" y="866"/>
                </a:lnTo>
                <a:lnTo>
                  <a:pt x="4917" y="866"/>
                </a:lnTo>
                <a:lnTo>
                  <a:pt x="4919" y="836"/>
                </a:lnTo>
                <a:lnTo>
                  <a:pt x="4921" y="822"/>
                </a:lnTo>
                <a:lnTo>
                  <a:pt x="4924" y="807"/>
                </a:lnTo>
                <a:lnTo>
                  <a:pt x="4928" y="792"/>
                </a:lnTo>
                <a:lnTo>
                  <a:pt x="4935" y="780"/>
                </a:lnTo>
                <a:lnTo>
                  <a:pt x="4944" y="769"/>
                </a:lnTo>
                <a:lnTo>
                  <a:pt x="4955" y="759"/>
                </a:lnTo>
                <a:lnTo>
                  <a:pt x="4955" y="759"/>
                </a:lnTo>
                <a:lnTo>
                  <a:pt x="4964" y="754"/>
                </a:lnTo>
                <a:lnTo>
                  <a:pt x="4971" y="750"/>
                </a:lnTo>
                <a:lnTo>
                  <a:pt x="4980" y="747"/>
                </a:lnTo>
                <a:lnTo>
                  <a:pt x="4988" y="741"/>
                </a:lnTo>
                <a:lnTo>
                  <a:pt x="4988" y="741"/>
                </a:lnTo>
                <a:lnTo>
                  <a:pt x="4997" y="730"/>
                </a:lnTo>
                <a:lnTo>
                  <a:pt x="5006" y="719"/>
                </a:lnTo>
                <a:lnTo>
                  <a:pt x="5013" y="708"/>
                </a:lnTo>
                <a:lnTo>
                  <a:pt x="5022" y="697"/>
                </a:lnTo>
                <a:lnTo>
                  <a:pt x="5022" y="697"/>
                </a:lnTo>
                <a:lnTo>
                  <a:pt x="5029" y="688"/>
                </a:lnTo>
                <a:lnTo>
                  <a:pt x="5035" y="679"/>
                </a:lnTo>
                <a:lnTo>
                  <a:pt x="5040" y="669"/>
                </a:lnTo>
                <a:lnTo>
                  <a:pt x="5040" y="664"/>
                </a:lnTo>
                <a:lnTo>
                  <a:pt x="5040" y="658"/>
                </a:lnTo>
                <a:lnTo>
                  <a:pt x="5040" y="658"/>
                </a:lnTo>
                <a:lnTo>
                  <a:pt x="5038" y="653"/>
                </a:lnTo>
                <a:lnTo>
                  <a:pt x="5035" y="649"/>
                </a:lnTo>
                <a:lnTo>
                  <a:pt x="5029" y="649"/>
                </a:lnTo>
                <a:lnTo>
                  <a:pt x="5026" y="649"/>
                </a:lnTo>
                <a:lnTo>
                  <a:pt x="5015" y="655"/>
                </a:lnTo>
                <a:lnTo>
                  <a:pt x="5008" y="662"/>
                </a:lnTo>
                <a:lnTo>
                  <a:pt x="5008" y="662"/>
                </a:lnTo>
                <a:lnTo>
                  <a:pt x="5002" y="671"/>
                </a:lnTo>
                <a:lnTo>
                  <a:pt x="4997" y="682"/>
                </a:lnTo>
                <a:lnTo>
                  <a:pt x="4993" y="686"/>
                </a:lnTo>
                <a:lnTo>
                  <a:pt x="4989" y="688"/>
                </a:lnTo>
                <a:lnTo>
                  <a:pt x="4986" y="686"/>
                </a:lnTo>
                <a:lnTo>
                  <a:pt x="4979" y="684"/>
                </a:lnTo>
                <a:lnTo>
                  <a:pt x="4979" y="684"/>
                </a:lnTo>
                <a:lnTo>
                  <a:pt x="4973" y="677"/>
                </a:lnTo>
                <a:lnTo>
                  <a:pt x="4971" y="675"/>
                </a:lnTo>
                <a:lnTo>
                  <a:pt x="4966" y="673"/>
                </a:lnTo>
                <a:lnTo>
                  <a:pt x="4966" y="673"/>
                </a:lnTo>
                <a:lnTo>
                  <a:pt x="4953" y="673"/>
                </a:lnTo>
                <a:lnTo>
                  <a:pt x="4944" y="675"/>
                </a:lnTo>
                <a:lnTo>
                  <a:pt x="4935" y="679"/>
                </a:lnTo>
                <a:lnTo>
                  <a:pt x="4926" y="688"/>
                </a:lnTo>
                <a:lnTo>
                  <a:pt x="4926" y="688"/>
                </a:lnTo>
                <a:lnTo>
                  <a:pt x="4911" y="703"/>
                </a:lnTo>
                <a:lnTo>
                  <a:pt x="4906" y="710"/>
                </a:lnTo>
                <a:lnTo>
                  <a:pt x="4902" y="721"/>
                </a:lnTo>
                <a:lnTo>
                  <a:pt x="4902" y="721"/>
                </a:lnTo>
                <a:lnTo>
                  <a:pt x="4899" y="730"/>
                </a:lnTo>
                <a:lnTo>
                  <a:pt x="4895" y="737"/>
                </a:lnTo>
                <a:lnTo>
                  <a:pt x="4890" y="743"/>
                </a:lnTo>
                <a:lnTo>
                  <a:pt x="4884" y="747"/>
                </a:lnTo>
                <a:lnTo>
                  <a:pt x="4879" y="748"/>
                </a:lnTo>
                <a:lnTo>
                  <a:pt x="4873" y="747"/>
                </a:lnTo>
                <a:lnTo>
                  <a:pt x="4868" y="741"/>
                </a:lnTo>
                <a:lnTo>
                  <a:pt x="4861" y="732"/>
                </a:lnTo>
                <a:lnTo>
                  <a:pt x="4861" y="732"/>
                </a:lnTo>
                <a:lnTo>
                  <a:pt x="4857" y="725"/>
                </a:lnTo>
                <a:lnTo>
                  <a:pt x="4854" y="723"/>
                </a:lnTo>
                <a:lnTo>
                  <a:pt x="4848" y="721"/>
                </a:lnTo>
                <a:lnTo>
                  <a:pt x="4848" y="721"/>
                </a:lnTo>
                <a:lnTo>
                  <a:pt x="4841" y="719"/>
                </a:lnTo>
                <a:lnTo>
                  <a:pt x="4834" y="721"/>
                </a:lnTo>
                <a:lnTo>
                  <a:pt x="4825" y="723"/>
                </a:lnTo>
                <a:lnTo>
                  <a:pt x="4817" y="726"/>
                </a:lnTo>
                <a:lnTo>
                  <a:pt x="4817" y="726"/>
                </a:lnTo>
                <a:lnTo>
                  <a:pt x="4808" y="732"/>
                </a:lnTo>
                <a:lnTo>
                  <a:pt x="4797" y="734"/>
                </a:lnTo>
                <a:lnTo>
                  <a:pt x="4786" y="736"/>
                </a:lnTo>
                <a:lnTo>
                  <a:pt x="4777" y="736"/>
                </a:lnTo>
                <a:lnTo>
                  <a:pt x="4756" y="734"/>
                </a:lnTo>
                <a:lnTo>
                  <a:pt x="4734" y="732"/>
                </a:lnTo>
                <a:lnTo>
                  <a:pt x="4734" y="732"/>
                </a:lnTo>
                <a:lnTo>
                  <a:pt x="4721" y="732"/>
                </a:lnTo>
                <a:lnTo>
                  <a:pt x="4709" y="734"/>
                </a:lnTo>
                <a:lnTo>
                  <a:pt x="4696" y="741"/>
                </a:lnTo>
                <a:lnTo>
                  <a:pt x="4687" y="750"/>
                </a:lnTo>
                <a:lnTo>
                  <a:pt x="4687" y="750"/>
                </a:lnTo>
                <a:lnTo>
                  <a:pt x="4683" y="758"/>
                </a:lnTo>
                <a:lnTo>
                  <a:pt x="4680" y="765"/>
                </a:lnTo>
                <a:lnTo>
                  <a:pt x="4678" y="774"/>
                </a:lnTo>
                <a:lnTo>
                  <a:pt x="4676" y="781"/>
                </a:lnTo>
                <a:lnTo>
                  <a:pt x="4676" y="781"/>
                </a:lnTo>
                <a:lnTo>
                  <a:pt x="4671" y="789"/>
                </a:lnTo>
                <a:lnTo>
                  <a:pt x="4663" y="796"/>
                </a:lnTo>
                <a:lnTo>
                  <a:pt x="4663" y="796"/>
                </a:lnTo>
                <a:lnTo>
                  <a:pt x="4649" y="811"/>
                </a:lnTo>
                <a:lnTo>
                  <a:pt x="4631" y="824"/>
                </a:lnTo>
                <a:lnTo>
                  <a:pt x="4631" y="824"/>
                </a:lnTo>
                <a:lnTo>
                  <a:pt x="4625" y="827"/>
                </a:lnTo>
                <a:lnTo>
                  <a:pt x="4620" y="833"/>
                </a:lnTo>
                <a:lnTo>
                  <a:pt x="4616" y="840"/>
                </a:lnTo>
                <a:lnTo>
                  <a:pt x="4613" y="847"/>
                </a:lnTo>
                <a:lnTo>
                  <a:pt x="4613" y="847"/>
                </a:lnTo>
                <a:lnTo>
                  <a:pt x="4614" y="857"/>
                </a:lnTo>
                <a:lnTo>
                  <a:pt x="4618" y="866"/>
                </a:lnTo>
                <a:lnTo>
                  <a:pt x="4625" y="873"/>
                </a:lnTo>
                <a:lnTo>
                  <a:pt x="4629" y="875"/>
                </a:lnTo>
                <a:lnTo>
                  <a:pt x="4634" y="877"/>
                </a:lnTo>
                <a:lnTo>
                  <a:pt x="4634" y="877"/>
                </a:lnTo>
                <a:lnTo>
                  <a:pt x="4647" y="877"/>
                </a:lnTo>
                <a:lnTo>
                  <a:pt x="4658" y="875"/>
                </a:lnTo>
                <a:lnTo>
                  <a:pt x="4663" y="875"/>
                </a:lnTo>
                <a:lnTo>
                  <a:pt x="4667" y="877"/>
                </a:lnTo>
                <a:lnTo>
                  <a:pt x="4672" y="880"/>
                </a:lnTo>
                <a:lnTo>
                  <a:pt x="4676" y="888"/>
                </a:lnTo>
                <a:lnTo>
                  <a:pt x="4676" y="888"/>
                </a:lnTo>
                <a:lnTo>
                  <a:pt x="4680" y="893"/>
                </a:lnTo>
                <a:lnTo>
                  <a:pt x="4681" y="901"/>
                </a:lnTo>
                <a:lnTo>
                  <a:pt x="4683" y="917"/>
                </a:lnTo>
                <a:lnTo>
                  <a:pt x="4683" y="917"/>
                </a:lnTo>
                <a:lnTo>
                  <a:pt x="4685" y="939"/>
                </a:lnTo>
                <a:lnTo>
                  <a:pt x="4685" y="959"/>
                </a:lnTo>
                <a:lnTo>
                  <a:pt x="4685" y="959"/>
                </a:lnTo>
                <a:lnTo>
                  <a:pt x="4685" y="970"/>
                </a:lnTo>
                <a:lnTo>
                  <a:pt x="4683" y="979"/>
                </a:lnTo>
                <a:lnTo>
                  <a:pt x="4680" y="989"/>
                </a:lnTo>
                <a:lnTo>
                  <a:pt x="4674" y="998"/>
                </a:lnTo>
                <a:lnTo>
                  <a:pt x="4674" y="998"/>
                </a:lnTo>
                <a:lnTo>
                  <a:pt x="4663" y="1018"/>
                </a:lnTo>
                <a:lnTo>
                  <a:pt x="4652" y="1038"/>
                </a:lnTo>
                <a:lnTo>
                  <a:pt x="4652" y="1038"/>
                </a:lnTo>
                <a:lnTo>
                  <a:pt x="4640" y="1055"/>
                </a:lnTo>
                <a:lnTo>
                  <a:pt x="4627" y="1073"/>
                </a:lnTo>
                <a:lnTo>
                  <a:pt x="4627" y="1073"/>
                </a:lnTo>
                <a:lnTo>
                  <a:pt x="4616" y="1086"/>
                </a:lnTo>
                <a:lnTo>
                  <a:pt x="4609" y="1099"/>
                </a:lnTo>
                <a:lnTo>
                  <a:pt x="4609" y="1099"/>
                </a:lnTo>
                <a:lnTo>
                  <a:pt x="4607" y="1104"/>
                </a:lnTo>
                <a:lnTo>
                  <a:pt x="4603" y="1108"/>
                </a:lnTo>
                <a:lnTo>
                  <a:pt x="4594" y="1115"/>
                </a:lnTo>
                <a:lnTo>
                  <a:pt x="4584" y="1117"/>
                </a:lnTo>
                <a:lnTo>
                  <a:pt x="4573" y="1117"/>
                </a:lnTo>
                <a:lnTo>
                  <a:pt x="4573" y="1117"/>
                </a:lnTo>
                <a:lnTo>
                  <a:pt x="4560" y="1115"/>
                </a:lnTo>
                <a:lnTo>
                  <a:pt x="4551" y="1112"/>
                </a:lnTo>
                <a:lnTo>
                  <a:pt x="4546" y="1113"/>
                </a:lnTo>
                <a:lnTo>
                  <a:pt x="4542" y="1113"/>
                </a:lnTo>
                <a:lnTo>
                  <a:pt x="4538" y="1117"/>
                </a:lnTo>
                <a:lnTo>
                  <a:pt x="4535" y="1123"/>
                </a:lnTo>
                <a:lnTo>
                  <a:pt x="4535" y="1123"/>
                </a:lnTo>
                <a:lnTo>
                  <a:pt x="4527" y="1134"/>
                </a:lnTo>
                <a:lnTo>
                  <a:pt x="4520" y="1145"/>
                </a:lnTo>
                <a:lnTo>
                  <a:pt x="4520" y="1145"/>
                </a:lnTo>
                <a:lnTo>
                  <a:pt x="4518" y="1150"/>
                </a:lnTo>
                <a:lnTo>
                  <a:pt x="4517" y="1157"/>
                </a:lnTo>
                <a:lnTo>
                  <a:pt x="4515" y="1172"/>
                </a:lnTo>
                <a:lnTo>
                  <a:pt x="4515" y="1172"/>
                </a:lnTo>
                <a:lnTo>
                  <a:pt x="4511" y="1185"/>
                </a:lnTo>
                <a:lnTo>
                  <a:pt x="4506" y="1196"/>
                </a:lnTo>
                <a:lnTo>
                  <a:pt x="4500" y="1205"/>
                </a:lnTo>
                <a:lnTo>
                  <a:pt x="4497" y="1218"/>
                </a:lnTo>
                <a:lnTo>
                  <a:pt x="4497" y="1218"/>
                </a:lnTo>
                <a:lnTo>
                  <a:pt x="4497" y="1227"/>
                </a:lnTo>
                <a:lnTo>
                  <a:pt x="4498" y="1236"/>
                </a:lnTo>
                <a:lnTo>
                  <a:pt x="4507" y="1255"/>
                </a:lnTo>
                <a:lnTo>
                  <a:pt x="4511" y="1264"/>
                </a:lnTo>
                <a:lnTo>
                  <a:pt x="4513" y="1275"/>
                </a:lnTo>
                <a:lnTo>
                  <a:pt x="4511" y="1284"/>
                </a:lnTo>
                <a:lnTo>
                  <a:pt x="4504" y="1293"/>
                </a:lnTo>
                <a:lnTo>
                  <a:pt x="4504" y="1293"/>
                </a:lnTo>
                <a:lnTo>
                  <a:pt x="4500" y="1297"/>
                </a:lnTo>
                <a:lnTo>
                  <a:pt x="4495" y="1299"/>
                </a:lnTo>
                <a:lnTo>
                  <a:pt x="4489" y="1299"/>
                </a:lnTo>
                <a:lnTo>
                  <a:pt x="4484" y="1295"/>
                </a:lnTo>
                <a:lnTo>
                  <a:pt x="4484" y="1295"/>
                </a:lnTo>
                <a:lnTo>
                  <a:pt x="4480" y="1289"/>
                </a:lnTo>
                <a:lnTo>
                  <a:pt x="4480" y="1284"/>
                </a:lnTo>
                <a:lnTo>
                  <a:pt x="4480" y="1269"/>
                </a:lnTo>
                <a:lnTo>
                  <a:pt x="4480" y="1269"/>
                </a:lnTo>
                <a:lnTo>
                  <a:pt x="4478" y="1251"/>
                </a:lnTo>
                <a:lnTo>
                  <a:pt x="4475" y="1244"/>
                </a:lnTo>
                <a:lnTo>
                  <a:pt x="4471" y="1236"/>
                </a:lnTo>
                <a:lnTo>
                  <a:pt x="4471" y="1236"/>
                </a:lnTo>
                <a:lnTo>
                  <a:pt x="4460" y="1225"/>
                </a:lnTo>
                <a:lnTo>
                  <a:pt x="4455" y="1220"/>
                </a:lnTo>
                <a:lnTo>
                  <a:pt x="4451" y="1214"/>
                </a:lnTo>
                <a:lnTo>
                  <a:pt x="4451" y="1214"/>
                </a:lnTo>
                <a:lnTo>
                  <a:pt x="4444" y="1201"/>
                </a:lnTo>
                <a:lnTo>
                  <a:pt x="4440" y="1200"/>
                </a:lnTo>
                <a:lnTo>
                  <a:pt x="4437" y="1198"/>
                </a:lnTo>
                <a:lnTo>
                  <a:pt x="4431" y="1196"/>
                </a:lnTo>
                <a:lnTo>
                  <a:pt x="4426" y="1196"/>
                </a:lnTo>
                <a:lnTo>
                  <a:pt x="4413" y="1200"/>
                </a:lnTo>
                <a:lnTo>
                  <a:pt x="4413" y="1200"/>
                </a:lnTo>
                <a:lnTo>
                  <a:pt x="4408" y="1201"/>
                </a:lnTo>
                <a:lnTo>
                  <a:pt x="4404" y="1200"/>
                </a:lnTo>
                <a:lnTo>
                  <a:pt x="4402" y="1194"/>
                </a:lnTo>
                <a:lnTo>
                  <a:pt x="4404" y="1189"/>
                </a:lnTo>
                <a:lnTo>
                  <a:pt x="4404" y="1189"/>
                </a:lnTo>
                <a:lnTo>
                  <a:pt x="4408" y="1183"/>
                </a:lnTo>
                <a:lnTo>
                  <a:pt x="4408" y="1181"/>
                </a:lnTo>
                <a:lnTo>
                  <a:pt x="4408" y="1178"/>
                </a:lnTo>
                <a:lnTo>
                  <a:pt x="4408" y="1178"/>
                </a:lnTo>
                <a:lnTo>
                  <a:pt x="4404" y="1174"/>
                </a:lnTo>
                <a:lnTo>
                  <a:pt x="4401" y="1172"/>
                </a:lnTo>
                <a:lnTo>
                  <a:pt x="4395" y="1170"/>
                </a:lnTo>
                <a:lnTo>
                  <a:pt x="4392" y="1170"/>
                </a:lnTo>
                <a:lnTo>
                  <a:pt x="4392" y="1170"/>
                </a:lnTo>
                <a:lnTo>
                  <a:pt x="4386" y="1172"/>
                </a:lnTo>
                <a:lnTo>
                  <a:pt x="4381" y="1176"/>
                </a:lnTo>
                <a:lnTo>
                  <a:pt x="4372" y="1185"/>
                </a:lnTo>
                <a:lnTo>
                  <a:pt x="4372" y="1185"/>
                </a:lnTo>
                <a:lnTo>
                  <a:pt x="4363" y="1189"/>
                </a:lnTo>
                <a:lnTo>
                  <a:pt x="4352" y="1194"/>
                </a:lnTo>
                <a:lnTo>
                  <a:pt x="4348" y="1198"/>
                </a:lnTo>
                <a:lnTo>
                  <a:pt x="4344" y="1203"/>
                </a:lnTo>
                <a:lnTo>
                  <a:pt x="4344" y="1209"/>
                </a:lnTo>
                <a:lnTo>
                  <a:pt x="4346" y="1216"/>
                </a:lnTo>
                <a:lnTo>
                  <a:pt x="4346" y="1216"/>
                </a:lnTo>
                <a:lnTo>
                  <a:pt x="4348" y="1222"/>
                </a:lnTo>
                <a:lnTo>
                  <a:pt x="4353" y="1225"/>
                </a:lnTo>
                <a:lnTo>
                  <a:pt x="4359" y="1229"/>
                </a:lnTo>
                <a:lnTo>
                  <a:pt x="4364" y="1231"/>
                </a:lnTo>
                <a:lnTo>
                  <a:pt x="4379" y="1231"/>
                </a:lnTo>
                <a:lnTo>
                  <a:pt x="4392" y="1233"/>
                </a:lnTo>
                <a:lnTo>
                  <a:pt x="4392" y="1233"/>
                </a:lnTo>
                <a:lnTo>
                  <a:pt x="4395" y="1236"/>
                </a:lnTo>
                <a:lnTo>
                  <a:pt x="4399" y="1238"/>
                </a:lnTo>
                <a:lnTo>
                  <a:pt x="4402" y="1244"/>
                </a:lnTo>
                <a:lnTo>
                  <a:pt x="4402" y="1249"/>
                </a:lnTo>
                <a:lnTo>
                  <a:pt x="4402" y="1249"/>
                </a:lnTo>
                <a:lnTo>
                  <a:pt x="4401" y="1253"/>
                </a:lnTo>
                <a:lnTo>
                  <a:pt x="4397" y="1255"/>
                </a:lnTo>
                <a:lnTo>
                  <a:pt x="4388" y="1260"/>
                </a:lnTo>
                <a:lnTo>
                  <a:pt x="4377" y="1264"/>
                </a:lnTo>
                <a:lnTo>
                  <a:pt x="4373" y="1267"/>
                </a:lnTo>
                <a:lnTo>
                  <a:pt x="4372" y="1271"/>
                </a:lnTo>
                <a:lnTo>
                  <a:pt x="4372" y="1271"/>
                </a:lnTo>
                <a:lnTo>
                  <a:pt x="4370" y="1280"/>
                </a:lnTo>
                <a:lnTo>
                  <a:pt x="4372" y="1288"/>
                </a:lnTo>
                <a:lnTo>
                  <a:pt x="4375" y="1302"/>
                </a:lnTo>
                <a:lnTo>
                  <a:pt x="4375" y="1302"/>
                </a:lnTo>
                <a:lnTo>
                  <a:pt x="4375" y="1308"/>
                </a:lnTo>
                <a:lnTo>
                  <a:pt x="4375" y="1313"/>
                </a:lnTo>
                <a:lnTo>
                  <a:pt x="4373" y="1317"/>
                </a:lnTo>
                <a:lnTo>
                  <a:pt x="4373" y="1322"/>
                </a:lnTo>
                <a:lnTo>
                  <a:pt x="4373" y="1322"/>
                </a:lnTo>
                <a:lnTo>
                  <a:pt x="4375" y="1328"/>
                </a:lnTo>
                <a:lnTo>
                  <a:pt x="4377" y="1332"/>
                </a:lnTo>
                <a:lnTo>
                  <a:pt x="4382" y="1341"/>
                </a:lnTo>
                <a:lnTo>
                  <a:pt x="4388" y="1350"/>
                </a:lnTo>
                <a:lnTo>
                  <a:pt x="4390" y="1359"/>
                </a:lnTo>
                <a:lnTo>
                  <a:pt x="4390" y="1359"/>
                </a:lnTo>
                <a:lnTo>
                  <a:pt x="4390" y="1372"/>
                </a:lnTo>
                <a:lnTo>
                  <a:pt x="4390" y="1372"/>
                </a:lnTo>
                <a:lnTo>
                  <a:pt x="4386" y="1383"/>
                </a:lnTo>
                <a:lnTo>
                  <a:pt x="4386" y="1389"/>
                </a:lnTo>
                <a:lnTo>
                  <a:pt x="4390" y="1394"/>
                </a:lnTo>
                <a:lnTo>
                  <a:pt x="4390" y="1394"/>
                </a:lnTo>
                <a:lnTo>
                  <a:pt x="4393" y="1400"/>
                </a:lnTo>
                <a:lnTo>
                  <a:pt x="4395" y="1405"/>
                </a:lnTo>
                <a:lnTo>
                  <a:pt x="4397" y="1411"/>
                </a:lnTo>
                <a:lnTo>
                  <a:pt x="4395" y="1418"/>
                </a:lnTo>
                <a:lnTo>
                  <a:pt x="4395" y="1418"/>
                </a:lnTo>
                <a:lnTo>
                  <a:pt x="4392" y="1425"/>
                </a:lnTo>
                <a:lnTo>
                  <a:pt x="4386" y="1431"/>
                </a:lnTo>
                <a:lnTo>
                  <a:pt x="4377" y="1444"/>
                </a:lnTo>
                <a:lnTo>
                  <a:pt x="4366" y="1455"/>
                </a:lnTo>
                <a:lnTo>
                  <a:pt x="4363" y="1460"/>
                </a:lnTo>
                <a:lnTo>
                  <a:pt x="4359" y="1467"/>
                </a:lnTo>
                <a:lnTo>
                  <a:pt x="4359" y="1467"/>
                </a:lnTo>
                <a:lnTo>
                  <a:pt x="4353" y="1482"/>
                </a:lnTo>
                <a:lnTo>
                  <a:pt x="4350" y="1499"/>
                </a:lnTo>
                <a:lnTo>
                  <a:pt x="4343" y="1511"/>
                </a:lnTo>
                <a:lnTo>
                  <a:pt x="4339" y="1519"/>
                </a:lnTo>
                <a:lnTo>
                  <a:pt x="4334" y="1524"/>
                </a:lnTo>
                <a:lnTo>
                  <a:pt x="4334" y="1524"/>
                </a:lnTo>
                <a:lnTo>
                  <a:pt x="4326" y="1530"/>
                </a:lnTo>
                <a:lnTo>
                  <a:pt x="4319" y="1535"/>
                </a:lnTo>
                <a:lnTo>
                  <a:pt x="4319" y="1535"/>
                </a:lnTo>
                <a:lnTo>
                  <a:pt x="4308" y="1539"/>
                </a:lnTo>
                <a:lnTo>
                  <a:pt x="4296" y="1543"/>
                </a:lnTo>
                <a:lnTo>
                  <a:pt x="4272" y="1548"/>
                </a:lnTo>
                <a:lnTo>
                  <a:pt x="4272" y="1548"/>
                </a:lnTo>
                <a:lnTo>
                  <a:pt x="4261" y="1552"/>
                </a:lnTo>
                <a:lnTo>
                  <a:pt x="4254" y="1555"/>
                </a:lnTo>
                <a:lnTo>
                  <a:pt x="4247" y="1561"/>
                </a:lnTo>
                <a:lnTo>
                  <a:pt x="4239" y="1570"/>
                </a:lnTo>
                <a:lnTo>
                  <a:pt x="4239" y="1570"/>
                </a:lnTo>
                <a:lnTo>
                  <a:pt x="4236" y="1576"/>
                </a:lnTo>
                <a:lnTo>
                  <a:pt x="4232" y="1577"/>
                </a:lnTo>
                <a:lnTo>
                  <a:pt x="4228" y="1577"/>
                </a:lnTo>
                <a:lnTo>
                  <a:pt x="4223" y="1574"/>
                </a:lnTo>
                <a:lnTo>
                  <a:pt x="4223" y="1574"/>
                </a:lnTo>
                <a:lnTo>
                  <a:pt x="4219" y="1568"/>
                </a:lnTo>
                <a:lnTo>
                  <a:pt x="4214" y="1565"/>
                </a:lnTo>
                <a:lnTo>
                  <a:pt x="4209" y="1563"/>
                </a:lnTo>
                <a:lnTo>
                  <a:pt x="4203" y="1563"/>
                </a:lnTo>
                <a:lnTo>
                  <a:pt x="4194" y="1565"/>
                </a:lnTo>
                <a:lnTo>
                  <a:pt x="4187" y="1570"/>
                </a:lnTo>
                <a:lnTo>
                  <a:pt x="4180" y="1577"/>
                </a:lnTo>
                <a:lnTo>
                  <a:pt x="4174" y="1588"/>
                </a:lnTo>
                <a:lnTo>
                  <a:pt x="4171" y="1599"/>
                </a:lnTo>
                <a:lnTo>
                  <a:pt x="4171" y="1612"/>
                </a:lnTo>
                <a:lnTo>
                  <a:pt x="4171" y="1612"/>
                </a:lnTo>
                <a:lnTo>
                  <a:pt x="4171" y="1620"/>
                </a:lnTo>
                <a:lnTo>
                  <a:pt x="4174" y="1627"/>
                </a:lnTo>
                <a:lnTo>
                  <a:pt x="4183" y="1643"/>
                </a:lnTo>
                <a:lnTo>
                  <a:pt x="4194" y="1656"/>
                </a:lnTo>
                <a:lnTo>
                  <a:pt x="4205" y="1671"/>
                </a:lnTo>
                <a:lnTo>
                  <a:pt x="4205" y="1671"/>
                </a:lnTo>
                <a:lnTo>
                  <a:pt x="4212" y="1689"/>
                </a:lnTo>
                <a:lnTo>
                  <a:pt x="4216" y="1708"/>
                </a:lnTo>
                <a:lnTo>
                  <a:pt x="4218" y="1728"/>
                </a:lnTo>
                <a:lnTo>
                  <a:pt x="4216" y="1737"/>
                </a:lnTo>
                <a:lnTo>
                  <a:pt x="4214" y="1746"/>
                </a:lnTo>
                <a:lnTo>
                  <a:pt x="4214" y="1746"/>
                </a:lnTo>
                <a:lnTo>
                  <a:pt x="4209" y="1757"/>
                </a:lnTo>
                <a:lnTo>
                  <a:pt x="4199" y="1765"/>
                </a:lnTo>
                <a:lnTo>
                  <a:pt x="4199" y="1765"/>
                </a:lnTo>
                <a:lnTo>
                  <a:pt x="4185" y="1781"/>
                </a:lnTo>
                <a:lnTo>
                  <a:pt x="4178" y="1788"/>
                </a:lnTo>
                <a:lnTo>
                  <a:pt x="4172" y="1798"/>
                </a:lnTo>
                <a:lnTo>
                  <a:pt x="4172" y="1798"/>
                </a:lnTo>
                <a:lnTo>
                  <a:pt x="4167" y="1805"/>
                </a:lnTo>
                <a:lnTo>
                  <a:pt x="4161" y="1809"/>
                </a:lnTo>
                <a:lnTo>
                  <a:pt x="4156" y="1810"/>
                </a:lnTo>
                <a:lnTo>
                  <a:pt x="4151" y="1807"/>
                </a:lnTo>
                <a:lnTo>
                  <a:pt x="4151" y="1807"/>
                </a:lnTo>
                <a:lnTo>
                  <a:pt x="4143" y="1799"/>
                </a:lnTo>
                <a:lnTo>
                  <a:pt x="4136" y="1788"/>
                </a:lnTo>
                <a:lnTo>
                  <a:pt x="4127" y="1766"/>
                </a:lnTo>
                <a:lnTo>
                  <a:pt x="4127" y="1766"/>
                </a:lnTo>
                <a:lnTo>
                  <a:pt x="4122" y="1759"/>
                </a:lnTo>
                <a:lnTo>
                  <a:pt x="4114" y="1752"/>
                </a:lnTo>
                <a:lnTo>
                  <a:pt x="4107" y="1746"/>
                </a:lnTo>
                <a:lnTo>
                  <a:pt x="4100" y="1743"/>
                </a:lnTo>
                <a:lnTo>
                  <a:pt x="4100" y="1743"/>
                </a:lnTo>
                <a:lnTo>
                  <a:pt x="4087" y="1735"/>
                </a:lnTo>
                <a:lnTo>
                  <a:pt x="4082" y="1732"/>
                </a:lnTo>
                <a:lnTo>
                  <a:pt x="4076" y="1732"/>
                </a:lnTo>
                <a:lnTo>
                  <a:pt x="4076" y="1732"/>
                </a:lnTo>
                <a:lnTo>
                  <a:pt x="4073" y="1735"/>
                </a:lnTo>
                <a:lnTo>
                  <a:pt x="4071" y="1741"/>
                </a:lnTo>
                <a:lnTo>
                  <a:pt x="4067" y="1752"/>
                </a:lnTo>
                <a:lnTo>
                  <a:pt x="4067" y="1752"/>
                </a:lnTo>
                <a:lnTo>
                  <a:pt x="4065" y="1777"/>
                </a:lnTo>
                <a:lnTo>
                  <a:pt x="4064" y="1790"/>
                </a:lnTo>
                <a:lnTo>
                  <a:pt x="4065" y="1801"/>
                </a:lnTo>
                <a:lnTo>
                  <a:pt x="4065" y="1801"/>
                </a:lnTo>
                <a:lnTo>
                  <a:pt x="4069" y="1810"/>
                </a:lnTo>
                <a:lnTo>
                  <a:pt x="4074" y="1818"/>
                </a:lnTo>
                <a:lnTo>
                  <a:pt x="4085" y="1831"/>
                </a:lnTo>
                <a:lnTo>
                  <a:pt x="4098" y="1843"/>
                </a:lnTo>
                <a:lnTo>
                  <a:pt x="4105" y="1851"/>
                </a:lnTo>
                <a:lnTo>
                  <a:pt x="4109" y="1858"/>
                </a:lnTo>
                <a:lnTo>
                  <a:pt x="4109" y="1858"/>
                </a:lnTo>
                <a:lnTo>
                  <a:pt x="4113" y="1865"/>
                </a:lnTo>
                <a:lnTo>
                  <a:pt x="4116" y="1873"/>
                </a:lnTo>
                <a:lnTo>
                  <a:pt x="4120" y="1889"/>
                </a:lnTo>
                <a:lnTo>
                  <a:pt x="4120" y="1889"/>
                </a:lnTo>
                <a:lnTo>
                  <a:pt x="4125" y="1904"/>
                </a:lnTo>
                <a:lnTo>
                  <a:pt x="4131" y="1919"/>
                </a:lnTo>
                <a:lnTo>
                  <a:pt x="4131" y="1919"/>
                </a:lnTo>
                <a:lnTo>
                  <a:pt x="4132" y="1924"/>
                </a:lnTo>
                <a:lnTo>
                  <a:pt x="4134" y="1930"/>
                </a:lnTo>
                <a:lnTo>
                  <a:pt x="4132" y="1937"/>
                </a:lnTo>
                <a:lnTo>
                  <a:pt x="4131" y="1941"/>
                </a:lnTo>
                <a:lnTo>
                  <a:pt x="4131" y="1941"/>
                </a:lnTo>
                <a:lnTo>
                  <a:pt x="4123" y="1942"/>
                </a:lnTo>
                <a:lnTo>
                  <a:pt x="4118" y="1941"/>
                </a:lnTo>
                <a:lnTo>
                  <a:pt x="4111" y="1939"/>
                </a:lnTo>
                <a:lnTo>
                  <a:pt x="4105" y="1935"/>
                </a:lnTo>
                <a:lnTo>
                  <a:pt x="4105" y="1935"/>
                </a:lnTo>
                <a:lnTo>
                  <a:pt x="4096" y="1928"/>
                </a:lnTo>
                <a:lnTo>
                  <a:pt x="4087" y="1919"/>
                </a:lnTo>
                <a:lnTo>
                  <a:pt x="4087" y="1919"/>
                </a:lnTo>
                <a:lnTo>
                  <a:pt x="4082" y="1909"/>
                </a:lnTo>
                <a:lnTo>
                  <a:pt x="4080" y="1898"/>
                </a:lnTo>
                <a:lnTo>
                  <a:pt x="4076" y="1876"/>
                </a:lnTo>
                <a:lnTo>
                  <a:pt x="4076" y="1876"/>
                </a:lnTo>
                <a:lnTo>
                  <a:pt x="4074" y="1856"/>
                </a:lnTo>
                <a:lnTo>
                  <a:pt x="4073" y="1845"/>
                </a:lnTo>
                <a:lnTo>
                  <a:pt x="4069" y="1836"/>
                </a:lnTo>
                <a:lnTo>
                  <a:pt x="4069" y="1836"/>
                </a:lnTo>
                <a:lnTo>
                  <a:pt x="4064" y="1827"/>
                </a:lnTo>
                <a:lnTo>
                  <a:pt x="4058" y="1820"/>
                </a:lnTo>
                <a:lnTo>
                  <a:pt x="4058" y="1820"/>
                </a:lnTo>
                <a:lnTo>
                  <a:pt x="4055" y="1810"/>
                </a:lnTo>
                <a:lnTo>
                  <a:pt x="4053" y="1803"/>
                </a:lnTo>
                <a:lnTo>
                  <a:pt x="4053" y="1788"/>
                </a:lnTo>
                <a:lnTo>
                  <a:pt x="4055" y="1774"/>
                </a:lnTo>
                <a:lnTo>
                  <a:pt x="4055" y="1757"/>
                </a:lnTo>
                <a:lnTo>
                  <a:pt x="4055" y="1757"/>
                </a:lnTo>
                <a:lnTo>
                  <a:pt x="4053" y="1744"/>
                </a:lnTo>
                <a:lnTo>
                  <a:pt x="4049" y="1733"/>
                </a:lnTo>
                <a:lnTo>
                  <a:pt x="4044" y="1708"/>
                </a:lnTo>
                <a:lnTo>
                  <a:pt x="4044" y="1708"/>
                </a:lnTo>
                <a:lnTo>
                  <a:pt x="4042" y="1695"/>
                </a:lnTo>
                <a:lnTo>
                  <a:pt x="4038" y="1680"/>
                </a:lnTo>
                <a:lnTo>
                  <a:pt x="4033" y="1667"/>
                </a:lnTo>
                <a:lnTo>
                  <a:pt x="4029" y="1662"/>
                </a:lnTo>
                <a:lnTo>
                  <a:pt x="4026" y="1656"/>
                </a:lnTo>
                <a:lnTo>
                  <a:pt x="4026" y="1656"/>
                </a:lnTo>
                <a:lnTo>
                  <a:pt x="4022" y="1654"/>
                </a:lnTo>
                <a:lnTo>
                  <a:pt x="4018" y="1654"/>
                </a:lnTo>
                <a:lnTo>
                  <a:pt x="4013" y="1656"/>
                </a:lnTo>
                <a:lnTo>
                  <a:pt x="4004" y="1665"/>
                </a:lnTo>
                <a:lnTo>
                  <a:pt x="4004" y="1665"/>
                </a:lnTo>
                <a:lnTo>
                  <a:pt x="3995" y="1669"/>
                </a:lnTo>
                <a:lnTo>
                  <a:pt x="3989" y="1671"/>
                </a:lnTo>
                <a:lnTo>
                  <a:pt x="3986" y="1671"/>
                </a:lnTo>
                <a:lnTo>
                  <a:pt x="3986" y="1671"/>
                </a:lnTo>
                <a:lnTo>
                  <a:pt x="3984" y="1667"/>
                </a:lnTo>
                <a:lnTo>
                  <a:pt x="3982" y="1665"/>
                </a:lnTo>
                <a:lnTo>
                  <a:pt x="3982" y="1658"/>
                </a:lnTo>
                <a:lnTo>
                  <a:pt x="3984" y="1653"/>
                </a:lnTo>
                <a:lnTo>
                  <a:pt x="3986" y="1647"/>
                </a:lnTo>
                <a:lnTo>
                  <a:pt x="3986" y="1647"/>
                </a:lnTo>
                <a:lnTo>
                  <a:pt x="3988" y="1636"/>
                </a:lnTo>
                <a:lnTo>
                  <a:pt x="3988" y="1631"/>
                </a:lnTo>
                <a:lnTo>
                  <a:pt x="3986" y="1625"/>
                </a:lnTo>
                <a:lnTo>
                  <a:pt x="3986" y="1625"/>
                </a:lnTo>
                <a:lnTo>
                  <a:pt x="3980" y="1618"/>
                </a:lnTo>
                <a:lnTo>
                  <a:pt x="3977" y="1609"/>
                </a:lnTo>
                <a:lnTo>
                  <a:pt x="3977" y="1609"/>
                </a:lnTo>
                <a:lnTo>
                  <a:pt x="3975" y="1599"/>
                </a:lnTo>
                <a:lnTo>
                  <a:pt x="3973" y="1596"/>
                </a:lnTo>
                <a:lnTo>
                  <a:pt x="3969" y="1592"/>
                </a:lnTo>
                <a:lnTo>
                  <a:pt x="3969" y="1592"/>
                </a:lnTo>
                <a:lnTo>
                  <a:pt x="3962" y="1588"/>
                </a:lnTo>
                <a:lnTo>
                  <a:pt x="3960" y="1587"/>
                </a:lnTo>
                <a:lnTo>
                  <a:pt x="3957" y="1585"/>
                </a:lnTo>
                <a:lnTo>
                  <a:pt x="3957" y="1585"/>
                </a:lnTo>
                <a:lnTo>
                  <a:pt x="3953" y="1577"/>
                </a:lnTo>
                <a:lnTo>
                  <a:pt x="3949" y="1568"/>
                </a:lnTo>
                <a:lnTo>
                  <a:pt x="3946" y="1561"/>
                </a:lnTo>
                <a:lnTo>
                  <a:pt x="3942" y="1554"/>
                </a:lnTo>
                <a:lnTo>
                  <a:pt x="3942" y="1554"/>
                </a:lnTo>
                <a:lnTo>
                  <a:pt x="3935" y="1548"/>
                </a:lnTo>
                <a:lnTo>
                  <a:pt x="3931" y="1546"/>
                </a:lnTo>
                <a:lnTo>
                  <a:pt x="3928" y="1546"/>
                </a:lnTo>
                <a:lnTo>
                  <a:pt x="3928" y="1546"/>
                </a:lnTo>
                <a:lnTo>
                  <a:pt x="3922" y="1550"/>
                </a:lnTo>
                <a:lnTo>
                  <a:pt x="3919" y="1555"/>
                </a:lnTo>
                <a:lnTo>
                  <a:pt x="3915" y="1563"/>
                </a:lnTo>
                <a:lnTo>
                  <a:pt x="3910" y="1566"/>
                </a:lnTo>
                <a:lnTo>
                  <a:pt x="3910" y="1566"/>
                </a:lnTo>
                <a:lnTo>
                  <a:pt x="3904" y="1570"/>
                </a:lnTo>
                <a:lnTo>
                  <a:pt x="3899" y="1570"/>
                </a:lnTo>
                <a:lnTo>
                  <a:pt x="3892" y="1572"/>
                </a:lnTo>
                <a:lnTo>
                  <a:pt x="3886" y="1572"/>
                </a:lnTo>
                <a:lnTo>
                  <a:pt x="3886" y="1572"/>
                </a:lnTo>
                <a:lnTo>
                  <a:pt x="3881" y="1577"/>
                </a:lnTo>
                <a:lnTo>
                  <a:pt x="3875" y="1583"/>
                </a:lnTo>
                <a:lnTo>
                  <a:pt x="3875" y="1583"/>
                </a:lnTo>
                <a:lnTo>
                  <a:pt x="3866" y="1594"/>
                </a:lnTo>
                <a:lnTo>
                  <a:pt x="3863" y="1599"/>
                </a:lnTo>
                <a:lnTo>
                  <a:pt x="3857" y="1607"/>
                </a:lnTo>
                <a:lnTo>
                  <a:pt x="3857" y="1607"/>
                </a:lnTo>
                <a:lnTo>
                  <a:pt x="3853" y="1614"/>
                </a:lnTo>
                <a:lnTo>
                  <a:pt x="3848" y="1620"/>
                </a:lnTo>
                <a:lnTo>
                  <a:pt x="3837" y="1631"/>
                </a:lnTo>
                <a:lnTo>
                  <a:pt x="3824" y="1640"/>
                </a:lnTo>
                <a:lnTo>
                  <a:pt x="3810" y="1647"/>
                </a:lnTo>
                <a:lnTo>
                  <a:pt x="3810" y="1647"/>
                </a:lnTo>
                <a:lnTo>
                  <a:pt x="3795" y="1656"/>
                </a:lnTo>
                <a:lnTo>
                  <a:pt x="3790" y="1660"/>
                </a:lnTo>
                <a:lnTo>
                  <a:pt x="3785" y="1667"/>
                </a:lnTo>
                <a:lnTo>
                  <a:pt x="3785" y="1667"/>
                </a:lnTo>
                <a:lnTo>
                  <a:pt x="3781" y="1673"/>
                </a:lnTo>
                <a:lnTo>
                  <a:pt x="3777" y="1678"/>
                </a:lnTo>
                <a:lnTo>
                  <a:pt x="3777" y="1678"/>
                </a:lnTo>
                <a:lnTo>
                  <a:pt x="3772" y="1682"/>
                </a:lnTo>
                <a:lnTo>
                  <a:pt x="3766" y="1687"/>
                </a:lnTo>
                <a:lnTo>
                  <a:pt x="3766" y="1687"/>
                </a:lnTo>
                <a:lnTo>
                  <a:pt x="3765" y="1695"/>
                </a:lnTo>
                <a:lnTo>
                  <a:pt x="3763" y="1702"/>
                </a:lnTo>
                <a:lnTo>
                  <a:pt x="3765" y="1717"/>
                </a:lnTo>
                <a:lnTo>
                  <a:pt x="3765" y="1717"/>
                </a:lnTo>
                <a:lnTo>
                  <a:pt x="3768" y="1730"/>
                </a:lnTo>
                <a:lnTo>
                  <a:pt x="3768" y="1735"/>
                </a:lnTo>
                <a:lnTo>
                  <a:pt x="3768" y="1743"/>
                </a:lnTo>
                <a:lnTo>
                  <a:pt x="3768" y="1743"/>
                </a:lnTo>
                <a:lnTo>
                  <a:pt x="3765" y="1750"/>
                </a:lnTo>
                <a:lnTo>
                  <a:pt x="3761" y="1757"/>
                </a:lnTo>
                <a:lnTo>
                  <a:pt x="3761" y="1757"/>
                </a:lnTo>
                <a:lnTo>
                  <a:pt x="3759" y="1774"/>
                </a:lnTo>
                <a:lnTo>
                  <a:pt x="3759" y="1774"/>
                </a:lnTo>
                <a:lnTo>
                  <a:pt x="3757" y="1783"/>
                </a:lnTo>
                <a:lnTo>
                  <a:pt x="3754" y="1790"/>
                </a:lnTo>
                <a:lnTo>
                  <a:pt x="3748" y="1798"/>
                </a:lnTo>
                <a:lnTo>
                  <a:pt x="3741" y="1801"/>
                </a:lnTo>
                <a:lnTo>
                  <a:pt x="3741" y="1801"/>
                </a:lnTo>
                <a:lnTo>
                  <a:pt x="3734" y="1805"/>
                </a:lnTo>
                <a:lnTo>
                  <a:pt x="3727" y="1805"/>
                </a:lnTo>
                <a:lnTo>
                  <a:pt x="3719" y="1803"/>
                </a:lnTo>
                <a:lnTo>
                  <a:pt x="3712" y="1799"/>
                </a:lnTo>
                <a:lnTo>
                  <a:pt x="3707" y="1794"/>
                </a:lnTo>
                <a:lnTo>
                  <a:pt x="3703" y="1787"/>
                </a:lnTo>
                <a:lnTo>
                  <a:pt x="3699" y="1779"/>
                </a:lnTo>
                <a:lnTo>
                  <a:pt x="3698" y="1772"/>
                </a:lnTo>
                <a:lnTo>
                  <a:pt x="3698" y="1772"/>
                </a:lnTo>
                <a:lnTo>
                  <a:pt x="3692" y="1748"/>
                </a:lnTo>
                <a:lnTo>
                  <a:pt x="3687" y="1724"/>
                </a:lnTo>
                <a:lnTo>
                  <a:pt x="3687" y="1724"/>
                </a:lnTo>
                <a:lnTo>
                  <a:pt x="3683" y="1706"/>
                </a:lnTo>
                <a:lnTo>
                  <a:pt x="3680" y="1687"/>
                </a:lnTo>
                <a:lnTo>
                  <a:pt x="3680" y="1687"/>
                </a:lnTo>
                <a:lnTo>
                  <a:pt x="3676" y="1665"/>
                </a:lnTo>
                <a:lnTo>
                  <a:pt x="3670" y="1654"/>
                </a:lnTo>
                <a:lnTo>
                  <a:pt x="3665" y="1643"/>
                </a:lnTo>
                <a:lnTo>
                  <a:pt x="3665" y="1643"/>
                </a:lnTo>
                <a:lnTo>
                  <a:pt x="3660" y="1632"/>
                </a:lnTo>
                <a:lnTo>
                  <a:pt x="3656" y="1621"/>
                </a:lnTo>
                <a:lnTo>
                  <a:pt x="3652" y="1610"/>
                </a:lnTo>
                <a:lnTo>
                  <a:pt x="3652" y="1598"/>
                </a:lnTo>
                <a:lnTo>
                  <a:pt x="3652" y="1598"/>
                </a:lnTo>
                <a:lnTo>
                  <a:pt x="3656" y="1579"/>
                </a:lnTo>
                <a:lnTo>
                  <a:pt x="3656" y="1568"/>
                </a:lnTo>
                <a:lnTo>
                  <a:pt x="3654" y="1559"/>
                </a:lnTo>
                <a:lnTo>
                  <a:pt x="3654" y="1559"/>
                </a:lnTo>
                <a:lnTo>
                  <a:pt x="3652" y="1555"/>
                </a:lnTo>
                <a:lnTo>
                  <a:pt x="3649" y="1554"/>
                </a:lnTo>
                <a:lnTo>
                  <a:pt x="3643" y="1557"/>
                </a:lnTo>
                <a:lnTo>
                  <a:pt x="3641" y="1561"/>
                </a:lnTo>
                <a:lnTo>
                  <a:pt x="3641" y="1561"/>
                </a:lnTo>
                <a:lnTo>
                  <a:pt x="3634" y="1574"/>
                </a:lnTo>
                <a:lnTo>
                  <a:pt x="3631" y="1577"/>
                </a:lnTo>
                <a:lnTo>
                  <a:pt x="3623" y="1577"/>
                </a:lnTo>
                <a:lnTo>
                  <a:pt x="3623" y="1577"/>
                </a:lnTo>
                <a:lnTo>
                  <a:pt x="3616" y="1577"/>
                </a:lnTo>
                <a:lnTo>
                  <a:pt x="3609" y="1574"/>
                </a:lnTo>
                <a:lnTo>
                  <a:pt x="3605" y="1566"/>
                </a:lnTo>
                <a:lnTo>
                  <a:pt x="3603" y="1559"/>
                </a:lnTo>
                <a:lnTo>
                  <a:pt x="3603" y="1559"/>
                </a:lnTo>
                <a:lnTo>
                  <a:pt x="3605" y="1555"/>
                </a:lnTo>
                <a:lnTo>
                  <a:pt x="3607" y="1552"/>
                </a:lnTo>
                <a:lnTo>
                  <a:pt x="3613" y="1546"/>
                </a:lnTo>
                <a:lnTo>
                  <a:pt x="3614" y="1544"/>
                </a:lnTo>
                <a:lnTo>
                  <a:pt x="3614" y="1543"/>
                </a:lnTo>
                <a:lnTo>
                  <a:pt x="3614" y="1539"/>
                </a:lnTo>
                <a:lnTo>
                  <a:pt x="3611" y="1535"/>
                </a:lnTo>
                <a:lnTo>
                  <a:pt x="3611" y="1535"/>
                </a:lnTo>
                <a:lnTo>
                  <a:pt x="3605" y="1530"/>
                </a:lnTo>
                <a:lnTo>
                  <a:pt x="3598" y="1528"/>
                </a:lnTo>
                <a:lnTo>
                  <a:pt x="3591" y="1522"/>
                </a:lnTo>
                <a:lnTo>
                  <a:pt x="3585" y="1517"/>
                </a:lnTo>
                <a:lnTo>
                  <a:pt x="3585" y="1517"/>
                </a:lnTo>
                <a:lnTo>
                  <a:pt x="3582" y="1508"/>
                </a:lnTo>
                <a:lnTo>
                  <a:pt x="3578" y="1497"/>
                </a:lnTo>
                <a:lnTo>
                  <a:pt x="3576" y="1488"/>
                </a:lnTo>
                <a:lnTo>
                  <a:pt x="3573" y="1482"/>
                </a:lnTo>
                <a:lnTo>
                  <a:pt x="3569" y="1478"/>
                </a:lnTo>
                <a:lnTo>
                  <a:pt x="3569" y="1478"/>
                </a:lnTo>
                <a:lnTo>
                  <a:pt x="3564" y="1475"/>
                </a:lnTo>
                <a:lnTo>
                  <a:pt x="3558" y="1473"/>
                </a:lnTo>
                <a:lnTo>
                  <a:pt x="3553" y="1471"/>
                </a:lnTo>
                <a:lnTo>
                  <a:pt x="3547" y="1473"/>
                </a:lnTo>
                <a:lnTo>
                  <a:pt x="3535" y="1477"/>
                </a:lnTo>
                <a:lnTo>
                  <a:pt x="3524" y="1480"/>
                </a:lnTo>
                <a:lnTo>
                  <a:pt x="3524" y="1480"/>
                </a:lnTo>
                <a:lnTo>
                  <a:pt x="3513" y="1484"/>
                </a:lnTo>
                <a:lnTo>
                  <a:pt x="3500" y="1486"/>
                </a:lnTo>
                <a:lnTo>
                  <a:pt x="3489" y="1486"/>
                </a:lnTo>
                <a:lnTo>
                  <a:pt x="3478" y="1486"/>
                </a:lnTo>
                <a:lnTo>
                  <a:pt x="3478" y="1486"/>
                </a:lnTo>
                <a:lnTo>
                  <a:pt x="3462" y="1482"/>
                </a:lnTo>
                <a:lnTo>
                  <a:pt x="3446" y="1480"/>
                </a:lnTo>
                <a:lnTo>
                  <a:pt x="3446" y="1480"/>
                </a:lnTo>
                <a:lnTo>
                  <a:pt x="3437" y="1477"/>
                </a:lnTo>
                <a:lnTo>
                  <a:pt x="3430" y="1471"/>
                </a:lnTo>
                <a:lnTo>
                  <a:pt x="3417" y="1458"/>
                </a:lnTo>
                <a:lnTo>
                  <a:pt x="3417" y="1458"/>
                </a:lnTo>
                <a:lnTo>
                  <a:pt x="3406" y="1451"/>
                </a:lnTo>
                <a:lnTo>
                  <a:pt x="3395" y="1445"/>
                </a:lnTo>
                <a:lnTo>
                  <a:pt x="3384" y="1444"/>
                </a:lnTo>
                <a:lnTo>
                  <a:pt x="3372" y="1445"/>
                </a:lnTo>
                <a:lnTo>
                  <a:pt x="3372" y="1445"/>
                </a:lnTo>
                <a:lnTo>
                  <a:pt x="3359" y="1444"/>
                </a:lnTo>
                <a:lnTo>
                  <a:pt x="3346" y="1442"/>
                </a:lnTo>
                <a:lnTo>
                  <a:pt x="3341" y="1440"/>
                </a:lnTo>
                <a:lnTo>
                  <a:pt x="3335" y="1436"/>
                </a:lnTo>
                <a:lnTo>
                  <a:pt x="3332" y="1431"/>
                </a:lnTo>
                <a:lnTo>
                  <a:pt x="3328" y="1425"/>
                </a:lnTo>
                <a:lnTo>
                  <a:pt x="3328" y="1425"/>
                </a:lnTo>
                <a:lnTo>
                  <a:pt x="3324" y="1414"/>
                </a:lnTo>
                <a:lnTo>
                  <a:pt x="3323" y="1405"/>
                </a:lnTo>
                <a:lnTo>
                  <a:pt x="3319" y="1396"/>
                </a:lnTo>
                <a:lnTo>
                  <a:pt x="3315" y="1390"/>
                </a:lnTo>
                <a:lnTo>
                  <a:pt x="3312" y="1387"/>
                </a:lnTo>
                <a:lnTo>
                  <a:pt x="3312" y="1387"/>
                </a:lnTo>
                <a:lnTo>
                  <a:pt x="3308" y="1385"/>
                </a:lnTo>
                <a:lnTo>
                  <a:pt x="3303" y="1383"/>
                </a:lnTo>
                <a:lnTo>
                  <a:pt x="3297" y="1385"/>
                </a:lnTo>
                <a:lnTo>
                  <a:pt x="3292" y="1387"/>
                </a:lnTo>
                <a:lnTo>
                  <a:pt x="3288" y="1390"/>
                </a:lnTo>
                <a:lnTo>
                  <a:pt x="3285" y="1396"/>
                </a:lnTo>
                <a:lnTo>
                  <a:pt x="3283" y="1401"/>
                </a:lnTo>
                <a:lnTo>
                  <a:pt x="3281" y="1407"/>
                </a:lnTo>
                <a:lnTo>
                  <a:pt x="3281" y="1407"/>
                </a:lnTo>
                <a:lnTo>
                  <a:pt x="3283" y="1412"/>
                </a:lnTo>
                <a:lnTo>
                  <a:pt x="3285" y="1416"/>
                </a:lnTo>
                <a:lnTo>
                  <a:pt x="3290" y="1423"/>
                </a:lnTo>
                <a:lnTo>
                  <a:pt x="3290" y="1423"/>
                </a:lnTo>
                <a:lnTo>
                  <a:pt x="3301" y="1436"/>
                </a:lnTo>
                <a:lnTo>
                  <a:pt x="3306" y="1444"/>
                </a:lnTo>
                <a:lnTo>
                  <a:pt x="3310" y="1451"/>
                </a:lnTo>
                <a:lnTo>
                  <a:pt x="3310" y="1451"/>
                </a:lnTo>
                <a:lnTo>
                  <a:pt x="3310" y="1456"/>
                </a:lnTo>
                <a:lnTo>
                  <a:pt x="3310" y="1462"/>
                </a:lnTo>
                <a:lnTo>
                  <a:pt x="3310" y="1475"/>
                </a:lnTo>
                <a:lnTo>
                  <a:pt x="3310" y="1475"/>
                </a:lnTo>
                <a:lnTo>
                  <a:pt x="3314" y="1480"/>
                </a:lnTo>
                <a:lnTo>
                  <a:pt x="3315" y="1488"/>
                </a:lnTo>
                <a:lnTo>
                  <a:pt x="3326" y="1497"/>
                </a:lnTo>
                <a:lnTo>
                  <a:pt x="3326" y="1497"/>
                </a:lnTo>
                <a:lnTo>
                  <a:pt x="3337" y="1504"/>
                </a:lnTo>
                <a:lnTo>
                  <a:pt x="3350" y="1513"/>
                </a:lnTo>
                <a:lnTo>
                  <a:pt x="3364" y="1519"/>
                </a:lnTo>
                <a:lnTo>
                  <a:pt x="3372" y="1521"/>
                </a:lnTo>
                <a:lnTo>
                  <a:pt x="3377" y="1519"/>
                </a:lnTo>
                <a:lnTo>
                  <a:pt x="3377" y="1519"/>
                </a:lnTo>
                <a:lnTo>
                  <a:pt x="3382" y="1517"/>
                </a:lnTo>
                <a:lnTo>
                  <a:pt x="3386" y="1513"/>
                </a:lnTo>
                <a:lnTo>
                  <a:pt x="3390" y="1504"/>
                </a:lnTo>
                <a:lnTo>
                  <a:pt x="3395" y="1495"/>
                </a:lnTo>
                <a:lnTo>
                  <a:pt x="3399" y="1491"/>
                </a:lnTo>
                <a:lnTo>
                  <a:pt x="3402" y="1489"/>
                </a:lnTo>
                <a:lnTo>
                  <a:pt x="3402" y="1489"/>
                </a:lnTo>
                <a:lnTo>
                  <a:pt x="3410" y="1488"/>
                </a:lnTo>
                <a:lnTo>
                  <a:pt x="3413" y="1491"/>
                </a:lnTo>
                <a:lnTo>
                  <a:pt x="3420" y="1500"/>
                </a:lnTo>
                <a:lnTo>
                  <a:pt x="3420" y="1500"/>
                </a:lnTo>
                <a:lnTo>
                  <a:pt x="3424" y="1506"/>
                </a:lnTo>
                <a:lnTo>
                  <a:pt x="3428" y="1508"/>
                </a:lnTo>
                <a:lnTo>
                  <a:pt x="3437" y="1513"/>
                </a:lnTo>
                <a:lnTo>
                  <a:pt x="3446" y="1519"/>
                </a:lnTo>
                <a:lnTo>
                  <a:pt x="3449" y="1522"/>
                </a:lnTo>
                <a:lnTo>
                  <a:pt x="3451" y="1528"/>
                </a:lnTo>
                <a:lnTo>
                  <a:pt x="3451" y="1528"/>
                </a:lnTo>
                <a:lnTo>
                  <a:pt x="3455" y="1541"/>
                </a:lnTo>
                <a:lnTo>
                  <a:pt x="3455" y="1552"/>
                </a:lnTo>
                <a:lnTo>
                  <a:pt x="3453" y="1574"/>
                </a:lnTo>
                <a:lnTo>
                  <a:pt x="3453" y="1574"/>
                </a:lnTo>
                <a:lnTo>
                  <a:pt x="3451" y="1585"/>
                </a:lnTo>
                <a:lnTo>
                  <a:pt x="3448" y="1596"/>
                </a:lnTo>
                <a:lnTo>
                  <a:pt x="3444" y="1605"/>
                </a:lnTo>
                <a:lnTo>
                  <a:pt x="3435" y="1614"/>
                </a:lnTo>
                <a:lnTo>
                  <a:pt x="3435" y="1614"/>
                </a:lnTo>
                <a:lnTo>
                  <a:pt x="3430" y="1618"/>
                </a:lnTo>
                <a:lnTo>
                  <a:pt x="3422" y="1620"/>
                </a:lnTo>
                <a:lnTo>
                  <a:pt x="3408" y="1623"/>
                </a:lnTo>
                <a:lnTo>
                  <a:pt x="3408" y="1623"/>
                </a:lnTo>
                <a:lnTo>
                  <a:pt x="3399" y="1629"/>
                </a:lnTo>
                <a:lnTo>
                  <a:pt x="3388" y="1634"/>
                </a:lnTo>
                <a:lnTo>
                  <a:pt x="3388" y="1634"/>
                </a:lnTo>
                <a:lnTo>
                  <a:pt x="3364" y="1643"/>
                </a:lnTo>
                <a:lnTo>
                  <a:pt x="3353" y="1649"/>
                </a:lnTo>
                <a:lnTo>
                  <a:pt x="3350" y="1654"/>
                </a:lnTo>
                <a:lnTo>
                  <a:pt x="3346" y="1660"/>
                </a:lnTo>
                <a:lnTo>
                  <a:pt x="3346" y="1660"/>
                </a:lnTo>
                <a:lnTo>
                  <a:pt x="3346" y="1664"/>
                </a:lnTo>
                <a:lnTo>
                  <a:pt x="3346" y="1669"/>
                </a:lnTo>
                <a:lnTo>
                  <a:pt x="3344" y="1675"/>
                </a:lnTo>
                <a:lnTo>
                  <a:pt x="3343" y="1680"/>
                </a:lnTo>
                <a:lnTo>
                  <a:pt x="3343" y="1680"/>
                </a:lnTo>
                <a:lnTo>
                  <a:pt x="3341" y="1682"/>
                </a:lnTo>
                <a:lnTo>
                  <a:pt x="3337" y="1684"/>
                </a:lnTo>
                <a:lnTo>
                  <a:pt x="3330" y="1686"/>
                </a:lnTo>
                <a:lnTo>
                  <a:pt x="3323" y="1686"/>
                </a:lnTo>
                <a:lnTo>
                  <a:pt x="3317" y="1689"/>
                </a:lnTo>
                <a:lnTo>
                  <a:pt x="3317" y="1689"/>
                </a:lnTo>
                <a:lnTo>
                  <a:pt x="3314" y="1691"/>
                </a:lnTo>
                <a:lnTo>
                  <a:pt x="3310" y="1697"/>
                </a:lnTo>
                <a:lnTo>
                  <a:pt x="3308" y="1700"/>
                </a:lnTo>
                <a:lnTo>
                  <a:pt x="3305" y="1704"/>
                </a:lnTo>
                <a:lnTo>
                  <a:pt x="3305" y="1704"/>
                </a:lnTo>
                <a:lnTo>
                  <a:pt x="3297" y="1708"/>
                </a:lnTo>
                <a:lnTo>
                  <a:pt x="3290" y="1708"/>
                </a:lnTo>
                <a:lnTo>
                  <a:pt x="3281" y="1708"/>
                </a:lnTo>
                <a:lnTo>
                  <a:pt x="3272" y="1709"/>
                </a:lnTo>
                <a:lnTo>
                  <a:pt x="3272" y="1709"/>
                </a:lnTo>
                <a:lnTo>
                  <a:pt x="3254" y="1713"/>
                </a:lnTo>
                <a:lnTo>
                  <a:pt x="3245" y="1715"/>
                </a:lnTo>
                <a:lnTo>
                  <a:pt x="3236" y="1715"/>
                </a:lnTo>
                <a:lnTo>
                  <a:pt x="3236" y="1715"/>
                </a:lnTo>
                <a:lnTo>
                  <a:pt x="3227" y="1713"/>
                </a:lnTo>
                <a:lnTo>
                  <a:pt x="3219" y="1709"/>
                </a:lnTo>
                <a:lnTo>
                  <a:pt x="3214" y="1706"/>
                </a:lnTo>
                <a:lnTo>
                  <a:pt x="3210" y="1700"/>
                </a:lnTo>
                <a:lnTo>
                  <a:pt x="3207" y="1695"/>
                </a:lnTo>
                <a:lnTo>
                  <a:pt x="3203" y="1687"/>
                </a:lnTo>
                <a:lnTo>
                  <a:pt x="3201" y="1680"/>
                </a:lnTo>
                <a:lnTo>
                  <a:pt x="3201" y="1673"/>
                </a:lnTo>
                <a:lnTo>
                  <a:pt x="3201" y="1673"/>
                </a:lnTo>
                <a:lnTo>
                  <a:pt x="3203" y="1653"/>
                </a:lnTo>
                <a:lnTo>
                  <a:pt x="3201" y="1642"/>
                </a:lnTo>
                <a:lnTo>
                  <a:pt x="3201" y="1638"/>
                </a:lnTo>
                <a:lnTo>
                  <a:pt x="3198" y="1634"/>
                </a:lnTo>
                <a:lnTo>
                  <a:pt x="3198" y="1634"/>
                </a:lnTo>
                <a:lnTo>
                  <a:pt x="3192" y="1629"/>
                </a:lnTo>
                <a:lnTo>
                  <a:pt x="3187" y="1623"/>
                </a:lnTo>
                <a:lnTo>
                  <a:pt x="3180" y="1620"/>
                </a:lnTo>
                <a:lnTo>
                  <a:pt x="3176" y="1614"/>
                </a:lnTo>
                <a:lnTo>
                  <a:pt x="3176" y="1614"/>
                </a:lnTo>
                <a:lnTo>
                  <a:pt x="3172" y="1605"/>
                </a:lnTo>
                <a:lnTo>
                  <a:pt x="3170" y="1598"/>
                </a:lnTo>
                <a:lnTo>
                  <a:pt x="3169" y="1588"/>
                </a:lnTo>
                <a:lnTo>
                  <a:pt x="3165" y="1581"/>
                </a:lnTo>
                <a:lnTo>
                  <a:pt x="3165" y="1581"/>
                </a:lnTo>
                <a:lnTo>
                  <a:pt x="3158" y="1572"/>
                </a:lnTo>
                <a:lnTo>
                  <a:pt x="3154" y="1566"/>
                </a:lnTo>
                <a:lnTo>
                  <a:pt x="3152" y="1559"/>
                </a:lnTo>
                <a:lnTo>
                  <a:pt x="3152" y="1559"/>
                </a:lnTo>
                <a:lnTo>
                  <a:pt x="3151" y="1543"/>
                </a:lnTo>
                <a:lnTo>
                  <a:pt x="3147" y="1533"/>
                </a:lnTo>
                <a:lnTo>
                  <a:pt x="3141" y="1526"/>
                </a:lnTo>
                <a:lnTo>
                  <a:pt x="3141" y="1526"/>
                </a:lnTo>
                <a:lnTo>
                  <a:pt x="3132" y="1513"/>
                </a:lnTo>
                <a:lnTo>
                  <a:pt x="3129" y="1506"/>
                </a:lnTo>
                <a:lnTo>
                  <a:pt x="3127" y="1497"/>
                </a:lnTo>
                <a:lnTo>
                  <a:pt x="3127" y="1497"/>
                </a:lnTo>
                <a:lnTo>
                  <a:pt x="3125" y="1489"/>
                </a:lnTo>
                <a:lnTo>
                  <a:pt x="3123" y="1482"/>
                </a:lnTo>
                <a:lnTo>
                  <a:pt x="3114" y="1469"/>
                </a:lnTo>
                <a:lnTo>
                  <a:pt x="3114" y="1469"/>
                </a:lnTo>
                <a:lnTo>
                  <a:pt x="3111" y="1462"/>
                </a:lnTo>
                <a:lnTo>
                  <a:pt x="3109" y="1456"/>
                </a:lnTo>
                <a:lnTo>
                  <a:pt x="3105" y="1442"/>
                </a:lnTo>
                <a:lnTo>
                  <a:pt x="3105" y="1442"/>
                </a:lnTo>
                <a:lnTo>
                  <a:pt x="3102" y="1434"/>
                </a:lnTo>
                <a:lnTo>
                  <a:pt x="3096" y="1427"/>
                </a:lnTo>
                <a:lnTo>
                  <a:pt x="3087" y="1420"/>
                </a:lnTo>
                <a:lnTo>
                  <a:pt x="3080" y="1414"/>
                </a:lnTo>
                <a:lnTo>
                  <a:pt x="3080" y="1414"/>
                </a:lnTo>
                <a:lnTo>
                  <a:pt x="3069" y="1411"/>
                </a:lnTo>
                <a:lnTo>
                  <a:pt x="3062" y="1411"/>
                </a:lnTo>
                <a:lnTo>
                  <a:pt x="3056" y="1412"/>
                </a:lnTo>
                <a:lnTo>
                  <a:pt x="3056" y="1412"/>
                </a:lnTo>
                <a:lnTo>
                  <a:pt x="3053" y="1416"/>
                </a:lnTo>
                <a:lnTo>
                  <a:pt x="3053" y="1416"/>
                </a:lnTo>
                <a:lnTo>
                  <a:pt x="3055" y="1420"/>
                </a:lnTo>
                <a:lnTo>
                  <a:pt x="3055" y="1423"/>
                </a:lnTo>
                <a:lnTo>
                  <a:pt x="3062" y="1433"/>
                </a:lnTo>
                <a:lnTo>
                  <a:pt x="3073" y="1449"/>
                </a:lnTo>
                <a:lnTo>
                  <a:pt x="3073" y="1449"/>
                </a:lnTo>
                <a:lnTo>
                  <a:pt x="3082" y="1466"/>
                </a:lnTo>
                <a:lnTo>
                  <a:pt x="3091" y="1480"/>
                </a:lnTo>
                <a:lnTo>
                  <a:pt x="3091" y="1480"/>
                </a:lnTo>
                <a:lnTo>
                  <a:pt x="3093" y="1489"/>
                </a:lnTo>
                <a:lnTo>
                  <a:pt x="3093" y="1497"/>
                </a:lnTo>
                <a:lnTo>
                  <a:pt x="3093" y="1506"/>
                </a:lnTo>
                <a:lnTo>
                  <a:pt x="3094" y="1515"/>
                </a:lnTo>
                <a:lnTo>
                  <a:pt x="3094" y="1515"/>
                </a:lnTo>
                <a:lnTo>
                  <a:pt x="3102" y="1532"/>
                </a:lnTo>
                <a:lnTo>
                  <a:pt x="3111" y="1546"/>
                </a:lnTo>
                <a:lnTo>
                  <a:pt x="3122" y="1561"/>
                </a:lnTo>
                <a:lnTo>
                  <a:pt x="3131" y="1577"/>
                </a:lnTo>
                <a:lnTo>
                  <a:pt x="3131" y="1577"/>
                </a:lnTo>
                <a:lnTo>
                  <a:pt x="3134" y="1588"/>
                </a:lnTo>
                <a:lnTo>
                  <a:pt x="3138" y="1598"/>
                </a:lnTo>
                <a:lnTo>
                  <a:pt x="3141" y="1620"/>
                </a:lnTo>
                <a:lnTo>
                  <a:pt x="3141" y="1620"/>
                </a:lnTo>
                <a:lnTo>
                  <a:pt x="3149" y="1638"/>
                </a:lnTo>
                <a:lnTo>
                  <a:pt x="3158" y="1656"/>
                </a:lnTo>
                <a:lnTo>
                  <a:pt x="3169" y="1673"/>
                </a:lnTo>
                <a:lnTo>
                  <a:pt x="3178" y="1689"/>
                </a:lnTo>
                <a:lnTo>
                  <a:pt x="3178" y="1689"/>
                </a:lnTo>
                <a:lnTo>
                  <a:pt x="3187" y="1704"/>
                </a:lnTo>
                <a:lnTo>
                  <a:pt x="3198" y="1715"/>
                </a:lnTo>
                <a:lnTo>
                  <a:pt x="3208" y="1728"/>
                </a:lnTo>
                <a:lnTo>
                  <a:pt x="3212" y="1735"/>
                </a:lnTo>
                <a:lnTo>
                  <a:pt x="3216" y="1743"/>
                </a:lnTo>
                <a:lnTo>
                  <a:pt x="3216" y="1743"/>
                </a:lnTo>
                <a:lnTo>
                  <a:pt x="3219" y="1754"/>
                </a:lnTo>
                <a:lnTo>
                  <a:pt x="3223" y="1757"/>
                </a:lnTo>
                <a:lnTo>
                  <a:pt x="3227" y="1761"/>
                </a:lnTo>
                <a:lnTo>
                  <a:pt x="3227" y="1761"/>
                </a:lnTo>
                <a:lnTo>
                  <a:pt x="3232" y="1761"/>
                </a:lnTo>
                <a:lnTo>
                  <a:pt x="3237" y="1761"/>
                </a:lnTo>
                <a:lnTo>
                  <a:pt x="3247" y="1761"/>
                </a:lnTo>
                <a:lnTo>
                  <a:pt x="3247" y="1761"/>
                </a:lnTo>
                <a:lnTo>
                  <a:pt x="3263" y="1763"/>
                </a:lnTo>
                <a:lnTo>
                  <a:pt x="3272" y="1763"/>
                </a:lnTo>
                <a:lnTo>
                  <a:pt x="3279" y="1759"/>
                </a:lnTo>
                <a:lnTo>
                  <a:pt x="3279" y="1759"/>
                </a:lnTo>
                <a:lnTo>
                  <a:pt x="3283" y="1755"/>
                </a:lnTo>
                <a:lnTo>
                  <a:pt x="3288" y="1752"/>
                </a:lnTo>
                <a:lnTo>
                  <a:pt x="3288" y="1752"/>
                </a:lnTo>
                <a:lnTo>
                  <a:pt x="3295" y="1750"/>
                </a:lnTo>
                <a:lnTo>
                  <a:pt x="3303" y="1750"/>
                </a:lnTo>
                <a:lnTo>
                  <a:pt x="3303" y="1750"/>
                </a:lnTo>
                <a:lnTo>
                  <a:pt x="3310" y="1750"/>
                </a:lnTo>
                <a:lnTo>
                  <a:pt x="3314" y="1748"/>
                </a:lnTo>
                <a:lnTo>
                  <a:pt x="3324" y="1741"/>
                </a:lnTo>
                <a:lnTo>
                  <a:pt x="3324" y="1741"/>
                </a:lnTo>
                <a:lnTo>
                  <a:pt x="3328" y="1739"/>
                </a:lnTo>
                <a:lnTo>
                  <a:pt x="3334" y="1737"/>
                </a:lnTo>
                <a:lnTo>
                  <a:pt x="3337" y="1737"/>
                </a:lnTo>
                <a:lnTo>
                  <a:pt x="3341" y="1741"/>
                </a:lnTo>
                <a:lnTo>
                  <a:pt x="3341" y="1741"/>
                </a:lnTo>
                <a:lnTo>
                  <a:pt x="3343" y="1744"/>
                </a:lnTo>
                <a:lnTo>
                  <a:pt x="3343" y="1748"/>
                </a:lnTo>
                <a:lnTo>
                  <a:pt x="3341" y="1755"/>
                </a:lnTo>
                <a:lnTo>
                  <a:pt x="3335" y="1770"/>
                </a:lnTo>
                <a:lnTo>
                  <a:pt x="3335" y="1770"/>
                </a:lnTo>
                <a:lnTo>
                  <a:pt x="3332" y="1781"/>
                </a:lnTo>
                <a:lnTo>
                  <a:pt x="3326" y="1792"/>
                </a:lnTo>
                <a:lnTo>
                  <a:pt x="3326" y="1792"/>
                </a:lnTo>
                <a:lnTo>
                  <a:pt x="3319" y="1805"/>
                </a:lnTo>
                <a:lnTo>
                  <a:pt x="3310" y="1820"/>
                </a:lnTo>
                <a:lnTo>
                  <a:pt x="3310" y="1820"/>
                </a:lnTo>
                <a:lnTo>
                  <a:pt x="3305" y="1829"/>
                </a:lnTo>
                <a:lnTo>
                  <a:pt x="3303" y="1838"/>
                </a:lnTo>
                <a:lnTo>
                  <a:pt x="3299" y="1847"/>
                </a:lnTo>
                <a:lnTo>
                  <a:pt x="3299" y="1858"/>
                </a:lnTo>
                <a:lnTo>
                  <a:pt x="3299" y="1858"/>
                </a:lnTo>
                <a:lnTo>
                  <a:pt x="3299" y="1865"/>
                </a:lnTo>
                <a:lnTo>
                  <a:pt x="3299" y="1873"/>
                </a:lnTo>
                <a:lnTo>
                  <a:pt x="3295" y="1880"/>
                </a:lnTo>
                <a:lnTo>
                  <a:pt x="3290" y="1886"/>
                </a:lnTo>
                <a:lnTo>
                  <a:pt x="3290" y="1886"/>
                </a:lnTo>
                <a:lnTo>
                  <a:pt x="3279" y="1898"/>
                </a:lnTo>
                <a:lnTo>
                  <a:pt x="3266" y="1908"/>
                </a:lnTo>
                <a:lnTo>
                  <a:pt x="3254" y="1919"/>
                </a:lnTo>
                <a:lnTo>
                  <a:pt x="3247" y="1924"/>
                </a:lnTo>
                <a:lnTo>
                  <a:pt x="3243" y="1930"/>
                </a:lnTo>
                <a:lnTo>
                  <a:pt x="3243" y="1930"/>
                </a:lnTo>
                <a:lnTo>
                  <a:pt x="3237" y="1939"/>
                </a:lnTo>
                <a:lnTo>
                  <a:pt x="3234" y="1948"/>
                </a:lnTo>
                <a:lnTo>
                  <a:pt x="3234" y="1948"/>
                </a:lnTo>
                <a:lnTo>
                  <a:pt x="3218" y="1972"/>
                </a:lnTo>
                <a:lnTo>
                  <a:pt x="3199" y="1992"/>
                </a:lnTo>
                <a:lnTo>
                  <a:pt x="3199" y="1992"/>
                </a:lnTo>
                <a:lnTo>
                  <a:pt x="3192" y="1999"/>
                </a:lnTo>
                <a:lnTo>
                  <a:pt x="3183" y="2007"/>
                </a:lnTo>
                <a:lnTo>
                  <a:pt x="3174" y="2014"/>
                </a:lnTo>
                <a:lnTo>
                  <a:pt x="3169" y="2021"/>
                </a:lnTo>
                <a:lnTo>
                  <a:pt x="3169" y="2021"/>
                </a:lnTo>
                <a:lnTo>
                  <a:pt x="3165" y="2030"/>
                </a:lnTo>
                <a:lnTo>
                  <a:pt x="3161" y="2038"/>
                </a:lnTo>
                <a:lnTo>
                  <a:pt x="3161" y="2038"/>
                </a:lnTo>
                <a:lnTo>
                  <a:pt x="3154" y="2045"/>
                </a:lnTo>
                <a:lnTo>
                  <a:pt x="3151" y="2049"/>
                </a:lnTo>
                <a:lnTo>
                  <a:pt x="3147" y="2054"/>
                </a:lnTo>
                <a:lnTo>
                  <a:pt x="3147" y="2054"/>
                </a:lnTo>
                <a:lnTo>
                  <a:pt x="3143" y="2063"/>
                </a:lnTo>
                <a:lnTo>
                  <a:pt x="3140" y="2073"/>
                </a:lnTo>
                <a:lnTo>
                  <a:pt x="3140" y="2082"/>
                </a:lnTo>
                <a:lnTo>
                  <a:pt x="3138" y="2091"/>
                </a:lnTo>
                <a:lnTo>
                  <a:pt x="3138" y="2091"/>
                </a:lnTo>
                <a:lnTo>
                  <a:pt x="3140" y="2102"/>
                </a:lnTo>
                <a:lnTo>
                  <a:pt x="3145" y="2113"/>
                </a:lnTo>
                <a:lnTo>
                  <a:pt x="3145" y="2113"/>
                </a:lnTo>
                <a:lnTo>
                  <a:pt x="3152" y="2137"/>
                </a:lnTo>
                <a:lnTo>
                  <a:pt x="3160" y="2161"/>
                </a:lnTo>
                <a:lnTo>
                  <a:pt x="3160" y="2161"/>
                </a:lnTo>
                <a:lnTo>
                  <a:pt x="3163" y="2174"/>
                </a:lnTo>
                <a:lnTo>
                  <a:pt x="3167" y="2188"/>
                </a:lnTo>
                <a:lnTo>
                  <a:pt x="3167" y="2203"/>
                </a:lnTo>
                <a:lnTo>
                  <a:pt x="3167" y="2218"/>
                </a:lnTo>
                <a:lnTo>
                  <a:pt x="3167" y="2218"/>
                </a:lnTo>
                <a:lnTo>
                  <a:pt x="3165" y="2230"/>
                </a:lnTo>
                <a:lnTo>
                  <a:pt x="3163" y="2243"/>
                </a:lnTo>
                <a:lnTo>
                  <a:pt x="3160" y="2254"/>
                </a:lnTo>
                <a:lnTo>
                  <a:pt x="3156" y="2267"/>
                </a:lnTo>
                <a:lnTo>
                  <a:pt x="3156" y="2267"/>
                </a:lnTo>
                <a:lnTo>
                  <a:pt x="3152" y="2291"/>
                </a:lnTo>
                <a:lnTo>
                  <a:pt x="3149" y="2302"/>
                </a:lnTo>
                <a:lnTo>
                  <a:pt x="3143" y="2311"/>
                </a:lnTo>
                <a:lnTo>
                  <a:pt x="3143" y="2311"/>
                </a:lnTo>
                <a:lnTo>
                  <a:pt x="3138" y="2317"/>
                </a:lnTo>
                <a:lnTo>
                  <a:pt x="3134" y="2320"/>
                </a:lnTo>
                <a:lnTo>
                  <a:pt x="3123" y="2326"/>
                </a:lnTo>
                <a:lnTo>
                  <a:pt x="3111" y="2331"/>
                </a:lnTo>
                <a:lnTo>
                  <a:pt x="3100" y="2337"/>
                </a:lnTo>
                <a:lnTo>
                  <a:pt x="3100" y="2337"/>
                </a:lnTo>
                <a:lnTo>
                  <a:pt x="3085" y="2346"/>
                </a:lnTo>
                <a:lnTo>
                  <a:pt x="3080" y="2353"/>
                </a:lnTo>
                <a:lnTo>
                  <a:pt x="3076" y="2361"/>
                </a:lnTo>
                <a:lnTo>
                  <a:pt x="3076" y="2361"/>
                </a:lnTo>
                <a:lnTo>
                  <a:pt x="3074" y="2368"/>
                </a:lnTo>
                <a:lnTo>
                  <a:pt x="3076" y="2373"/>
                </a:lnTo>
                <a:lnTo>
                  <a:pt x="3080" y="2377"/>
                </a:lnTo>
                <a:lnTo>
                  <a:pt x="3085" y="2381"/>
                </a:lnTo>
                <a:lnTo>
                  <a:pt x="3085" y="2381"/>
                </a:lnTo>
                <a:lnTo>
                  <a:pt x="3089" y="2388"/>
                </a:lnTo>
                <a:lnTo>
                  <a:pt x="3093" y="2395"/>
                </a:lnTo>
                <a:lnTo>
                  <a:pt x="3093" y="2405"/>
                </a:lnTo>
                <a:lnTo>
                  <a:pt x="3091" y="2414"/>
                </a:lnTo>
                <a:lnTo>
                  <a:pt x="3087" y="2432"/>
                </a:lnTo>
                <a:lnTo>
                  <a:pt x="3082" y="2449"/>
                </a:lnTo>
                <a:lnTo>
                  <a:pt x="3082" y="2449"/>
                </a:lnTo>
                <a:lnTo>
                  <a:pt x="3080" y="2454"/>
                </a:lnTo>
                <a:lnTo>
                  <a:pt x="3076" y="2458"/>
                </a:lnTo>
                <a:lnTo>
                  <a:pt x="3067" y="2467"/>
                </a:lnTo>
                <a:lnTo>
                  <a:pt x="3058" y="2474"/>
                </a:lnTo>
                <a:lnTo>
                  <a:pt x="3055" y="2480"/>
                </a:lnTo>
                <a:lnTo>
                  <a:pt x="3053" y="2487"/>
                </a:lnTo>
                <a:lnTo>
                  <a:pt x="3053" y="2487"/>
                </a:lnTo>
                <a:lnTo>
                  <a:pt x="3051" y="2504"/>
                </a:lnTo>
                <a:lnTo>
                  <a:pt x="3049" y="2511"/>
                </a:lnTo>
                <a:lnTo>
                  <a:pt x="3047" y="2520"/>
                </a:lnTo>
                <a:lnTo>
                  <a:pt x="3047" y="2520"/>
                </a:lnTo>
                <a:lnTo>
                  <a:pt x="3044" y="2528"/>
                </a:lnTo>
                <a:lnTo>
                  <a:pt x="3040" y="2535"/>
                </a:lnTo>
                <a:lnTo>
                  <a:pt x="3027" y="2548"/>
                </a:lnTo>
                <a:lnTo>
                  <a:pt x="3015" y="2559"/>
                </a:lnTo>
                <a:lnTo>
                  <a:pt x="3009" y="2566"/>
                </a:lnTo>
                <a:lnTo>
                  <a:pt x="3006" y="2573"/>
                </a:lnTo>
                <a:lnTo>
                  <a:pt x="3006" y="2573"/>
                </a:lnTo>
                <a:lnTo>
                  <a:pt x="3000" y="2588"/>
                </a:lnTo>
                <a:lnTo>
                  <a:pt x="2998" y="2594"/>
                </a:lnTo>
                <a:lnTo>
                  <a:pt x="2995" y="2599"/>
                </a:lnTo>
                <a:lnTo>
                  <a:pt x="2995" y="2599"/>
                </a:lnTo>
                <a:lnTo>
                  <a:pt x="2980" y="2616"/>
                </a:lnTo>
                <a:lnTo>
                  <a:pt x="2964" y="2630"/>
                </a:lnTo>
                <a:lnTo>
                  <a:pt x="2964" y="2630"/>
                </a:lnTo>
                <a:lnTo>
                  <a:pt x="2957" y="2634"/>
                </a:lnTo>
                <a:lnTo>
                  <a:pt x="2948" y="2638"/>
                </a:lnTo>
                <a:lnTo>
                  <a:pt x="2939" y="2639"/>
                </a:lnTo>
                <a:lnTo>
                  <a:pt x="2929" y="2639"/>
                </a:lnTo>
                <a:lnTo>
                  <a:pt x="2911" y="2639"/>
                </a:lnTo>
                <a:lnTo>
                  <a:pt x="2895" y="2636"/>
                </a:lnTo>
                <a:lnTo>
                  <a:pt x="2895" y="2636"/>
                </a:lnTo>
                <a:lnTo>
                  <a:pt x="2884" y="2636"/>
                </a:lnTo>
                <a:lnTo>
                  <a:pt x="2875" y="2636"/>
                </a:lnTo>
                <a:lnTo>
                  <a:pt x="2866" y="2639"/>
                </a:lnTo>
                <a:lnTo>
                  <a:pt x="2857" y="2643"/>
                </a:lnTo>
                <a:lnTo>
                  <a:pt x="2857" y="2643"/>
                </a:lnTo>
                <a:lnTo>
                  <a:pt x="2843" y="2647"/>
                </a:lnTo>
                <a:lnTo>
                  <a:pt x="2837" y="2647"/>
                </a:lnTo>
                <a:lnTo>
                  <a:pt x="2832" y="2647"/>
                </a:lnTo>
                <a:lnTo>
                  <a:pt x="2826" y="2645"/>
                </a:lnTo>
                <a:lnTo>
                  <a:pt x="2823" y="2639"/>
                </a:lnTo>
                <a:lnTo>
                  <a:pt x="2819" y="2634"/>
                </a:lnTo>
                <a:lnTo>
                  <a:pt x="2817" y="2627"/>
                </a:lnTo>
                <a:lnTo>
                  <a:pt x="2817" y="2627"/>
                </a:lnTo>
                <a:lnTo>
                  <a:pt x="2817" y="2616"/>
                </a:lnTo>
                <a:lnTo>
                  <a:pt x="2819" y="2603"/>
                </a:lnTo>
                <a:lnTo>
                  <a:pt x="2819" y="2590"/>
                </a:lnTo>
                <a:lnTo>
                  <a:pt x="2819" y="2579"/>
                </a:lnTo>
                <a:lnTo>
                  <a:pt x="2819" y="2579"/>
                </a:lnTo>
                <a:lnTo>
                  <a:pt x="2815" y="2562"/>
                </a:lnTo>
                <a:lnTo>
                  <a:pt x="2810" y="2550"/>
                </a:lnTo>
                <a:lnTo>
                  <a:pt x="2810" y="2550"/>
                </a:lnTo>
                <a:lnTo>
                  <a:pt x="2786" y="2504"/>
                </a:lnTo>
                <a:lnTo>
                  <a:pt x="2786" y="2504"/>
                </a:lnTo>
                <a:lnTo>
                  <a:pt x="2783" y="2493"/>
                </a:lnTo>
                <a:lnTo>
                  <a:pt x="2781" y="2484"/>
                </a:lnTo>
                <a:lnTo>
                  <a:pt x="2779" y="2462"/>
                </a:lnTo>
                <a:lnTo>
                  <a:pt x="2779" y="2441"/>
                </a:lnTo>
                <a:lnTo>
                  <a:pt x="2777" y="2421"/>
                </a:lnTo>
                <a:lnTo>
                  <a:pt x="2777" y="2421"/>
                </a:lnTo>
                <a:lnTo>
                  <a:pt x="2774" y="2412"/>
                </a:lnTo>
                <a:lnTo>
                  <a:pt x="2770" y="2406"/>
                </a:lnTo>
                <a:lnTo>
                  <a:pt x="2766" y="2399"/>
                </a:lnTo>
                <a:lnTo>
                  <a:pt x="2763" y="2392"/>
                </a:lnTo>
                <a:lnTo>
                  <a:pt x="2763" y="2392"/>
                </a:lnTo>
                <a:lnTo>
                  <a:pt x="2761" y="2379"/>
                </a:lnTo>
                <a:lnTo>
                  <a:pt x="2757" y="2366"/>
                </a:lnTo>
                <a:lnTo>
                  <a:pt x="2757" y="2366"/>
                </a:lnTo>
                <a:lnTo>
                  <a:pt x="2754" y="2351"/>
                </a:lnTo>
                <a:lnTo>
                  <a:pt x="2752" y="2342"/>
                </a:lnTo>
                <a:lnTo>
                  <a:pt x="2747" y="2335"/>
                </a:lnTo>
                <a:lnTo>
                  <a:pt x="2747" y="2335"/>
                </a:lnTo>
                <a:lnTo>
                  <a:pt x="2745" y="2331"/>
                </a:lnTo>
                <a:lnTo>
                  <a:pt x="2739" y="2329"/>
                </a:lnTo>
                <a:lnTo>
                  <a:pt x="2732" y="2322"/>
                </a:lnTo>
                <a:lnTo>
                  <a:pt x="2732" y="2322"/>
                </a:lnTo>
                <a:lnTo>
                  <a:pt x="2728" y="2317"/>
                </a:lnTo>
                <a:lnTo>
                  <a:pt x="2727" y="2309"/>
                </a:lnTo>
                <a:lnTo>
                  <a:pt x="2727" y="2302"/>
                </a:lnTo>
                <a:lnTo>
                  <a:pt x="2727" y="2293"/>
                </a:lnTo>
                <a:lnTo>
                  <a:pt x="2728" y="2276"/>
                </a:lnTo>
                <a:lnTo>
                  <a:pt x="2732" y="2263"/>
                </a:lnTo>
                <a:lnTo>
                  <a:pt x="2732" y="2263"/>
                </a:lnTo>
                <a:lnTo>
                  <a:pt x="2736" y="2251"/>
                </a:lnTo>
                <a:lnTo>
                  <a:pt x="2739" y="2240"/>
                </a:lnTo>
                <a:lnTo>
                  <a:pt x="2750" y="2218"/>
                </a:lnTo>
                <a:lnTo>
                  <a:pt x="2754" y="2207"/>
                </a:lnTo>
                <a:lnTo>
                  <a:pt x="2756" y="2194"/>
                </a:lnTo>
                <a:lnTo>
                  <a:pt x="2756" y="2183"/>
                </a:lnTo>
                <a:lnTo>
                  <a:pt x="2750" y="2174"/>
                </a:lnTo>
                <a:lnTo>
                  <a:pt x="2750" y="2174"/>
                </a:lnTo>
                <a:lnTo>
                  <a:pt x="2747" y="2168"/>
                </a:lnTo>
                <a:lnTo>
                  <a:pt x="2747" y="2163"/>
                </a:lnTo>
                <a:lnTo>
                  <a:pt x="2747" y="2152"/>
                </a:lnTo>
                <a:lnTo>
                  <a:pt x="2748" y="2141"/>
                </a:lnTo>
                <a:lnTo>
                  <a:pt x="2748" y="2128"/>
                </a:lnTo>
                <a:lnTo>
                  <a:pt x="2748" y="2128"/>
                </a:lnTo>
                <a:lnTo>
                  <a:pt x="2748" y="2113"/>
                </a:lnTo>
                <a:lnTo>
                  <a:pt x="2748" y="2113"/>
                </a:lnTo>
                <a:lnTo>
                  <a:pt x="2743" y="2098"/>
                </a:lnTo>
                <a:lnTo>
                  <a:pt x="2737" y="2084"/>
                </a:lnTo>
                <a:lnTo>
                  <a:pt x="2737" y="2084"/>
                </a:lnTo>
                <a:lnTo>
                  <a:pt x="2728" y="2073"/>
                </a:lnTo>
                <a:lnTo>
                  <a:pt x="2719" y="2062"/>
                </a:lnTo>
                <a:lnTo>
                  <a:pt x="2699" y="2041"/>
                </a:lnTo>
                <a:lnTo>
                  <a:pt x="2699" y="2041"/>
                </a:lnTo>
                <a:lnTo>
                  <a:pt x="2692" y="2029"/>
                </a:lnTo>
                <a:lnTo>
                  <a:pt x="2687" y="2014"/>
                </a:lnTo>
                <a:lnTo>
                  <a:pt x="2685" y="1999"/>
                </a:lnTo>
                <a:lnTo>
                  <a:pt x="2687" y="1986"/>
                </a:lnTo>
                <a:lnTo>
                  <a:pt x="2687" y="1986"/>
                </a:lnTo>
                <a:lnTo>
                  <a:pt x="2692" y="1957"/>
                </a:lnTo>
                <a:lnTo>
                  <a:pt x="2694" y="1942"/>
                </a:lnTo>
                <a:lnTo>
                  <a:pt x="2694" y="1928"/>
                </a:lnTo>
                <a:lnTo>
                  <a:pt x="2690" y="1913"/>
                </a:lnTo>
                <a:lnTo>
                  <a:pt x="2685" y="1902"/>
                </a:lnTo>
                <a:lnTo>
                  <a:pt x="2679" y="1897"/>
                </a:lnTo>
                <a:lnTo>
                  <a:pt x="2674" y="1891"/>
                </a:lnTo>
                <a:lnTo>
                  <a:pt x="2669" y="1887"/>
                </a:lnTo>
                <a:lnTo>
                  <a:pt x="2661" y="1886"/>
                </a:lnTo>
                <a:lnTo>
                  <a:pt x="2661" y="1886"/>
                </a:lnTo>
                <a:lnTo>
                  <a:pt x="2652" y="1882"/>
                </a:lnTo>
                <a:lnTo>
                  <a:pt x="2643" y="1876"/>
                </a:lnTo>
                <a:lnTo>
                  <a:pt x="2627" y="1864"/>
                </a:lnTo>
                <a:lnTo>
                  <a:pt x="2627" y="1864"/>
                </a:lnTo>
                <a:lnTo>
                  <a:pt x="2620" y="1858"/>
                </a:lnTo>
                <a:lnTo>
                  <a:pt x="2616" y="1856"/>
                </a:lnTo>
                <a:lnTo>
                  <a:pt x="2611" y="1856"/>
                </a:lnTo>
                <a:lnTo>
                  <a:pt x="2611" y="1856"/>
                </a:lnTo>
                <a:lnTo>
                  <a:pt x="2600" y="1856"/>
                </a:lnTo>
                <a:lnTo>
                  <a:pt x="2587" y="1860"/>
                </a:lnTo>
                <a:lnTo>
                  <a:pt x="2587" y="1860"/>
                </a:lnTo>
                <a:lnTo>
                  <a:pt x="2564" y="1869"/>
                </a:lnTo>
                <a:lnTo>
                  <a:pt x="2551" y="1873"/>
                </a:lnTo>
                <a:lnTo>
                  <a:pt x="2544" y="1873"/>
                </a:lnTo>
                <a:lnTo>
                  <a:pt x="2536" y="1871"/>
                </a:lnTo>
                <a:lnTo>
                  <a:pt x="2536" y="1871"/>
                </a:lnTo>
                <a:lnTo>
                  <a:pt x="2529" y="1867"/>
                </a:lnTo>
                <a:lnTo>
                  <a:pt x="2522" y="1865"/>
                </a:lnTo>
                <a:lnTo>
                  <a:pt x="2522" y="1865"/>
                </a:lnTo>
                <a:lnTo>
                  <a:pt x="2515" y="1865"/>
                </a:lnTo>
                <a:lnTo>
                  <a:pt x="2506" y="1867"/>
                </a:lnTo>
                <a:lnTo>
                  <a:pt x="2506" y="1867"/>
                </a:lnTo>
                <a:lnTo>
                  <a:pt x="2482" y="1871"/>
                </a:lnTo>
                <a:lnTo>
                  <a:pt x="2460" y="1878"/>
                </a:lnTo>
                <a:lnTo>
                  <a:pt x="2460" y="1878"/>
                </a:lnTo>
                <a:lnTo>
                  <a:pt x="2451" y="1880"/>
                </a:lnTo>
                <a:lnTo>
                  <a:pt x="2440" y="1880"/>
                </a:lnTo>
                <a:lnTo>
                  <a:pt x="2429" y="1878"/>
                </a:lnTo>
                <a:lnTo>
                  <a:pt x="2420" y="1875"/>
                </a:lnTo>
                <a:lnTo>
                  <a:pt x="2400" y="1865"/>
                </a:lnTo>
                <a:lnTo>
                  <a:pt x="2382" y="1856"/>
                </a:lnTo>
                <a:lnTo>
                  <a:pt x="2382" y="1856"/>
                </a:lnTo>
                <a:lnTo>
                  <a:pt x="2371" y="1847"/>
                </a:lnTo>
                <a:lnTo>
                  <a:pt x="2362" y="1838"/>
                </a:lnTo>
                <a:lnTo>
                  <a:pt x="2355" y="1825"/>
                </a:lnTo>
                <a:lnTo>
                  <a:pt x="2350" y="1810"/>
                </a:lnTo>
                <a:lnTo>
                  <a:pt x="2339" y="1781"/>
                </a:lnTo>
                <a:lnTo>
                  <a:pt x="2332" y="1768"/>
                </a:lnTo>
                <a:lnTo>
                  <a:pt x="2326" y="1757"/>
                </a:lnTo>
                <a:lnTo>
                  <a:pt x="2326" y="1757"/>
                </a:lnTo>
                <a:lnTo>
                  <a:pt x="2317" y="1746"/>
                </a:lnTo>
                <a:lnTo>
                  <a:pt x="2306" y="1733"/>
                </a:lnTo>
                <a:lnTo>
                  <a:pt x="2297" y="1722"/>
                </a:lnTo>
                <a:lnTo>
                  <a:pt x="2294" y="1715"/>
                </a:lnTo>
                <a:lnTo>
                  <a:pt x="2292" y="1708"/>
                </a:lnTo>
                <a:lnTo>
                  <a:pt x="2292" y="1708"/>
                </a:lnTo>
                <a:lnTo>
                  <a:pt x="2292" y="1697"/>
                </a:lnTo>
                <a:lnTo>
                  <a:pt x="2294" y="1684"/>
                </a:lnTo>
                <a:lnTo>
                  <a:pt x="2295" y="1671"/>
                </a:lnTo>
                <a:lnTo>
                  <a:pt x="2299" y="1660"/>
                </a:lnTo>
                <a:lnTo>
                  <a:pt x="2299" y="1660"/>
                </a:lnTo>
                <a:lnTo>
                  <a:pt x="2304" y="1643"/>
                </a:lnTo>
                <a:lnTo>
                  <a:pt x="2306" y="1636"/>
                </a:lnTo>
                <a:lnTo>
                  <a:pt x="2308" y="1627"/>
                </a:lnTo>
                <a:lnTo>
                  <a:pt x="2308" y="1627"/>
                </a:lnTo>
                <a:lnTo>
                  <a:pt x="2306" y="1614"/>
                </a:lnTo>
                <a:lnTo>
                  <a:pt x="2303" y="1603"/>
                </a:lnTo>
                <a:lnTo>
                  <a:pt x="2303" y="1603"/>
                </a:lnTo>
                <a:lnTo>
                  <a:pt x="2301" y="1588"/>
                </a:lnTo>
                <a:lnTo>
                  <a:pt x="2301" y="1581"/>
                </a:lnTo>
                <a:lnTo>
                  <a:pt x="2299" y="1576"/>
                </a:lnTo>
                <a:lnTo>
                  <a:pt x="2299" y="1576"/>
                </a:lnTo>
                <a:lnTo>
                  <a:pt x="2295" y="1570"/>
                </a:lnTo>
                <a:lnTo>
                  <a:pt x="2294" y="1563"/>
                </a:lnTo>
                <a:lnTo>
                  <a:pt x="2295" y="1552"/>
                </a:lnTo>
                <a:lnTo>
                  <a:pt x="2299" y="1541"/>
                </a:lnTo>
                <a:lnTo>
                  <a:pt x="2303" y="1528"/>
                </a:lnTo>
                <a:lnTo>
                  <a:pt x="2303" y="1528"/>
                </a:lnTo>
                <a:lnTo>
                  <a:pt x="2304" y="1522"/>
                </a:lnTo>
                <a:lnTo>
                  <a:pt x="2306" y="1519"/>
                </a:lnTo>
                <a:lnTo>
                  <a:pt x="2315" y="1510"/>
                </a:lnTo>
                <a:lnTo>
                  <a:pt x="2315" y="1510"/>
                </a:lnTo>
                <a:lnTo>
                  <a:pt x="2324" y="1500"/>
                </a:lnTo>
                <a:lnTo>
                  <a:pt x="2330" y="1491"/>
                </a:lnTo>
                <a:lnTo>
                  <a:pt x="2335" y="1482"/>
                </a:lnTo>
                <a:lnTo>
                  <a:pt x="2339" y="1471"/>
                </a:lnTo>
                <a:lnTo>
                  <a:pt x="2339" y="1471"/>
                </a:lnTo>
                <a:lnTo>
                  <a:pt x="2341" y="1464"/>
                </a:lnTo>
                <a:lnTo>
                  <a:pt x="2344" y="1458"/>
                </a:lnTo>
                <a:lnTo>
                  <a:pt x="2355" y="1449"/>
                </a:lnTo>
                <a:lnTo>
                  <a:pt x="2366" y="1442"/>
                </a:lnTo>
                <a:lnTo>
                  <a:pt x="2379" y="1434"/>
                </a:lnTo>
                <a:lnTo>
                  <a:pt x="2379" y="1434"/>
                </a:lnTo>
                <a:lnTo>
                  <a:pt x="2388" y="1425"/>
                </a:lnTo>
                <a:lnTo>
                  <a:pt x="2393" y="1412"/>
                </a:lnTo>
                <a:lnTo>
                  <a:pt x="2397" y="1401"/>
                </a:lnTo>
                <a:lnTo>
                  <a:pt x="2399" y="1389"/>
                </a:lnTo>
                <a:lnTo>
                  <a:pt x="2399" y="1389"/>
                </a:lnTo>
                <a:lnTo>
                  <a:pt x="2400" y="1372"/>
                </a:lnTo>
                <a:lnTo>
                  <a:pt x="2404" y="1355"/>
                </a:lnTo>
                <a:lnTo>
                  <a:pt x="2408" y="1339"/>
                </a:lnTo>
                <a:lnTo>
                  <a:pt x="2413" y="1332"/>
                </a:lnTo>
                <a:lnTo>
                  <a:pt x="2417" y="1324"/>
                </a:lnTo>
                <a:lnTo>
                  <a:pt x="2417" y="1324"/>
                </a:lnTo>
                <a:lnTo>
                  <a:pt x="2420" y="1321"/>
                </a:lnTo>
                <a:lnTo>
                  <a:pt x="2426" y="1319"/>
                </a:lnTo>
                <a:lnTo>
                  <a:pt x="2435" y="1315"/>
                </a:lnTo>
                <a:lnTo>
                  <a:pt x="2444" y="1311"/>
                </a:lnTo>
                <a:lnTo>
                  <a:pt x="2448" y="1308"/>
                </a:lnTo>
                <a:lnTo>
                  <a:pt x="2449" y="1304"/>
                </a:lnTo>
                <a:lnTo>
                  <a:pt x="2449" y="1304"/>
                </a:lnTo>
                <a:lnTo>
                  <a:pt x="2451" y="1295"/>
                </a:lnTo>
                <a:lnTo>
                  <a:pt x="2451" y="1284"/>
                </a:lnTo>
                <a:lnTo>
                  <a:pt x="2451" y="1280"/>
                </a:lnTo>
                <a:lnTo>
                  <a:pt x="2453" y="1275"/>
                </a:lnTo>
                <a:lnTo>
                  <a:pt x="2457" y="1273"/>
                </a:lnTo>
                <a:lnTo>
                  <a:pt x="2464" y="1271"/>
                </a:lnTo>
                <a:lnTo>
                  <a:pt x="2464" y="1271"/>
                </a:lnTo>
                <a:lnTo>
                  <a:pt x="2469" y="1273"/>
                </a:lnTo>
                <a:lnTo>
                  <a:pt x="2475" y="1277"/>
                </a:lnTo>
                <a:lnTo>
                  <a:pt x="2478" y="1280"/>
                </a:lnTo>
                <a:lnTo>
                  <a:pt x="2484" y="1280"/>
                </a:lnTo>
                <a:lnTo>
                  <a:pt x="2484" y="1280"/>
                </a:lnTo>
                <a:lnTo>
                  <a:pt x="2495" y="1280"/>
                </a:lnTo>
                <a:lnTo>
                  <a:pt x="2500" y="1280"/>
                </a:lnTo>
                <a:lnTo>
                  <a:pt x="2506" y="1282"/>
                </a:lnTo>
                <a:lnTo>
                  <a:pt x="2506" y="1282"/>
                </a:lnTo>
                <a:lnTo>
                  <a:pt x="2513" y="1284"/>
                </a:lnTo>
                <a:lnTo>
                  <a:pt x="2520" y="1284"/>
                </a:lnTo>
                <a:lnTo>
                  <a:pt x="2525" y="1284"/>
                </a:lnTo>
                <a:lnTo>
                  <a:pt x="2531" y="1282"/>
                </a:lnTo>
                <a:lnTo>
                  <a:pt x="2542" y="1275"/>
                </a:lnTo>
                <a:lnTo>
                  <a:pt x="2554" y="1266"/>
                </a:lnTo>
                <a:lnTo>
                  <a:pt x="2554" y="1266"/>
                </a:lnTo>
                <a:lnTo>
                  <a:pt x="2565" y="1258"/>
                </a:lnTo>
                <a:lnTo>
                  <a:pt x="2576" y="1253"/>
                </a:lnTo>
                <a:lnTo>
                  <a:pt x="2589" y="1251"/>
                </a:lnTo>
                <a:lnTo>
                  <a:pt x="2602" y="1253"/>
                </a:lnTo>
                <a:lnTo>
                  <a:pt x="2602" y="1253"/>
                </a:lnTo>
                <a:lnTo>
                  <a:pt x="2616" y="1253"/>
                </a:lnTo>
                <a:lnTo>
                  <a:pt x="2631" y="1253"/>
                </a:lnTo>
                <a:lnTo>
                  <a:pt x="2643" y="1249"/>
                </a:lnTo>
                <a:lnTo>
                  <a:pt x="2658" y="1245"/>
                </a:lnTo>
                <a:lnTo>
                  <a:pt x="2658" y="1245"/>
                </a:lnTo>
                <a:lnTo>
                  <a:pt x="2669" y="1244"/>
                </a:lnTo>
                <a:lnTo>
                  <a:pt x="2681" y="1242"/>
                </a:lnTo>
                <a:lnTo>
                  <a:pt x="2694" y="1242"/>
                </a:lnTo>
                <a:lnTo>
                  <a:pt x="2705" y="1245"/>
                </a:lnTo>
                <a:lnTo>
                  <a:pt x="2705" y="1245"/>
                </a:lnTo>
                <a:lnTo>
                  <a:pt x="2708" y="1247"/>
                </a:lnTo>
                <a:lnTo>
                  <a:pt x="2712" y="1251"/>
                </a:lnTo>
                <a:lnTo>
                  <a:pt x="2714" y="1258"/>
                </a:lnTo>
                <a:lnTo>
                  <a:pt x="2714" y="1266"/>
                </a:lnTo>
                <a:lnTo>
                  <a:pt x="2712" y="1277"/>
                </a:lnTo>
                <a:lnTo>
                  <a:pt x="2708" y="1295"/>
                </a:lnTo>
                <a:lnTo>
                  <a:pt x="2708" y="1304"/>
                </a:lnTo>
                <a:lnTo>
                  <a:pt x="2710" y="1313"/>
                </a:lnTo>
                <a:lnTo>
                  <a:pt x="2710" y="1313"/>
                </a:lnTo>
                <a:lnTo>
                  <a:pt x="2712" y="1319"/>
                </a:lnTo>
                <a:lnTo>
                  <a:pt x="2718" y="1324"/>
                </a:lnTo>
                <a:lnTo>
                  <a:pt x="2728" y="1332"/>
                </a:lnTo>
                <a:lnTo>
                  <a:pt x="2739" y="1337"/>
                </a:lnTo>
                <a:lnTo>
                  <a:pt x="2752" y="1339"/>
                </a:lnTo>
                <a:lnTo>
                  <a:pt x="2752" y="1339"/>
                </a:lnTo>
                <a:lnTo>
                  <a:pt x="2765" y="1343"/>
                </a:lnTo>
                <a:lnTo>
                  <a:pt x="2774" y="1348"/>
                </a:lnTo>
                <a:lnTo>
                  <a:pt x="2783" y="1355"/>
                </a:lnTo>
                <a:lnTo>
                  <a:pt x="2792" y="1363"/>
                </a:lnTo>
                <a:lnTo>
                  <a:pt x="2792" y="1363"/>
                </a:lnTo>
                <a:lnTo>
                  <a:pt x="2803" y="1372"/>
                </a:lnTo>
                <a:lnTo>
                  <a:pt x="2819" y="1377"/>
                </a:lnTo>
                <a:lnTo>
                  <a:pt x="2833" y="1381"/>
                </a:lnTo>
                <a:lnTo>
                  <a:pt x="2841" y="1381"/>
                </a:lnTo>
                <a:lnTo>
                  <a:pt x="2846" y="1379"/>
                </a:lnTo>
                <a:lnTo>
                  <a:pt x="2846" y="1379"/>
                </a:lnTo>
                <a:lnTo>
                  <a:pt x="2852" y="1376"/>
                </a:lnTo>
                <a:lnTo>
                  <a:pt x="2853" y="1368"/>
                </a:lnTo>
                <a:lnTo>
                  <a:pt x="2853" y="1355"/>
                </a:lnTo>
                <a:lnTo>
                  <a:pt x="2853" y="1355"/>
                </a:lnTo>
                <a:lnTo>
                  <a:pt x="2855" y="1350"/>
                </a:lnTo>
                <a:lnTo>
                  <a:pt x="2857" y="1346"/>
                </a:lnTo>
                <a:lnTo>
                  <a:pt x="2862" y="1339"/>
                </a:lnTo>
                <a:lnTo>
                  <a:pt x="2870" y="1335"/>
                </a:lnTo>
                <a:lnTo>
                  <a:pt x="2881" y="1333"/>
                </a:lnTo>
                <a:lnTo>
                  <a:pt x="2881" y="1333"/>
                </a:lnTo>
                <a:lnTo>
                  <a:pt x="2886" y="1333"/>
                </a:lnTo>
                <a:lnTo>
                  <a:pt x="2891" y="1335"/>
                </a:lnTo>
                <a:lnTo>
                  <a:pt x="2901" y="1339"/>
                </a:lnTo>
                <a:lnTo>
                  <a:pt x="2910" y="1346"/>
                </a:lnTo>
                <a:lnTo>
                  <a:pt x="2919" y="1354"/>
                </a:lnTo>
                <a:lnTo>
                  <a:pt x="2919" y="1354"/>
                </a:lnTo>
                <a:lnTo>
                  <a:pt x="2924" y="1357"/>
                </a:lnTo>
                <a:lnTo>
                  <a:pt x="2929" y="1361"/>
                </a:lnTo>
                <a:lnTo>
                  <a:pt x="2940" y="1363"/>
                </a:lnTo>
                <a:lnTo>
                  <a:pt x="2964" y="1361"/>
                </a:lnTo>
                <a:lnTo>
                  <a:pt x="2964" y="1361"/>
                </a:lnTo>
                <a:lnTo>
                  <a:pt x="2969" y="1363"/>
                </a:lnTo>
                <a:lnTo>
                  <a:pt x="2973" y="1365"/>
                </a:lnTo>
                <a:lnTo>
                  <a:pt x="2977" y="1365"/>
                </a:lnTo>
                <a:lnTo>
                  <a:pt x="2977" y="1365"/>
                </a:lnTo>
                <a:lnTo>
                  <a:pt x="2980" y="1361"/>
                </a:lnTo>
                <a:lnTo>
                  <a:pt x="2984" y="1359"/>
                </a:lnTo>
                <a:lnTo>
                  <a:pt x="2984" y="1359"/>
                </a:lnTo>
                <a:lnTo>
                  <a:pt x="2989" y="1359"/>
                </a:lnTo>
                <a:lnTo>
                  <a:pt x="2995" y="1361"/>
                </a:lnTo>
                <a:lnTo>
                  <a:pt x="2995" y="1361"/>
                </a:lnTo>
                <a:lnTo>
                  <a:pt x="3009" y="1366"/>
                </a:lnTo>
                <a:lnTo>
                  <a:pt x="3016" y="1366"/>
                </a:lnTo>
                <a:lnTo>
                  <a:pt x="3026" y="1365"/>
                </a:lnTo>
                <a:lnTo>
                  <a:pt x="3026" y="1365"/>
                </a:lnTo>
                <a:lnTo>
                  <a:pt x="3035" y="1359"/>
                </a:lnTo>
                <a:lnTo>
                  <a:pt x="3035" y="1359"/>
                </a:lnTo>
                <a:lnTo>
                  <a:pt x="3040" y="1355"/>
                </a:lnTo>
                <a:lnTo>
                  <a:pt x="3047" y="1354"/>
                </a:lnTo>
                <a:lnTo>
                  <a:pt x="3047" y="1354"/>
                </a:lnTo>
                <a:lnTo>
                  <a:pt x="3056" y="1354"/>
                </a:lnTo>
                <a:lnTo>
                  <a:pt x="3065" y="1354"/>
                </a:lnTo>
                <a:lnTo>
                  <a:pt x="3076" y="1352"/>
                </a:lnTo>
                <a:lnTo>
                  <a:pt x="3083" y="1350"/>
                </a:lnTo>
                <a:lnTo>
                  <a:pt x="3083" y="1350"/>
                </a:lnTo>
                <a:lnTo>
                  <a:pt x="3089" y="1346"/>
                </a:lnTo>
                <a:lnTo>
                  <a:pt x="3091" y="1344"/>
                </a:lnTo>
                <a:lnTo>
                  <a:pt x="3093" y="1341"/>
                </a:lnTo>
                <a:lnTo>
                  <a:pt x="3093" y="1337"/>
                </a:lnTo>
                <a:lnTo>
                  <a:pt x="3089" y="1330"/>
                </a:lnTo>
                <a:lnTo>
                  <a:pt x="3087" y="1322"/>
                </a:lnTo>
                <a:lnTo>
                  <a:pt x="3087" y="1322"/>
                </a:lnTo>
                <a:lnTo>
                  <a:pt x="3089" y="1313"/>
                </a:lnTo>
                <a:lnTo>
                  <a:pt x="3093" y="1304"/>
                </a:lnTo>
                <a:lnTo>
                  <a:pt x="3093" y="1304"/>
                </a:lnTo>
                <a:lnTo>
                  <a:pt x="3100" y="1293"/>
                </a:lnTo>
                <a:lnTo>
                  <a:pt x="3105" y="1280"/>
                </a:lnTo>
                <a:lnTo>
                  <a:pt x="3107" y="1273"/>
                </a:lnTo>
                <a:lnTo>
                  <a:pt x="3109" y="1267"/>
                </a:lnTo>
                <a:lnTo>
                  <a:pt x="3107" y="1264"/>
                </a:lnTo>
                <a:lnTo>
                  <a:pt x="3105" y="1258"/>
                </a:lnTo>
                <a:lnTo>
                  <a:pt x="3105" y="1258"/>
                </a:lnTo>
                <a:lnTo>
                  <a:pt x="3102" y="1256"/>
                </a:lnTo>
                <a:lnTo>
                  <a:pt x="3100" y="1255"/>
                </a:lnTo>
                <a:lnTo>
                  <a:pt x="3096" y="1255"/>
                </a:lnTo>
                <a:lnTo>
                  <a:pt x="3094" y="1256"/>
                </a:lnTo>
                <a:lnTo>
                  <a:pt x="3087" y="1266"/>
                </a:lnTo>
                <a:lnTo>
                  <a:pt x="3087" y="1266"/>
                </a:lnTo>
                <a:lnTo>
                  <a:pt x="3080" y="1269"/>
                </a:lnTo>
                <a:lnTo>
                  <a:pt x="3071" y="1271"/>
                </a:lnTo>
                <a:lnTo>
                  <a:pt x="3060" y="1271"/>
                </a:lnTo>
                <a:lnTo>
                  <a:pt x="3053" y="1269"/>
                </a:lnTo>
                <a:lnTo>
                  <a:pt x="3053" y="1269"/>
                </a:lnTo>
                <a:lnTo>
                  <a:pt x="3047" y="1266"/>
                </a:lnTo>
                <a:lnTo>
                  <a:pt x="3042" y="1262"/>
                </a:lnTo>
                <a:lnTo>
                  <a:pt x="3036" y="1260"/>
                </a:lnTo>
                <a:lnTo>
                  <a:pt x="3029" y="1260"/>
                </a:lnTo>
                <a:lnTo>
                  <a:pt x="3029" y="1260"/>
                </a:lnTo>
                <a:lnTo>
                  <a:pt x="3022" y="1266"/>
                </a:lnTo>
                <a:lnTo>
                  <a:pt x="3016" y="1269"/>
                </a:lnTo>
                <a:lnTo>
                  <a:pt x="3013" y="1271"/>
                </a:lnTo>
                <a:lnTo>
                  <a:pt x="3009" y="1273"/>
                </a:lnTo>
                <a:lnTo>
                  <a:pt x="3006" y="1271"/>
                </a:lnTo>
                <a:lnTo>
                  <a:pt x="3000" y="1269"/>
                </a:lnTo>
                <a:lnTo>
                  <a:pt x="3000" y="1269"/>
                </a:lnTo>
                <a:lnTo>
                  <a:pt x="2997" y="1266"/>
                </a:lnTo>
                <a:lnTo>
                  <a:pt x="2993" y="1260"/>
                </a:lnTo>
                <a:lnTo>
                  <a:pt x="2986" y="1251"/>
                </a:lnTo>
                <a:lnTo>
                  <a:pt x="2986" y="1251"/>
                </a:lnTo>
                <a:lnTo>
                  <a:pt x="2973" y="1242"/>
                </a:lnTo>
                <a:lnTo>
                  <a:pt x="2973" y="1242"/>
                </a:lnTo>
                <a:lnTo>
                  <a:pt x="2968" y="1236"/>
                </a:lnTo>
                <a:lnTo>
                  <a:pt x="2966" y="1233"/>
                </a:lnTo>
                <a:lnTo>
                  <a:pt x="2964" y="1227"/>
                </a:lnTo>
                <a:lnTo>
                  <a:pt x="2964" y="1223"/>
                </a:lnTo>
                <a:lnTo>
                  <a:pt x="2966" y="1201"/>
                </a:lnTo>
                <a:lnTo>
                  <a:pt x="2966" y="1201"/>
                </a:lnTo>
                <a:lnTo>
                  <a:pt x="2964" y="1194"/>
                </a:lnTo>
                <a:lnTo>
                  <a:pt x="2962" y="1189"/>
                </a:lnTo>
                <a:lnTo>
                  <a:pt x="2957" y="1178"/>
                </a:lnTo>
                <a:lnTo>
                  <a:pt x="2957" y="1178"/>
                </a:lnTo>
                <a:lnTo>
                  <a:pt x="2955" y="1172"/>
                </a:lnTo>
                <a:lnTo>
                  <a:pt x="2951" y="1170"/>
                </a:lnTo>
                <a:lnTo>
                  <a:pt x="2942" y="1167"/>
                </a:lnTo>
                <a:lnTo>
                  <a:pt x="2942" y="1167"/>
                </a:lnTo>
                <a:lnTo>
                  <a:pt x="2937" y="1165"/>
                </a:lnTo>
                <a:lnTo>
                  <a:pt x="2937" y="1165"/>
                </a:lnTo>
                <a:lnTo>
                  <a:pt x="2931" y="1165"/>
                </a:lnTo>
                <a:lnTo>
                  <a:pt x="2929" y="1167"/>
                </a:lnTo>
                <a:lnTo>
                  <a:pt x="2928" y="1170"/>
                </a:lnTo>
                <a:lnTo>
                  <a:pt x="2928" y="1170"/>
                </a:lnTo>
                <a:lnTo>
                  <a:pt x="2926" y="1174"/>
                </a:lnTo>
                <a:lnTo>
                  <a:pt x="2924" y="1179"/>
                </a:lnTo>
                <a:lnTo>
                  <a:pt x="2924" y="1179"/>
                </a:lnTo>
                <a:lnTo>
                  <a:pt x="2922" y="1183"/>
                </a:lnTo>
                <a:lnTo>
                  <a:pt x="2919" y="1185"/>
                </a:lnTo>
                <a:lnTo>
                  <a:pt x="2919" y="1185"/>
                </a:lnTo>
                <a:lnTo>
                  <a:pt x="2910" y="1185"/>
                </a:lnTo>
                <a:lnTo>
                  <a:pt x="2906" y="1187"/>
                </a:lnTo>
                <a:lnTo>
                  <a:pt x="2904" y="1190"/>
                </a:lnTo>
                <a:lnTo>
                  <a:pt x="2904" y="1190"/>
                </a:lnTo>
                <a:lnTo>
                  <a:pt x="2902" y="1194"/>
                </a:lnTo>
                <a:lnTo>
                  <a:pt x="2904" y="1200"/>
                </a:lnTo>
                <a:lnTo>
                  <a:pt x="2910" y="1207"/>
                </a:lnTo>
                <a:lnTo>
                  <a:pt x="2910" y="1207"/>
                </a:lnTo>
                <a:lnTo>
                  <a:pt x="2915" y="1212"/>
                </a:lnTo>
                <a:lnTo>
                  <a:pt x="2919" y="1218"/>
                </a:lnTo>
                <a:lnTo>
                  <a:pt x="2919" y="1218"/>
                </a:lnTo>
                <a:lnTo>
                  <a:pt x="2920" y="1222"/>
                </a:lnTo>
                <a:lnTo>
                  <a:pt x="2920" y="1227"/>
                </a:lnTo>
                <a:lnTo>
                  <a:pt x="2917" y="1229"/>
                </a:lnTo>
                <a:lnTo>
                  <a:pt x="2913" y="1231"/>
                </a:lnTo>
                <a:lnTo>
                  <a:pt x="2913" y="1231"/>
                </a:lnTo>
                <a:lnTo>
                  <a:pt x="2908" y="1233"/>
                </a:lnTo>
                <a:lnTo>
                  <a:pt x="2906" y="1234"/>
                </a:lnTo>
                <a:lnTo>
                  <a:pt x="2904" y="1236"/>
                </a:lnTo>
                <a:lnTo>
                  <a:pt x="2904" y="1242"/>
                </a:lnTo>
                <a:lnTo>
                  <a:pt x="2904" y="1242"/>
                </a:lnTo>
                <a:lnTo>
                  <a:pt x="2902" y="1245"/>
                </a:lnTo>
                <a:lnTo>
                  <a:pt x="2901" y="1249"/>
                </a:lnTo>
                <a:lnTo>
                  <a:pt x="2899" y="1251"/>
                </a:lnTo>
                <a:lnTo>
                  <a:pt x="2895" y="1251"/>
                </a:lnTo>
                <a:lnTo>
                  <a:pt x="2895" y="1251"/>
                </a:lnTo>
                <a:lnTo>
                  <a:pt x="2890" y="1251"/>
                </a:lnTo>
                <a:lnTo>
                  <a:pt x="2884" y="1249"/>
                </a:lnTo>
                <a:lnTo>
                  <a:pt x="2881" y="1245"/>
                </a:lnTo>
                <a:lnTo>
                  <a:pt x="2879" y="1240"/>
                </a:lnTo>
                <a:lnTo>
                  <a:pt x="2879" y="1240"/>
                </a:lnTo>
                <a:lnTo>
                  <a:pt x="2879" y="1233"/>
                </a:lnTo>
                <a:lnTo>
                  <a:pt x="2879" y="1231"/>
                </a:lnTo>
                <a:lnTo>
                  <a:pt x="2882" y="1229"/>
                </a:lnTo>
                <a:lnTo>
                  <a:pt x="2882" y="1229"/>
                </a:lnTo>
                <a:lnTo>
                  <a:pt x="2890" y="1229"/>
                </a:lnTo>
                <a:lnTo>
                  <a:pt x="2891" y="1227"/>
                </a:lnTo>
                <a:lnTo>
                  <a:pt x="2893" y="1225"/>
                </a:lnTo>
                <a:lnTo>
                  <a:pt x="2893" y="1225"/>
                </a:lnTo>
                <a:lnTo>
                  <a:pt x="2890" y="1222"/>
                </a:lnTo>
                <a:lnTo>
                  <a:pt x="2886" y="1220"/>
                </a:lnTo>
                <a:lnTo>
                  <a:pt x="2877" y="1216"/>
                </a:lnTo>
                <a:lnTo>
                  <a:pt x="2877" y="1216"/>
                </a:lnTo>
                <a:lnTo>
                  <a:pt x="2870" y="1209"/>
                </a:lnTo>
                <a:lnTo>
                  <a:pt x="2870" y="1209"/>
                </a:lnTo>
                <a:lnTo>
                  <a:pt x="2861" y="1201"/>
                </a:lnTo>
                <a:lnTo>
                  <a:pt x="2861" y="1201"/>
                </a:lnTo>
                <a:lnTo>
                  <a:pt x="2852" y="1190"/>
                </a:lnTo>
                <a:lnTo>
                  <a:pt x="2850" y="1183"/>
                </a:lnTo>
                <a:lnTo>
                  <a:pt x="2848" y="1178"/>
                </a:lnTo>
                <a:lnTo>
                  <a:pt x="2848" y="1178"/>
                </a:lnTo>
                <a:lnTo>
                  <a:pt x="2846" y="1163"/>
                </a:lnTo>
                <a:lnTo>
                  <a:pt x="2844" y="1150"/>
                </a:lnTo>
                <a:lnTo>
                  <a:pt x="2844" y="1150"/>
                </a:lnTo>
                <a:lnTo>
                  <a:pt x="2841" y="1143"/>
                </a:lnTo>
                <a:lnTo>
                  <a:pt x="2833" y="1135"/>
                </a:lnTo>
                <a:lnTo>
                  <a:pt x="2833" y="1135"/>
                </a:lnTo>
                <a:lnTo>
                  <a:pt x="2828" y="1132"/>
                </a:lnTo>
                <a:lnTo>
                  <a:pt x="2821" y="1130"/>
                </a:lnTo>
                <a:lnTo>
                  <a:pt x="2806" y="1123"/>
                </a:lnTo>
                <a:lnTo>
                  <a:pt x="2806" y="1123"/>
                </a:lnTo>
                <a:lnTo>
                  <a:pt x="2790" y="1113"/>
                </a:lnTo>
                <a:lnTo>
                  <a:pt x="2783" y="1108"/>
                </a:lnTo>
                <a:lnTo>
                  <a:pt x="2776" y="1102"/>
                </a:lnTo>
                <a:lnTo>
                  <a:pt x="2776" y="1102"/>
                </a:lnTo>
                <a:lnTo>
                  <a:pt x="2768" y="1093"/>
                </a:lnTo>
                <a:lnTo>
                  <a:pt x="2763" y="1082"/>
                </a:lnTo>
                <a:lnTo>
                  <a:pt x="2763" y="1082"/>
                </a:lnTo>
                <a:lnTo>
                  <a:pt x="2757" y="1075"/>
                </a:lnTo>
                <a:lnTo>
                  <a:pt x="2752" y="1073"/>
                </a:lnTo>
                <a:lnTo>
                  <a:pt x="2748" y="1071"/>
                </a:lnTo>
                <a:lnTo>
                  <a:pt x="2748" y="1071"/>
                </a:lnTo>
                <a:lnTo>
                  <a:pt x="2743" y="1071"/>
                </a:lnTo>
                <a:lnTo>
                  <a:pt x="2741" y="1073"/>
                </a:lnTo>
                <a:lnTo>
                  <a:pt x="2737" y="1075"/>
                </a:lnTo>
                <a:lnTo>
                  <a:pt x="2737" y="1077"/>
                </a:lnTo>
                <a:lnTo>
                  <a:pt x="2737" y="1084"/>
                </a:lnTo>
                <a:lnTo>
                  <a:pt x="2739" y="1091"/>
                </a:lnTo>
                <a:lnTo>
                  <a:pt x="2739" y="1091"/>
                </a:lnTo>
                <a:lnTo>
                  <a:pt x="2745" y="1099"/>
                </a:lnTo>
                <a:lnTo>
                  <a:pt x="2750" y="1108"/>
                </a:lnTo>
                <a:lnTo>
                  <a:pt x="2750" y="1108"/>
                </a:lnTo>
                <a:lnTo>
                  <a:pt x="2756" y="1117"/>
                </a:lnTo>
                <a:lnTo>
                  <a:pt x="2763" y="1128"/>
                </a:lnTo>
                <a:lnTo>
                  <a:pt x="2763" y="1128"/>
                </a:lnTo>
                <a:lnTo>
                  <a:pt x="2770" y="1134"/>
                </a:lnTo>
                <a:lnTo>
                  <a:pt x="2777" y="1137"/>
                </a:lnTo>
                <a:lnTo>
                  <a:pt x="2785" y="1143"/>
                </a:lnTo>
                <a:lnTo>
                  <a:pt x="2790" y="1146"/>
                </a:lnTo>
                <a:lnTo>
                  <a:pt x="2790" y="1146"/>
                </a:lnTo>
                <a:lnTo>
                  <a:pt x="2801" y="1159"/>
                </a:lnTo>
                <a:lnTo>
                  <a:pt x="2801" y="1159"/>
                </a:lnTo>
                <a:lnTo>
                  <a:pt x="2808" y="1161"/>
                </a:lnTo>
                <a:lnTo>
                  <a:pt x="2815" y="1165"/>
                </a:lnTo>
                <a:lnTo>
                  <a:pt x="2815" y="1165"/>
                </a:lnTo>
                <a:lnTo>
                  <a:pt x="2824" y="1172"/>
                </a:lnTo>
                <a:lnTo>
                  <a:pt x="2828" y="1178"/>
                </a:lnTo>
                <a:lnTo>
                  <a:pt x="2828" y="1179"/>
                </a:lnTo>
                <a:lnTo>
                  <a:pt x="2826" y="1181"/>
                </a:lnTo>
                <a:lnTo>
                  <a:pt x="2826" y="1181"/>
                </a:lnTo>
                <a:lnTo>
                  <a:pt x="2824" y="1181"/>
                </a:lnTo>
                <a:lnTo>
                  <a:pt x="2823" y="1181"/>
                </a:lnTo>
                <a:lnTo>
                  <a:pt x="2817" y="1178"/>
                </a:lnTo>
                <a:lnTo>
                  <a:pt x="2812" y="1176"/>
                </a:lnTo>
                <a:lnTo>
                  <a:pt x="2808" y="1176"/>
                </a:lnTo>
                <a:lnTo>
                  <a:pt x="2806" y="1178"/>
                </a:lnTo>
                <a:lnTo>
                  <a:pt x="2806" y="1178"/>
                </a:lnTo>
                <a:lnTo>
                  <a:pt x="2804" y="1185"/>
                </a:lnTo>
                <a:lnTo>
                  <a:pt x="2804" y="1190"/>
                </a:lnTo>
                <a:lnTo>
                  <a:pt x="2806" y="1194"/>
                </a:lnTo>
                <a:lnTo>
                  <a:pt x="2806" y="1194"/>
                </a:lnTo>
                <a:lnTo>
                  <a:pt x="2810" y="1201"/>
                </a:lnTo>
                <a:lnTo>
                  <a:pt x="2810" y="1205"/>
                </a:lnTo>
                <a:lnTo>
                  <a:pt x="2808" y="1211"/>
                </a:lnTo>
                <a:lnTo>
                  <a:pt x="2808" y="1211"/>
                </a:lnTo>
                <a:lnTo>
                  <a:pt x="2803" y="1218"/>
                </a:lnTo>
                <a:lnTo>
                  <a:pt x="2803" y="1218"/>
                </a:lnTo>
                <a:lnTo>
                  <a:pt x="2797" y="1223"/>
                </a:lnTo>
                <a:lnTo>
                  <a:pt x="2797" y="1223"/>
                </a:lnTo>
                <a:lnTo>
                  <a:pt x="2794" y="1229"/>
                </a:lnTo>
                <a:lnTo>
                  <a:pt x="2794" y="1229"/>
                </a:lnTo>
                <a:lnTo>
                  <a:pt x="2788" y="1231"/>
                </a:lnTo>
                <a:lnTo>
                  <a:pt x="2786" y="1233"/>
                </a:lnTo>
                <a:lnTo>
                  <a:pt x="2785" y="1234"/>
                </a:lnTo>
                <a:lnTo>
                  <a:pt x="2785" y="1234"/>
                </a:lnTo>
                <a:lnTo>
                  <a:pt x="2781" y="1242"/>
                </a:lnTo>
                <a:lnTo>
                  <a:pt x="2779" y="1245"/>
                </a:lnTo>
                <a:lnTo>
                  <a:pt x="2777" y="1247"/>
                </a:lnTo>
                <a:lnTo>
                  <a:pt x="2777" y="1247"/>
                </a:lnTo>
                <a:lnTo>
                  <a:pt x="2772" y="1249"/>
                </a:lnTo>
                <a:lnTo>
                  <a:pt x="2766" y="1249"/>
                </a:lnTo>
                <a:lnTo>
                  <a:pt x="2766" y="1249"/>
                </a:lnTo>
                <a:lnTo>
                  <a:pt x="2759" y="1247"/>
                </a:lnTo>
                <a:lnTo>
                  <a:pt x="2754" y="1244"/>
                </a:lnTo>
                <a:lnTo>
                  <a:pt x="2754" y="1244"/>
                </a:lnTo>
                <a:lnTo>
                  <a:pt x="2748" y="1238"/>
                </a:lnTo>
                <a:lnTo>
                  <a:pt x="2748" y="1233"/>
                </a:lnTo>
                <a:lnTo>
                  <a:pt x="2748" y="1229"/>
                </a:lnTo>
                <a:lnTo>
                  <a:pt x="2750" y="1227"/>
                </a:lnTo>
                <a:lnTo>
                  <a:pt x="2752" y="1225"/>
                </a:lnTo>
                <a:lnTo>
                  <a:pt x="2757" y="1225"/>
                </a:lnTo>
                <a:lnTo>
                  <a:pt x="2757" y="1225"/>
                </a:lnTo>
                <a:lnTo>
                  <a:pt x="2766" y="1225"/>
                </a:lnTo>
                <a:lnTo>
                  <a:pt x="2777" y="1227"/>
                </a:lnTo>
                <a:lnTo>
                  <a:pt x="2777" y="1227"/>
                </a:lnTo>
                <a:lnTo>
                  <a:pt x="2783" y="1227"/>
                </a:lnTo>
                <a:lnTo>
                  <a:pt x="2785" y="1227"/>
                </a:lnTo>
                <a:lnTo>
                  <a:pt x="2788" y="1225"/>
                </a:lnTo>
                <a:lnTo>
                  <a:pt x="2788" y="1225"/>
                </a:lnTo>
                <a:lnTo>
                  <a:pt x="2788" y="1222"/>
                </a:lnTo>
                <a:lnTo>
                  <a:pt x="2788" y="1216"/>
                </a:lnTo>
                <a:lnTo>
                  <a:pt x="2788" y="1216"/>
                </a:lnTo>
                <a:lnTo>
                  <a:pt x="2790" y="1207"/>
                </a:lnTo>
                <a:lnTo>
                  <a:pt x="2790" y="1207"/>
                </a:lnTo>
                <a:lnTo>
                  <a:pt x="2790" y="1194"/>
                </a:lnTo>
                <a:lnTo>
                  <a:pt x="2785" y="1181"/>
                </a:lnTo>
                <a:lnTo>
                  <a:pt x="2785" y="1181"/>
                </a:lnTo>
                <a:lnTo>
                  <a:pt x="2779" y="1172"/>
                </a:lnTo>
                <a:lnTo>
                  <a:pt x="2772" y="1167"/>
                </a:lnTo>
                <a:lnTo>
                  <a:pt x="2756" y="1159"/>
                </a:lnTo>
                <a:lnTo>
                  <a:pt x="2756" y="1159"/>
                </a:lnTo>
                <a:lnTo>
                  <a:pt x="2741" y="1150"/>
                </a:lnTo>
                <a:lnTo>
                  <a:pt x="2736" y="1146"/>
                </a:lnTo>
                <a:lnTo>
                  <a:pt x="2728" y="1139"/>
                </a:lnTo>
                <a:lnTo>
                  <a:pt x="2728" y="1139"/>
                </a:lnTo>
                <a:lnTo>
                  <a:pt x="2718" y="1126"/>
                </a:lnTo>
                <a:lnTo>
                  <a:pt x="2718" y="1126"/>
                </a:lnTo>
                <a:lnTo>
                  <a:pt x="2714" y="1119"/>
                </a:lnTo>
                <a:lnTo>
                  <a:pt x="2712" y="1110"/>
                </a:lnTo>
                <a:lnTo>
                  <a:pt x="2712" y="1110"/>
                </a:lnTo>
                <a:lnTo>
                  <a:pt x="2708" y="1102"/>
                </a:lnTo>
                <a:lnTo>
                  <a:pt x="2703" y="1097"/>
                </a:lnTo>
                <a:lnTo>
                  <a:pt x="2696" y="1091"/>
                </a:lnTo>
                <a:lnTo>
                  <a:pt x="2689" y="1090"/>
                </a:lnTo>
                <a:lnTo>
                  <a:pt x="2689" y="1090"/>
                </a:lnTo>
                <a:lnTo>
                  <a:pt x="2681" y="1090"/>
                </a:lnTo>
                <a:lnTo>
                  <a:pt x="2678" y="1090"/>
                </a:lnTo>
                <a:lnTo>
                  <a:pt x="2676" y="1093"/>
                </a:lnTo>
                <a:lnTo>
                  <a:pt x="2676" y="1093"/>
                </a:lnTo>
                <a:lnTo>
                  <a:pt x="2667" y="1102"/>
                </a:lnTo>
                <a:lnTo>
                  <a:pt x="2658" y="1110"/>
                </a:lnTo>
                <a:lnTo>
                  <a:pt x="2658" y="1110"/>
                </a:lnTo>
                <a:lnTo>
                  <a:pt x="2650" y="1113"/>
                </a:lnTo>
                <a:lnTo>
                  <a:pt x="2643" y="1113"/>
                </a:lnTo>
                <a:lnTo>
                  <a:pt x="2643" y="1113"/>
                </a:lnTo>
                <a:lnTo>
                  <a:pt x="2632" y="1112"/>
                </a:lnTo>
                <a:lnTo>
                  <a:pt x="2623" y="1108"/>
                </a:lnTo>
                <a:lnTo>
                  <a:pt x="2623" y="1108"/>
                </a:lnTo>
                <a:lnTo>
                  <a:pt x="2620" y="1108"/>
                </a:lnTo>
                <a:lnTo>
                  <a:pt x="2614" y="1108"/>
                </a:lnTo>
                <a:lnTo>
                  <a:pt x="2607" y="1113"/>
                </a:lnTo>
                <a:lnTo>
                  <a:pt x="2607" y="1113"/>
                </a:lnTo>
                <a:lnTo>
                  <a:pt x="2603" y="1117"/>
                </a:lnTo>
                <a:lnTo>
                  <a:pt x="2602" y="1121"/>
                </a:lnTo>
                <a:lnTo>
                  <a:pt x="2602" y="1126"/>
                </a:lnTo>
                <a:lnTo>
                  <a:pt x="2603" y="1134"/>
                </a:lnTo>
                <a:lnTo>
                  <a:pt x="2602" y="1141"/>
                </a:lnTo>
                <a:lnTo>
                  <a:pt x="2602" y="1141"/>
                </a:lnTo>
                <a:lnTo>
                  <a:pt x="2598" y="1145"/>
                </a:lnTo>
                <a:lnTo>
                  <a:pt x="2591" y="1148"/>
                </a:lnTo>
                <a:lnTo>
                  <a:pt x="2578" y="1154"/>
                </a:lnTo>
                <a:lnTo>
                  <a:pt x="2578" y="1154"/>
                </a:lnTo>
                <a:lnTo>
                  <a:pt x="2573" y="1159"/>
                </a:lnTo>
                <a:lnTo>
                  <a:pt x="2565" y="1167"/>
                </a:lnTo>
                <a:lnTo>
                  <a:pt x="2556" y="1181"/>
                </a:lnTo>
                <a:lnTo>
                  <a:pt x="2556" y="1181"/>
                </a:lnTo>
                <a:lnTo>
                  <a:pt x="2554" y="1189"/>
                </a:lnTo>
                <a:lnTo>
                  <a:pt x="2554" y="1196"/>
                </a:lnTo>
                <a:lnTo>
                  <a:pt x="2554" y="1203"/>
                </a:lnTo>
                <a:lnTo>
                  <a:pt x="2553" y="1211"/>
                </a:lnTo>
                <a:lnTo>
                  <a:pt x="2553" y="1211"/>
                </a:lnTo>
                <a:lnTo>
                  <a:pt x="2551" y="1216"/>
                </a:lnTo>
                <a:lnTo>
                  <a:pt x="2547" y="1220"/>
                </a:lnTo>
                <a:lnTo>
                  <a:pt x="2536" y="1227"/>
                </a:lnTo>
                <a:lnTo>
                  <a:pt x="2536" y="1227"/>
                </a:lnTo>
                <a:lnTo>
                  <a:pt x="2529" y="1233"/>
                </a:lnTo>
                <a:lnTo>
                  <a:pt x="2524" y="1240"/>
                </a:lnTo>
                <a:lnTo>
                  <a:pt x="2524" y="1240"/>
                </a:lnTo>
                <a:lnTo>
                  <a:pt x="2518" y="1247"/>
                </a:lnTo>
                <a:lnTo>
                  <a:pt x="2515" y="1251"/>
                </a:lnTo>
                <a:lnTo>
                  <a:pt x="2511" y="1253"/>
                </a:lnTo>
                <a:lnTo>
                  <a:pt x="2511" y="1253"/>
                </a:lnTo>
                <a:lnTo>
                  <a:pt x="2506" y="1253"/>
                </a:lnTo>
                <a:lnTo>
                  <a:pt x="2502" y="1251"/>
                </a:lnTo>
                <a:lnTo>
                  <a:pt x="2493" y="1247"/>
                </a:lnTo>
                <a:lnTo>
                  <a:pt x="2493" y="1247"/>
                </a:lnTo>
                <a:lnTo>
                  <a:pt x="2487" y="1249"/>
                </a:lnTo>
                <a:lnTo>
                  <a:pt x="2482" y="1249"/>
                </a:lnTo>
                <a:lnTo>
                  <a:pt x="2473" y="1251"/>
                </a:lnTo>
                <a:lnTo>
                  <a:pt x="2473" y="1251"/>
                </a:lnTo>
                <a:lnTo>
                  <a:pt x="2466" y="1249"/>
                </a:lnTo>
                <a:lnTo>
                  <a:pt x="2458" y="1247"/>
                </a:lnTo>
                <a:lnTo>
                  <a:pt x="2446" y="1242"/>
                </a:lnTo>
                <a:lnTo>
                  <a:pt x="2446" y="1242"/>
                </a:lnTo>
                <a:lnTo>
                  <a:pt x="2437" y="1238"/>
                </a:lnTo>
                <a:lnTo>
                  <a:pt x="2428" y="1234"/>
                </a:lnTo>
                <a:lnTo>
                  <a:pt x="2428" y="1234"/>
                </a:lnTo>
                <a:lnTo>
                  <a:pt x="2420" y="1227"/>
                </a:lnTo>
                <a:lnTo>
                  <a:pt x="2413" y="1218"/>
                </a:lnTo>
                <a:lnTo>
                  <a:pt x="2410" y="1205"/>
                </a:lnTo>
                <a:lnTo>
                  <a:pt x="2406" y="1194"/>
                </a:lnTo>
                <a:lnTo>
                  <a:pt x="2406" y="1194"/>
                </a:lnTo>
                <a:lnTo>
                  <a:pt x="2406" y="1187"/>
                </a:lnTo>
                <a:lnTo>
                  <a:pt x="2408" y="1181"/>
                </a:lnTo>
                <a:lnTo>
                  <a:pt x="2415" y="1170"/>
                </a:lnTo>
                <a:lnTo>
                  <a:pt x="2415" y="1170"/>
                </a:lnTo>
                <a:lnTo>
                  <a:pt x="2417" y="1165"/>
                </a:lnTo>
                <a:lnTo>
                  <a:pt x="2419" y="1159"/>
                </a:lnTo>
                <a:lnTo>
                  <a:pt x="2417" y="1148"/>
                </a:lnTo>
                <a:lnTo>
                  <a:pt x="2413" y="1139"/>
                </a:lnTo>
                <a:lnTo>
                  <a:pt x="2411" y="1126"/>
                </a:lnTo>
                <a:lnTo>
                  <a:pt x="2411" y="1126"/>
                </a:lnTo>
                <a:lnTo>
                  <a:pt x="2411" y="1119"/>
                </a:lnTo>
                <a:lnTo>
                  <a:pt x="2415" y="1115"/>
                </a:lnTo>
                <a:lnTo>
                  <a:pt x="2420" y="1112"/>
                </a:lnTo>
                <a:lnTo>
                  <a:pt x="2426" y="1110"/>
                </a:lnTo>
                <a:lnTo>
                  <a:pt x="2426" y="1110"/>
                </a:lnTo>
                <a:lnTo>
                  <a:pt x="2431" y="1108"/>
                </a:lnTo>
                <a:lnTo>
                  <a:pt x="2433" y="1106"/>
                </a:lnTo>
                <a:lnTo>
                  <a:pt x="2433" y="1106"/>
                </a:lnTo>
                <a:lnTo>
                  <a:pt x="2439" y="1102"/>
                </a:lnTo>
                <a:lnTo>
                  <a:pt x="2439" y="1102"/>
                </a:lnTo>
                <a:lnTo>
                  <a:pt x="2442" y="1102"/>
                </a:lnTo>
                <a:lnTo>
                  <a:pt x="2448" y="1104"/>
                </a:lnTo>
                <a:lnTo>
                  <a:pt x="2455" y="1110"/>
                </a:lnTo>
                <a:lnTo>
                  <a:pt x="2455" y="1110"/>
                </a:lnTo>
                <a:lnTo>
                  <a:pt x="2460" y="1112"/>
                </a:lnTo>
                <a:lnTo>
                  <a:pt x="2466" y="1113"/>
                </a:lnTo>
                <a:lnTo>
                  <a:pt x="2466" y="1113"/>
                </a:lnTo>
                <a:lnTo>
                  <a:pt x="2478" y="1115"/>
                </a:lnTo>
                <a:lnTo>
                  <a:pt x="2491" y="1115"/>
                </a:lnTo>
                <a:lnTo>
                  <a:pt x="2491" y="1115"/>
                </a:lnTo>
                <a:lnTo>
                  <a:pt x="2502" y="1115"/>
                </a:lnTo>
                <a:lnTo>
                  <a:pt x="2511" y="1113"/>
                </a:lnTo>
                <a:lnTo>
                  <a:pt x="2522" y="1112"/>
                </a:lnTo>
                <a:lnTo>
                  <a:pt x="2525" y="1108"/>
                </a:lnTo>
                <a:lnTo>
                  <a:pt x="2529" y="1104"/>
                </a:lnTo>
                <a:lnTo>
                  <a:pt x="2529" y="1104"/>
                </a:lnTo>
                <a:lnTo>
                  <a:pt x="2533" y="1099"/>
                </a:lnTo>
                <a:lnTo>
                  <a:pt x="2533" y="1093"/>
                </a:lnTo>
                <a:lnTo>
                  <a:pt x="2533" y="1088"/>
                </a:lnTo>
                <a:lnTo>
                  <a:pt x="2535" y="1082"/>
                </a:lnTo>
                <a:lnTo>
                  <a:pt x="2535" y="1082"/>
                </a:lnTo>
                <a:lnTo>
                  <a:pt x="2540" y="1075"/>
                </a:lnTo>
                <a:lnTo>
                  <a:pt x="2545" y="1068"/>
                </a:lnTo>
                <a:lnTo>
                  <a:pt x="2545" y="1068"/>
                </a:lnTo>
                <a:lnTo>
                  <a:pt x="2547" y="1060"/>
                </a:lnTo>
                <a:lnTo>
                  <a:pt x="2547" y="1057"/>
                </a:lnTo>
                <a:lnTo>
                  <a:pt x="2545" y="1051"/>
                </a:lnTo>
                <a:lnTo>
                  <a:pt x="2542" y="1049"/>
                </a:lnTo>
                <a:lnTo>
                  <a:pt x="2533" y="1044"/>
                </a:lnTo>
                <a:lnTo>
                  <a:pt x="2522" y="1040"/>
                </a:lnTo>
                <a:lnTo>
                  <a:pt x="2522" y="1040"/>
                </a:lnTo>
                <a:lnTo>
                  <a:pt x="2518" y="1036"/>
                </a:lnTo>
                <a:lnTo>
                  <a:pt x="2516" y="1033"/>
                </a:lnTo>
                <a:lnTo>
                  <a:pt x="2515" y="1025"/>
                </a:lnTo>
                <a:lnTo>
                  <a:pt x="2513" y="1018"/>
                </a:lnTo>
                <a:lnTo>
                  <a:pt x="2509" y="1014"/>
                </a:lnTo>
                <a:lnTo>
                  <a:pt x="2506" y="1011"/>
                </a:lnTo>
                <a:lnTo>
                  <a:pt x="2506" y="1011"/>
                </a:lnTo>
                <a:lnTo>
                  <a:pt x="2489" y="1007"/>
                </a:lnTo>
                <a:lnTo>
                  <a:pt x="2484" y="1003"/>
                </a:lnTo>
                <a:lnTo>
                  <a:pt x="2482" y="1000"/>
                </a:lnTo>
                <a:lnTo>
                  <a:pt x="2480" y="996"/>
                </a:lnTo>
                <a:lnTo>
                  <a:pt x="2480" y="996"/>
                </a:lnTo>
                <a:lnTo>
                  <a:pt x="2482" y="990"/>
                </a:lnTo>
                <a:lnTo>
                  <a:pt x="2484" y="989"/>
                </a:lnTo>
                <a:lnTo>
                  <a:pt x="2489" y="987"/>
                </a:lnTo>
                <a:lnTo>
                  <a:pt x="2493" y="987"/>
                </a:lnTo>
                <a:lnTo>
                  <a:pt x="2513" y="987"/>
                </a:lnTo>
                <a:lnTo>
                  <a:pt x="2513" y="987"/>
                </a:lnTo>
                <a:lnTo>
                  <a:pt x="2520" y="987"/>
                </a:lnTo>
                <a:lnTo>
                  <a:pt x="2527" y="987"/>
                </a:lnTo>
                <a:lnTo>
                  <a:pt x="2531" y="985"/>
                </a:lnTo>
                <a:lnTo>
                  <a:pt x="2533" y="983"/>
                </a:lnTo>
                <a:lnTo>
                  <a:pt x="2533" y="981"/>
                </a:lnTo>
                <a:lnTo>
                  <a:pt x="2533" y="976"/>
                </a:lnTo>
                <a:lnTo>
                  <a:pt x="2533" y="976"/>
                </a:lnTo>
                <a:lnTo>
                  <a:pt x="2529" y="970"/>
                </a:lnTo>
                <a:lnTo>
                  <a:pt x="2527" y="965"/>
                </a:lnTo>
                <a:lnTo>
                  <a:pt x="2529" y="961"/>
                </a:lnTo>
                <a:lnTo>
                  <a:pt x="2531" y="961"/>
                </a:lnTo>
                <a:lnTo>
                  <a:pt x="2533" y="959"/>
                </a:lnTo>
                <a:lnTo>
                  <a:pt x="2538" y="961"/>
                </a:lnTo>
                <a:lnTo>
                  <a:pt x="2538" y="961"/>
                </a:lnTo>
                <a:lnTo>
                  <a:pt x="2542" y="963"/>
                </a:lnTo>
                <a:lnTo>
                  <a:pt x="2547" y="967"/>
                </a:lnTo>
                <a:lnTo>
                  <a:pt x="2551" y="968"/>
                </a:lnTo>
                <a:lnTo>
                  <a:pt x="2556" y="970"/>
                </a:lnTo>
                <a:lnTo>
                  <a:pt x="2556" y="970"/>
                </a:lnTo>
                <a:lnTo>
                  <a:pt x="2562" y="970"/>
                </a:lnTo>
                <a:lnTo>
                  <a:pt x="2567" y="968"/>
                </a:lnTo>
                <a:lnTo>
                  <a:pt x="2573" y="967"/>
                </a:lnTo>
                <a:lnTo>
                  <a:pt x="2576" y="961"/>
                </a:lnTo>
                <a:lnTo>
                  <a:pt x="2576" y="961"/>
                </a:lnTo>
                <a:lnTo>
                  <a:pt x="2576" y="956"/>
                </a:lnTo>
                <a:lnTo>
                  <a:pt x="2574" y="952"/>
                </a:lnTo>
                <a:lnTo>
                  <a:pt x="2573" y="945"/>
                </a:lnTo>
                <a:lnTo>
                  <a:pt x="2573" y="945"/>
                </a:lnTo>
                <a:lnTo>
                  <a:pt x="2573" y="937"/>
                </a:lnTo>
                <a:lnTo>
                  <a:pt x="2576" y="934"/>
                </a:lnTo>
                <a:lnTo>
                  <a:pt x="2582" y="932"/>
                </a:lnTo>
                <a:lnTo>
                  <a:pt x="2587" y="932"/>
                </a:lnTo>
                <a:lnTo>
                  <a:pt x="2587" y="932"/>
                </a:lnTo>
                <a:lnTo>
                  <a:pt x="2596" y="934"/>
                </a:lnTo>
                <a:lnTo>
                  <a:pt x="2605" y="932"/>
                </a:lnTo>
                <a:lnTo>
                  <a:pt x="2614" y="930"/>
                </a:lnTo>
                <a:lnTo>
                  <a:pt x="2618" y="928"/>
                </a:lnTo>
                <a:lnTo>
                  <a:pt x="2622" y="924"/>
                </a:lnTo>
                <a:lnTo>
                  <a:pt x="2622" y="924"/>
                </a:lnTo>
                <a:lnTo>
                  <a:pt x="2623" y="917"/>
                </a:lnTo>
                <a:lnTo>
                  <a:pt x="2623" y="912"/>
                </a:lnTo>
                <a:lnTo>
                  <a:pt x="2623" y="904"/>
                </a:lnTo>
                <a:lnTo>
                  <a:pt x="2627" y="897"/>
                </a:lnTo>
                <a:lnTo>
                  <a:pt x="2627" y="897"/>
                </a:lnTo>
                <a:lnTo>
                  <a:pt x="2631" y="891"/>
                </a:lnTo>
                <a:lnTo>
                  <a:pt x="2636" y="888"/>
                </a:lnTo>
                <a:lnTo>
                  <a:pt x="2643" y="886"/>
                </a:lnTo>
                <a:lnTo>
                  <a:pt x="2650" y="886"/>
                </a:lnTo>
                <a:lnTo>
                  <a:pt x="2650" y="886"/>
                </a:lnTo>
                <a:lnTo>
                  <a:pt x="2658" y="888"/>
                </a:lnTo>
                <a:lnTo>
                  <a:pt x="2663" y="886"/>
                </a:lnTo>
                <a:lnTo>
                  <a:pt x="2663" y="886"/>
                </a:lnTo>
                <a:lnTo>
                  <a:pt x="2670" y="879"/>
                </a:lnTo>
                <a:lnTo>
                  <a:pt x="2670" y="879"/>
                </a:lnTo>
                <a:lnTo>
                  <a:pt x="2679" y="879"/>
                </a:lnTo>
                <a:lnTo>
                  <a:pt x="2687" y="879"/>
                </a:lnTo>
                <a:lnTo>
                  <a:pt x="2690" y="877"/>
                </a:lnTo>
                <a:lnTo>
                  <a:pt x="2692" y="873"/>
                </a:lnTo>
                <a:lnTo>
                  <a:pt x="2692" y="869"/>
                </a:lnTo>
                <a:lnTo>
                  <a:pt x="2692" y="864"/>
                </a:lnTo>
                <a:lnTo>
                  <a:pt x="2692" y="864"/>
                </a:lnTo>
                <a:lnTo>
                  <a:pt x="2690" y="860"/>
                </a:lnTo>
                <a:lnTo>
                  <a:pt x="2689" y="857"/>
                </a:lnTo>
                <a:lnTo>
                  <a:pt x="2683" y="851"/>
                </a:lnTo>
                <a:lnTo>
                  <a:pt x="2678" y="844"/>
                </a:lnTo>
                <a:lnTo>
                  <a:pt x="2676" y="840"/>
                </a:lnTo>
                <a:lnTo>
                  <a:pt x="2676" y="836"/>
                </a:lnTo>
                <a:lnTo>
                  <a:pt x="2676" y="836"/>
                </a:lnTo>
                <a:lnTo>
                  <a:pt x="2678" y="833"/>
                </a:lnTo>
                <a:lnTo>
                  <a:pt x="2679" y="829"/>
                </a:lnTo>
                <a:lnTo>
                  <a:pt x="2681" y="827"/>
                </a:lnTo>
                <a:lnTo>
                  <a:pt x="2679" y="824"/>
                </a:lnTo>
                <a:lnTo>
                  <a:pt x="2679" y="824"/>
                </a:lnTo>
                <a:lnTo>
                  <a:pt x="2678" y="820"/>
                </a:lnTo>
                <a:lnTo>
                  <a:pt x="2676" y="820"/>
                </a:lnTo>
                <a:lnTo>
                  <a:pt x="2672" y="816"/>
                </a:lnTo>
                <a:lnTo>
                  <a:pt x="2672" y="816"/>
                </a:lnTo>
                <a:lnTo>
                  <a:pt x="2670" y="811"/>
                </a:lnTo>
                <a:lnTo>
                  <a:pt x="2672" y="807"/>
                </a:lnTo>
                <a:lnTo>
                  <a:pt x="2674" y="805"/>
                </a:lnTo>
                <a:lnTo>
                  <a:pt x="2678" y="802"/>
                </a:lnTo>
                <a:lnTo>
                  <a:pt x="2696" y="798"/>
                </a:lnTo>
                <a:lnTo>
                  <a:pt x="2696" y="798"/>
                </a:lnTo>
                <a:lnTo>
                  <a:pt x="2696" y="796"/>
                </a:lnTo>
                <a:lnTo>
                  <a:pt x="2694" y="794"/>
                </a:lnTo>
                <a:lnTo>
                  <a:pt x="2687" y="789"/>
                </a:lnTo>
                <a:lnTo>
                  <a:pt x="2683" y="785"/>
                </a:lnTo>
                <a:lnTo>
                  <a:pt x="2683" y="783"/>
                </a:lnTo>
                <a:lnTo>
                  <a:pt x="2685" y="781"/>
                </a:lnTo>
                <a:lnTo>
                  <a:pt x="2685" y="781"/>
                </a:lnTo>
                <a:lnTo>
                  <a:pt x="2689" y="781"/>
                </a:lnTo>
                <a:lnTo>
                  <a:pt x="2692" y="783"/>
                </a:lnTo>
                <a:lnTo>
                  <a:pt x="2696" y="783"/>
                </a:lnTo>
                <a:lnTo>
                  <a:pt x="2698" y="783"/>
                </a:lnTo>
                <a:lnTo>
                  <a:pt x="2698" y="783"/>
                </a:lnTo>
                <a:lnTo>
                  <a:pt x="2699" y="780"/>
                </a:lnTo>
                <a:lnTo>
                  <a:pt x="2699" y="778"/>
                </a:lnTo>
                <a:lnTo>
                  <a:pt x="2701" y="774"/>
                </a:lnTo>
                <a:lnTo>
                  <a:pt x="2703" y="772"/>
                </a:lnTo>
                <a:lnTo>
                  <a:pt x="2703" y="772"/>
                </a:lnTo>
                <a:lnTo>
                  <a:pt x="2707" y="770"/>
                </a:lnTo>
                <a:lnTo>
                  <a:pt x="2710" y="770"/>
                </a:lnTo>
                <a:lnTo>
                  <a:pt x="2712" y="774"/>
                </a:lnTo>
                <a:lnTo>
                  <a:pt x="2712" y="776"/>
                </a:lnTo>
                <a:lnTo>
                  <a:pt x="2710" y="783"/>
                </a:lnTo>
                <a:lnTo>
                  <a:pt x="2708" y="789"/>
                </a:lnTo>
                <a:lnTo>
                  <a:pt x="2708" y="789"/>
                </a:lnTo>
                <a:lnTo>
                  <a:pt x="2708" y="792"/>
                </a:lnTo>
                <a:lnTo>
                  <a:pt x="2708" y="796"/>
                </a:lnTo>
                <a:lnTo>
                  <a:pt x="2710" y="803"/>
                </a:lnTo>
                <a:lnTo>
                  <a:pt x="2710" y="803"/>
                </a:lnTo>
                <a:lnTo>
                  <a:pt x="2708" y="809"/>
                </a:lnTo>
                <a:lnTo>
                  <a:pt x="2707" y="814"/>
                </a:lnTo>
                <a:lnTo>
                  <a:pt x="2707" y="814"/>
                </a:lnTo>
                <a:lnTo>
                  <a:pt x="2707" y="820"/>
                </a:lnTo>
                <a:lnTo>
                  <a:pt x="2707" y="824"/>
                </a:lnTo>
                <a:lnTo>
                  <a:pt x="2708" y="829"/>
                </a:lnTo>
                <a:lnTo>
                  <a:pt x="2710" y="835"/>
                </a:lnTo>
                <a:lnTo>
                  <a:pt x="2710" y="835"/>
                </a:lnTo>
                <a:lnTo>
                  <a:pt x="2708" y="840"/>
                </a:lnTo>
                <a:lnTo>
                  <a:pt x="2705" y="846"/>
                </a:lnTo>
                <a:lnTo>
                  <a:pt x="2705" y="851"/>
                </a:lnTo>
                <a:lnTo>
                  <a:pt x="2705" y="855"/>
                </a:lnTo>
                <a:lnTo>
                  <a:pt x="2708" y="858"/>
                </a:lnTo>
                <a:lnTo>
                  <a:pt x="2708" y="858"/>
                </a:lnTo>
                <a:lnTo>
                  <a:pt x="2719" y="868"/>
                </a:lnTo>
                <a:lnTo>
                  <a:pt x="2719" y="868"/>
                </a:lnTo>
                <a:lnTo>
                  <a:pt x="2727" y="871"/>
                </a:lnTo>
                <a:lnTo>
                  <a:pt x="2730" y="871"/>
                </a:lnTo>
                <a:lnTo>
                  <a:pt x="2734" y="869"/>
                </a:lnTo>
                <a:lnTo>
                  <a:pt x="2734" y="869"/>
                </a:lnTo>
                <a:lnTo>
                  <a:pt x="2737" y="866"/>
                </a:lnTo>
                <a:lnTo>
                  <a:pt x="2739" y="862"/>
                </a:lnTo>
                <a:lnTo>
                  <a:pt x="2741" y="860"/>
                </a:lnTo>
                <a:lnTo>
                  <a:pt x="2748" y="860"/>
                </a:lnTo>
                <a:lnTo>
                  <a:pt x="2748" y="860"/>
                </a:lnTo>
                <a:lnTo>
                  <a:pt x="2756" y="864"/>
                </a:lnTo>
                <a:lnTo>
                  <a:pt x="2763" y="868"/>
                </a:lnTo>
                <a:lnTo>
                  <a:pt x="2772" y="869"/>
                </a:lnTo>
                <a:lnTo>
                  <a:pt x="2776" y="869"/>
                </a:lnTo>
                <a:lnTo>
                  <a:pt x="2781" y="868"/>
                </a:lnTo>
                <a:lnTo>
                  <a:pt x="2781" y="868"/>
                </a:lnTo>
                <a:lnTo>
                  <a:pt x="2799" y="860"/>
                </a:lnTo>
                <a:lnTo>
                  <a:pt x="2808" y="858"/>
                </a:lnTo>
                <a:lnTo>
                  <a:pt x="2819" y="858"/>
                </a:lnTo>
                <a:lnTo>
                  <a:pt x="2819" y="858"/>
                </a:lnTo>
                <a:lnTo>
                  <a:pt x="2826" y="858"/>
                </a:lnTo>
                <a:lnTo>
                  <a:pt x="2835" y="858"/>
                </a:lnTo>
                <a:lnTo>
                  <a:pt x="2843" y="857"/>
                </a:lnTo>
                <a:lnTo>
                  <a:pt x="2850" y="851"/>
                </a:lnTo>
                <a:lnTo>
                  <a:pt x="2850" y="851"/>
                </a:lnTo>
                <a:lnTo>
                  <a:pt x="2852" y="846"/>
                </a:lnTo>
                <a:lnTo>
                  <a:pt x="2853" y="842"/>
                </a:lnTo>
                <a:lnTo>
                  <a:pt x="2855" y="840"/>
                </a:lnTo>
                <a:lnTo>
                  <a:pt x="2859" y="836"/>
                </a:lnTo>
                <a:lnTo>
                  <a:pt x="2859" y="836"/>
                </a:lnTo>
                <a:lnTo>
                  <a:pt x="2862" y="836"/>
                </a:lnTo>
                <a:lnTo>
                  <a:pt x="2866" y="836"/>
                </a:lnTo>
                <a:lnTo>
                  <a:pt x="2870" y="835"/>
                </a:lnTo>
                <a:lnTo>
                  <a:pt x="2872" y="831"/>
                </a:lnTo>
                <a:lnTo>
                  <a:pt x="2872" y="831"/>
                </a:lnTo>
                <a:lnTo>
                  <a:pt x="2872" y="827"/>
                </a:lnTo>
                <a:lnTo>
                  <a:pt x="2870" y="824"/>
                </a:lnTo>
                <a:lnTo>
                  <a:pt x="2870" y="822"/>
                </a:lnTo>
                <a:lnTo>
                  <a:pt x="2870" y="822"/>
                </a:lnTo>
                <a:lnTo>
                  <a:pt x="2873" y="816"/>
                </a:lnTo>
                <a:lnTo>
                  <a:pt x="2877" y="811"/>
                </a:lnTo>
                <a:lnTo>
                  <a:pt x="2877" y="811"/>
                </a:lnTo>
                <a:lnTo>
                  <a:pt x="2877" y="803"/>
                </a:lnTo>
                <a:lnTo>
                  <a:pt x="2877" y="796"/>
                </a:lnTo>
                <a:lnTo>
                  <a:pt x="2875" y="789"/>
                </a:lnTo>
                <a:lnTo>
                  <a:pt x="2875" y="783"/>
                </a:lnTo>
                <a:lnTo>
                  <a:pt x="2875" y="783"/>
                </a:lnTo>
                <a:lnTo>
                  <a:pt x="2877" y="776"/>
                </a:lnTo>
                <a:lnTo>
                  <a:pt x="2884" y="770"/>
                </a:lnTo>
                <a:lnTo>
                  <a:pt x="2891" y="769"/>
                </a:lnTo>
                <a:lnTo>
                  <a:pt x="2899" y="770"/>
                </a:lnTo>
                <a:lnTo>
                  <a:pt x="2899" y="770"/>
                </a:lnTo>
                <a:lnTo>
                  <a:pt x="2908" y="780"/>
                </a:lnTo>
                <a:lnTo>
                  <a:pt x="2911" y="780"/>
                </a:lnTo>
                <a:lnTo>
                  <a:pt x="2913" y="780"/>
                </a:lnTo>
                <a:lnTo>
                  <a:pt x="2917" y="780"/>
                </a:lnTo>
                <a:lnTo>
                  <a:pt x="2919" y="776"/>
                </a:lnTo>
                <a:lnTo>
                  <a:pt x="2919" y="776"/>
                </a:lnTo>
                <a:lnTo>
                  <a:pt x="2922" y="770"/>
                </a:lnTo>
                <a:lnTo>
                  <a:pt x="2922" y="765"/>
                </a:lnTo>
                <a:lnTo>
                  <a:pt x="2919" y="758"/>
                </a:lnTo>
                <a:lnTo>
                  <a:pt x="2917" y="752"/>
                </a:lnTo>
                <a:lnTo>
                  <a:pt x="2913" y="745"/>
                </a:lnTo>
                <a:lnTo>
                  <a:pt x="2913" y="739"/>
                </a:lnTo>
                <a:lnTo>
                  <a:pt x="2915" y="732"/>
                </a:lnTo>
                <a:lnTo>
                  <a:pt x="2920" y="726"/>
                </a:lnTo>
                <a:lnTo>
                  <a:pt x="2920" y="726"/>
                </a:lnTo>
                <a:lnTo>
                  <a:pt x="2926" y="725"/>
                </a:lnTo>
                <a:lnTo>
                  <a:pt x="2929" y="725"/>
                </a:lnTo>
                <a:lnTo>
                  <a:pt x="2937" y="726"/>
                </a:lnTo>
                <a:lnTo>
                  <a:pt x="2944" y="728"/>
                </a:lnTo>
                <a:lnTo>
                  <a:pt x="2948" y="728"/>
                </a:lnTo>
                <a:lnTo>
                  <a:pt x="2953" y="728"/>
                </a:lnTo>
                <a:lnTo>
                  <a:pt x="2953" y="728"/>
                </a:lnTo>
                <a:lnTo>
                  <a:pt x="2957" y="726"/>
                </a:lnTo>
                <a:lnTo>
                  <a:pt x="2960" y="723"/>
                </a:lnTo>
                <a:lnTo>
                  <a:pt x="2964" y="719"/>
                </a:lnTo>
                <a:lnTo>
                  <a:pt x="2969" y="717"/>
                </a:lnTo>
                <a:lnTo>
                  <a:pt x="2969" y="717"/>
                </a:lnTo>
                <a:lnTo>
                  <a:pt x="2977" y="719"/>
                </a:lnTo>
                <a:lnTo>
                  <a:pt x="2982" y="721"/>
                </a:lnTo>
                <a:lnTo>
                  <a:pt x="2989" y="721"/>
                </a:lnTo>
                <a:lnTo>
                  <a:pt x="2997" y="719"/>
                </a:lnTo>
                <a:lnTo>
                  <a:pt x="2997" y="719"/>
                </a:lnTo>
                <a:lnTo>
                  <a:pt x="2998" y="717"/>
                </a:lnTo>
                <a:lnTo>
                  <a:pt x="3000" y="715"/>
                </a:lnTo>
                <a:lnTo>
                  <a:pt x="3002" y="712"/>
                </a:lnTo>
                <a:lnTo>
                  <a:pt x="3000" y="710"/>
                </a:lnTo>
                <a:lnTo>
                  <a:pt x="2997" y="704"/>
                </a:lnTo>
                <a:lnTo>
                  <a:pt x="2989" y="701"/>
                </a:lnTo>
                <a:lnTo>
                  <a:pt x="2989" y="701"/>
                </a:lnTo>
                <a:lnTo>
                  <a:pt x="2980" y="701"/>
                </a:lnTo>
                <a:lnTo>
                  <a:pt x="2973" y="701"/>
                </a:lnTo>
                <a:lnTo>
                  <a:pt x="2973" y="701"/>
                </a:lnTo>
                <a:lnTo>
                  <a:pt x="2964" y="697"/>
                </a:lnTo>
                <a:lnTo>
                  <a:pt x="2960" y="695"/>
                </a:lnTo>
                <a:lnTo>
                  <a:pt x="2957" y="693"/>
                </a:lnTo>
                <a:lnTo>
                  <a:pt x="2957" y="693"/>
                </a:lnTo>
                <a:lnTo>
                  <a:pt x="2948" y="695"/>
                </a:lnTo>
                <a:lnTo>
                  <a:pt x="2940" y="697"/>
                </a:lnTo>
                <a:lnTo>
                  <a:pt x="2928" y="706"/>
                </a:lnTo>
                <a:lnTo>
                  <a:pt x="2928" y="706"/>
                </a:lnTo>
                <a:lnTo>
                  <a:pt x="2922" y="710"/>
                </a:lnTo>
                <a:lnTo>
                  <a:pt x="2917" y="710"/>
                </a:lnTo>
                <a:lnTo>
                  <a:pt x="2911" y="708"/>
                </a:lnTo>
                <a:lnTo>
                  <a:pt x="2906" y="706"/>
                </a:lnTo>
                <a:lnTo>
                  <a:pt x="2906" y="706"/>
                </a:lnTo>
                <a:lnTo>
                  <a:pt x="2902" y="701"/>
                </a:lnTo>
                <a:lnTo>
                  <a:pt x="2901" y="695"/>
                </a:lnTo>
                <a:lnTo>
                  <a:pt x="2899" y="688"/>
                </a:lnTo>
                <a:lnTo>
                  <a:pt x="2897" y="680"/>
                </a:lnTo>
                <a:lnTo>
                  <a:pt x="2897" y="680"/>
                </a:lnTo>
                <a:lnTo>
                  <a:pt x="2891" y="671"/>
                </a:lnTo>
                <a:lnTo>
                  <a:pt x="2890" y="668"/>
                </a:lnTo>
                <a:lnTo>
                  <a:pt x="2888" y="660"/>
                </a:lnTo>
                <a:lnTo>
                  <a:pt x="2888" y="660"/>
                </a:lnTo>
                <a:lnTo>
                  <a:pt x="2884" y="646"/>
                </a:lnTo>
                <a:lnTo>
                  <a:pt x="2882" y="638"/>
                </a:lnTo>
                <a:lnTo>
                  <a:pt x="2882" y="631"/>
                </a:lnTo>
                <a:lnTo>
                  <a:pt x="2882" y="631"/>
                </a:lnTo>
                <a:lnTo>
                  <a:pt x="2884" y="625"/>
                </a:lnTo>
                <a:lnTo>
                  <a:pt x="2886" y="620"/>
                </a:lnTo>
                <a:lnTo>
                  <a:pt x="2886" y="620"/>
                </a:lnTo>
                <a:lnTo>
                  <a:pt x="2891" y="613"/>
                </a:lnTo>
                <a:lnTo>
                  <a:pt x="2897" y="609"/>
                </a:lnTo>
                <a:lnTo>
                  <a:pt x="2910" y="602"/>
                </a:lnTo>
                <a:lnTo>
                  <a:pt x="2910" y="602"/>
                </a:lnTo>
                <a:lnTo>
                  <a:pt x="2920" y="596"/>
                </a:lnTo>
                <a:lnTo>
                  <a:pt x="2924" y="594"/>
                </a:lnTo>
                <a:lnTo>
                  <a:pt x="2926" y="589"/>
                </a:lnTo>
                <a:lnTo>
                  <a:pt x="2926" y="589"/>
                </a:lnTo>
                <a:lnTo>
                  <a:pt x="2926" y="587"/>
                </a:lnTo>
                <a:lnTo>
                  <a:pt x="2926" y="583"/>
                </a:lnTo>
                <a:lnTo>
                  <a:pt x="2924" y="578"/>
                </a:lnTo>
                <a:lnTo>
                  <a:pt x="2924" y="578"/>
                </a:lnTo>
                <a:lnTo>
                  <a:pt x="2924" y="569"/>
                </a:lnTo>
                <a:lnTo>
                  <a:pt x="2924" y="569"/>
                </a:lnTo>
                <a:lnTo>
                  <a:pt x="2922" y="563"/>
                </a:lnTo>
                <a:lnTo>
                  <a:pt x="2920" y="558"/>
                </a:lnTo>
                <a:lnTo>
                  <a:pt x="2917" y="556"/>
                </a:lnTo>
                <a:lnTo>
                  <a:pt x="2913" y="554"/>
                </a:lnTo>
                <a:lnTo>
                  <a:pt x="2913" y="554"/>
                </a:lnTo>
                <a:lnTo>
                  <a:pt x="2904" y="552"/>
                </a:lnTo>
                <a:lnTo>
                  <a:pt x="2895" y="556"/>
                </a:lnTo>
                <a:lnTo>
                  <a:pt x="2890" y="561"/>
                </a:lnTo>
                <a:lnTo>
                  <a:pt x="2886" y="565"/>
                </a:lnTo>
                <a:lnTo>
                  <a:pt x="2886" y="569"/>
                </a:lnTo>
                <a:lnTo>
                  <a:pt x="2886" y="569"/>
                </a:lnTo>
                <a:lnTo>
                  <a:pt x="2882" y="578"/>
                </a:lnTo>
                <a:lnTo>
                  <a:pt x="2881" y="585"/>
                </a:lnTo>
                <a:lnTo>
                  <a:pt x="2872" y="600"/>
                </a:lnTo>
                <a:lnTo>
                  <a:pt x="2872" y="600"/>
                </a:lnTo>
                <a:lnTo>
                  <a:pt x="2866" y="607"/>
                </a:lnTo>
                <a:lnTo>
                  <a:pt x="2861" y="609"/>
                </a:lnTo>
                <a:lnTo>
                  <a:pt x="2853" y="611"/>
                </a:lnTo>
                <a:lnTo>
                  <a:pt x="2846" y="613"/>
                </a:lnTo>
                <a:lnTo>
                  <a:pt x="2846" y="613"/>
                </a:lnTo>
                <a:lnTo>
                  <a:pt x="2843" y="616"/>
                </a:lnTo>
                <a:lnTo>
                  <a:pt x="2841" y="620"/>
                </a:lnTo>
                <a:lnTo>
                  <a:pt x="2839" y="627"/>
                </a:lnTo>
                <a:lnTo>
                  <a:pt x="2839" y="627"/>
                </a:lnTo>
                <a:lnTo>
                  <a:pt x="2837" y="633"/>
                </a:lnTo>
                <a:lnTo>
                  <a:pt x="2833" y="635"/>
                </a:lnTo>
                <a:lnTo>
                  <a:pt x="2830" y="636"/>
                </a:lnTo>
                <a:lnTo>
                  <a:pt x="2826" y="640"/>
                </a:lnTo>
                <a:lnTo>
                  <a:pt x="2826" y="640"/>
                </a:lnTo>
                <a:lnTo>
                  <a:pt x="2823" y="646"/>
                </a:lnTo>
                <a:lnTo>
                  <a:pt x="2823" y="651"/>
                </a:lnTo>
                <a:lnTo>
                  <a:pt x="2824" y="664"/>
                </a:lnTo>
                <a:lnTo>
                  <a:pt x="2824" y="664"/>
                </a:lnTo>
                <a:lnTo>
                  <a:pt x="2823" y="669"/>
                </a:lnTo>
                <a:lnTo>
                  <a:pt x="2819" y="677"/>
                </a:lnTo>
                <a:lnTo>
                  <a:pt x="2817" y="682"/>
                </a:lnTo>
                <a:lnTo>
                  <a:pt x="2815" y="688"/>
                </a:lnTo>
                <a:lnTo>
                  <a:pt x="2815" y="688"/>
                </a:lnTo>
                <a:lnTo>
                  <a:pt x="2817" y="695"/>
                </a:lnTo>
                <a:lnTo>
                  <a:pt x="2821" y="701"/>
                </a:lnTo>
                <a:lnTo>
                  <a:pt x="2830" y="712"/>
                </a:lnTo>
                <a:lnTo>
                  <a:pt x="2830" y="712"/>
                </a:lnTo>
                <a:lnTo>
                  <a:pt x="2833" y="719"/>
                </a:lnTo>
                <a:lnTo>
                  <a:pt x="2837" y="726"/>
                </a:lnTo>
                <a:lnTo>
                  <a:pt x="2837" y="734"/>
                </a:lnTo>
                <a:lnTo>
                  <a:pt x="2835" y="741"/>
                </a:lnTo>
                <a:lnTo>
                  <a:pt x="2835" y="741"/>
                </a:lnTo>
                <a:lnTo>
                  <a:pt x="2830" y="747"/>
                </a:lnTo>
                <a:lnTo>
                  <a:pt x="2824" y="750"/>
                </a:lnTo>
                <a:lnTo>
                  <a:pt x="2810" y="756"/>
                </a:lnTo>
                <a:lnTo>
                  <a:pt x="2810" y="756"/>
                </a:lnTo>
                <a:lnTo>
                  <a:pt x="2806" y="758"/>
                </a:lnTo>
                <a:lnTo>
                  <a:pt x="2804" y="761"/>
                </a:lnTo>
                <a:lnTo>
                  <a:pt x="2803" y="765"/>
                </a:lnTo>
                <a:lnTo>
                  <a:pt x="2803" y="769"/>
                </a:lnTo>
                <a:lnTo>
                  <a:pt x="2804" y="778"/>
                </a:lnTo>
                <a:lnTo>
                  <a:pt x="2808" y="787"/>
                </a:lnTo>
                <a:lnTo>
                  <a:pt x="2808" y="787"/>
                </a:lnTo>
                <a:lnTo>
                  <a:pt x="2808" y="796"/>
                </a:lnTo>
                <a:lnTo>
                  <a:pt x="2808" y="802"/>
                </a:lnTo>
                <a:lnTo>
                  <a:pt x="2806" y="803"/>
                </a:lnTo>
                <a:lnTo>
                  <a:pt x="2803" y="803"/>
                </a:lnTo>
                <a:lnTo>
                  <a:pt x="2794" y="803"/>
                </a:lnTo>
                <a:lnTo>
                  <a:pt x="2794" y="803"/>
                </a:lnTo>
                <a:lnTo>
                  <a:pt x="2785" y="803"/>
                </a:lnTo>
                <a:lnTo>
                  <a:pt x="2783" y="803"/>
                </a:lnTo>
                <a:lnTo>
                  <a:pt x="2781" y="805"/>
                </a:lnTo>
                <a:lnTo>
                  <a:pt x="2776" y="820"/>
                </a:lnTo>
                <a:lnTo>
                  <a:pt x="2776" y="820"/>
                </a:lnTo>
                <a:lnTo>
                  <a:pt x="2772" y="824"/>
                </a:lnTo>
                <a:lnTo>
                  <a:pt x="2768" y="827"/>
                </a:lnTo>
                <a:lnTo>
                  <a:pt x="2765" y="827"/>
                </a:lnTo>
                <a:lnTo>
                  <a:pt x="2761" y="827"/>
                </a:lnTo>
                <a:lnTo>
                  <a:pt x="2757" y="824"/>
                </a:lnTo>
                <a:lnTo>
                  <a:pt x="2756" y="822"/>
                </a:lnTo>
                <a:lnTo>
                  <a:pt x="2754" y="816"/>
                </a:lnTo>
                <a:lnTo>
                  <a:pt x="2754" y="811"/>
                </a:lnTo>
                <a:lnTo>
                  <a:pt x="2754" y="811"/>
                </a:lnTo>
                <a:lnTo>
                  <a:pt x="2754" y="809"/>
                </a:lnTo>
                <a:lnTo>
                  <a:pt x="2756" y="805"/>
                </a:lnTo>
                <a:lnTo>
                  <a:pt x="2759" y="802"/>
                </a:lnTo>
                <a:lnTo>
                  <a:pt x="2761" y="802"/>
                </a:lnTo>
                <a:lnTo>
                  <a:pt x="2761" y="800"/>
                </a:lnTo>
                <a:lnTo>
                  <a:pt x="2757" y="794"/>
                </a:lnTo>
                <a:lnTo>
                  <a:pt x="2757" y="794"/>
                </a:lnTo>
                <a:lnTo>
                  <a:pt x="2750" y="789"/>
                </a:lnTo>
                <a:lnTo>
                  <a:pt x="2741" y="787"/>
                </a:lnTo>
                <a:lnTo>
                  <a:pt x="2734" y="783"/>
                </a:lnTo>
                <a:lnTo>
                  <a:pt x="2728" y="778"/>
                </a:lnTo>
                <a:lnTo>
                  <a:pt x="2728" y="778"/>
                </a:lnTo>
                <a:lnTo>
                  <a:pt x="2727" y="774"/>
                </a:lnTo>
                <a:lnTo>
                  <a:pt x="2725" y="770"/>
                </a:lnTo>
                <a:lnTo>
                  <a:pt x="2727" y="765"/>
                </a:lnTo>
                <a:lnTo>
                  <a:pt x="2730" y="758"/>
                </a:lnTo>
                <a:lnTo>
                  <a:pt x="2730" y="752"/>
                </a:lnTo>
                <a:lnTo>
                  <a:pt x="2730" y="752"/>
                </a:lnTo>
                <a:lnTo>
                  <a:pt x="2728" y="747"/>
                </a:lnTo>
                <a:lnTo>
                  <a:pt x="2725" y="747"/>
                </a:lnTo>
                <a:lnTo>
                  <a:pt x="2718" y="748"/>
                </a:lnTo>
                <a:lnTo>
                  <a:pt x="2718" y="748"/>
                </a:lnTo>
                <a:lnTo>
                  <a:pt x="2712" y="748"/>
                </a:lnTo>
                <a:lnTo>
                  <a:pt x="2708" y="747"/>
                </a:lnTo>
                <a:lnTo>
                  <a:pt x="2705" y="745"/>
                </a:lnTo>
                <a:lnTo>
                  <a:pt x="2701" y="747"/>
                </a:lnTo>
                <a:lnTo>
                  <a:pt x="2701" y="747"/>
                </a:lnTo>
                <a:lnTo>
                  <a:pt x="2698" y="748"/>
                </a:lnTo>
                <a:lnTo>
                  <a:pt x="2696" y="752"/>
                </a:lnTo>
                <a:lnTo>
                  <a:pt x="2694" y="756"/>
                </a:lnTo>
                <a:lnTo>
                  <a:pt x="2692" y="759"/>
                </a:lnTo>
                <a:lnTo>
                  <a:pt x="2692" y="759"/>
                </a:lnTo>
                <a:lnTo>
                  <a:pt x="2690" y="759"/>
                </a:lnTo>
                <a:lnTo>
                  <a:pt x="2687" y="759"/>
                </a:lnTo>
                <a:lnTo>
                  <a:pt x="2683" y="759"/>
                </a:lnTo>
                <a:lnTo>
                  <a:pt x="2683" y="759"/>
                </a:lnTo>
                <a:lnTo>
                  <a:pt x="2679" y="759"/>
                </a:lnTo>
                <a:lnTo>
                  <a:pt x="2676" y="761"/>
                </a:lnTo>
                <a:lnTo>
                  <a:pt x="2672" y="765"/>
                </a:lnTo>
                <a:lnTo>
                  <a:pt x="2670" y="770"/>
                </a:lnTo>
                <a:lnTo>
                  <a:pt x="2667" y="772"/>
                </a:lnTo>
                <a:lnTo>
                  <a:pt x="2663" y="774"/>
                </a:lnTo>
                <a:lnTo>
                  <a:pt x="2663" y="774"/>
                </a:lnTo>
                <a:lnTo>
                  <a:pt x="2660" y="774"/>
                </a:lnTo>
                <a:lnTo>
                  <a:pt x="2658" y="772"/>
                </a:lnTo>
                <a:lnTo>
                  <a:pt x="2656" y="769"/>
                </a:lnTo>
                <a:lnTo>
                  <a:pt x="2654" y="763"/>
                </a:lnTo>
                <a:lnTo>
                  <a:pt x="2652" y="759"/>
                </a:lnTo>
                <a:lnTo>
                  <a:pt x="2650" y="759"/>
                </a:lnTo>
                <a:lnTo>
                  <a:pt x="2650" y="759"/>
                </a:lnTo>
                <a:lnTo>
                  <a:pt x="2647" y="759"/>
                </a:lnTo>
                <a:lnTo>
                  <a:pt x="2643" y="759"/>
                </a:lnTo>
                <a:lnTo>
                  <a:pt x="2641" y="759"/>
                </a:lnTo>
                <a:lnTo>
                  <a:pt x="2640" y="756"/>
                </a:lnTo>
                <a:lnTo>
                  <a:pt x="2640" y="756"/>
                </a:lnTo>
                <a:lnTo>
                  <a:pt x="2640" y="752"/>
                </a:lnTo>
                <a:lnTo>
                  <a:pt x="2641" y="750"/>
                </a:lnTo>
                <a:lnTo>
                  <a:pt x="2645" y="745"/>
                </a:lnTo>
                <a:lnTo>
                  <a:pt x="2645" y="745"/>
                </a:lnTo>
                <a:lnTo>
                  <a:pt x="2649" y="741"/>
                </a:lnTo>
                <a:lnTo>
                  <a:pt x="2649" y="737"/>
                </a:lnTo>
                <a:lnTo>
                  <a:pt x="2647" y="736"/>
                </a:lnTo>
                <a:lnTo>
                  <a:pt x="2645" y="736"/>
                </a:lnTo>
                <a:lnTo>
                  <a:pt x="2638" y="737"/>
                </a:lnTo>
                <a:lnTo>
                  <a:pt x="2636" y="736"/>
                </a:lnTo>
                <a:lnTo>
                  <a:pt x="2634" y="734"/>
                </a:lnTo>
                <a:lnTo>
                  <a:pt x="2634" y="734"/>
                </a:lnTo>
                <a:lnTo>
                  <a:pt x="2632" y="732"/>
                </a:lnTo>
                <a:lnTo>
                  <a:pt x="2634" y="728"/>
                </a:lnTo>
                <a:lnTo>
                  <a:pt x="2641" y="725"/>
                </a:lnTo>
                <a:lnTo>
                  <a:pt x="2645" y="723"/>
                </a:lnTo>
                <a:lnTo>
                  <a:pt x="2649" y="719"/>
                </a:lnTo>
                <a:lnTo>
                  <a:pt x="2649" y="715"/>
                </a:lnTo>
                <a:lnTo>
                  <a:pt x="2647" y="712"/>
                </a:lnTo>
                <a:lnTo>
                  <a:pt x="2647" y="712"/>
                </a:lnTo>
                <a:lnTo>
                  <a:pt x="2641" y="710"/>
                </a:lnTo>
                <a:lnTo>
                  <a:pt x="2634" y="710"/>
                </a:lnTo>
                <a:lnTo>
                  <a:pt x="2631" y="708"/>
                </a:lnTo>
                <a:lnTo>
                  <a:pt x="2631" y="706"/>
                </a:lnTo>
                <a:lnTo>
                  <a:pt x="2632" y="703"/>
                </a:lnTo>
                <a:lnTo>
                  <a:pt x="2632" y="703"/>
                </a:lnTo>
                <a:lnTo>
                  <a:pt x="2636" y="697"/>
                </a:lnTo>
                <a:lnTo>
                  <a:pt x="2638" y="695"/>
                </a:lnTo>
                <a:lnTo>
                  <a:pt x="2636" y="692"/>
                </a:lnTo>
                <a:lnTo>
                  <a:pt x="2636" y="692"/>
                </a:lnTo>
                <a:lnTo>
                  <a:pt x="2632" y="690"/>
                </a:lnTo>
                <a:lnTo>
                  <a:pt x="2629" y="688"/>
                </a:lnTo>
                <a:lnTo>
                  <a:pt x="2629" y="686"/>
                </a:lnTo>
                <a:lnTo>
                  <a:pt x="2629" y="686"/>
                </a:lnTo>
                <a:lnTo>
                  <a:pt x="2627" y="684"/>
                </a:lnTo>
                <a:lnTo>
                  <a:pt x="2629" y="682"/>
                </a:lnTo>
                <a:lnTo>
                  <a:pt x="2631" y="680"/>
                </a:lnTo>
                <a:lnTo>
                  <a:pt x="2631" y="680"/>
                </a:lnTo>
                <a:lnTo>
                  <a:pt x="2632" y="679"/>
                </a:lnTo>
                <a:lnTo>
                  <a:pt x="2634" y="679"/>
                </a:lnTo>
                <a:lnTo>
                  <a:pt x="2634" y="677"/>
                </a:lnTo>
                <a:lnTo>
                  <a:pt x="2634" y="677"/>
                </a:lnTo>
                <a:lnTo>
                  <a:pt x="2634" y="675"/>
                </a:lnTo>
                <a:lnTo>
                  <a:pt x="2632" y="673"/>
                </a:lnTo>
                <a:lnTo>
                  <a:pt x="2632" y="671"/>
                </a:lnTo>
                <a:lnTo>
                  <a:pt x="2632" y="671"/>
                </a:lnTo>
                <a:lnTo>
                  <a:pt x="2629" y="666"/>
                </a:lnTo>
                <a:lnTo>
                  <a:pt x="2631" y="664"/>
                </a:lnTo>
                <a:lnTo>
                  <a:pt x="2636" y="664"/>
                </a:lnTo>
                <a:lnTo>
                  <a:pt x="2636" y="664"/>
                </a:lnTo>
                <a:lnTo>
                  <a:pt x="2649" y="664"/>
                </a:lnTo>
                <a:lnTo>
                  <a:pt x="2654" y="662"/>
                </a:lnTo>
                <a:lnTo>
                  <a:pt x="2656" y="660"/>
                </a:lnTo>
                <a:lnTo>
                  <a:pt x="2660" y="658"/>
                </a:lnTo>
                <a:lnTo>
                  <a:pt x="2660" y="658"/>
                </a:lnTo>
                <a:lnTo>
                  <a:pt x="2660" y="655"/>
                </a:lnTo>
                <a:lnTo>
                  <a:pt x="2660" y="651"/>
                </a:lnTo>
                <a:lnTo>
                  <a:pt x="2658" y="646"/>
                </a:lnTo>
                <a:lnTo>
                  <a:pt x="2660" y="642"/>
                </a:lnTo>
                <a:lnTo>
                  <a:pt x="2660" y="642"/>
                </a:lnTo>
                <a:lnTo>
                  <a:pt x="2661" y="638"/>
                </a:lnTo>
                <a:lnTo>
                  <a:pt x="2665" y="635"/>
                </a:lnTo>
                <a:lnTo>
                  <a:pt x="2676" y="635"/>
                </a:lnTo>
                <a:lnTo>
                  <a:pt x="2685" y="633"/>
                </a:lnTo>
                <a:lnTo>
                  <a:pt x="2689" y="631"/>
                </a:lnTo>
                <a:lnTo>
                  <a:pt x="2690" y="627"/>
                </a:lnTo>
                <a:lnTo>
                  <a:pt x="2690" y="627"/>
                </a:lnTo>
                <a:lnTo>
                  <a:pt x="2690" y="624"/>
                </a:lnTo>
                <a:lnTo>
                  <a:pt x="2689" y="620"/>
                </a:lnTo>
                <a:lnTo>
                  <a:pt x="2687" y="616"/>
                </a:lnTo>
                <a:lnTo>
                  <a:pt x="2689" y="613"/>
                </a:lnTo>
                <a:lnTo>
                  <a:pt x="2689" y="613"/>
                </a:lnTo>
                <a:lnTo>
                  <a:pt x="2692" y="609"/>
                </a:lnTo>
                <a:lnTo>
                  <a:pt x="2696" y="607"/>
                </a:lnTo>
                <a:lnTo>
                  <a:pt x="2707" y="609"/>
                </a:lnTo>
                <a:lnTo>
                  <a:pt x="2707" y="609"/>
                </a:lnTo>
                <a:lnTo>
                  <a:pt x="2718" y="613"/>
                </a:lnTo>
                <a:lnTo>
                  <a:pt x="2725" y="614"/>
                </a:lnTo>
                <a:lnTo>
                  <a:pt x="2730" y="614"/>
                </a:lnTo>
                <a:lnTo>
                  <a:pt x="2730" y="614"/>
                </a:lnTo>
                <a:lnTo>
                  <a:pt x="2734" y="611"/>
                </a:lnTo>
                <a:lnTo>
                  <a:pt x="2734" y="609"/>
                </a:lnTo>
                <a:lnTo>
                  <a:pt x="2727" y="603"/>
                </a:lnTo>
                <a:lnTo>
                  <a:pt x="2727" y="603"/>
                </a:lnTo>
                <a:lnTo>
                  <a:pt x="2723" y="602"/>
                </a:lnTo>
                <a:lnTo>
                  <a:pt x="2719" y="600"/>
                </a:lnTo>
                <a:lnTo>
                  <a:pt x="2719" y="598"/>
                </a:lnTo>
                <a:lnTo>
                  <a:pt x="2721" y="596"/>
                </a:lnTo>
                <a:lnTo>
                  <a:pt x="2727" y="592"/>
                </a:lnTo>
                <a:lnTo>
                  <a:pt x="2732" y="589"/>
                </a:lnTo>
                <a:lnTo>
                  <a:pt x="2732" y="589"/>
                </a:lnTo>
                <a:lnTo>
                  <a:pt x="2737" y="583"/>
                </a:lnTo>
                <a:lnTo>
                  <a:pt x="2741" y="576"/>
                </a:lnTo>
                <a:lnTo>
                  <a:pt x="2745" y="569"/>
                </a:lnTo>
                <a:lnTo>
                  <a:pt x="2748" y="561"/>
                </a:lnTo>
                <a:lnTo>
                  <a:pt x="2748" y="561"/>
                </a:lnTo>
                <a:lnTo>
                  <a:pt x="2752" y="558"/>
                </a:lnTo>
                <a:lnTo>
                  <a:pt x="2756" y="556"/>
                </a:lnTo>
                <a:lnTo>
                  <a:pt x="2761" y="556"/>
                </a:lnTo>
                <a:lnTo>
                  <a:pt x="2765" y="558"/>
                </a:lnTo>
                <a:lnTo>
                  <a:pt x="2772" y="559"/>
                </a:lnTo>
                <a:lnTo>
                  <a:pt x="2776" y="559"/>
                </a:lnTo>
                <a:lnTo>
                  <a:pt x="2781" y="558"/>
                </a:lnTo>
                <a:lnTo>
                  <a:pt x="2781" y="558"/>
                </a:lnTo>
                <a:lnTo>
                  <a:pt x="2781" y="556"/>
                </a:lnTo>
                <a:lnTo>
                  <a:pt x="2779" y="550"/>
                </a:lnTo>
                <a:lnTo>
                  <a:pt x="2772" y="541"/>
                </a:lnTo>
                <a:lnTo>
                  <a:pt x="2770" y="536"/>
                </a:lnTo>
                <a:lnTo>
                  <a:pt x="2768" y="532"/>
                </a:lnTo>
                <a:lnTo>
                  <a:pt x="2770" y="528"/>
                </a:lnTo>
                <a:lnTo>
                  <a:pt x="2776" y="526"/>
                </a:lnTo>
                <a:lnTo>
                  <a:pt x="2776" y="526"/>
                </a:lnTo>
                <a:lnTo>
                  <a:pt x="2783" y="528"/>
                </a:lnTo>
                <a:lnTo>
                  <a:pt x="2792" y="532"/>
                </a:lnTo>
                <a:lnTo>
                  <a:pt x="2794" y="532"/>
                </a:lnTo>
                <a:lnTo>
                  <a:pt x="2797" y="530"/>
                </a:lnTo>
                <a:lnTo>
                  <a:pt x="2799" y="528"/>
                </a:lnTo>
                <a:lnTo>
                  <a:pt x="2799" y="525"/>
                </a:lnTo>
                <a:lnTo>
                  <a:pt x="2799" y="525"/>
                </a:lnTo>
                <a:lnTo>
                  <a:pt x="2799" y="521"/>
                </a:lnTo>
                <a:lnTo>
                  <a:pt x="2797" y="517"/>
                </a:lnTo>
                <a:lnTo>
                  <a:pt x="2797" y="514"/>
                </a:lnTo>
                <a:lnTo>
                  <a:pt x="2799" y="510"/>
                </a:lnTo>
                <a:lnTo>
                  <a:pt x="2799" y="510"/>
                </a:lnTo>
                <a:lnTo>
                  <a:pt x="2806" y="510"/>
                </a:lnTo>
                <a:lnTo>
                  <a:pt x="2812" y="510"/>
                </a:lnTo>
                <a:lnTo>
                  <a:pt x="2814" y="508"/>
                </a:lnTo>
                <a:lnTo>
                  <a:pt x="2814" y="508"/>
                </a:lnTo>
                <a:lnTo>
                  <a:pt x="2815" y="504"/>
                </a:lnTo>
                <a:lnTo>
                  <a:pt x="2814" y="501"/>
                </a:lnTo>
                <a:lnTo>
                  <a:pt x="2814" y="501"/>
                </a:lnTo>
                <a:lnTo>
                  <a:pt x="2812" y="499"/>
                </a:lnTo>
                <a:lnTo>
                  <a:pt x="2808" y="495"/>
                </a:lnTo>
                <a:lnTo>
                  <a:pt x="2808" y="493"/>
                </a:lnTo>
                <a:lnTo>
                  <a:pt x="2808" y="490"/>
                </a:lnTo>
                <a:lnTo>
                  <a:pt x="2808" y="490"/>
                </a:lnTo>
                <a:lnTo>
                  <a:pt x="2817" y="488"/>
                </a:lnTo>
                <a:lnTo>
                  <a:pt x="2823" y="488"/>
                </a:lnTo>
                <a:lnTo>
                  <a:pt x="2826" y="486"/>
                </a:lnTo>
                <a:lnTo>
                  <a:pt x="2826" y="486"/>
                </a:lnTo>
                <a:lnTo>
                  <a:pt x="2828" y="482"/>
                </a:lnTo>
                <a:lnTo>
                  <a:pt x="2830" y="477"/>
                </a:lnTo>
                <a:lnTo>
                  <a:pt x="2830" y="468"/>
                </a:lnTo>
                <a:lnTo>
                  <a:pt x="2830" y="468"/>
                </a:lnTo>
                <a:lnTo>
                  <a:pt x="2833" y="462"/>
                </a:lnTo>
                <a:lnTo>
                  <a:pt x="2837" y="457"/>
                </a:lnTo>
                <a:lnTo>
                  <a:pt x="2843" y="455"/>
                </a:lnTo>
                <a:lnTo>
                  <a:pt x="2848" y="453"/>
                </a:lnTo>
                <a:lnTo>
                  <a:pt x="2862" y="451"/>
                </a:lnTo>
                <a:lnTo>
                  <a:pt x="2873" y="449"/>
                </a:lnTo>
                <a:lnTo>
                  <a:pt x="2873" y="449"/>
                </a:lnTo>
                <a:lnTo>
                  <a:pt x="2879" y="446"/>
                </a:lnTo>
                <a:lnTo>
                  <a:pt x="2882" y="442"/>
                </a:lnTo>
                <a:lnTo>
                  <a:pt x="2888" y="433"/>
                </a:lnTo>
                <a:lnTo>
                  <a:pt x="2890" y="427"/>
                </a:lnTo>
                <a:lnTo>
                  <a:pt x="2891" y="424"/>
                </a:lnTo>
                <a:lnTo>
                  <a:pt x="2897" y="422"/>
                </a:lnTo>
                <a:lnTo>
                  <a:pt x="2902" y="422"/>
                </a:lnTo>
                <a:lnTo>
                  <a:pt x="2902" y="422"/>
                </a:lnTo>
                <a:lnTo>
                  <a:pt x="2910" y="424"/>
                </a:lnTo>
                <a:lnTo>
                  <a:pt x="2915" y="426"/>
                </a:lnTo>
                <a:lnTo>
                  <a:pt x="2919" y="424"/>
                </a:lnTo>
                <a:lnTo>
                  <a:pt x="2919" y="424"/>
                </a:lnTo>
                <a:lnTo>
                  <a:pt x="2922" y="420"/>
                </a:lnTo>
                <a:lnTo>
                  <a:pt x="2924" y="416"/>
                </a:lnTo>
                <a:lnTo>
                  <a:pt x="2926" y="411"/>
                </a:lnTo>
                <a:lnTo>
                  <a:pt x="2929" y="409"/>
                </a:lnTo>
                <a:lnTo>
                  <a:pt x="2929" y="409"/>
                </a:lnTo>
                <a:lnTo>
                  <a:pt x="2935" y="407"/>
                </a:lnTo>
                <a:lnTo>
                  <a:pt x="2939" y="409"/>
                </a:lnTo>
                <a:lnTo>
                  <a:pt x="2940" y="413"/>
                </a:lnTo>
                <a:lnTo>
                  <a:pt x="2940" y="416"/>
                </a:lnTo>
                <a:lnTo>
                  <a:pt x="2939" y="427"/>
                </a:lnTo>
                <a:lnTo>
                  <a:pt x="2939" y="431"/>
                </a:lnTo>
                <a:lnTo>
                  <a:pt x="2939" y="435"/>
                </a:lnTo>
                <a:lnTo>
                  <a:pt x="2939" y="435"/>
                </a:lnTo>
                <a:lnTo>
                  <a:pt x="2942" y="437"/>
                </a:lnTo>
                <a:lnTo>
                  <a:pt x="2946" y="437"/>
                </a:lnTo>
                <a:lnTo>
                  <a:pt x="2949" y="435"/>
                </a:lnTo>
                <a:lnTo>
                  <a:pt x="2953" y="433"/>
                </a:lnTo>
                <a:lnTo>
                  <a:pt x="2953" y="433"/>
                </a:lnTo>
                <a:lnTo>
                  <a:pt x="2953" y="429"/>
                </a:lnTo>
                <a:lnTo>
                  <a:pt x="2953" y="426"/>
                </a:lnTo>
                <a:lnTo>
                  <a:pt x="2953" y="422"/>
                </a:lnTo>
                <a:lnTo>
                  <a:pt x="2955" y="418"/>
                </a:lnTo>
                <a:lnTo>
                  <a:pt x="2955" y="418"/>
                </a:lnTo>
                <a:lnTo>
                  <a:pt x="2957" y="415"/>
                </a:lnTo>
                <a:lnTo>
                  <a:pt x="2958" y="415"/>
                </a:lnTo>
                <a:lnTo>
                  <a:pt x="2960" y="415"/>
                </a:lnTo>
                <a:lnTo>
                  <a:pt x="2962" y="416"/>
                </a:lnTo>
                <a:lnTo>
                  <a:pt x="2964" y="422"/>
                </a:lnTo>
                <a:lnTo>
                  <a:pt x="2966" y="422"/>
                </a:lnTo>
                <a:lnTo>
                  <a:pt x="2969" y="422"/>
                </a:lnTo>
                <a:lnTo>
                  <a:pt x="2969" y="422"/>
                </a:lnTo>
                <a:lnTo>
                  <a:pt x="2971" y="420"/>
                </a:lnTo>
                <a:lnTo>
                  <a:pt x="2973" y="418"/>
                </a:lnTo>
                <a:lnTo>
                  <a:pt x="2973" y="413"/>
                </a:lnTo>
                <a:lnTo>
                  <a:pt x="2975" y="409"/>
                </a:lnTo>
                <a:lnTo>
                  <a:pt x="2975" y="407"/>
                </a:lnTo>
                <a:lnTo>
                  <a:pt x="2978" y="405"/>
                </a:lnTo>
                <a:lnTo>
                  <a:pt x="2978" y="405"/>
                </a:lnTo>
                <a:lnTo>
                  <a:pt x="2982" y="407"/>
                </a:lnTo>
                <a:lnTo>
                  <a:pt x="2984" y="409"/>
                </a:lnTo>
                <a:lnTo>
                  <a:pt x="2986" y="416"/>
                </a:lnTo>
                <a:lnTo>
                  <a:pt x="2986" y="420"/>
                </a:lnTo>
                <a:lnTo>
                  <a:pt x="2987" y="422"/>
                </a:lnTo>
                <a:lnTo>
                  <a:pt x="2993" y="422"/>
                </a:lnTo>
                <a:lnTo>
                  <a:pt x="2998" y="420"/>
                </a:lnTo>
                <a:lnTo>
                  <a:pt x="2998" y="420"/>
                </a:lnTo>
                <a:lnTo>
                  <a:pt x="3009" y="415"/>
                </a:lnTo>
                <a:lnTo>
                  <a:pt x="3013" y="415"/>
                </a:lnTo>
                <a:lnTo>
                  <a:pt x="3015" y="416"/>
                </a:lnTo>
                <a:lnTo>
                  <a:pt x="3016" y="420"/>
                </a:lnTo>
                <a:lnTo>
                  <a:pt x="3016" y="420"/>
                </a:lnTo>
                <a:lnTo>
                  <a:pt x="3016" y="424"/>
                </a:lnTo>
                <a:lnTo>
                  <a:pt x="3015" y="426"/>
                </a:lnTo>
                <a:lnTo>
                  <a:pt x="3011" y="429"/>
                </a:lnTo>
                <a:lnTo>
                  <a:pt x="3007" y="433"/>
                </a:lnTo>
                <a:lnTo>
                  <a:pt x="3006" y="435"/>
                </a:lnTo>
                <a:lnTo>
                  <a:pt x="3006" y="437"/>
                </a:lnTo>
                <a:lnTo>
                  <a:pt x="3006" y="437"/>
                </a:lnTo>
                <a:lnTo>
                  <a:pt x="3007" y="442"/>
                </a:lnTo>
                <a:lnTo>
                  <a:pt x="3011" y="444"/>
                </a:lnTo>
                <a:lnTo>
                  <a:pt x="3020" y="444"/>
                </a:lnTo>
                <a:lnTo>
                  <a:pt x="3020" y="444"/>
                </a:lnTo>
                <a:lnTo>
                  <a:pt x="3029" y="442"/>
                </a:lnTo>
                <a:lnTo>
                  <a:pt x="3038" y="442"/>
                </a:lnTo>
                <a:lnTo>
                  <a:pt x="3038" y="442"/>
                </a:lnTo>
                <a:lnTo>
                  <a:pt x="3045" y="444"/>
                </a:lnTo>
                <a:lnTo>
                  <a:pt x="3051" y="446"/>
                </a:lnTo>
                <a:lnTo>
                  <a:pt x="3051" y="446"/>
                </a:lnTo>
                <a:lnTo>
                  <a:pt x="3062" y="451"/>
                </a:lnTo>
                <a:lnTo>
                  <a:pt x="3074" y="457"/>
                </a:lnTo>
                <a:lnTo>
                  <a:pt x="3074" y="457"/>
                </a:lnTo>
                <a:lnTo>
                  <a:pt x="3080" y="460"/>
                </a:lnTo>
                <a:lnTo>
                  <a:pt x="3087" y="466"/>
                </a:lnTo>
                <a:lnTo>
                  <a:pt x="3098" y="473"/>
                </a:lnTo>
                <a:lnTo>
                  <a:pt x="3098" y="473"/>
                </a:lnTo>
                <a:lnTo>
                  <a:pt x="3107" y="479"/>
                </a:lnTo>
                <a:lnTo>
                  <a:pt x="3116" y="482"/>
                </a:lnTo>
                <a:lnTo>
                  <a:pt x="3134" y="488"/>
                </a:lnTo>
                <a:lnTo>
                  <a:pt x="3134" y="488"/>
                </a:lnTo>
                <a:lnTo>
                  <a:pt x="3145" y="492"/>
                </a:lnTo>
                <a:lnTo>
                  <a:pt x="3156" y="493"/>
                </a:lnTo>
                <a:lnTo>
                  <a:pt x="3156" y="493"/>
                </a:lnTo>
                <a:lnTo>
                  <a:pt x="3165" y="497"/>
                </a:lnTo>
                <a:lnTo>
                  <a:pt x="3170" y="504"/>
                </a:lnTo>
                <a:lnTo>
                  <a:pt x="3172" y="512"/>
                </a:lnTo>
                <a:lnTo>
                  <a:pt x="3172" y="519"/>
                </a:lnTo>
                <a:lnTo>
                  <a:pt x="3169" y="526"/>
                </a:lnTo>
                <a:lnTo>
                  <a:pt x="3163" y="536"/>
                </a:lnTo>
                <a:lnTo>
                  <a:pt x="3158" y="543"/>
                </a:lnTo>
                <a:lnTo>
                  <a:pt x="3152" y="548"/>
                </a:lnTo>
                <a:lnTo>
                  <a:pt x="3152" y="548"/>
                </a:lnTo>
                <a:lnTo>
                  <a:pt x="3143" y="552"/>
                </a:lnTo>
                <a:lnTo>
                  <a:pt x="3136" y="554"/>
                </a:lnTo>
                <a:lnTo>
                  <a:pt x="3127" y="554"/>
                </a:lnTo>
                <a:lnTo>
                  <a:pt x="3118" y="554"/>
                </a:lnTo>
                <a:lnTo>
                  <a:pt x="3100" y="547"/>
                </a:lnTo>
                <a:lnTo>
                  <a:pt x="3083" y="539"/>
                </a:lnTo>
                <a:lnTo>
                  <a:pt x="3083" y="539"/>
                </a:lnTo>
                <a:lnTo>
                  <a:pt x="3073" y="536"/>
                </a:lnTo>
                <a:lnTo>
                  <a:pt x="3067" y="536"/>
                </a:lnTo>
                <a:lnTo>
                  <a:pt x="3062" y="536"/>
                </a:lnTo>
                <a:lnTo>
                  <a:pt x="3062" y="536"/>
                </a:lnTo>
                <a:lnTo>
                  <a:pt x="3058" y="539"/>
                </a:lnTo>
                <a:lnTo>
                  <a:pt x="3056" y="545"/>
                </a:lnTo>
                <a:lnTo>
                  <a:pt x="3058" y="550"/>
                </a:lnTo>
                <a:lnTo>
                  <a:pt x="3062" y="554"/>
                </a:lnTo>
                <a:lnTo>
                  <a:pt x="3062" y="554"/>
                </a:lnTo>
                <a:lnTo>
                  <a:pt x="3069" y="558"/>
                </a:lnTo>
                <a:lnTo>
                  <a:pt x="3078" y="559"/>
                </a:lnTo>
                <a:lnTo>
                  <a:pt x="3085" y="561"/>
                </a:lnTo>
                <a:lnTo>
                  <a:pt x="3089" y="563"/>
                </a:lnTo>
                <a:lnTo>
                  <a:pt x="3091" y="565"/>
                </a:lnTo>
                <a:lnTo>
                  <a:pt x="3091" y="565"/>
                </a:lnTo>
                <a:lnTo>
                  <a:pt x="3094" y="569"/>
                </a:lnTo>
                <a:lnTo>
                  <a:pt x="3094" y="572"/>
                </a:lnTo>
                <a:lnTo>
                  <a:pt x="3094" y="581"/>
                </a:lnTo>
                <a:lnTo>
                  <a:pt x="3094" y="591"/>
                </a:lnTo>
                <a:lnTo>
                  <a:pt x="3098" y="600"/>
                </a:lnTo>
                <a:lnTo>
                  <a:pt x="3098" y="600"/>
                </a:lnTo>
                <a:lnTo>
                  <a:pt x="3102" y="605"/>
                </a:lnTo>
                <a:lnTo>
                  <a:pt x="3111" y="613"/>
                </a:lnTo>
                <a:lnTo>
                  <a:pt x="3118" y="618"/>
                </a:lnTo>
                <a:lnTo>
                  <a:pt x="3127" y="622"/>
                </a:lnTo>
                <a:lnTo>
                  <a:pt x="3127" y="622"/>
                </a:lnTo>
                <a:lnTo>
                  <a:pt x="3132" y="622"/>
                </a:lnTo>
                <a:lnTo>
                  <a:pt x="3136" y="622"/>
                </a:lnTo>
                <a:lnTo>
                  <a:pt x="3140" y="618"/>
                </a:lnTo>
                <a:lnTo>
                  <a:pt x="3140" y="614"/>
                </a:lnTo>
                <a:lnTo>
                  <a:pt x="3141" y="605"/>
                </a:lnTo>
                <a:lnTo>
                  <a:pt x="3145" y="598"/>
                </a:lnTo>
                <a:lnTo>
                  <a:pt x="3145" y="598"/>
                </a:lnTo>
                <a:lnTo>
                  <a:pt x="3147" y="594"/>
                </a:lnTo>
                <a:lnTo>
                  <a:pt x="3149" y="594"/>
                </a:lnTo>
                <a:lnTo>
                  <a:pt x="3154" y="598"/>
                </a:lnTo>
                <a:lnTo>
                  <a:pt x="3154" y="598"/>
                </a:lnTo>
                <a:lnTo>
                  <a:pt x="3165" y="600"/>
                </a:lnTo>
                <a:lnTo>
                  <a:pt x="3170" y="600"/>
                </a:lnTo>
                <a:lnTo>
                  <a:pt x="3174" y="598"/>
                </a:lnTo>
                <a:lnTo>
                  <a:pt x="3174" y="598"/>
                </a:lnTo>
                <a:lnTo>
                  <a:pt x="3178" y="594"/>
                </a:lnTo>
                <a:lnTo>
                  <a:pt x="3178" y="591"/>
                </a:lnTo>
                <a:lnTo>
                  <a:pt x="3178" y="581"/>
                </a:lnTo>
                <a:lnTo>
                  <a:pt x="3174" y="570"/>
                </a:lnTo>
                <a:lnTo>
                  <a:pt x="3174" y="567"/>
                </a:lnTo>
                <a:lnTo>
                  <a:pt x="3174" y="561"/>
                </a:lnTo>
                <a:lnTo>
                  <a:pt x="3174" y="561"/>
                </a:lnTo>
                <a:lnTo>
                  <a:pt x="3178" y="556"/>
                </a:lnTo>
                <a:lnTo>
                  <a:pt x="3183" y="552"/>
                </a:lnTo>
                <a:lnTo>
                  <a:pt x="3190" y="548"/>
                </a:lnTo>
                <a:lnTo>
                  <a:pt x="3196" y="548"/>
                </a:lnTo>
                <a:lnTo>
                  <a:pt x="3196" y="548"/>
                </a:lnTo>
                <a:lnTo>
                  <a:pt x="3207" y="548"/>
                </a:lnTo>
                <a:lnTo>
                  <a:pt x="3210" y="548"/>
                </a:lnTo>
                <a:lnTo>
                  <a:pt x="3216" y="547"/>
                </a:lnTo>
                <a:lnTo>
                  <a:pt x="3216" y="547"/>
                </a:lnTo>
                <a:lnTo>
                  <a:pt x="3218" y="543"/>
                </a:lnTo>
                <a:lnTo>
                  <a:pt x="3218" y="541"/>
                </a:lnTo>
                <a:lnTo>
                  <a:pt x="3216" y="536"/>
                </a:lnTo>
                <a:lnTo>
                  <a:pt x="3216" y="528"/>
                </a:lnTo>
                <a:lnTo>
                  <a:pt x="3216" y="523"/>
                </a:lnTo>
                <a:lnTo>
                  <a:pt x="3216" y="523"/>
                </a:lnTo>
                <a:lnTo>
                  <a:pt x="3223" y="512"/>
                </a:lnTo>
                <a:lnTo>
                  <a:pt x="3225" y="506"/>
                </a:lnTo>
                <a:lnTo>
                  <a:pt x="3223" y="499"/>
                </a:lnTo>
                <a:lnTo>
                  <a:pt x="3223" y="499"/>
                </a:lnTo>
                <a:lnTo>
                  <a:pt x="3219" y="493"/>
                </a:lnTo>
                <a:lnTo>
                  <a:pt x="3218" y="488"/>
                </a:lnTo>
                <a:lnTo>
                  <a:pt x="3219" y="482"/>
                </a:lnTo>
                <a:lnTo>
                  <a:pt x="3221" y="479"/>
                </a:lnTo>
                <a:lnTo>
                  <a:pt x="3223" y="477"/>
                </a:lnTo>
                <a:lnTo>
                  <a:pt x="3223" y="477"/>
                </a:lnTo>
                <a:lnTo>
                  <a:pt x="3227" y="475"/>
                </a:lnTo>
                <a:lnTo>
                  <a:pt x="3230" y="475"/>
                </a:lnTo>
                <a:lnTo>
                  <a:pt x="3239" y="477"/>
                </a:lnTo>
                <a:lnTo>
                  <a:pt x="3250" y="481"/>
                </a:lnTo>
                <a:lnTo>
                  <a:pt x="3256" y="486"/>
                </a:lnTo>
                <a:lnTo>
                  <a:pt x="3256" y="486"/>
                </a:lnTo>
                <a:lnTo>
                  <a:pt x="3261" y="492"/>
                </a:lnTo>
                <a:lnTo>
                  <a:pt x="3263" y="499"/>
                </a:lnTo>
                <a:lnTo>
                  <a:pt x="3261" y="504"/>
                </a:lnTo>
                <a:lnTo>
                  <a:pt x="3257" y="510"/>
                </a:lnTo>
                <a:lnTo>
                  <a:pt x="3250" y="523"/>
                </a:lnTo>
                <a:lnTo>
                  <a:pt x="3250" y="528"/>
                </a:lnTo>
                <a:lnTo>
                  <a:pt x="3250" y="536"/>
                </a:lnTo>
                <a:lnTo>
                  <a:pt x="3250" y="536"/>
                </a:lnTo>
                <a:lnTo>
                  <a:pt x="3254" y="539"/>
                </a:lnTo>
                <a:lnTo>
                  <a:pt x="3257" y="541"/>
                </a:lnTo>
                <a:lnTo>
                  <a:pt x="3263" y="541"/>
                </a:lnTo>
                <a:lnTo>
                  <a:pt x="3268" y="541"/>
                </a:lnTo>
                <a:lnTo>
                  <a:pt x="3279" y="536"/>
                </a:lnTo>
                <a:lnTo>
                  <a:pt x="3286" y="528"/>
                </a:lnTo>
                <a:lnTo>
                  <a:pt x="3286" y="528"/>
                </a:lnTo>
                <a:lnTo>
                  <a:pt x="3290" y="523"/>
                </a:lnTo>
                <a:lnTo>
                  <a:pt x="3292" y="515"/>
                </a:lnTo>
                <a:lnTo>
                  <a:pt x="3294" y="510"/>
                </a:lnTo>
                <a:lnTo>
                  <a:pt x="3297" y="504"/>
                </a:lnTo>
                <a:lnTo>
                  <a:pt x="3297" y="504"/>
                </a:lnTo>
                <a:lnTo>
                  <a:pt x="3305" y="501"/>
                </a:lnTo>
                <a:lnTo>
                  <a:pt x="3310" y="501"/>
                </a:lnTo>
                <a:lnTo>
                  <a:pt x="3317" y="501"/>
                </a:lnTo>
                <a:lnTo>
                  <a:pt x="3323" y="499"/>
                </a:lnTo>
                <a:lnTo>
                  <a:pt x="3323" y="499"/>
                </a:lnTo>
                <a:lnTo>
                  <a:pt x="3334" y="495"/>
                </a:lnTo>
                <a:lnTo>
                  <a:pt x="3344" y="488"/>
                </a:lnTo>
                <a:lnTo>
                  <a:pt x="3357" y="482"/>
                </a:lnTo>
                <a:lnTo>
                  <a:pt x="3361" y="482"/>
                </a:lnTo>
                <a:lnTo>
                  <a:pt x="3366" y="482"/>
                </a:lnTo>
                <a:lnTo>
                  <a:pt x="3366" y="482"/>
                </a:lnTo>
                <a:lnTo>
                  <a:pt x="3370" y="484"/>
                </a:lnTo>
                <a:lnTo>
                  <a:pt x="3372" y="486"/>
                </a:lnTo>
                <a:lnTo>
                  <a:pt x="3375" y="493"/>
                </a:lnTo>
                <a:lnTo>
                  <a:pt x="3377" y="497"/>
                </a:lnTo>
                <a:lnTo>
                  <a:pt x="3381" y="497"/>
                </a:lnTo>
                <a:lnTo>
                  <a:pt x="3382" y="499"/>
                </a:lnTo>
                <a:lnTo>
                  <a:pt x="3388" y="497"/>
                </a:lnTo>
                <a:lnTo>
                  <a:pt x="3388" y="497"/>
                </a:lnTo>
                <a:lnTo>
                  <a:pt x="3393" y="490"/>
                </a:lnTo>
                <a:lnTo>
                  <a:pt x="3395" y="488"/>
                </a:lnTo>
                <a:lnTo>
                  <a:pt x="3401" y="488"/>
                </a:lnTo>
                <a:lnTo>
                  <a:pt x="3401" y="488"/>
                </a:lnTo>
                <a:lnTo>
                  <a:pt x="3404" y="490"/>
                </a:lnTo>
                <a:lnTo>
                  <a:pt x="3406" y="492"/>
                </a:lnTo>
                <a:lnTo>
                  <a:pt x="3410" y="493"/>
                </a:lnTo>
                <a:lnTo>
                  <a:pt x="3415" y="493"/>
                </a:lnTo>
                <a:lnTo>
                  <a:pt x="3415" y="493"/>
                </a:lnTo>
                <a:lnTo>
                  <a:pt x="3420" y="493"/>
                </a:lnTo>
                <a:lnTo>
                  <a:pt x="3424" y="492"/>
                </a:lnTo>
                <a:lnTo>
                  <a:pt x="3430" y="486"/>
                </a:lnTo>
                <a:lnTo>
                  <a:pt x="3435" y="481"/>
                </a:lnTo>
                <a:lnTo>
                  <a:pt x="3439" y="479"/>
                </a:lnTo>
                <a:lnTo>
                  <a:pt x="3444" y="479"/>
                </a:lnTo>
                <a:lnTo>
                  <a:pt x="3444" y="479"/>
                </a:lnTo>
                <a:lnTo>
                  <a:pt x="3451" y="481"/>
                </a:lnTo>
                <a:lnTo>
                  <a:pt x="3460" y="486"/>
                </a:lnTo>
                <a:lnTo>
                  <a:pt x="3468" y="490"/>
                </a:lnTo>
                <a:lnTo>
                  <a:pt x="3473" y="488"/>
                </a:lnTo>
                <a:lnTo>
                  <a:pt x="3477" y="486"/>
                </a:lnTo>
                <a:lnTo>
                  <a:pt x="3477" y="486"/>
                </a:lnTo>
                <a:lnTo>
                  <a:pt x="3480" y="482"/>
                </a:lnTo>
                <a:lnTo>
                  <a:pt x="3480" y="479"/>
                </a:lnTo>
                <a:lnTo>
                  <a:pt x="3478" y="473"/>
                </a:lnTo>
                <a:lnTo>
                  <a:pt x="3477" y="466"/>
                </a:lnTo>
                <a:lnTo>
                  <a:pt x="3475" y="462"/>
                </a:lnTo>
                <a:lnTo>
                  <a:pt x="3477" y="459"/>
                </a:lnTo>
                <a:lnTo>
                  <a:pt x="3477" y="459"/>
                </a:lnTo>
                <a:lnTo>
                  <a:pt x="3478" y="457"/>
                </a:lnTo>
                <a:lnTo>
                  <a:pt x="3480" y="455"/>
                </a:lnTo>
                <a:lnTo>
                  <a:pt x="3486" y="453"/>
                </a:lnTo>
                <a:lnTo>
                  <a:pt x="3500" y="453"/>
                </a:lnTo>
                <a:lnTo>
                  <a:pt x="3500" y="453"/>
                </a:lnTo>
                <a:lnTo>
                  <a:pt x="3516" y="451"/>
                </a:lnTo>
                <a:lnTo>
                  <a:pt x="3524" y="453"/>
                </a:lnTo>
                <a:lnTo>
                  <a:pt x="3533" y="453"/>
                </a:lnTo>
                <a:lnTo>
                  <a:pt x="3533" y="453"/>
                </a:lnTo>
                <a:lnTo>
                  <a:pt x="3538" y="457"/>
                </a:lnTo>
                <a:lnTo>
                  <a:pt x="3544" y="459"/>
                </a:lnTo>
                <a:lnTo>
                  <a:pt x="3551" y="466"/>
                </a:lnTo>
                <a:lnTo>
                  <a:pt x="3560" y="475"/>
                </a:lnTo>
                <a:lnTo>
                  <a:pt x="3567" y="482"/>
                </a:lnTo>
                <a:lnTo>
                  <a:pt x="3567" y="482"/>
                </a:lnTo>
                <a:lnTo>
                  <a:pt x="3576" y="486"/>
                </a:lnTo>
                <a:lnTo>
                  <a:pt x="3576" y="486"/>
                </a:lnTo>
                <a:lnTo>
                  <a:pt x="3585" y="488"/>
                </a:lnTo>
                <a:lnTo>
                  <a:pt x="3591" y="488"/>
                </a:lnTo>
                <a:lnTo>
                  <a:pt x="3594" y="486"/>
                </a:lnTo>
                <a:lnTo>
                  <a:pt x="3594" y="486"/>
                </a:lnTo>
                <a:lnTo>
                  <a:pt x="3598" y="481"/>
                </a:lnTo>
                <a:lnTo>
                  <a:pt x="3598" y="475"/>
                </a:lnTo>
                <a:lnTo>
                  <a:pt x="3598" y="468"/>
                </a:lnTo>
                <a:lnTo>
                  <a:pt x="3596" y="462"/>
                </a:lnTo>
                <a:lnTo>
                  <a:pt x="3596" y="462"/>
                </a:lnTo>
                <a:lnTo>
                  <a:pt x="3593" y="457"/>
                </a:lnTo>
                <a:lnTo>
                  <a:pt x="3587" y="453"/>
                </a:lnTo>
                <a:lnTo>
                  <a:pt x="3584" y="448"/>
                </a:lnTo>
                <a:lnTo>
                  <a:pt x="3582" y="440"/>
                </a:lnTo>
                <a:lnTo>
                  <a:pt x="3582" y="440"/>
                </a:lnTo>
                <a:lnTo>
                  <a:pt x="3580" y="431"/>
                </a:lnTo>
                <a:lnTo>
                  <a:pt x="3578" y="424"/>
                </a:lnTo>
                <a:lnTo>
                  <a:pt x="3578" y="424"/>
                </a:lnTo>
                <a:lnTo>
                  <a:pt x="3574" y="416"/>
                </a:lnTo>
                <a:lnTo>
                  <a:pt x="3573" y="411"/>
                </a:lnTo>
                <a:lnTo>
                  <a:pt x="3574" y="405"/>
                </a:lnTo>
                <a:lnTo>
                  <a:pt x="3576" y="400"/>
                </a:lnTo>
                <a:lnTo>
                  <a:pt x="3576" y="400"/>
                </a:lnTo>
                <a:lnTo>
                  <a:pt x="3582" y="396"/>
                </a:lnTo>
                <a:lnTo>
                  <a:pt x="3585" y="396"/>
                </a:lnTo>
                <a:lnTo>
                  <a:pt x="3591" y="394"/>
                </a:lnTo>
                <a:lnTo>
                  <a:pt x="3596" y="394"/>
                </a:lnTo>
                <a:lnTo>
                  <a:pt x="3596" y="394"/>
                </a:lnTo>
                <a:lnTo>
                  <a:pt x="3596" y="383"/>
                </a:lnTo>
                <a:lnTo>
                  <a:pt x="3596" y="372"/>
                </a:lnTo>
                <a:lnTo>
                  <a:pt x="3598" y="367"/>
                </a:lnTo>
                <a:lnTo>
                  <a:pt x="3600" y="361"/>
                </a:lnTo>
                <a:lnTo>
                  <a:pt x="3603" y="358"/>
                </a:lnTo>
                <a:lnTo>
                  <a:pt x="3607" y="354"/>
                </a:lnTo>
                <a:lnTo>
                  <a:pt x="3607" y="354"/>
                </a:lnTo>
                <a:lnTo>
                  <a:pt x="3614" y="352"/>
                </a:lnTo>
                <a:lnTo>
                  <a:pt x="3622" y="350"/>
                </a:lnTo>
                <a:lnTo>
                  <a:pt x="3629" y="349"/>
                </a:lnTo>
                <a:lnTo>
                  <a:pt x="3636" y="350"/>
                </a:lnTo>
                <a:lnTo>
                  <a:pt x="3643" y="352"/>
                </a:lnTo>
                <a:lnTo>
                  <a:pt x="3651" y="354"/>
                </a:lnTo>
                <a:lnTo>
                  <a:pt x="3656" y="358"/>
                </a:lnTo>
                <a:lnTo>
                  <a:pt x="3660" y="363"/>
                </a:lnTo>
                <a:lnTo>
                  <a:pt x="3660" y="363"/>
                </a:lnTo>
                <a:lnTo>
                  <a:pt x="3663" y="371"/>
                </a:lnTo>
                <a:lnTo>
                  <a:pt x="3663" y="378"/>
                </a:lnTo>
                <a:lnTo>
                  <a:pt x="3661" y="393"/>
                </a:lnTo>
                <a:lnTo>
                  <a:pt x="3661" y="393"/>
                </a:lnTo>
                <a:lnTo>
                  <a:pt x="3658" y="407"/>
                </a:lnTo>
                <a:lnTo>
                  <a:pt x="3658" y="407"/>
                </a:lnTo>
                <a:lnTo>
                  <a:pt x="3654" y="413"/>
                </a:lnTo>
                <a:lnTo>
                  <a:pt x="3654" y="413"/>
                </a:lnTo>
                <a:lnTo>
                  <a:pt x="3654" y="416"/>
                </a:lnTo>
                <a:lnTo>
                  <a:pt x="3656" y="422"/>
                </a:lnTo>
                <a:lnTo>
                  <a:pt x="3661" y="429"/>
                </a:lnTo>
                <a:lnTo>
                  <a:pt x="3661" y="429"/>
                </a:lnTo>
                <a:lnTo>
                  <a:pt x="3661" y="440"/>
                </a:lnTo>
                <a:lnTo>
                  <a:pt x="3660" y="449"/>
                </a:lnTo>
                <a:lnTo>
                  <a:pt x="3658" y="460"/>
                </a:lnTo>
                <a:lnTo>
                  <a:pt x="3658" y="470"/>
                </a:lnTo>
                <a:lnTo>
                  <a:pt x="3658" y="470"/>
                </a:lnTo>
                <a:lnTo>
                  <a:pt x="3660" y="484"/>
                </a:lnTo>
                <a:lnTo>
                  <a:pt x="3663" y="501"/>
                </a:lnTo>
                <a:lnTo>
                  <a:pt x="3663" y="501"/>
                </a:lnTo>
                <a:lnTo>
                  <a:pt x="3661" y="512"/>
                </a:lnTo>
                <a:lnTo>
                  <a:pt x="3658" y="521"/>
                </a:lnTo>
                <a:lnTo>
                  <a:pt x="3651" y="528"/>
                </a:lnTo>
                <a:lnTo>
                  <a:pt x="3643" y="537"/>
                </a:lnTo>
                <a:lnTo>
                  <a:pt x="3643" y="537"/>
                </a:lnTo>
                <a:lnTo>
                  <a:pt x="3636" y="545"/>
                </a:lnTo>
                <a:lnTo>
                  <a:pt x="3632" y="550"/>
                </a:lnTo>
                <a:lnTo>
                  <a:pt x="3632" y="554"/>
                </a:lnTo>
                <a:lnTo>
                  <a:pt x="3632" y="554"/>
                </a:lnTo>
                <a:lnTo>
                  <a:pt x="3636" y="559"/>
                </a:lnTo>
                <a:lnTo>
                  <a:pt x="3641" y="561"/>
                </a:lnTo>
                <a:lnTo>
                  <a:pt x="3649" y="563"/>
                </a:lnTo>
                <a:lnTo>
                  <a:pt x="3654" y="563"/>
                </a:lnTo>
                <a:lnTo>
                  <a:pt x="3654" y="563"/>
                </a:lnTo>
                <a:lnTo>
                  <a:pt x="3661" y="561"/>
                </a:lnTo>
                <a:lnTo>
                  <a:pt x="3667" y="558"/>
                </a:lnTo>
                <a:lnTo>
                  <a:pt x="3667" y="558"/>
                </a:lnTo>
                <a:lnTo>
                  <a:pt x="3670" y="556"/>
                </a:lnTo>
                <a:lnTo>
                  <a:pt x="3670" y="552"/>
                </a:lnTo>
                <a:lnTo>
                  <a:pt x="3674" y="545"/>
                </a:lnTo>
                <a:lnTo>
                  <a:pt x="3674" y="545"/>
                </a:lnTo>
                <a:lnTo>
                  <a:pt x="3680" y="536"/>
                </a:lnTo>
                <a:lnTo>
                  <a:pt x="3685" y="530"/>
                </a:lnTo>
                <a:lnTo>
                  <a:pt x="3692" y="523"/>
                </a:lnTo>
                <a:lnTo>
                  <a:pt x="3694" y="517"/>
                </a:lnTo>
                <a:lnTo>
                  <a:pt x="3694" y="514"/>
                </a:lnTo>
                <a:lnTo>
                  <a:pt x="3694" y="514"/>
                </a:lnTo>
                <a:lnTo>
                  <a:pt x="3694" y="501"/>
                </a:lnTo>
                <a:lnTo>
                  <a:pt x="3694" y="495"/>
                </a:lnTo>
                <a:lnTo>
                  <a:pt x="3696" y="490"/>
                </a:lnTo>
                <a:lnTo>
                  <a:pt x="3696" y="490"/>
                </a:lnTo>
                <a:lnTo>
                  <a:pt x="3699" y="484"/>
                </a:lnTo>
                <a:lnTo>
                  <a:pt x="3705" y="482"/>
                </a:lnTo>
                <a:lnTo>
                  <a:pt x="3710" y="481"/>
                </a:lnTo>
                <a:lnTo>
                  <a:pt x="3716" y="482"/>
                </a:lnTo>
                <a:lnTo>
                  <a:pt x="3716" y="482"/>
                </a:lnTo>
                <a:lnTo>
                  <a:pt x="3723" y="486"/>
                </a:lnTo>
                <a:lnTo>
                  <a:pt x="3727" y="492"/>
                </a:lnTo>
                <a:lnTo>
                  <a:pt x="3730" y="499"/>
                </a:lnTo>
                <a:lnTo>
                  <a:pt x="3734" y="506"/>
                </a:lnTo>
                <a:lnTo>
                  <a:pt x="3734" y="506"/>
                </a:lnTo>
                <a:lnTo>
                  <a:pt x="3736" y="512"/>
                </a:lnTo>
                <a:lnTo>
                  <a:pt x="3739" y="517"/>
                </a:lnTo>
                <a:lnTo>
                  <a:pt x="3745" y="521"/>
                </a:lnTo>
                <a:lnTo>
                  <a:pt x="3747" y="521"/>
                </a:lnTo>
                <a:lnTo>
                  <a:pt x="3750" y="519"/>
                </a:lnTo>
                <a:lnTo>
                  <a:pt x="3750" y="519"/>
                </a:lnTo>
                <a:lnTo>
                  <a:pt x="3754" y="517"/>
                </a:lnTo>
                <a:lnTo>
                  <a:pt x="3756" y="514"/>
                </a:lnTo>
                <a:lnTo>
                  <a:pt x="3756" y="510"/>
                </a:lnTo>
                <a:lnTo>
                  <a:pt x="3756" y="504"/>
                </a:lnTo>
                <a:lnTo>
                  <a:pt x="3752" y="495"/>
                </a:lnTo>
                <a:lnTo>
                  <a:pt x="3743" y="486"/>
                </a:lnTo>
                <a:lnTo>
                  <a:pt x="3734" y="477"/>
                </a:lnTo>
                <a:lnTo>
                  <a:pt x="3725" y="470"/>
                </a:lnTo>
                <a:lnTo>
                  <a:pt x="3718" y="464"/>
                </a:lnTo>
                <a:lnTo>
                  <a:pt x="3710" y="462"/>
                </a:lnTo>
                <a:lnTo>
                  <a:pt x="3710" y="462"/>
                </a:lnTo>
                <a:lnTo>
                  <a:pt x="3696" y="462"/>
                </a:lnTo>
                <a:lnTo>
                  <a:pt x="3690" y="460"/>
                </a:lnTo>
                <a:lnTo>
                  <a:pt x="3683" y="457"/>
                </a:lnTo>
                <a:lnTo>
                  <a:pt x="3683" y="457"/>
                </a:lnTo>
                <a:lnTo>
                  <a:pt x="3681" y="451"/>
                </a:lnTo>
                <a:lnTo>
                  <a:pt x="3681" y="446"/>
                </a:lnTo>
                <a:lnTo>
                  <a:pt x="3683" y="440"/>
                </a:lnTo>
                <a:lnTo>
                  <a:pt x="3683" y="435"/>
                </a:lnTo>
                <a:lnTo>
                  <a:pt x="3683" y="435"/>
                </a:lnTo>
                <a:lnTo>
                  <a:pt x="3680" y="429"/>
                </a:lnTo>
                <a:lnTo>
                  <a:pt x="3678" y="424"/>
                </a:lnTo>
                <a:lnTo>
                  <a:pt x="3676" y="418"/>
                </a:lnTo>
                <a:lnTo>
                  <a:pt x="3676" y="413"/>
                </a:lnTo>
                <a:lnTo>
                  <a:pt x="3676" y="413"/>
                </a:lnTo>
                <a:lnTo>
                  <a:pt x="3680" y="405"/>
                </a:lnTo>
                <a:lnTo>
                  <a:pt x="3683" y="398"/>
                </a:lnTo>
                <a:lnTo>
                  <a:pt x="3685" y="393"/>
                </a:lnTo>
                <a:lnTo>
                  <a:pt x="3687" y="383"/>
                </a:lnTo>
                <a:lnTo>
                  <a:pt x="3687" y="383"/>
                </a:lnTo>
                <a:lnTo>
                  <a:pt x="3687" y="371"/>
                </a:lnTo>
                <a:lnTo>
                  <a:pt x="3690" y="365"/>
                </a:lnTo>
                <a:lnTo>
                  <a:pt x="3692" y="363"/>
                </a:lnTo>
                <a:lnTo>
                  <a:pt x="3696" y="361"/>
                </a:lnTo>
                <a:lnTo>
                  <a:pt x="3696" y="361"/>
                </a:lnTo>
                <a:lnTo>
                  <a:pt x="3699" y="363"/>
                </a:lnTo>
                <a:lnTo>
                  <a:pt x="3701" y="365"/>
                </a:lnTo>
                <a:lnTo>
                  <a:pt x="3703" y="371"/>
                </a:lnTo>
                <a:lnTo>
                  <a:pt x="3703" y="378"/>
                </a:lnTo>
                <a:lnTo>
                  <a:pt x="3701" y="387"/>
                </a:lnTo>
                <a:lnTo>
                  <a:pt x="3698" y="405"/>
                </a:lnTo>
                <a:lnTo>
                  <a:pt x="3698" y="413"/>
                </a:lnTo>
                <a:lnTo>
                  <a:pt x="3699" y="416"/>
                </a:lnTo>
                <a:lnTo>
                  <a:pt x="3701" y="418"/>
                </a:lnTo>
                <a:lnTo>
                  <a:pt x="3701" y="418"/>
                </a:lnTo>
                <a:lnTo>
                  <a:pt x="3707" y="420"/>
                </a:lnTo>
                <a:lnTo>
                  <a:pt x="3712" y="420"/>
                </a:lnTo>
                <a:lnTo>
                  <a:pt x="3719" y="418"/>
                </a:lnTo>
                <a:lnTo>
                  <a:pt x="3725" y="420"/>
                </a:lnTo>
                <a:lnTo>
                  <a:pt x="3725" y="420"/>
                </a:lnTo>
                <a:lnTo>
                  <a:pt x="3732" y="420"/>
                </a:lnTo>
                <a:lnTo>
                  <a:pt x="3738" y="420"/>
                </a:lnTo>
                <a:lnTo>
                  <a:pt x="3738" y="418"/>
                </a:lnTo>
                <a:lnTo>
                  <a:pt x="3738" y="416"/>
                </a:lnTo>
                <a:lnTo>
                  <a:pt x="3734" y="411"/>
                </a:lnTo>
                <a:lnTo>
                  <a:pt x="3734" y="411"/>
                </a:lnTo>
                <a:lnTo>
                  <a:pt x="3728" y="409"/>
                </a:lnTo>
                <a:lnTo>
                  <a:pt x="3723" y="407"/>
                </a:lnTo>
                <a:lnTo>
                  <a:pt x="3718" y="405"/>
                </a:lnTo>
                <a:lnTo>
                  <a:pt x="3714" y="402"/>
                </a:lnTo>
                <a:lnTo>
                  <a:pt x="3714" y="402"/>
                </a:lnTo>
                <a:lnTo>
                  <a:pt x="3714" y="398"/>
                </a:lnTo>
                <a:lnTo>
                  <a:pt x="3718" y="393"/>
                </a:lnTo>
                <a:lnTo>
                  <a:pt x="3721" y="389"/>
                </a:lnTo>
                <a:lnTo>
                  <a:pt x="3725" y="389"/>
                </a:lnTo>
                <a:lnTo>
                  <a:pt x="3725" y="389"/>
                </a:lnTo>
                <a:lnTo>
                  <a:pt x="3728" y="389"/>
                </a:lnTo>
                <a:lnTo>
                  <a:pt x="3732" y="391"/>
                </a:lnTo>
                <a:lnTo>
                  <a:pt x="3738" y="393"/>
                </a:lnTo>
                <a:lnTo>
                  <a:pt x="3741" y="393"/>
                </a:lnTo>
                <a:lnTo>
                  <a:pt x="3741" y="393"/>
                </a:lnTo>
                <a:lnTo>
                  <a:pt x="3750" y="393"/>
                </a:lnTo>
                <a:lnTo>
                  <a:pt x="3750" y="393"/>
                </a:lnTo>
                <a:lnTo>
                  <a:pt x="3750" y="389"/>
                </a:lnTo>
                <a:lnTo>
                  <a:pt x="3748" y="385"/>
                </a:lnTo>
                <a:lnTo>
                  <a:pt x="3747" y="382"/>
                </a:lnTo>
                <a:lnTo>
                  <a:pt x="3747" y="378"/>
                </a:lnTo>
                <a:lnTo>
                  <a:pt x="3747" y="378"/>
                </a:lnTo>
                <a:lnTo>
                  <a:pt x="3748" y="374"/>
                </a:lnTo>
                <a:lnTo>
                  <a:pt x="3752" y="372"/>
                </a:lnTo>
                <a:lnTo>
                  <a:pt x="3763" y="372"/>
                </a:lnTo>
                <a:lnTo>
                  <a:pt x="3763" y="372"/>
                </a:lnTo>
                <a:lnTo>
                  <a:pt x="3774" y="374"/>
                </a:lnTo>
                <a:lnTo>
                  <a:pt x="3779" y="376"/>
                </a:lnTo>
                <a:lnTo>
                  <a:pt x="3785" y="380"/>
                </a:lnTo>
                <a:lnTo>
                  <a:pt x="3785" y="380"/>
                </a:lnTo>
                <a:lnTo>
                  <a:pt x="3788" y="385"/>
                </a:lnTo>
                <a:lnTo>
                  <a:pt x="3790" y="387"/>
                </a:lnTo>
                <a:lnTo>
                  <a:pt x="3794" y="389"/>
                </a:lnTo>
                <a:lnTo>
                  <a:pt x="3794" y="389"/>
                </a:lnTo>
                <a:lnTo>
                  <a:pt x="3797" y="389"/>
                </a:lnTo>
                <a:lnTo>
                  <a:pt x="3799" y="389"/>
                </a:lnTo>
                <a:lnTo>
                  <a:pt x="3803" y="389"/>
                </a:lnTo>
                <a:lnTo>
                  <a:pt x="3806" y="391"/>
                </a:lnTo>
                <a:lnTo>
                  <a:pt x="3806" y="391"/>
                </a:lnTo>
                <a:lnTo>
                  <a:pt x="3808" y="393"/>
                </a:lnTo>
                <a:lnTo>
                  <a:pt x="3810" y="396"/>
                </a:lnTo>
                <a:lnTo>
                  <a:pt x="3810" y="404"/>
                </a:lnTo>
                <a:lnTo>
                  <a:pt x="3808" y="416"/>
                </a:lnTo>
                <a:lnTo>
                  <a:pt x="3808" y="416"/>
                </a:lnTo>
                <a:lnTo>
                  <a:pt x="3806" y="424"/>
                </a:lnTo>
                <a:lnTo>
                  <a:pt x="3808" y="429"/>
                </a:lnTo>
                <a:lnTo>
                  <a:pt x="3810" y="433"/>
                </a:lnTo>
                <a:lnTo>
                  <a:pt x="3812" y="438"/>
                </a:lnTo>
                <a:lnTo>
                  <a:pt x="3819" y="446"/>
                </a:lnTo>
                <a:lnTo>
                  <a:pt x="3830" y="449"/>
                </a:lnTo>
                <a:lnTo>
                  <a:pt x="3830" y="449"/>
                </a:lnTo>
                <a:lnTo>
                  <a:pt x="3837" y="453"/>
                </a:lnTo>
                <a:lnTo>
                  <a:pt x="3843" y="459"/>
                </a:lnTo>
                <a:lnTo>
                  <a:pt x="3848" y="462"/>
                </a:lnTo>
                <a:lnTo>
                  <a:pt x="3852" y="464"/>
                </a:lnTo>
                <a:lnTo>
                  <a:pt x="3855" y="464"/>
                </a:lnTo>
                <a:lnTo>
                  <a:pt x="3855" y="464"/>
                </a:lnTo>
                <a:lnTo>
                  <a:pt x="3859" y="462"/>
                </a:lnTo>
                <a:lnTo>
                  <a:pt x="3861" y="460"/>
                </a:lnTo>
                <a:lnTo>
                  <a:pt x="3861" y="457"/>
                </a:lnTo>
                <a:lnTo>
                  <a:pt x="3859" y="451"/>
                </a:lnTo>
                <a:lnTo>
                  <a:pt x="3859" y="451"/>
                </a:lnTo>
                <a:lnTo>
                  <a:pt x="3855" y="448"/>
                </a:lnTo>
                <a:lnTo>
                  <a:pt x="3852" y="446"/>
                </a:lnTo>
                <a:lnTo>
                  <a:pt x="3844" y="442"/>
                </a:lnTo>
                <a:lnTo>
                  <a:pt x="3844" y="442"/>
                </a:lnTo>
                <a:lnTo>
                  <a:pt x="3837" y="440"/>
                </a:lnTo>
                <a:lnTo>
                  <a:pt x="3832" y="435"/>
                </a:lnTo>
                <a:lnTo>
                  <a:pt x="3828" y="429"/>
                </a:lnTo>
                <a:lnTo>
                  <a:pt x="3828" y="422"/>
                </a:lnTo>
                <a:lnTo>
                  <a:pt x="3826" y="405"/>
                </a:lnTo>
                <a:lnTo>
                  <a:pt x="3826" y="398"/>
                </a:lnTo>
                <a:lnTo>
                  <a:pt x="3824" y="391"/>
                </a:lnTo>
                <a:lnTo>
                  <a:pt x="3824" y="391"/>
                </a:lnTo>
                <a:lnTo>
                  <a:pt x="3823" y="387"/>
                </a:lnTo>
                <a:lnTo>
                  <a:pt x="3819" y="383"/>
                </a:lnTo>
                <a:lnTo>
                  <a:pt x="3812" y="378"/>
                </a:lnTo>
                <a:lnTo>
                  <a:pt x="3803" y="372"/>
                </a:lnTo>
                <a:lnTo>
                  <a:pt x="3797" y="365"/>
                </a:lnTo>
                <a:lnTo>
                  <a:pt x="3797" y="365"/>
                </a:lnTo>
                <a:lnTo>
                  <a:pt x="3794" y="360"/>
                </a:lnTo>
                <a:lnTo>
                  <a:pt x="3794" y="354"/>
                </a:lnTo>
                <a:lnTo>
                  <a:pt x="3794" y="349"/>
                </a:lnTo>
                <a:lnTo>
                  <a:pt x="3794" y="343"/>
                </a:lnTo>
                <a:lnTo>
                  <a:pt x="3797" y="337"/>
                </a:lnTo>
                <a:lnTo>
                  <a:pt x="3801" y="332"/>
                </a:lnTo>
                <a:lnTo>
                  <a:pt x="3805" y="328"/>
                </a:lnTo>
                <a:lnTo>
                  <a:pt x="3810" y="326"/>
                </a:lnTo>
                <a:lnTo>
                  <a:pt x="3810" y="326"/>
                </a:lnTo>
                <a:lnTo>
                  <a:pt x="3815" y="325"/>
                </a:lnTo>
                <a:lnTo>
                  <a:pt x="3821" y="325"/>
                </a:lnTo>
                <a:lnTo>
                  <a:pt x="3832" y="326"/>
                </a:lnTo>
                <a:lnTo>
                  <a:pt x="3832" y="326"/>
                </a:lnTo>
                <a:lnTo>
                  <a:pt x="3843" y="326"/>
                </a:lnTo>
                <a:lnTo>
                  <a:pt x="3852" y="323"/>
                </a:lnTo>
                <a:lnTo>
                  <a:pt x="3852" y="323"/>
                </a:lnTo>
                <a:lnTo>
                  <a:pt x="3857" y="319"/>
                </a:lnTo>
                <a:lnTo>
                  <a:pt x="3861" y="317"/>
                </a:lnTo>
                <a:lnTo>
                  <a:pt x="3864" y="317"/>
                </a:lnTo>
                <a:lnTo>
                  <a:pt x="3864" y="317"/>
                </a:lnTo>
                <a:lnTo>
                  <a:pt x="3866" y="319"/>
                </a:lnTo>
                <a:lnTo>
                  <a:pt x="3870" y="321"/>
                </a:lnTo>
                <a:lnTo>
                  <a:pt x="3873" y="326"/>
                </a:lnTo>
                <a:lnTo>
                  <a:pt x="3877" y="332"/>
                </a:lnTo>
                <a:lnTo>
                  <a:pt x="3881" y="334"/>
                </a:lnTo>
                <a:lnTo>
                  <a:pt x="3882" y="334"/>
                </a:lnTo>
                <a:lnTo>
                  <a:pt x="3882" y="334"/>
                </a:lnTo>
                <a:lnTo>
                  <a:pt x="3888" y="334"/>
                </a:lnTo>
                <a:lnTo>
                  <a:pt x="3890" y="334"/>
                </a:lnTo>
                <a:lnTo>
                  <a:pt x="3892" y="332"/>
                </a:lnTo>
                <a:lnTo>
                  <a:pt x="3892" y="330"/>
                </a:lnTo>
                <a:lnTo>
                  <a:pt x="3890" y="325"/>
                </a:lnTo>
                <a:lnTo>
                  <a:pt x="3888" y="319"/>
                </a:lnTo>
                <a:lnTo>
                  <a:pt x="3888" y="319"/>
                </a:lnTo>
                <a:lnTo>
                  <a:pt x="3881" y="308"/>
                </a:lnTo>
                <a:lnTo>
                  <a:pt x="3875" y="295"/>
                </a:lnTo>
                <a:lnTo>
                  <a:pt x="3873" y="290"/>
                </a:lnTo>
                <a:lnTo>
                  <a:pt x="3875" y="284"/>
                </a:lnTo>
                <a:lnTo>
                  <a:pt x="3877" y="279"/>
                </a:lnTo>
                <a:lnTo>
                  <a:pt x="3882" y="273"/>
                </a:lnTo>
                <a:lnTo>
                  <a:pt x="3882" y="273"/>
                </a:lnTo>
                <a:lnTo>
                  <a:pt x="3890" y="270"/>
                </a:lnTo>
                <a:lnTo>
                  <a:pt x="3897" y="266"/>
                </a:lnTo>
                <a:lnTo>
                  <a:pt x="3915" y="260"/>
                </a:lnTo>
                <a:lnTo>
                  <a:pt x="3933" y="259"/>
                </a:lnTo>
                <a:lnTo>
                  <a:pt x="3949" y="260"/>
                </a:lnTo>
                <a:lnTo>
                  <a:pt x="3949" y="260"/>
                </a:lnTo>
                <a:lnTo>
                  <a:pt x="3959" y="262"/>
                </a:lnTo>
                <a:lnTo>
                  <a:pt x="3966" y="264"/>
                </a:lnTo>
                <a:lnTo>
                  <a:pt x="3966" y="264"/>
                </a:lnTo>
                <a:lnTo>
                  <a:pt x="3971" y="262"/>
                </a:lnTo>
                <a:lnTo>
                  <a:pt x="3975" y="259"/>
                </a:lnTo>
                <a:lnTo>
                  <a:pt x="3975" y="259"/>
                </a:lnTo>
                <a:lnTo>
                  <a:pt x="3980" y="257"/>
                </a:lnTo>
                <a:lnTo>
                  <a:pt x="3984" y="257"/>
                </a:lnTo>
                <a:lnTo>
                  <a:pt x="3993" y="259"/>
                </a:lnTo>
                <a:lnTo>
                  <a:pt x="4002" y="259"/>
                </a:lnTo>
                <a:lnTo>
                  <a:pt x="4006" y="259"/>
                </a:lnTo>
                <a:lnTo>
                  <a:pt x="4009" y="255"/>
                </a:lnTo>
                <a:lnTo>
                  <a:pt x="4009" y="255"/>
                </a:lnTo>
                <a:lnTo>
                  <a:pt x="4017" y="248"/>
                </a:lnTo>
                <a:lnTo>
                  <a:pt x="4020" y="248"/>
                </a:lnTo>
                <a:lnTo>
                  <a:pt x="4026" y="248"/>
                </a:lnTo>
                <a:lnTo>
                  <a:pt x="4026" y="248"/>
                </a:lnTo>
                <a:lnTo>
                  <a:pt x="4029" y="253"/>
                </a:lnTo>
                <a:lnTo>
                  <a:pt x="4033" y="257"/>
                </a:lnTo>
                <a:lnTo>
                  <a:pt x="4036" y="260"/>
                </a:lnTo>
                <a:lnTo>
                  <a:pt x="4045" y="259"/>
                </a:lnTo>
                <a:lnTo>
                  <a:pt x="4045" y="259"/>
                </a:lnTo>
                <a:lnTo>
                  <a:pt x="4049" y="259"/>
                </a:lnTo>
                <a:lnTo>
                  <a:pt x="4051" y="255"/>
                </a:lnTo>
                <a:lnTo>
                  <a:pt x="4055" y="251"/>
                </a:lnTo>
                <a:lnTo>
                  <a:pt x="4056" y="246"/>
                </a:lnTo>
                <a:lnTo>
                  <a:pt x="4058" y="244"/>
                </a:lnTo>
                <a:lnTo>
                  <a:pt x="4060" y="242"/>
                </a:lnTo>
                <a:lnTo>
                  <a:pt x="4060" y="242"/>
                </a:lnTo>
                <a:lnTo>
                  <a:pt x="4065" y="240"/>
                </a:lnTo>
                <a:lnTo>
                  <a:pt x="4069" y="242"/>
                </a:lnTo>
                <a:lnTo>
                  <a:pt x="4078" y="246"/>
                </a:lnTo>
                <a:lnTo>
                  <a:pt x="4087" y="249"/>
                </a:lnTo>
                <a:lnTo>
                  <a:pt x="4091" y="249"/>
                </a:lnTo>
                <a:lnTo>
                  <a:pt x="4094" y="248"/>
                </a:lnTo>
                <a:lnTo>
                  <a:pt x="4094" y="248"/>
                </a:lnTo>
                <a:lnTo>
                  <a:pt x="4094" y="246"/>
                </a:lnTo>
                <a:lnTo>
                  <a:pt x="4094" y="244"/>
                </a:lnTo>
                <a:lnTo>
                  <a:pt x="4091" y="238"/>
                </a:lnTo>
                <a:lnTo>
                  <a:pt x="4091" y="238"/>
                </a:lnTo>
                <a:lnTo>
                  <a:pt x="4089" y="233"/>
                </a:lnTo>
                <a:lnTo>
                  <a:pt x="4091" y="227"/>
                </a:lnTo>
                <a:lnTo>
                  <a:pt x="4091" y="227"/>
                </a:lnTo>
                <a:lnTo>
                  <a:pt x="4091" y="222"/>
                </a:lnTo>
                <a:lnTo>
                  <a:pt x="4093" y="218"/>
                </a:lnTo>
                <a:lnTo>
                  <a:pt x="4100" y="215"/>
                </a:lnTo>
                <a:lnTo>
                  <a:pt x="4116" y="209"/>
                </a:lnTo>
                <a:lnTo>
                  <a:pt x="4116" y="209"/>
                </a:lnTo>
                <a:lnTo>
                  <a:pt x="4132" y="205"/>
                </a:lnTo>
                <a:lnTo>
                  <a:pt x="4142" y="205"/>
                </a:lnTo>
                <a:lnTo>
                  <a:pt x="4149" y="207"/>
                </a:lnTo>
                <a:lnTo>
                  <a:pt x="4149" y="207"/>
                </a:lnTo>
                <a:lnTo>
                  <a:pt x="4156" y="211"/>
                </a:lnTo>
                <a:lnTo>
                  <a:pt x="4163" y="215"/>
                </a:lnTo>
                <a:lnTo>
                  <a:pt x="4163" y="215"/>
                </a:lnTo>
                <a:lnTo>
                  <a:pt x="4180" y="233"/>
                </a:lnTo>
                <a:lnTo>
                  <a:pt x="4190" y="240"/>
                </a:lnTo>
                <a:lnTo>
                  <a:pt x="4196" y="242"/>
                </a:lnTo>
                <a:lnTo>
                  <a:pt x="4201" y="242"/>
                </a:lnTo>
                <a:lnTo>
                  <a:pt x="4201" y="242"/>
                </a:lnTo>
                <a:lnTo>
                  <a:pt x="4209" y="238"/>
                </a:lnTo>
                <a:lnTo>
                  <a:pt x="4214" y="237"/>
                </a:lnTo>
                <a:lnTo>
                  <a:pt x="4214" y="237"/>
                </a:lnTo>
                <a:lnTo>
                  <a:pt x="4225" y="235"/>
                </a:lnTo>
                <a:lnTo>
                  <a:pt x="4236" y="235"/>
                </a:lnTo>
                <a:lnTo>
                  <a:pt x="4236" y="235"/>
                </a:lnTo>
                <a:lnTo>
                  <a:pt x="4245" y="231"/>
                </a:lnTo>
                <a:lnTo>
                  <a:pt x="4248" y="231"/>
                </a:lnTo>
                <a:lnTo>
                  <a:pt x="4252" y="233"/>
                </a:lnTo>
                <a:lnTo>
                  <a:pt x="4252" y="233"/>
                </a:lnTo>
                <a:lnTo>
                  <a:pt x="4256" y="237"/>
                </a:lnTo>
                <a:lnTo>
                  <a:pt x="4257" y="242"/>
                </a:lnTo>
                <a:lnTo>
                  <a:pt x="4259" y="246"/>
                </a:lnTo>
                <a:lnTo>
                  <a:pt x="4261" y="249"/>
                </a:lnTo>
                <a:lnTo>
                  <a:pt x="4261" y="249"/>
                </a:lnTo>
                <a:lnTo>
                  <a:pt x="4268" y="253"/>
                </a:lnTo>
                <a:lnTo>
                  <a:pt x="4274" y="255"/>
                </a:lnTo>
                <a:lnTo>
                  <a:pt x="4274" y="255"/>
                </a:lnTo>
                <a:lnTo>
                  <a:pt x="4277" y="260"/>
                </a:lnTo>
                <a:lnTo>
                  <a:pt x="4277" y="264"/>
                </a:lnTo>
                <a:lnTo>
                  <a:pt x="4276" y="271"/>
                </a:lnTo>
                <a:lnTo>
                  <a:pt x="4276" y="271"/>
                </a:lnTo>
                <a:lnTo>
                  <a:pt x="4276" y="275"/>
                </a:lnTo>
                <a:lnTo>
                  <a:pt x="4277" y="277"/>
                </a:lnTo>
                <a:lnTo>
                  <a:pt x="4281" y="282"/>
                </a:lnTo>
                <a:lnTo>
                  <a:pt x="4281" y="282"/>
                </a:lnTo>
                <a:lnTo>
                  <a:pt x="4285" y="290"/>
                </a:lnTo>
                <a:lnTo>
                  <a:pt x="4285" y="295"/>
                </a:lnTo>
                <a:lnTo>
                  <a:pt x="4281" y="301"/>
                </a:lnTo>
                <a:lnTo>
                  <a:pt x="4272" y="304"/>
                </a:lnTo>
                <a:lnTo>
                  <a:pt x="4272" y="304"/>
                </a:lnTo>
                <a:lnTo>
                  <a:pt x="4263" y="308"/>
                </a:lnTo>
                <a:lnTo>
                  <a:pt x="4254" y="308"/>
                </a:lnTo>
                <a:lnTo>
                  <a:pt x="4245" y="308"/>
                </a:lnTo>
                <a:lnTo>
                  <a:pt x="4236" y="310"/>
                </a:lnTo>
                <a:lnTo>
                  <a:pt x="4236" y="310"/>
                </a:lnTo>
                <a:lnTo>
                  <a:pt x="4228" y="314"/>
                </a:lnTo>
                <a:lnTo>
                  <a:pt x="4223" y="319"/>
                </a:lnTo>
                <a:lnTo>
                  <a:pt x="4212" y="330"/>
                </a:lnTo>
                <a:lnTo>
                  <a:pt x="4212" y="330"/>
                </a:lnTo>
                <a:lnTo>
                  <a:pt x="4207" y="336"/>
                </a:lnTo>
                <a:lnTo>
                  <a:pt x="4203" y="339"/>
                </a:lnTo>
                <a:lnTo>
                  <a:pt x="4190" y="345"/>
                </a:lnTo>
                <a:lnTo>
                  <a:pt x="4190" y="345"/>
                </a:lnTo>
                <a:lnTo>
                  <a:pt x="4187" y="349"/>
                </a:lnTo>
                <a:lnTo>
                  <a:pt x="4183" y="354"/>
                </a:lnTo>
                <a:lnTo>
                  <a:pt x="4183" y="356"/>
                </a:lnTo>
                <a:lnTo>
                  <a:pt x="4185" y="358"/>
                </a:lnTo>
                <a:lnTo>
                  <a:pt x="4187" y="360"/>
                </a:lnTo>
                <a:lnTo>
                  <a:pt x="4190" y="360"/>
                </a:lnTo>
                <a:lnTo>
                  <a:pt x="4190" y="360"/>
                </a:lnTo>
                <a:lnTo>
                  <a:pt x="4194" y="360"/>
                </a:lnTo>
                <a:lnTo>
                  <a:pt x="4198" y="356"/>
                </a:lnTo>
                <a:lnTo>
                  <a:pt x="4201" y="354"/>
                </a:lnTo>
                <a:lnTo>
                  <a:pt x="4207" y="352"/>
                </a:lnTo>
                <a:lnTo>
                  <a:pt x="4207" y="352"/>
                </a:lnTo>
                <a:lnTo>
                  <a:pt x="4212" y="354"/>
                </a:lnTo>
                <a:lnTo>
                  <a:pt x="4221" y="356"/>
                </a:lnTo>
                <a:lnTo>
                  <a:pt x="4221" y="356"/>
                </a:lnTo>
                <a:lnTo>
                  <a:pt x="4221" y="350"/>
                </a:lnTo>
                <a:lnTo>
                  <a:pt x="4219" y="347"/>
                </a:lnTo>
                <a:lnTo>
                  <a:pt x="4218" y="343"/>
                </a:lnTo>
                <a:lnTo>
                  <a:pt x="4219" y="337"/>
                </a:lnTo>
                <a:lnTo>
                  <a:pt x="4219" y="337"/>
                </a:lnTo>
                <a:lnTo>
                  <a:pt x="4223" y="334"/>
                </a:lnTo>
                <a:lnTo>
                  <a:pt x="4228" y="332"/>
                </a:lnTo>
                <a:lnTo>
                  <a:pt x="4232" y="330"/>
                </a:lnTo>
                <a:lnTo>
                  <a:pt x="4238" y="332"/>
                </a:lnTo>
                <a:lnTo>
                  <a:pt x="4238" y="332"/>
                </a:lnTo>
                <a:lnTo>
                  <a:pt x="4241" y="336"/>
                </a:lnTo>
                <a:lnTo>
                  <a:pt x="4243" y="337"/>
                </a:lnTo>
                <a:lnTo>
                  <a:pt x="4247" y="339"/>
                </a:lnTo>
                <a:lnTo>
                  <a:pt x="4247" y="339"/>
                </a:lnTo>
                <a:lnTo>
                  <a:pt x="4248" y="339"/>
                </a:lnTo>
                <a:lnTo>
                  <a:pt x="4252" y="337"/>
                </a:lnTo>
                <a:lnTo>
                  <a:pt x="4254" y="336"/>
                </a:lnTo>
                <a:lnTo>
                  <a:pt x="4256" y="334"/>
                </a:lnTo>
                <a:lnTo>
                  <a:pt x="4256" y="334"/>
                </a:lnTo>
                <a:lnTo>
                  <a:pt x="4261" y="334"/>
                </a:lnTo>
                <a:lnTo>
                  <a:pt x="4263" y="337"/>
                </a:lnTo>
                <a:lnTo>
                  <a:pt x="4263" y="341"/>
                </a:lnTo>
                <a:lnTo>
                  <a:pt x="4263" y="345"/>
                </a:lnTo>
                <a:lnTo>
                  <a:pt x="4263" y="345"/>
                </a:lnTo>
                <a:lnTo>
                  <a:pt x="4267" y="349"/>
                </a:lnTo>
                <a:lnTo>
                  <a:pt x="4270" y="350"/>
                </a:lnTo>
                <a:lnTo>
                  <a:pt x="4274" y="349"/>
                </a:lnTo>
                <a:lnTo>
                  <a:pt x="4277" y="345"/>
                </a:lnTo>
                <a:lnTo>
                  <a:pt x="4277" y="345"/>
                </a:lnTo>
                <a:lnTo>
                  <a:pt x="4285" y="334"/>
                </a:lnTo>
                <a:lnTo>
                  <a:pt x="4288" y="332"/>
                </a:lnTo>
                <a:lnTo>
                  <a:pt x="4296" y="330"/>
                </a:lnTo>
                <a:lnTo>
                  <a:pt x="4296" y="330"/>
                </a:lnTo>
                <a:lnTo>
                  <a:pt x="4306" y="326"/>
                </a:lnTo>
                <a:lnTo>
                  <a:pt x="4315" y="326"/>
                </a:lnTo>
                <a:lnTo>
                  <a:pt x="4326" y="328"/>
                </a:lnTo>
                <a:lnTo>
                  <a:pt x="4337" y="332"/>
                </a:lnTo>
                <a:lnTo>
                  <a:pt x="4337" y="332"/>
                </a:lnTo>
                <a:lnTo>
                  <a:pt x="4344" y="336"/>
                </a:lnTo>
                <a:lnTo>
                  <a:pt x="4350" y="343"/>
                </a:lnTo>
                <a:lnTo>
                  <a:pt x="4350" y="343"/>
                </a:lnTo>
                <a:lnTo>
                  <a:pt x="4353" y="349"/>
                </a:lnTo>
                <a:lnTo>
                  <a:pt x="4355" y="352"/>
                </a:lnTo>
                <a:lnTo>
                  <a:pt x="4359" y="354"/>
                </a:lnTo>
                <a:lnTo>
                  <a:pt x="4359" y="354"/>
                </a:lnTo>
                <a:lnTo>
                  <a:pt x="4368" y="356"/>
                </a:lnTo>
                <a:lnTo>
                  <a:pt x="4379" y="356"/>
                </a:lnTo>
                <a:lnTo>
                  <a:pt x="4390" y="354"/>
                </a:lnTo>
                <a:lnTo>
                  <a:pt x="4401" y="356"/>
                </a:lnTo>
                <a:lnTo>
                  <a:pt x="4401" y="356"/>
                </a:lnTo>
                <a:lnTo>
                  <a:pt x="4415" y="361"/>
                </a:lnTo>
                <a:lnTo>
                  <a:pt x="4421" y="363"/>
                </a:lnTo>
                <a:lnTo>
                  <a:pt x="4428" y="363"/>
                </a:lnTo>
                <a:lnTo>
                  <a:pt x="4428" y="363"/>
                </a:lnTo>
                <a:lnTo>
                  <a:pt x="4433" y="361"/>
                </a:lnTo>
                <a:lnTo>
                  <a:pt x="4437" y="358"/>
                </a:lnTo>
                <a:lnTo>
                  <a:pt x="4439" y="352"/>
                </a:lnTo>
                <a:lnTo>
                  <a:pt x="4435" y="349"/>
                </a:lnTo>
                <a:lnTo>
                  <a:pt x="4435" y="349"/>
                </a:lnTo>
                <a:lnTo>
                  <a:pt x="4430" y="345"/>
                </a:lnTo>
                <a:lnTo>
                  <a:pt x="4424" y="345"/>
                </a:lnTo>
                <a:lnTo>
                  <a:pt x="4419" y="343"/>
                </a:lnTo>
                <a:lnTo>
                  <a:pt x="4417" y="341"/>
                </a:lnTo>
                <a:lnTo>
                  <a:pt x="4415" y="337"/>
                </a:lnTo>
                <a:lnTo>
                  <a:pt x="4415" y="337"/>
                </a:lnTo>
                <a:lnTo>
                  <a:pt x="4417" y="334"/>
                </a:lnTo>
                <a:lnTo>
                  <a:pt x="4419" y="328"/>
                </a:lnTo>
                <a:lnTo>
                  <a:pt x="4422" y="325"/>
                </a:lnTo>
                <a:lnTo>
                  <a:pt x="4426" y="323"/>
                </a:lnTo>
                <a:lnTo>
                  <a:pt x="4426" y="323"/>
                </a:lnTo>
                <a:lnTo>
                  <a:pt x="4431" y="321"/>
                </a:lnTo>
                <a:lnTo>
                  <a:pt x="4437" y="321"/>
                </a:lnTo>
                <a:lnTo>
                  <a:pt x="4446" y="323"/>
                </a:lnTo>
                <a:lnTo>
                  <a:pt x="4453" y="326"/>
                </a:lnTo>
                <a:lnTo>
                  <a:pt x="4459" y="330"/>
                </a:lnTo>
                <a:lnTo>
                  <a:pt x="4464" y="336"/>
                </a:lnTo>
                <a:lnTo>
                  <a:pt x="4468" y="341"/>
                </a:lnTo>
                <a:lnTo>
                  <a:pt x="4468" y="347"/>
                </a:lnTo>
                <a:lnTo>
                  <a:pt x="4468" y="347"/>
                </a:lnTo>
                <a:lnTo>
                  <a:pt x="4466" y="349"/>
                </a:lnTo>
                <a:lnTo>
                  <a:pt x="4464" y="350"/>
                </a:lnTo>
                <a:lnTo>
                  <a:pt x="4459" y="354"/>
                </a:lnTo>
                <a:lnTo>
                  <a:pt x="4455" y="356"/>
                </a:lnTo>
                <a:lnTo>
                  <a:pt x="4453" y="358"/>
                </a:lnTo>
                <a:lnTo>
                  <a:pt x="4451" y="361"/>
                </a:lnTo>
                <a:lnTo>
                  <a:pt x="4451" y="361"/>
                </a:lnTo>
                <a:lnTo>
                  <a:pt x="4451" y="369"/>
                </a:lnTo>
                <a:lnTo>
                  <a:pt x="4455" y="374"/>
                </a:lnTo>
                <a:lnTo>
                  <a:pt x="4460" y="376"/>
                </a:lnTo>
                <a:lnTo>
                  <a:pt x="4468" y="376"/>
                </a:lnTo>
                <a:lnTo>
                  <a:pt x="4482" y="376"/>
                </a:lnTo>
                <a:lnTo>
                  <a:pt x="4488" y="378"/>
                </a:lnTo>
                <a:lnTo>
                  <a:pt x="4493" y="380"/>
                </a:lnTo>
                <a:lnTo>
                  <a:pt x="4493" y="380"/>
                </a:lnTo>
                <a:lnTo>
                  <a:pt x="4495" y="385"/>
                </a:lnTo>
                <a:lnTo>
                  <a:pt x="4497" y="389"/>
                </a:lnTo>
                <a:lnTo>
                  <a:pt x="4498" y="393"/>
                </a:lnTo>
                <a:lnTo>
                  <a:pt x="4504" y="394"/>
                </a:lnTo>
                <a:lnTo>
                  <a:pt x="4504" y="394"/>
                </a:lnTo>
                <a:lnTo>
                  <a:pt x="4511" y="394"/>
                </a:lnTo>
                <a:lnTo>
                  <a:pt x="4513" y="396"/>
                </a:lnTo>
                <a:lnTo>
                  <a:pt x="4517" y="398"/>
                </a:lnTo>
                <a:lnTo>
                  <a:pt x="4517" y="398"/>
                </a:lnTo>
                <a:lnTo>
                  <a:pt x="4518" y="404"/>
                </a:lnTo>
                <a:lnTo>
                  <a:pt x="4518" y="407"/>
                </a:lnTo>
                <a:lnTo>
                  <a:pt x="4518" y="407"/>
                </a:lnTo>
                <a:lnTo>
                  <a:pt x="4520" y="411"/>
                </a:lnTo>
                <a:lnTo>
                  <a:pt x="4524" y="411"/>
                </a:lnTo>
                <a:lnTo>
                  <a:pt x="4529" y="411"/>
                </a:lnTo>
                <a:lnTo>
                  <a:pt x="4529" y="411"/>
                </a:lnTo>
                <a:lnTo>
                  <a:pt x="4535" y="413"/>
                </a:lnTo>
                <a:lnTo>
                  <a:pt x="4540" y="416"/>
                </a:lnTo>
                <a:lnTo>
                  <a:pt x="4540" y="416"/>
                </a:lnTo>
                <a:lnTo>
                  <a:pt x="4544" y="422"/>
                </a:lnTo>
                <a:lnTo>
                  <a:pt x="4549" y="426"/>
                </a:lnTo>
                <a:lnTo>
                  <a:pt x="4555" y="427"/>
                </a:lnTo>
                <a:lnTo>
                  <a:pt x="4558" y="427"/>
                </a:lnTo>
                <a:lnTo>
                  <a:pt x="4562" y="426"/>
                </a:lnTo>
                <a:lnTo>
                  <a:pt x="4562" y="426"/>
                </a:lnTo>
                <a:lnTo>
                  <a:pt x="4564" y="422"/>
                </a:lnTo>
                <a:lnTo>
                  <a:pt x="4565" y="418"/>
                </a:lnTo>
                <a:lnTo>
                  <a:pt x="4565" y="416"/>
                </a:lnTo>
                <a:lnTo>
                  <a:pt x="4564" y="413"/>
                </a:lnTo>
                <a:lnTo>
                  <a:pt x="4560" y="407"/>
                </a:lnTo>
                <a:lnTo>
                  <a:pt x="4556" y="402"/>
                </a:lnTo>
                <a:lnTo>
                  <a:pt x="4556" y="402"/>
                </a:lnTo>
                <a:lnTo>
                  <a:pt x="4556" y="398"/>
                </a:lnTo>
                <a:lnTo>
                  <a:pt x="4556" y="394"/>
                </a:lnTo>
                <a:lnTo>
                  <a:pt x="4560" y="391"/>
                </a:lnTo>
                <a:lnTo>
                  <a:pt x="4565" y="389"/>
                </a:lnTo>
                <a:lnTo>
                  <a:pt x="4573" y="391"/>
                </a:lnTo>
                <a:lnTo>
                  <a:pt x="4573" y="391"/>
                </a:lnTo>
                <a:lnTo>
                  <a:pt x="4585" y="398"/>
                </a:lnTo>
                <a:lnTo>
                  <a:pt x="4591" y="400"/>
                </a:lnTo>
                <a:lnTo>
                  <a:pt x="4598" y="400"/>
                </a:lnTo>
                <a:lnTo>
                  <a:pt x="4598" y="400"/>
                </a:lnTo>
                <a:lnTo>
                  <a:pt x="4602" y="396"/>
                </a:lnTo>
                <a:lnTo>
                  <a:pt x="4603" y="394"/>
                </a:lnTo>
                <a:lnTo>
                  <a:pt x="4607" y="394"/>
                </a:lnTo>
                <a:lnTo>
                  <a:pt x="4607" y="394"/>
                </a:lnTo>
                <a:lnTo>
                  <a:pt x="4611" y="394"/>
                </a:lnTo>
                <a:lnTo>
                  <a:pt x="4614" y="396"/>
                </a:lnTo>
                <a:lnTo>
                  <a:pt x="4620" y="400"/>
                </a:lnTo>
                <a:lnTo>
                  <a:pt x="4620" y="400"/>
                </a:lnTo>
                <a:lnTo>
                  <a:pt x="4634" y="409"/>
                </a:lnTo>
                <a:lnTo>
                  <a:pt x="4638" y="411"/>
                </a:lnTo>
                <a:lnTo>
                  <a:pt x="4642" y="413"/>
                </a:lnTo>
                <a:lnTo>
                  <a:pt x="4645" y="411"/>
                </a:lnTo>
                <a:lnTo>
                  <a:pt x="4649" y="409"/>
                </a:lnTo>
                <a:lnTo>
                  <a:pt x="4649" y="409"/>
                </a:lnTo>
                <a:lnTo>
                  <a:pt x="4651" y="405"/>
                </a:lnTo>
                <a:lnTo>
                  <a:pt x="4651" y="402"/>
                </a:lnTo>
                <a:lnTo>
                  <a:pt x="4652" y="400"/>
                </a:lnTo>
                <a:lnTo>
                  <a:pt x="4658" y="398"/>
                </a:lnTo>
                <a:lnTo>
                  <a:pt x="4658" y="398"/>
                </a:lnTo>
                <a:lnTo>
                  <a:pt x="4661" y="400"/>
                </a:lnTo>
                <a:lnTo>
                  <a:pt x="4663" y="404"/>
                </a:lnTo>
                <a:lnTo>
                  <a:pt x="4667" y="405"/>
                </a:lnTo>
                <a:lnTo>
                  <a:pt x="4672" y="405"/>
                </a:lnTo>
                <a:lnTo>
                  <a:pt x="4672" y="405"/>
                </a:lnTo>
                <a:lnTo>
                  <a:pt x="4678" y="405"/>
                </a:lnTo>
                <a:lnTo>
                  <a:pt x="4680" y="405"/>
                </a:lnTo>
                <a:lnTo>
                  <a:pt x="4680" y="398"/>
                </a:lnTo>
                <a:lnTo>
                  <a:pt x="4680" y="398"/>
                </a:lnTo>
                <a:lnTo>
                  <a:pt x="4681" y="393"/>
                </a:lnTo>
                <a:lnTo>
                  <a:pt x="4685" y="385"/>
                </a:lnTo>
                <a:lnTo>
                  <a:pt x="4685" y="385"/>
                </a:lnTo>
                <a:lnTo>
                  <a:pt x="4685" y="382"/>
                </a:lnTo>
                <a:lnTo>
                  <a:pt x="4685" y="378"/>
                </a:lnTo>
                <a:lnTo>
                  <a:pt x="4685" y="378"/>
                </a:lnTo>
                <a:lnTo>
                  <a:pt x="4683" y="376"/>
                </a:lnTo>
                <a:lnTo>
                  <a:pt x="4685" y="376"/>
                </a:lnTo>
                <a:lnTo>
                  <a:pt x="4685" y="376"/>
                </a:lnTo>
                <a:lnTo>
                  <a:pt x="4685" y="372"/>
                </a:lnTo>
                <a:lnTo>
                  <a:pt x="4689" y="371"/>
                </a:lnTo>
                <a:lnTo>
                  <a:pt x="4689" y="371"/>
                </a:lnTo>
                <a:lnTo>
                  <a:pt x="4696" y="367"/>
                </a:lnTo>
                <a:lnTo>
                  <a:pt x="4705" y="367"/>
                </a:lnTo>
                <a:lnTo>
                  <a:pt x="4719" y="369"/>
                </a:lnTo>
                <a:lnTo>
                  <a:pt x="4719" y="369"/>
                </a:lnTo>
                <a:lnTo>
                  <a:pt x="4729" y="369"/>
                </a:lnTo>
                <a:lnTo>
                  <a:pt x="4738" y="372"/>
                </a:lnTo>
                <a:lnTo>
                  <a:pt x="4745" y="376"/>
                </a:lnTo>
                <a:lnTo>
                  <a:pt x="4747" y="378"/>
                </a:lnTo>
                <a:lnTo>
                  <a:pt x="4748" y="383"/>
                </a:lnTo>
                <a:lnTo>
                  <a:pt x="4748" y="383"/>
                </a:lnTo>
                <a:lnTo>
                  <a:pt x="4750" y="389"/>
                </a:lnTo>
                <a:lnTo>
                  <a:pt x="4752" y="396"/>
                </a:lnTo>
                <a:lnTo>
                  <a:pt x="4756" y="400"/>
                </a:lnTo>
                <a:lnTo>
                  <a:pt x="4763" y="402"/>
                </a:lnTo>
                <a:lnTo>
                  <a:pt x="4763" y="402"/>
                </a:lnTo>
                <a:lnTo>
                  <a:pt x="4770" y="402"/>
                </a:lnTo>
                <a:lnTo>
                  <a:pt x="4777" y="400"/>
                </a:lnTo>
                <a:lnTo>
                  <a:pt x="4783" y="398"/>
                </a:lnTo>
                <a:lnTo>
                  <a:pt x="4788" y="393"/>
                </a:lnTo>
                <a:lnTo>
                  <a:pt x="4788" y="393"/>
                </a:lnTo>
                <a:lnTo>
                  <a:pt x="4794" y="387"/>
                </a:lnTo>
                <a:lnTo>
                  <a:pt x="4797" y="383"/>
                </a:lnTo>
                <a:lnTo>
                  <a:pt x="4803" y="383"/>
                </a:lnTo>
                <a:lnTo>
                  <a:pt x="4810" y="383"/>
                </a:lnTo>
                <a:lnTo>
                  <a:pt x="4810" y="383"/>
                </a:lnTo>
                <a:lnTo>
                  <a:pt x="4815" y="383"/>
                </a:lnTo>
                <a:lnTo>
                  <a:pt x="4823" y="387"/>
                </a:lnTo>
                <a:lnTo>
                  <a:pt x="4828" y="391"/>
                </a:lnTo>
                <a:lnTo>
                  <a:pt x="4830" y="396"/>
                </a:lnTo>
                <a:lnTo>
                  <a:pt x="4830" y="396"/>
                </a:lnTo>
                <a:lnTo>
                  <a:pt x="4830" y="405"/>
                </a:lnTo>
                <a:lnTo>
                  <a:pt x="4828" y="411"/>
                </a:lnTo>
                <a:lnTo>
                  <a:pt x="4828" y="415"/>
                </a:lnTo>
                <a:lnTo>
                  <a:pt x="4830" y="416"/>
                </a:lnTo>
                <a:lnTo>
                  <a:pt x="4834" y="420"/>
                </a:lnTo>
                <a:lnTo>
                  <a:pt x="4839" y="422"/>
                </a:lnTo>
                <a:lnTo>
                  <a:pt x="4839" y="422"/>
                </a:lnTo>
                <a:lnTo>
                  <a:pt x="4848" y="424"/>
                </a:lnTo>
                <a:lnTo>
                  <a:pt x="4859" y="424"/>
                </a:lnTo>
                <a:lnTo>
                  <a:pt x="4879" y="424"/>
                </a:lnTo>
                <a:lnTo>
                  <a:pt x="4879" y="424"/>
                </a:lnTo>
                <a:lnTo>
                  <a:pt x="4895" y="420"/>
                </a:lnTo>
                <a:lnTo>
                  <a:pt x="4911" y="416"/>
                </a:lnTo>
                <a:lnTo>
                  <a:pt x="4928" y="415"/>
                </a:lnTo>
                <a:lnTo>
                  <a:pt x="4935" y="416"/>
                </a:lnTo>
                <a:lnTo>
                  <a:pt x="4944" y="418"/>
                </a:lnTo>
                <a:lnTo>
                  <a:pt x="4944" y="418"/>
                </a:lnTo>
                <a:lnTo>
                  <a:pt x="4964" y="426"/>
                </a:lnTo>
                <a:lnTo>
                  <a:pt x="4980" y="437"/>
                </a:lnTo>
                <a:lnTo>
                  <a:pt x="4980" y="437"/>
                </a:lnTo>
                <a:lnTo>
                  <a:pt x="4998" y="449"/>
                </a:lnTo>
                <a:lnTo>
                  <a:pt x="5006" y="453"/>
                </a:lnTo>
                <a:lnTo>
                  <a:pt x="5017" y="457"/>
                </a:lnTo>
                <a:lnTo>
                  <a:pt x="5017" y="457"/>
                </a:lnTo>
                <a:lnTo>
                  <a:pt x="5026" y="457"/>
                </a:lnTo>
                <a:lnTo>
                  <a:pt x="5036" y="455"/>
                </a:lnTo>
                <a:lnTo>
                  <a:pt x="5058" y="449"/>
                </a:lnTo>
                <a:lnTo>
                  <a:pt x="5078" y="446"/>
                </a:lnTo>
                <a:lnTo>
                  <a:pt x="5089" y="446"/>
                </a:lnTo>
                <a:lnTo>
                  <a:pt x="5100" y="448"/>
                </a:lnTo>
                <a:lnTo>
                  <a:pt x="5100" y="448"/>
                </a:lnTo>
                <a:lnTo>
                  <a:pt x="5111" y="451"/>
                </a:lnTo>
                <a:lnTo>
                  <a:pt x="5116" y="453"/>
                </a:lnTo>
                <a:lnTo>
                  <a:pt x="5123" y="455"/>
                </a:lnTo>
                <a:lnTo>
                  <a:pt x="5123" y="455"/>
                </a:lnTo>
                <a:lnTo>
                  <a:pt x="5133" y="453"/>
                </a:lnTo>
                <a:lnTo>
                  <a:pt x="5142" y="449"/>
                </a:lnTo>
                <a:lnTo>
                  <a:pt x="5156" y="437"/>
                </a:lnTo>
                <a:lnTo>
                  <a:pt x="5156" y="437"/>
                </a:lnTo>
                <a:lnTo>
                  <a:pt x="5165" y="433"/>
                </a:lnTo>
                <a:lnTo>
                  <a:pt x="5174" y="433"/>
                </a:lnTo>
                <a:lnTo>
                  <a:pt x="5185" y="433"/>
                </a:lnTo>
                <a:lnTo>
                  <a:pt x="5194" y="437"/>
                </a:lnTo>
                <a:lnTo>
                  <a:pt x="5194" y="437"/>
                </a:lnTo>
                <a:lnTo>
                  <a:pt x="5212" y="442"/>
                </a:lnTo>
                <a:lnTo>
                  <a:pt x="5229" y="451"/>
                </a:lnTo>
                <a:lnTo>
                  <a:pt x="5229" y="451"/>
                </a:lnTo>
                <a:lnTo>
                  <a:pt x="5245" y="457"/>
                </a:lnTo>
                <a:lnTo>
                  <a:pt x="5263" y="464"/>
                </a:lnTo>
                <a:lnTo>
                  <a:pt x="5263" y="464"/>
                </a:lnTo>
                <a:lnTo>
                  <a:pt x="5276" y="466"/>
                </a:lnTo>
                <a:lnTo>
                  <a:pt x="5279" y="468"/>
                </a:lnTo>
                <a:lnTo>
                  <a:pt x="5285" y="471"/>
                </a:lnTo>
                <a:lnTo>
                  <a:pt x="5285" y="471"/>
                </a:lnTo>
                <a:lnTo>
                  <a:pt x="5297" y="479"/>
                </a:lnTo>
                <a:lnTo>
                  <a:pt x="5310" y="488"/>
                </a:lnTo>
                <a:lnTo>
                  <a:pt x="5310" y="488"/>
                </a:lnTo>
                <a:lnTo>
                  <a:pt x="5350" y="521"/>
                </a:lnTo>
                <a:lnTo>
                  <a:pt x="5350" y="521"/>
                </a:lnTo>
                <a:lnTo>
                  <a:pt x="5359" y="526"/>
                </a:lnTo>
                <a:lnTo>
                  <a:pt x="5368" y="530"/>
                </a:lnTo>
                <a:lnTo>
                  <a:pt x="5377" y="534"/>
                </a:lnTo>
                <a:lnTo>
                  <a:pt x="5386" y="536"/>
                </a:lnTo>
                <a:lnTo>
                  <a:pt x="5386" y="536"/>
                </a:lnTo>
                <a:lnTo>
                  <a:pt x="5399" y="537"/>
                </a:lnTo>
                <a:lnTo>
                  <a:pt x="5408" y="543"/>
                </a:lnTo>
                <a:lnTo>
                  <a:pt x="5417" y="550"/>
                </a:lnTo>
                <a:lnTo>
                  <a:pt x="5424" y="561"/>
                </a:lnTo>
                <a:lnTo>
                  <a:pt x="5424" y="561"/>
                </a:lnTo>
                <a:lnTo>
                  <a:pt x="5426" y="567"/>
                </a:lnTo>
                <a:lnTo>
                  <a:pt x="5426" y="572"/>
                </a:lnTo>
                <a:lnTo>
                  <a:pt x="5424" y="578"/>
                </a:lnTo>
                <a:lnTo>
                  <a:pt x="5417" y="580"/>
                </a:lnTo>
                <a:lnTo>
                  <a:pt x="5417" y="580"/>
                </a:lnTo>
                <a:close/>
                <a:moveTo>
                  <a:pt x="3431" y="1278"/>
                </a:moveTo>
                <a:lnTo>
                  <a:pt x="3431" y="1278"/>
                </a:lnTo>
                <a:lnTo>
                  <a:pt x="3428" y="1269"/>
                </a:lnTo>
                <a:lnTo>
                  <a:pt x="3424" y="1264"/>
                </a:lnTo>
                <a:lnTo>
                  <a:pt x="3419" y="1258"/>
                </a:lnTo>
                <a:lnTo>
                  <a:pt x="3411" y="1253"/>
                </a:lnTo>
                <a:lnTo>
                  <a:pt x="3404" y="1247"/>
                </a:lnTo>
                <a:lnTo>
                  <a:pt x="3399" y="1242"/>
                </a:lnTo>
                <a:lnTo>
                  <a:pt x="3395" y="1234"/>
                </a:lnTo>
                <a:lnTo>
                  <a:pt x="3393" y="1227"/>
                </a:lnTo>
                <a:lnTo>
                  <a:pt x="3393" y="1227"/>
                </a:lnTo>
                <a:lnTo>
                  <a:pt x="3401" y="1227"/>
                </a:lnTo>
                <a:lnTo>
                  <a:pt x="3410" y="1229"/>
                </a:lnTo>
                <a:lnTo>
                  <a:pt x="3419" y="1231"/>
                </a:lnTo>
                <a:lnTo>
                  <a:pt x="3424" y="1231"/>
                </a:lnTo>
                <a:lnTo>
                  <a:pt x="3424" y="1231"/>
                </a:lnTo>
                <a:lnTo>
                  <a:pt x="3428" y="1227"/>
                </a:lnTo>
                <a:lnTo>
                  <a:pt x="3430" y="1223"/>
                </a:lnTo>
                <a:lnTo>
                  <a:pt x="3430" y="1220"/>
                </a:lnTo>
                <a:lnTo>
                  <a:pt x="3428" y="1216"/>
                </a:lnTo>
                <a:lnTo>
                  <a:pt x="3422" y="1209"/>
                </a:lnTo>
                <a:lnTo>
                  <a:pt x="3419" y="1201"/>
                </a:lnTo>
                <a:lnTo>
                  <a:pt x="3419" y="1201"/>
                </a:lnTo>
                <a:lnTo>
                  <a:pt x="3415" y="1190"/>
                </a:lnTo>
                <a:lnTo>
                  <a:pt x="3413" y="1185"/>
                </a:lnTo>
                <a:lnTo>
                  <a:pt x="3411" y="1181"/>
                </a:lnTo>
                <a:lnTo>
                  <a:pt x="3411" y="1181"/>
                </a:lnTo>
                <a:lnTo>
                  <a:pt x="3406" y="1176"/>
                </a:lnTo>
                <a:lnTo>
                  <a:pt x="3402" y="1176"/>
                </a:lnTo>
                <a:lnTo>
                  <a:pt x="3401" y="1176"/>
                </a:lnTo>
                <a:lnTo>
                  <a:pt x="3397" y="1178"/>
                </a:lnTo>
                <a:lnTo>
                  <a:pt x="3393" y="1185"/>
                </a:lnTo>
                <a:lnTo>
                  <a:pt x="3388" y="1192"/>
                </a:lnTo>
                <a:lnTo>
                  <a:pt x="3388" y="1192"/>
                </a:lnTo>
                <a:lnTo>
                  <a:pt x="3373" y="1176"/>
                </a:lnTo>
                <a:lnTo>
                  <a:pt x="3364" y="1170"/>
                </a:lnTo>
                <a:lnTo>
                  <a:pt x="3352" y="1165"/>
                </a:lnTo>
                <a:lnTo>
                  <a:pt x="3352" y="1165"/>
                </a:lnTo>
                <a:lnTo>
                  <a:pt x="3339" y="1163"/>
                </a:lnTo>
                <a:lnTo>
                  <a:pt x="3330" y="1159"/>
                </a:lnTo>
                <a:lnTo>
                  <a:pt x="3326" y="1156"/>
                </a:lnTo>
                <a:lnTo>
                  <a:pt x="3324" y="1152"/>
                </a:lnTo>
                <a:lnTo>
                  <a:pt x="3323" y="1148"/>
                </a:lnTo>
                <a:lnTo>
                  <a:pt x="3324" y="1141"/>
                </a:lnTo>
                <a:lnTo>
                  <a:pt x="3324" y="1141"/>
                </a:lnTo>
                <a:lnTo>
                  <a:pt x="3324" y="1134"/>
                </a:lnTo>
                <a:lnTo>
                  <a:pt x="3328" y="1124"/>
                </a:lnTo>
                <a:lnTo>
                  <a:pt x="3334" y="1117"/>
                </a:lnTo>
                <a:lnTo>
                  <a:pt x="3341" y="1113"/>
                </a:lnTo>
                <a:lnTo>
                  <a:pt x="3341" y="1113"/>
                </a:lnTo>
                <a:lnTo>
                  <a:pt x="3346" y="1112"/>
                </a:lnTo>
                <a:lnTo>
                  <a:pt x="3352" y="1113"/>
                </a:lnTo>
                <a:lnTo>
                  <a:pt x="3366" y="1115"/>
                </a:lnTo>
                <a:lnTo>
                  <a:pt x="3373" y="1115"/>
                </a:lnTo>
                <a:lnTo>
                  <a:pt x="3379" y="1115"/>
                </a:lnTo>
                <a:lnTo>
                  <a:pt x="3382" y="1113"/>
                </a:lnTo>
                <a:lnTo>
                  <a:pt x="3386" y="1110"/>
                </a:lnTo>
                <a:lnTo>
                  <a:pt x="3382" y="1104"/>
                </a:lnTo>
                <a:lnTo>
                  <a:pt x="3382" y="1104"/>
                </a:lnTo>
                <a:lnTo>
                  <a:pt x="3373" y="1095"/>
                </a:lnTo>
                <a:lnTo>
                  <a:pt x="3364" y="1084"/>
                </a:lnTo>
                <a:lnTo>
                  <a:pt x="3353" y="1075"/>
                </a:lnTo>
                <a:lnTo>
                  <a:pt x="3343" y="1069"/>
                </a:lnTo>
                <a:lnTo>
                  <a:pt x="3343" y="1069"/>
                </a:lnTo>
                <a:lnTo>
                  <a:pt x="3334" y="1068"/>
                </a:lnTo>
                <a:lnTo>
                  <a:pt x="3324" y="1066"/>
                </a:lnTo>
                <a:lnTo>
                  <a:pt x="3315" y="1068"/>
                </a:lnTo>
                <a:lnTo>
                  <a:pt x="3306" y="1073"/>
                </a:lnTo>
                <a:lnTo>
                  <a:pt x="3306" y="1073"/>
                </a:lnTo>
                <a:lnTo>
                  <a:pt x="3297" y="1079"/>
                </a:lnTo>
                <a:lnTo>
                  <a:pt x="3292" y="1086"/>
                </a:lnTo>
                <a:lnTo>
                  <a:pt x="3286" y="1091"/>
                </a:lnTo>
                <a:lnTo>
                  <a:pt x="3281" y="1095"/>
                </a:lnTo>
                <a:lnTo>
                  <a:pt x="3276" y="1097"/>
                </a:lnTo>
                <a:lnTo>
                  <a:pt x="3276" y="1097"/>
                </a:lnTo>
                <a:lnTo>
                  <a:pt x="3259" y="1102"/>
                </a:lnTo>
                <a:lnTo>
                  <a:pt x="3254" y="1106"/>
                </a:lnTo>
                <a:lnTo>
                  <a:pt x="3250" y="1115"/>
                </a:lnTo>
                <a:lnTo>
                  <a:pt x="3250" y="1115"/>
                </a:lnTo>
                <a:lnTo>
                  <a:pt x="3245" y="1126"/>
                </a:lnTo>
                <a:lnTo>
                  <a:pt x="3241" y="1132"/>
                </a:lnTo>
                <a:lnTo>
                  <a:pt x="3243" y="1137"/>
                </a:lnTo>
                <a:lnTo>
                  <a:pt x="3243" y="1137"/>
                </a:lnTo>
                <a:lnTo>
                  <a:pt x="3247" y="1143"/>
                </a:lnTo>
                <a:lnTo>
                  <a:pt x="3250" y="1145"/>
                </a:lnTo>
                <a:lnTo>
                  <a:pt x="3256" y="1148"/>
                </a:lnTo>
                <a:lnTo>
                  <a:pt x="3261" y="1152"/>
                </a:lnTo>
                <a:lnTo>
                  <a:pt x="3261" y="1152"/>
                </a:lnTo>
                <a:lnTo>
                  <a:pt x="3261" y="1156"/>
                </a:lnTo>
                <a:lnTo>
                  <a:pt x="3261" y="1161"/>
                </a:lnTo>
                <a:lnTo>
                  <a:pt x="3261" y="1167"/>
                </a:lnTo>
                <a:lnTo>
                  <a:pt x="3263" y="1172"/>
                </a:lnTo>
                <a:lnTo>
                  <a:pt x="3263" y="1172"/>
                </a:lnTo>
                <a:lnTo>
                  <a:pt x="3268" y="1179"/>
                </a:lnTo>
                <a:lnTo>
                  <a:pt x="3276" y="1187"/>
                </a:lnTo>
                <a:lnTo>
                  <a:pt x="3276" y="1187"/>
                </a:lnTo>
                <a:lnTo>
                  <a:pt x="3286" y="1196"/>
                </a:lnTo>
                <a:lnTo>
                  <a:pt x="3299" y="1203"/>
                </a:lnTo>
                <a:lnTo>
                  <a:pt x="3308" y="1212"/>
                </a:lnTo>
                <a:lnTo>
                  <a:pt x="3312" y="1216"/>
                </a:lnTo>
                <a:lnTo>
                  <a:pt x="3315" y="1223"/>
                </a:lnTo>
                <a:lnTo>
                  <a:pt x="3315" y="1223"/>
                </a:lnTo>
                <a:lnTo>
                  <a:pt x="3317" y="1233"/>
                </a:lnTo>
                <a:lnTo>
                  <a:pt x="3317" y="1242"/>
                </a:lnTo>
                <a:lnTo>
                  <a:pt x="3315" y="1260"/>
                </a:lnTo>
                <a:lnTo>
                  <a:pt x="3315" y="1260"/>
                </a:lnTo>
                <a:lnTo>
                  <a:pt x="3314" y="1282"/>
                </a:lnTo>
                <a:lnTo>
                  <a:pt x="3315" y="1291"/>
                </a:lnTo>
                <a:lnTo>
                  <a:pt x="3317" y="1300"/>
                </a:lnTo>
                <a:lnTo>
                  <a:pt x="3317" y="1300"/>
                </a:lnTo>
                <a:lnTo>
                  <a:pt x="3321" y="1306"/>
                </a:lnTo>
                <a:lnTo>
                  <a:pt x="3326" y="1310"/>
                </a:lnTo>
                <a:lnTo>
                  <a:pt x="3332" y="1315"/>
                </a:lnTo>
                <a:lnTo>
                  <a:pt x="3341" y="1319"/>
                </a:lnTo>
                <a:lnTo>
                  <a:pt x="3341" y="1319"/>
                </a:lnTo>
                <a:lnTo>
                  <a:pt x="3352" y="1322"/>
                </a:lnTo>
                <a:lnTo>
                  <a:pt x="3364" y="1326"/>
                </a:lnTo>
                <a:lnTo>
                  <a:pt x="3377" y="1330"/>
                </a:lnTo>
                <a:lnTo>
                  <a:pt x="3388" y="1335"/>
                </a:lnTo>
                <a:lnTo>
                  <a:pt x="3388" y="1335"/>
                </a:lnTo>
                <a:lnTo>
                  <a:pt x="3402" y="1343"/>
                </a:lnTo>
                <a:lnTo>
                  <a:pt x="3410" y="1343"/>
                </a:lnTo>
                <a:lnTo>
                  <a:pt x="3420" y="1339"/>
                </a:lnTo>
                <a:lnTo>
                  <a:pt x="3420" y="1339"/>
                </a:lnTo>
                <a:lnTo>
                  <a:pt x="3426" y="1335"/>
                </a:lnTo>
                <a:lnTo>
                  <a:pt x="3430" y="1328"/>
                </a:lnTo>
                <a:lnTo>
                  <a:pt x="3431" y="1321"/>
                </a:lnTo>
                <a:lnTo>
                  <a:pt x="3433" y="1311"/>
                </a:lnTo>
                <a:lnTo>
                  <a:pt x="3431" y="1293"/>
                </a:lnTo>
                <a:lnTo>
                  <a:pt x="3431" y="1278"/>
                </a:lnTo>
                <a:lnTo>
                  <a:pt x="3431" y="1278"/>
                </a:lnTo>
                <a:close/>
                <a:moveTo>
                  <a:pt x="4643" y="844"/>
                </a:moveTo>
                <a:lnTo>
                  <a:pt x="4643" y="844"/>
                </a:lnTo>
                <a:lnTo>
                  <a:pt x="4643" y="844"/>
                </a:lnTo>
                <a:lnTo>
                  <a:pt x="4643" y="844"/>
                </a:lnTo>
                <a:lnTo>
                  <a:pt x="4638" y="847"/>
                </a:lnTo>
                <a:lnTo>
                  <a:pt x="4638" y="851"/>
                </a:lnTo>
                <a:lnTo>
                  <a:pt x="4638" y="853"/>
                </a:lnTo>
                <a:lnTo>
                  <a:pt x="4638" y="853"/>
                </a:lnTo>
                <a:lnTo>
                  <a:pt x="4638" y="853"/>
                </a:lnTo>
                <a:lnTo>
                  <a:pt x="4638" y="853"/>
                </a:lnTo>
                <a:lnTo>
                  <a:pt x="4638" y="853"/>
                </a:lnTo>
                <a:lnTo>
                  <a:pt x="4638" y="853"/>
                </a:lnTo>
                <a:lnTo>
                  <a:pt x="4638" y="853"/>
                </a:lnTo>
                <a:lnTo>
                  <a:pt x="4638" y="853"/>
                </a:lnTo>
                <a:lnTo>
                  <a:pt x="4638" y="853"/>
                </a:lnTo>
                <a:lnTo>
                  <a:pt x="4638" y="853"/>
                </a:lnTo>
                <a:lnTo>
                  <a:pt x="4640" y="855"/>
                </a:lnTo>
                <a:lnTo>
                  <a:pt x="4640" y="855"/>
                </a:lnTo>
                <a:lnTo>
                  <a:pt x="4640" y="855"/>
                </a:lnTo>
                <a:lnTo>
                  <a:pt x="4640" y="855"/>
                </a:lnTo>
                <a:lnTo>
                  <a:pt x="4642" y="855"/>
                </a:lnTo>
                <a:lnTo>
                  <a:pt x="4642" y="855"/>
                </a:lnTo>
                <a:lnTo>
                  <a:pt x="4643" y="855"/>
                </a:lnTo>
                <a:lnTo>
                  <a:pt x="4643" y="855"/>
                </a:lnTo>
                <a:lnTo>
                  <a:pt x="4647" y="855"/>
                </a:lnTo>
                <a:lnTo>
                  <a:pt x="4647" y="855"/>
                </a:lnTo>
                <a:lnTo>
                  <a:pt x="4645" y="855"/>
                </a:lnTo>
                <a:lnTo>
                  <a:pt x="4645" y="855"/>
                </a:lnTo>
                <a:lnTo>
                  <a:pt x="4645" y="853"/>
                </a:lnTo>
                <a:lnTo>
                  <a:pt x="4645" y="853"/>
                </a:lnTo>
                <a:lnTo>
                  <a:pt x="4647" y="851"/>
                </a:lnTo>
                <a:lnTo>
                  <a:pt x="4647" y="847"/>
                </a:lnTo>
                <a:lnTo>
                  <a:pt x="4645" y="846"/>
                </a:lnTo>
                <a:lnTo>
                  <a:pt x="4643" y="844"/>
                </a:lnTo>
                <a:lnTo>
                  <a:pt x="4643" y="844"/>
                </a:lnTo>
                <a:close/>
                <a:moveTo>
                  <a:pt x="4018" y="138"/>
                </a:moveTo>
                <a:lnTo>
                  <a:pt x="4018" y="138"/>
                </a:lnTo>
                <a:lnTo>
                  <a:pt x="4018" y="141"/>
                </a:lnTo>
                <a:lnTo>
                  <a:pt x="4018" y="143"/>
                </a:lnTo>
                <a:lnTo>
                  <a:pt x="4013" y="145"/>
                </a:lnTo>
                <a:lnTo>
                  <a:pt x="4006" y="147"/>
                </a:lnTo>
                <a:lnTo>
                  <a:pt x="4000" y="150"/>
                </a:lnTo>
                <a:lnTo>
                  <a:pt x="4000" y="150"/>
                </a:lnTo>
                <a:lnTo>
                  <a:pt x="3998" y="154"/>
                </a:lnTo>
                <a:lnTo>
                  <a:pt x="3998" y="158"/>
                </a:lnTo>
                <a:lnTo>
                  <a:pt x="4000" y="161"/>
                </a:lnTo>
                <a:lnTo>
                  <a:pt x="4004" y="163"/>
                </a:lnTo>
                <a:lnTo>
                  <a:pt x="4004" y="163"/>
                </a:lnTo>
                <a:lnTo>
                  <a:pt x="4011" y="169"/>
                </a:lnTo>
                <a:lnTo>
                  <a:pt x="4024" y="171"/>
                </a:lnTo>
                <a:lnTo>
                  <a:pt x="4036" y="171"/>
                </a:lnTo>
                <a:lnTo>
                  <a:pt x="4047" y="169"/>
                </a:lnTo>
                <a:lnTo>
                  <a:pt x="4058" y="165"/>
                </a:lnTo>
                <a:lnTo>
                  <a:pt x="4062" y="161"/>
                </a:lnTo>
                <a:lnTo>
                  <a:pt x="4065" y="158"/>
                </a:lnTo>
                <a:lnTo>
                  <a:pt x="4065" y="154"/>
                </a:lnTo>
                <a:lnTo>
                  <a:pt x="4065" y="150"/>
                </a:lnTo>
                <a:lnTo>
                  <a:pt x="4064" y="145"/>
                </a:lnTo>
                <a:lnTo>
                  <a:pt x="4058" y="139"/>
                </a:lnTo>
                <a:lnTo>
                  <a:pt x="4058" y="139"/>
                </a:lnTo>
                <a:lnTo>
                  <a:pt x="4053" y="136"/>
                </a:lnTo>
                <a:lnTo>
                  <a:pt x="4047" y="130"/>
                </a:lnTo>
                <a:lnTo>
                  <a:pt x="4047" y="130"/>
                </a:lnTo>
                <a:lnTo>
                  <a:pt x="4044" y="123"/>
                </a:lnTo>
                <a:lnTo>
                  <a:pt x="4040" y="116"/>
                </a:lnTo>
                <a:lnTo>
                  <a:pt x="4040" y="116"/>
                </a:lnTo>
                <a:lnTo>
                  <a:pt x="4036" y="108"/>
                </a:lnTo>
                <a:lnTo>
                  <a:pt x="4031" y="103"/>
                </a:lnTo>
                <a:lnTo>
                  <a:pt x="4024" y="99"/>
                </a:lnTo>
                <a:lnTo>
                  <a:pt x="4017" y="97"/>
                </a:lnTo>
                <a:lnTo>
                  <a:pt x="4017" y="97"/>
                </a:lnTo>
                <a:lnTo>
                  <a:pt x="4009" y="99"/>
                </a:lnTo>
                <a:lnTo>
                  <a:pt x="4002" y="103"/>
                </a:lnTo>
                <a:lnTo>
                  <a:pt x="4002" y="103"/>
                </a:lnTo>
                <a:lnTo>
                  <a:pt x="3997" y="108"/>
                </a:lnTo>
                <a:lnTo>
                  <a:pt x="3993" y="116"/>
                </a:lnTo>
                <a:lnTo>
                  <a:pt x="3993" y="116"/>
                </a:lnTo>
                <a:lnTo>
                  <a:pt x="3993" y="121"/>
                </a:lnTo>
                <a:lnTo>
                  <a:pt x="3995" y="125"/>
                </a:lnTo>
                <a:lnTo>
                  <a:pt x="3998" y="127"/>
                </a:lnTo>
                <a:lnTo>
                  <a:pt x="4004" y="128"/>
                </a:lnTo>
                <a:lnTo>
                  <a:pt x="4013" y="132"/>
                </a:lnTo>
                <a:lnTo>
                  <a:pt x="4017" y="136"/>
                </a:lnTo>
                <a:lnTo>
                  <a:pt x="4018" y="138"/>
                </a:lnTo>
                <a:lnTo>
                  <a:pt x="4018" y="138"/>
                </a:lnTo>
                <a:close/>
                <a:moveTo>
                  <a:pt x="4591" y="1321"/>
                </a:moveTo>
                <a:lnTo>
                  <a:pt x="4591" y="1321"/>
                </a:lnTo>
                <a:lnTo>
                  <a:pt x="4593" y="1317"/>
                </a:lnTo>
                <a:lnTo>
                  <a:pt x="4593" y="1311"/>
                </a:lnTo>
                <a:lnTo>
                  <a:pt x="4593" y="1311"/>
                </a:lnTo>
                <a:lnTo>
                  <a:pt x="4591" y="1308"/>
                </a:lnTo>
                <a:lnTo>
                  <a:pt x="4585" y="1306"/>
                </a:lnTo>
                <a:lnTo>
                  <a:pt x="4585" y="1306"/>
                </a:lnTo>
                <a:lnTo>
                  <a:pt x="4582" y="1306"/>
                </a:lnTo>
                <a:lnTo>
                  <a:pt x="4576" y="1308"/>
                </a:lnTo>
                <a:lnTo>
                  <a:pt x="4567" y="1315"/>
                </a:lnTo>
                <a:lnTo>
                  <a:pt x="4564" y="1319"/>
                </a:lnTo>
                <a:lnTo>
                  <a:pt x="4564" y="1322"/>
                </a:lnTo>
                <a:lnTo>
                  <a:pt x="4564" y="1326"/>
                </a:lnTo>
                <a:lnTo>
                  <a:pt x="4567" y="1330"/>
                </a:lnTo>
                <a:lnTo>
                  <a:pt x="4567" y="1330"/>
                </a:lnTo>
                <a:lnTo>
                  <a:pt x="4575" y="1332"/>
                </a:lnTo>
                <a:lnTo>
                  <a:pt x="4580" y="1330"/>
                </a:lnTo>
                <a:lnTo>
                  <a:pt x="4587" y="1326"/>
                </a:lnTo>
                <a:lnTo>
                  <a:pt x="4591" y="1321"/>
                </a:lnTo>
                <a:lnTo>
                  <a:pt x="4591" y="1321"/>
                </a:lnTo>
                <a:close/>
                <a:moveTo>
                  <a:pt x="4542" y="1317"/>
                </a:moveTo>
                <a:lnTo>
                  <a:pt x="4542" y="1317"/>
                </a:lnTo>
                <a:lnTo>
                  <a:pt x="4535" y="1315"/>
                </a:lnTo>
                <a:lnTo>
                  <a:pt x="4535" y="1315"/>
                </a:lnTo>
                <a:lnTo>
                  <a:pt x="4526" y="1315"/>
                </a:lnTo>
                <a:lnTo>
                  <a:pt x="4526" y="1315"/>
                </a:lnTo>
                <a:lnTo>
                  <a:pt x="4522" y="1317"/>
                </a:lnTo>
                <a:lnTo>
                  <a:pt x="4520" y="1321"/>
                </a:lnTo>
                <a:lnTo>
                  <a:pt x="4518" y="1328"/>
                </a:lnTo>
                <a:lnTo>
                  <a:pt x="4518" y="1328"/>
                </a:lnTo>
                <a:lnTo>
                  <a:pt x="4518" y="1335"/>
                </a:lnTo>
                <a:lnTo>
                  <a:pt x="4520" y="1339"/>
                </a:lnTo>
                <a:lnTo>
                  <a:pt x="4524" y="1341"/>
                </a:lnTo>
                <a:lnTo>
                  <a:pt x="4527" y="1341"/>
                </a:lnTo>
                <a:lnTo>
                  <a:pt x="4535" y="1339"/>
                </a:lnTo>
                <a:lnTo>
                  <a:pt x="4536" y="1341"/>
                </a:lnTo>
                <a:lnTo>
                  <a:pt x="4538" y="1344"/>
                </a:lnTo>
                <a:lnTo>
                  <a:pt x="4538" y="1344"/>
                </a:lnTo>
                <a:lnTo>
                  <a:pt x="4536" y="1348"/>
                </a:lnTo>
                <a:lnTo>
                  <a:pt x="4535" y="1352"/>
                </a:lnTo>
                <a:lnTo>
                  <a:pt x="4533" y="1355"/>
                </a:lnTo>
                <a:lnTo>
                  <a:pt x="4531" y="1361"/>
                </a:lnTo>
                <a:lnTo>
                  <a:pt x="4531" y="1361"/>
                </a:lnTo>
                <a:lnTo>
                  <a:pt x="4533" y="1365"/>
                </a:lnTo>
                <a:lnTo>
                  <a:pt x="4536" y="1366"/>
                </a:lnTo>
                <a:lnTo>
                  <a:pt x="4540" y="1368"/>
                </a:lnTo>
                <a:lnTo>
                  <a:pt x="4546" y="1366"/>
                </a:lnTo>
                <a:lnTo>
                  <a:pt x="4546" y="1366"/>
                </a:lnTo>
                <a:lnTo>
                  <a:pt x="4549" y="1363"/>
                </a:lnTo>
                <a:lnTo>
                  <a:pt x="4551" y="1359"/>
                </a:lnTo>
                <a:lnTo>
                  <a:pt x="4553" y="1348"/>
                </a:lnTo>
                <a:lnTo>
                  <a:pt x="4551" y="1337"/>
                </a:lnTo>
                <a:lnTo>
                  <a:pt x="4551" y="1328"/>
                </a:lnTo>
                <a:lnTo>
                  <a:pt x="4551" y="1328"/>
                </a:lnTo>
                <a:lnTo>
                  <a:pt x="4549" y="1321"/>
                </a:lnTo>
                <a:lnTo>
                  <a:pt x="4546" y="1319"/>
                </a:lnTo>
                <a:lnTo>
                  <a:pt x="4542" y="1317"/>
                </a:lnTo>
                <a:lnTo>
                  <a:pt x="4542" y="1317"/>
                </a:lnTo>
                <a:close/>
                <a:moveTo>
                  <a:pt x="4076" y="198"/>
                </a:moveTo>
                <a:lnTo>
                  <a:pt x="4076" y="198"/>
                </a:lnTo>
                <a:lnTo>
                  <a:pt x="4084" y="198"/>
                </a:lnTo>
                <a:lnTo>
                  <a:pt x="4089" y="196"/>
                </a:lnTo>
                <a:lnTo>
                  <a:pt x="4102" y="191"/>
                </a:lnTo>
                <a:lnTo>
                  <a:pt x="4102" y="191"/>
                </a:lnTo>
                <a:lnTo>
                  <a:pt x="4107" y="187"/>
                </a:lnTo>
                <a:lnTo>
                  <a:pt x="4113" y="187"/>
                </a:lnTo>
                <a:lnTo>
                  <a:pt x="4123" y="187"/>
                </a:lnTo>
                <a:lnTo>
                  <a:pt x="4123" y="187"/>
                </a:lnTo>
                <a:lnTo>
                  <a:pt x="4129" y="185"/>
                </a:lnTo>
                <a:lnTo>
                  <a:pt x="4134" y="182"/>
                </a:lnTo>
                <a:lnTo>
                  <a:pt x="4136" y="176"/>
                </a:lnTo>
                <a:lnTo>
                  <a:pt x="4136" y="172"/>
                </a:lnTo>
                <a:lnTo>
                  <a:pt x="4134" y="167"/>
                </a:lnTo>
                <a:lnTo>
                  <a:pt x="4131" y="161"/>
                </a:lnTo>
                <a:lnTo>
                  <a:pt x="4127" y="158"/>
                </a:lnTo>
                <a:lnTo>
                  <a:pt x="4122" y="156"/>
                </a:lnTo>
                <a:lnTo>
                  <a:pt x="4122" y="156"/>
                </a:lnTo>
                <a:lnTo>
                  <a:pt x="4113" y="152"/>
                </a:lnTo>
                <a:lnTo>
                  <a:pt x="4102" y="152"/>
                </a:lnTo>
                <a:lnTo>
                  <a:pt x="4102" y="152"/>
                </a:lnTo>
                <a:lnTo>
                  <a:pt x="4094" y="154"/>
                </a:lnTo>
                <a:lnTo>
                  <a:pt x="4091" y="156"/>
                </a:lnTo>
                <a:lnTo>
                  <a:pt x="4091" y="156"/>
                </a:lnTo>
                <a:lnTo>
                  <a:pt x="4087" y="160"/>
                </a:lnTo>
                <a:lnTo>
                  <a:pt x="4087" y="163"/>
                </a:lnTo>
                <a:lnTo>
                  <a:pt x="4085" y="169"/>
                </a:lnTo>
                <a:lnTo>
                  <a:pt x="4085" y="169"/>
                </a:lnTo>
                <a:lnTo>
                  <a:pt x="4080" y="176"/>
                </a:lnTo>
                <a:lnTo>
                  <a:pt x="4073" y="185"/>
                </a:lnTo>
                <a:lnTo>
                  <a:pt x="4071" y="189"/>
                </a:lnTo>
                <a:lnTo>
                  <a:pt x="4071" y="193"/>
                </a:lnTo>
                <a:lnTo>
                  <a:pt x="4071" y="196"/>
                </a:lnTo>
                <a:lnTo>
                  <a:pt x="4076" y="198"/>
                </a:lnTo>
                <a:lnTo>
                  <a:pt x="4076" y="198"/>
                </a:lnTo>
                <a:close/>
                <a:moveTo>
                  <a:pt x="4721" y="352"/>
                </a:moveTo>
                <a:lnTo>
                  <a:pt x="4721" y="352"/>
                </a:lnTo>
                <a:lnTo>
                  <a:pt x="4727" y="350"/>
                </a:lnTo>
                <a:lnTo>
                  <a:pt x="4730" y="345"/>
                </a:lnTo>
                <a:lnTo>
                  <a:pt x="4732" y="337"/>
                </a:lnTo>
                <a:lnTo>
                  <a:pt x="4730" y="332"/>
                </a:lnTo>
                <a:lnTo>
                  <a:pt x="4730" y="332"/>
                </a:lnTo>
                <a:lnTo>
                  <a:pt x="4727" y="328"/>
                </a:lnTo>
                <a:lnTo>
                  <a:pt x="4719" y="325"/>
                </a:lnTo>
                <a:lnTo>
                  <a:pt x="4712" y="323"/>
                </a:lnTo>
                <a:lnTo>
                  <a:pt x="4705" y="323"/>
                </a:lnTo>
                <a:lnTo>
                  <a:pt x="4705" y="323"/>
                </a:lnTo>
                <a:lnTo>
                  <a:pt x="4698" y="323"/>
                </a:lnTo>
                <a:lnTo>
                  <a:pt x="4698" y="323"/>
                </a:lnTo>
                <a:lnTo>
                  <a:pt x="4692" y="325"/>
                </a:lnTo>
                <a:lnTo>
                  <a:pt x="4687" y="328"/>
                </a:lnTo>
                <a:lnTo>
                  <a:pt x="4685" y="332"/>
                </a:lnTo>
                <a:lnTo>
                  <a:pt x="4685" y="334"/>
                </a:lnTo>
                <a:lnTo>
                  <a:pt x="4685" y="337"/>
                </a:lnTo>
                <a:lnTo>
                  <a:pt x="4687" y="341"/>
                </a:lnTo>
                <a:lnTo>
                  <a:pt x="4687" y="341"/>
                </a:lnTo>
                <a:lnTo>
                  <a:pt x="4694" y="347"/>
                </a:lnTo>
                <a:lnTo>
                  <a:pt x="4703" y="350"/>
                </a:lnTo>
                <a:lnTo>
                  <a:pt x="4714" y="352"/>
                </a:lnTo>
                <a:lnTo>
                  <a:pt x="4721" y="352"/>
                </a:lnTo>
                <a:lnTo>
                  <a:pt x="4721" y="352"/>
                </a:lnTo>
                <a:close/>
                <a:moveTo>
                  <a:pt x="4857" y="420"/>
                </a:moveTo>
                <a:lnTo>
                  <a:pt x="4857" y="420"/>
                </a:lnTo>
                <a:lnTo>
                  <a:pt x="4861" y="422"/>
                </a:lnTo>
                <a:lnTo>
                  <a:pt x="4864" y="420"/>
                </a:lnTo>
                <a:lnTo>
                  <a:pt x="4866" y="418"/>
                </a:lnTo>
                <a:lnTo>
                  <a:pt x="4868" y="415"/>
                </a:lnTo>
                <a:lnTo>
                  <a:pt x="4868" y="411"/>
                </a:lnTo>
                <a:lnTo>
                  <a:pt x="4866" y="409"/>
                </a:lnTo>
                <a:lnTo>
                  <a:pt x="4864" y="405"/>
                </a:lnTo>
                <a:lnTo>
                  <a:pt x="4861" y="404"/>
                </a:lnTo>
                <a:lnTo>
                  <a:pt x="4861" y="404"/>
                </a:lnTo>
                <a:lnTo>
                  <a:pt x="4857" y="404"/>
                </a:lnTo>
                <a:lnTo>
                  <a:pt x="4855" y="405"/>
                </a:lnTo>
                <a:lnTo>
                  <a:pt x="4855" y="405"/>
                </a:lnTo>
                <a:lnTo>
                  <a:pt x="4854" y="409"/>
                </a:lnTo>
                <a:lnTo>
                  <a:pt x="4852" y="415"/>
                </a:lnTo>
                <a:lnTo>
                  <a:pt x="4854" y="418"/>
                </a:lnTo>
                <a:lnTo>
                  <a:pt x="4857" y="420"/>
                </a:lnTo>
                <a:lnTo>
                  <a:pt x="4857" y="420"/>
                </a:lnTo>
                <a:close/>
                <a:moveTo>
                  <a:pt x="4642" y="304"/>
                </a:moveTo>
                <a:lnTo>
                  <a:pt x="4642" y="304"/>
                </a:lnTo>
                <a:lnTo>
                  <a:pt x="4652" y="310"/>
                </a:lnTo>
                <a:lnTo>
                  <a:pt x="4658" y="314"/>
                </a:lnTo>
                <a:lnTo>
                  <a:pt x="4663" y="314"/>
                </a:lnTo>
                <a:lnTo>
                  <a:pt x="4669" y="314"/>
                </a:lnTo>
                <a:lnTo>
                  <a:pt x="4674" y="312"/>
                </a:lnTo>
                <a:lnTo>
                  <a:pt x="4678" y="308"/>
                </a:lnTo>
                <a:lnTo>
                  <a:pt x="4681" y="301"/>
                </a:lnTo>
                <a:lnTo>
                  <a:pt x="4681" y="301"/>
                </a:lnTo>
                <a:lnTo>
                  <a:pt x="4681" y="297"/>
                </a:lnTo>
                <a:lnTo>
                  <a:pt x="4681" y="292"/>
                </a:lnTo>
                <a:lnTo>
                  <a:pt x="4678" y="282"/>
                </a:lnTo>
                <a:lnTo>
                  <a:pt x="4678" y="282"/>
                </a:lnTo>
                <a:lnTo>
                  <a:pt x="4676" y="275"/>
                </a:lnTo>
                <a:lnTo>
                  <a:pt x="4674" y="268"/>
                </a:lnTo>
                <a:lnTo>
                  <a:pt x="4674" y="268"/>
                </a:lnTo>
                <a:lnTo>
                  <a:pt x="4671" y="264"/>
                </a:lnTo>
                <a:lnTo>
                  <a:pt x="4669" y="262"/>
                </a:lnTo>
                <a:lnTo>
                  <a:pt x="4661" y="260"/>
                </a:lnTo>
                <a:lnTo>
                  <a:pt x="4661" y="260"/>
                </a:lnTo>
                <a:lnTo>
                  <a:pt x="4654" y="260"/>
                </a:lnTo>
                <a:lnTo>
                  <a:pt x="4649" y="262"/>
                </a:lnTo>
                <a:lnTo>
                  <a:pt x="4640" y="268"/>
                </a:lnTo>
                <a:lnTo>
                  <a:pt x="4640" y="268"/>
                </a:lnTo>
                <a:lnTo>
                  <a:pt x="4636" y="273"/>
                </a:lnTo>
                <a:lnTo>
                  <a:pt x="4632" y="279"/>
                </a:lnTo>
                <a:lnTo>
                  <a:pt x="4631" y="282"/>
                </a:lnTo>
                <a:lnTo>
                  <a:pt x="4631" y="288"/>
                </a:lnTo>
                <a:lnTo>
                  <a:pt x="4632" y="292"/>
                </a:lnTo>
                <a:lnTo>
                  <a:pt x="4634" y="295"/>
                </a:lnTo>
                <a:lnTo>
                  <a:pt x="4642" y="304"/>
                </a:lnTo>
                <a:lnTo>
                  <a:pt x="4642" y="304"/>
                </a:lnTo>
                <a:close/>
                <a:moveTo>
                  <a:pt x="5125" y="442"/>
                </a:moveTo>
                <a:lnTo>
                  <a:pt x="5125" y="442"/>
                </a:lnTo>
                <a:lnTo>
                  <a:pt x="5125" y="438"/>
                </a:lnTo>
                <a:lnTo>
                  <a:pt x="5123" y="437"/>
                </a:lnTo>
                <a:lnTo>
                  <a:pt x="5122" y="435"/>
                </a:lnTo>
                <a:lnTo>
                  <a:pt x="5118" y="435"/>
                </a:lnTo>
                <a:lnTo>
                  <a:pt x="5118" y="435"/>
                </a:lnTo>
                <a:lnTo>
                  <a:pt x="5113" y="435"/>
                </a:lnTo>
                <a:lnTo>
                  <a:pt x="5113" y="438"/>
                </a:lnTo>
                <a:lnTo>
                  <a:pt x="5113" y="440"/>
                </a:lnTo>
                <a:lnTo>
                  <a:pt x="5113" y="440"/>
                </a:lnTo>
                <a:lnTo>
                  <a:pt x="5114" y="446"/>
                </a:lnTo>
                <a:lnTo>
                  <a:pt x="5118" y="448"/>
                </a:lnTo>
                <a:lnTo>
                  <a:pt x="5123" y="448"/>
                </a:lnTo>
                <a:lnTo>
                  <a:pt x="5125" y="442"/>
                </a:lnTo>
                <a:lnTo>
                  <a:pt x="5125" y="442"/>
                </a:lnTo>
                <a:close/>
                <a:moveTo>
                  <a:pt x="4703" y="1034"/>
                </a:moveTo>
                <a:lnTo>
                  <a:pt x="4703" y="1034"/>
                </a:lnTo>
                <a:lnTo>
                  <a:pt x="4703" y="1036"/>
                </a:lnTo>
                <a:lnTo>
                  <a:pt x="4707" y="1040"/>
                </a:lnTo>
                <a:lnTo>
                  <a:pt x="4709" y="1042"/>
                </a:lnTo>
                <a:lnTo>
                  <a:pt x="4712" y="1044"/>
                </a:lnTo>
                <a:lnTo>
                  <a:pt x="4712" y="1044"/>
                </a:lnTo>
                <a:lnTo>
                  <a:pt x="4718" y="1044"/>
                </a:lnTo>
                <a:lnTo>
                  <a:pt x="4719" y="1042"/>
                </a:lnTo>
                <a:lnTo>
                  <a:pt x="4721" y="1034"/>
                </a:lnTo>
                <a:lnTo>
                  <a:pt x="4721" y="1034"/>
                </a:lnTo>
                <a:lnTo>
                  <a:pt x="4721" y="1027"/>
                </a:lnTo>
                <a:lnTo>
                  <a:pt x="4719" y="1022"/>
                </a:lnTo>
                <a:lnTo>
                  <a:pt x="4718" y="1014"/>
                </a:lnTo>
                <a:lnTo>
                  <a:pt x="4716" y="1007"/>
                </a:lnTo>
                <a:lnTo>
                  <a:pt x="4716" y="1007"/>
                </a:lnTo>
                <a:lnTo>
                  <a:pt x="4718" y="1000"/>
                </a:lnTo>
                <a:lnTo>
                  <a:pt x="4721" y="990"/>
                </a:lnTo>
                <a:lnTo>
                  <a:pt x="4721" y="990"/>
                </a:lnTo>
                <a:lnTo>
                  <a:pt x="4721" y="981"/>
                </a:lnTo>
                <a:lnTo>
                  <a:pt x="4721" y="981"/>
                </a:lnTo>
                <a:lnTo>
                  <a:pt x="4723" y="979"/>
                </a:lnTo>
                <a:lnTo>
                  <a:pt x="4725" y="979"/>
                </a:lnTo>
                <a:lnTo>
                  <a:pt x="4730" y="979"/>
                </a:lnTo>
                <a:lnTo>
                  <a:pt x="4730" y="979"/>
                </a:lnTo>
                <a:lnTo>
                  <a:pt x="4743" y="983"/>
                </a:lnTo>
                <a:lnTo>
                  <a:pt x="4745" y="981"/>
                </a:lnTo>
                <a:lnTo>
                  <a:pt x="4747" y="981"/>
                </a:lnTo>
                <a:lnTo>
                  <a:pt x="4748" y="978"/>
                </a:lnTo>
                <a:lnTo>
                  <a:pt x="4748" y="974"/>
                </a:lnTo>
                <a:lnTo>
                  <a:pt x="4748" y="974"/>
                </a:lnTo>
                <a:lnTo>
                  <a:pt x="4747" y="970"/>
                </a:lnTo>
                <a:lnTo>
                  <a:pt x="4743" y="967"/>
                </a:lnTo>
                <a:lnTo>
                  <a:pt x="4736" y="961"/>
                </a:lnTo>
                <a:lnTo>
                  <a:pt x="4736" y="961"/>
                </a:lnTo>
                <a:lnTo>
                  <a:pt x="4732" y="956"/>
                </a:lnTo>
                <a:lnTo>
                  <a:pt x="4729" y="950"/>
                </a:lnTo>
                <a:lnTo>
                  <a:pt x="4729" y="943"/>
                </a:lnTo>
                <a:lnTo>
                  <a:pt x="4729" y="935"/>
                </a:lnTo>
                <a:lnTo>
                  <a:pt x="4732" y="908"/>
                </a:lnTo>
                <a:lnTo>
                  <a:pt x="4732" y="908"/>
                </a:lnTo>
                <a:lnTo>
                  <a:pt x="4732" y="904"/>
                </a:lnTo>
                <a:lnTo>
                  <a:pt x="4730" y="899"/>
                </a:lnTo>
                <a:lnTo>
                  <a:pt x="4727" y="891"/>
                </a:lnTo>
                <a:lnTo>
                  <a:pt x="4727" y="891"/>
                </a:lnTo>
                <a:lnTo>
                  <a:pt x="4725" y="886"/>
                </a:lnTo>
                <a:lnTo>
                  <a:pt x="4725" y="879"/>
                </a:lnTo>
                <a:lnTo>
                  <a:pt x="4727" y="873"/>
                </a:lnTo>
                <a:lnTo>
                  <a:pt x="4725" y="866"/>
                </a:lnTo>
                <a:lnTo>
                  <a:pt x="4725" y="866"/>
                </a:lnTo>
                <a:lnTo>
                  <a:pt x="4721" y="866"/>
                </a:lnTo>
                <a:lnTo>
                  <a:pt x="4721" y="866"/>
                </a:lnTo>
                <a:lnTo>
                  <a:pt x="4718" y="866"/>
                </a:lnTo>
                <a:lnTo>
                  <a:pt x="4716" y="869"/>
                </a:lnTo>
                <a:lnTo>
                  <a:pt x="4716" y="877"/>
                </a:lnTo>
                <a:lnTo>
                  <a:pt x="4716" y="877"/>
                </a:lnTo>
                <a:lnTo>
                  <a:pt x="4714" y="884"/>
                </a:lnTo>
                <a:lnTo>
                  <a:pt x="4712" y="891"/>
                </a:lnTo>
                <a:lnTo>
                  <a:pt x="4709" y="897"/>
                </a:lnTo>
                <a:lnTo>
                  <a:pt x="4707" y="904"/>
                </a:lnTo>
                <a:lnTo>
                  <a:pt x="4707" y="904"/>
                </a:lnTo>
                <a:lnTo>
                  <a:pt x="4707" y="919"/>
                </a:lnTo>
                <a:lnTo>
                  <a:pt x="4709" y="934"/>
                </a:lnTo>
                <a:lnTo>
                  <a:pt x="4709" y="934"/>
                </a:lnTo>
                <a:lnTo>
                  <a:pt x="4710" y="952"/>
                </a:lnTo>
                <a:lnTo>
                  <a:pt x="4710" y="972"/>
                </a:lnTo>
                <a:lnTo>
                  <a:pt x="4710" y="972"/>
                </a:lnTo>
                <a:lnTo>
                  <a:pt x="4709" y="985"/>
                </a:lnTo>
                <a:lnTo>
                  <a:pt x="4707" y="990"/>
                </a:lnTo>
                <a:lnTo>
                  <a:pt x="4707" y="998"/>
                </a:lnTo>
                <a:lnTo>
                  <a:pt x="4707" y="998"/>
                </a:lnTo>
                <a:lnTo>
                  <a:pt x="4710" y="1011"/>
                </a:lnTo>
                <a:lnTo>
                  <a:pt x="4710" y="1018"/>
                </a:lnTo>
                <a:lnTo>
                  <a:pt x="4709" y="1023"/>
                </a:lnTo>
                <a:lnTo>
                  <a:pt x="4709" y="1023"/>
                </a:lnTo>
                <a:lnTo>
                  <a:pt x="4707" y="1027"/>
                </a:lnTo>
                <a:lnTo>
                  <a:pt x="4705" y="1027"/>
                </a:lnTo>
                <a:lnTo>
                  <a:pt x="4703" y="1031"/>
                </a:lnTo>
                <a:lnTo>
                  <a:pt x="4703" y="1034"/>
                </a:lnTo>
                <a:lnTo>
                  <a:pt x="4703" y="1034"/>
                </a:lnTo>
                <a:close/>
                <a:moveTo>
                  <a:pt x="4846" y="409"/>
                </a:moveTo>
                <a:lnTo>
                  <a:pt x="4846" y="409"/>
                </a:lnTo>
                <a:lnTo>
                  <a:pt x="4844" y="407"/>
                </a:lnTo>
                <a:lnTo>
                  <a:pt x="4844" y="407"/>
                </a:lnTo>
                <a:lnTo>
                  <a:pt x="4841" y="407"/>
                </a:lnTo>
                <a:lnTo>
                  <a:pt x="4837" y="411"/>
                </a:lnTo>
                <a:lnTo>
                  <a:pt x="4837" y="413"/>
                </a:lnTo>
                <a:lnTo>
                  <a:pt x="4839" y="416"/>
                </a:lnTo>
                <a:lnTo>
                  <a:pt x="4839" y="416"/>
                </a:lnTo>
                <a:lnTo>
                  <a:pt x="4843" y="418"/>
                </a:lnTo>
                <a:lnTo>
                  <a:pt x="4846" y="416"/>
                </a:lnTo>
                <a:lnTo>
                  <a:pt x="4848" y="413"/>
                </a:lnTo>
                <a:lnTo>
                  <a:pt x="4846" y="409"/>
                </a:lnTo>
                <a:lnTo>
                  <a:pt x="4846" y="409"/>
                </a:lnTo>
                <a:close/>
                <a:moveTo>
                  <a:pt x="5310" y="424"/>
                </a:moveTo>
                <a:lnTo>
                  <a:pt x="5310" y="424"/>
                </a:lnTo>
                <a:lnTo>
                  <a:pt x="5317" y="422"/>
                </a:lnTo>
                <a:lnTo>
                  <a:pt x="5321" y="418"/>
                </a:lnTo>
                <a:lnTo>
                  <a:pt x="5323" y="415"/>
                </a:lnTo>
                <a:lnTo>
                  <a:pt x="5323" y="415"/>
                </a:lnTo>
                <a:lnTo>
                  <a:pt x="5321" y="411"/>
                </a:lnTo>
                <a:lnTo>
                  <a:pt x="5319" y="407"/>
                </a:lnTo>
                <a:lnTo>
                  <a:pt x="5310" y="405"/>
                </a:lnTo>
                <a:lnTo>
                  <a:pt x="5310" y="405"/>
                </a:lnTo>
                <a:lnTo>
                  <a:pt x="5301" y="404"/>
                </a:lnTo>
                <a:lnTo>
                  <a:pt x="5297" y="404"/>
                </a:lnTo>
                <a:lnTo>
                  <a:pt x="5292" y="404"/>
                </a:lnTo>
                <a:lnTo>
                  <a:pt x="5292" y="404"/>
                </a:lnTo>
                <a:lnTo>
                  <a:pt x="5290" y="407"/>
                </a:lnTo>
                <a:lnTo>
                  <a:pt x="5290" y="413"/>
                </a:lnTo>
                <a:lnTo>
                  <a:pt x="5290" y="413"/>
                </a:lnTo>
                <a:lnTo>
                  <a:pt x="5294" y="416"/>
                </a:lnTo>
                <a:lnTo>
                  <a:pt x="5299" y="420"/>
                </a:lnTo>
                <a:lnTo>
                  <a:pt x="5310" y="424"/>
                </a:lnTo>
                <a:lnTo>
                  <a:pt x="5310" y="424"/>
                </a:lnTo>
                <a:close/>
                <a:moveTo>
                  <a:pt x="4292" y="2137"/>
                </a:moveTo>
                <a:lnTo>
                  <a:pt x="4292" y="2137"/>
                </a:lnTo>
                <a:lnTo>
                  <a:pt x="4294" y="2135"/>
                </a:lnTo>
                <a:lnTo>
                  <a:pt x="4294" y="2131"/>
                </a:lnTo>
                <a:lnTo>
                  <a:pt x="4292" y="2124"/>
                </a:lnTo>
                <a:lnTo>
                  <a:pt x="4292" y="2124"/>
                </a:lnTo>
                <a:lnTo>
                  <a:pt x="4292" y="2120"/>
                </a:lnTo>
                <a:lnTo>
                  <a:pt x="4290" y="2119"/>
                </a:lnTo>
                <a:lnTo>
                  <a:pt x="4290" y="2119"/>
                </a:lnTo>
                <a:lnTo>
                  <a:pt x="4288" y="2117"/>
                </a:lnTo>
                <a:lnTo>
                  <a:pt x="4285" y="2117"/>
                </a:lnTo>
                <a:lnTo>
                  <a:pt x="4279" y="2119"/>
                </a:lnTo>
                <a:lnTo>
                  <a:pt x="4279" y="2119"/>
                </a:lnTo>
                <a:lnTo>
                  <a:pt x="4276" y="2117"/>
                </a:lnTo>
                <a:lnTo>
                  <a:pt x="4272" y="2113"/>
                </a:lnTo>
                <a:lnTo>
                  <a:pt x="4268" y="2106"/>
                </a:lnTo>
                <a:lnTo>
                  <a:pt x="4268" y="2106"/>
                </a:lnTo>
                <a:lnTo>
                  <a:pt x="4265" y="2098"/>
                </a:lnTo>
                <a:lnTo>
                  <a:pt x="4261" y="2097"/>
                </a:lnTo>
                <a:lnTo>
                  <a:pt x="4257" y="2095"/>
                </a:lnTo>
                <a:lnTo>
                  <a:pt x="4257" y="2095"/>
                </a:lnTo>
                <a:lnTo>
                  <a:pt x="4250" y="2095"/>
                </a:lnTo>
                <a:lnTo>
                  <a:pt x="4245" y="2095"/>
                </a:lnTo>
                <a:lnTo>
                  <a:pt x="4245" y="2095"/>
                </a:lnTo>
                <a:lnTo>
                  <a:pt x="4241" y="2093"/>
                </a:lnTo>
                <a:lnTo>
                  <a:pt x="4239" y="2093"/>
                </a:lnTo>
                <a:lnTo>
                  <a:pt x="4239" y="2093"/>
                </a:lnTo>
                <a:lnTo>
                  <a:pt x="4238" y="2093"/>
                </a:lnTo>
                <a:lnTo>
                  <a:pt x="4236" y="2095"/>
                </a:lnTo>
                <a:lnTo>
                  <a:pt x="4234" y="2097"/>
                </a:lnTo>
                <a:lnTo>
                  <a:pt x="4232" y="2098"/>
                </a:lnTo>
                <a:lnTo>
                  <a:pt x="4232" y="2098"/>
                </a:lnTo>
                <a:lnTo>
                  <a:pt x="4227" y="2098"/>
                </a:lnTo>
                <a:lnTo>
                  <a:pt x="4221" y="2097"/>
                </a:lnTo>
                <a:lnTo>
                  <a:pt x="4212" y="2093"/>
                </a:lnTo>
                <a:lnTo>
                  <a:pt x="4212" y="2093"/>
                </a:lnTo>
                <a:lnTo>
                  <a:pt x="4209" y="2091"/>
                </a:lnTo>
                <a:lnTo>
                  <a:pt x="4205" y="2089"/>
                </a:lnTo>
                <a:lnTo>
                  <a:pt x="4205" y="2089"/>
                </a:lnTo>
                <a:lnTo>
                  <a:pt x="4199" y="2086"/>
                </a:lnTo>
                <a:lnTo>
                  <a:pt x="4194" y="2084"/>
                </a:lnTo>
                <a:lnTo>
                  <a:pt x="4194" y="2084"/>
                </a:lnTo>
                <a:lnTo>
                  <a:pt x="4190" y="2084"/>
                </a:lnTo>
                <a:lnTo>
                  <a:pt x="4189" y="2084"/>
                </a:lnTo>
                <a:lnTo>
                  <a:pt x="4181" y="2087"/>
                </a:lnTo>
                <a:lnTo>
                  <a:pt x="4181" y="2087"/>
                </a:lnTo>
                <a:lnTo>
                  <a:pt x="4176" y="2087"/>
                </a:lnTo>
                <a:lnTo>
                  <a:pt x="4172" y="2087"/>
                </a:lnTo>
                <a:lnTo>
                  <a:pt x="4172" y="2087"/>
                </a:lnTo>
                <a:lnTo>
                  <a:pt x="4163" y="2089"/>
                </a:lnTo>
                <a:lnTo>
                  <a:pt x="4163" y="2089"/>
                </a:lnTo>
                <a:lnTo>
                  <a:pt x="4160" y="2091"/>
                </a:lnTo>
                <a:lnTo>
                  <a:pt x="4158" y="2097"/>
                </a:lnTo>
                <a:lnTo>
                  <a:pt x="4158" y="2097"/>
                </a:lnTo>
                <a:lnTo>
                  <a:pt x="4158" y="2102"/>
                </a:lnTo>
                <a:lnTo>
                  <a:pt x="4161" y="2104"/>
                </a:lnTo>
                <a:lnTo>
                  <a:pt x="4171" y="2108"/>
                </a:lnTo>
                <a:lnTo>
                  <a:pt x="4171" y="2108"/>
                </a:lnTo>
                <a:lnTo>
                  <a:pt x="4181" y="2113"/>
                </a:lnTo>
                <a:lnTo>
                  <a:pt x="4187" y="2115"/>
                </a:lnTo>
                <a:lnTo>
                  <a:pt x="4194" y="2117"/>
                </a:lnTo>
                <a:lnTo>
                  <a:pt x="4194" y="2117"/>
                </a:lnTo>
                <a:lnTo>
                  <a:pt x="4207" y="2119"/>
                </a:lnTo>
                <a:lnTo>
                  <a:pt x="4219" y="2124"/>
                </a:lnTo>
                <a:lnTo>
                  <a:pt x="4219" y="2124"/>
                </a:lnTo>
                <a:lnTo>
                  <a:pt x="4227" y="2126"/>
                </a:lnTo>
                <a:lnTo>
                  <a:pt x="4232" y="2128"/>
                </a:lnTo>
                <a:lnTo>
                  <a:pt x="4247" y="2128"/>
                </a:lnTo>
                <a:lnTo>
                  <a:pt x="4247" y="2128"/>
                </a:lnTo>
                <a:lnTo>
                  <a:pt x="4259" y="2128"/>
                </a:lnTo>
                <a:lnTo>
                  <a:pt x="4265" y="2128"/>
                </a:lnTo>
                <a:lnTo>
                  <a:pt x="4270" y="2130"/>
                </a:lnTo>
                <a:lnTo>
                  <a:pt x="4270" y="2130"/>
                </a:lnTo>
                <a:lnTo>
                  <a:pt x="4281" y="2137"/>
                </a:lnTo>
                <a:lnTo>
                  <a:pt x="4286" y="2139"/>
                </a:lnTo>
                <a:lnTo>
                  <a:pt x="4290" y="2139"/>
                </a:lnTo>
                <a:lnTo>
                  <a:pt x="4292" y="2137"/>
                </a:lnTo>
                <a:lnTo>
                  <a:pt x="4292" y="2137"/>
                </a:lnTo>
                <a:close/>
                <a:moveTo>
                  <a:pt x="4158" y="2045"/>
                </a:moveTo>
                <a:lnTo>
                  <a:pt x="4158" y="2045"/>
                </a:lnTo>
                <a:lnTo>
                  <a:pt x="4158" y="2036"/>
                </a:lnTo>
                <a:lnTo>
                  <a:pt x="4154" y="2029"/>
                </a:lnTo>
                <a:lnTo>
                  <a:pt x="4151" y="2023"/>
                </a:lnTo>
                <a:lnTo>
                  <a:pt x="4145" y="2018"/>
                </a:lnTo>
                <a:lnTo>
                  <a:pt x="4145" y="2018"/>
                </a:lnTo>
                <a:lnTo>
                  <a:pt x="4131" y="2008"/>
                </a:lnTo>
                <a:lnTo>
                  <a:pt x="4125" y="2001"/>
                </a:lnTo>
                <a:lnTo>
                  <a:pt x="4122" y="1992"/>
                </a:lnTo>
                <a:lnTo>
                  <a:pt x="4122" y="1992"/>
                </a:lnTo>
                <a:lnTo>
                  <a:pt x="4118" y="1979"/>
                </a:lnTo>
                <a:lnTo>
                  <a:pt x="4116" y="1972"/>
                </a:lnTo>
                <a:lnTo>
                  <a:pt x="4113" y="1966"/>
                </a:lnTo>
                <a:lnTo>
                  <a:pt x="4113" y="1966"/>
                </a:lnTo>
                <a:lnTo>
                  <a:pt x="4102" y="1959"/>
                </a:lnTo>
                <a:lnTo>
                  <a:pt x="4091" y="1952"/>
                </a:lnTo>
                <a:lnTo>
                  <a:pt x="4082" y="1946"/>
                </a:lnTo>
                <a:lnTo>
                  <a:pt x="4073" y="1939"/>
                </a:lnTo>
                <a:lnTo>
                  <a:pt x="4073" y="1939"/>
                </a:lnTo>
                <a:lnTo>
                  <a:pt x="4067" y="1931"/>
                </a:lnTo>
                <a:lnTo>
                  <a:pt x="4064" y="1922"/>
                </a:lnTo>
                <a:lnTo>
                  <a:pt x="4060" y="1906"/>
                </a:lnTo>
                <a:lnTo>
                  <a:pt x="4060" y="1906"/>
                </a:lnTo>
                <a:lnTo>
                  <a:pt x="4055" y="1891"/>
                </a:lnTo>
                <a:lnTo>
                  <a:pt x="4047" y="1882"/>
                </a:lnTo>
                <a:lnTo>
                  <a:pt x="4036" y="1876"/>
                </a:lnTo>
                <a:lnTo>
                  <a:pt x="4024" y="1871"/>
                </a:lnTo>
                <a:lnTo>
                  <a:pt x="4024" y="1871"/>
                </a:lnTo>
                <a:lnTo>
                  <a:pt x="4013" y="1869"/>
                </a:lnTo>
                <a:lnTo>
                  <a:pt x="4007" y="1867"/>
                </a:lnTo>
                <a:lnTo>
                  <a:pt x="4002" y="1867"/>
                </a:lnTo>
                <a:lnTo>
                  <a:pt x="4002" y="1867"/>
                </a:lnTo>
                <a:lnTo>
                  <a:pt x="4000" y="1869"/>
                </a:lnTo>
                <a:lnTo>
                  <a:pt x="4000" y="1869"/>
                </a:lnTo>
                <a:lnTo>
                  <a:pt x="3998" y="1871"/>
                </a:lnTo>
                <a:lnTo>
                  <a:pt x="3998" y="1875"/>
                </a:lnTo>
                <a:lnTo>
                  <a:pt x="4002" y="1882"/>
                </a:lnTo>
                <a:lnTo>
                  <a:pt x="4011" y="1893"/>
                </a:lnTo>
                <a:lnTo>
                  <a:pt x="4011" y="1893"/>
                </a:lnTo>
                <a:lnTo>
                  <a:pt x="4031" y="1917"/>
                </a:lnTo>
                <a:lnTo>
                  <a:pt x="4040" y="1930"/>
                </a:lnTo>
                <a:lnTo>
                  <a:pt x="4047" y="1944"/>
                </a:lnTo>
                <a:lnTo>
                  <a:pt x="4047" y="1944"/>
                </a:lnTo>
                <a:lnTo>
                  <a:pt x="4058" y="1966"/>
                </a:lnTo>
                <a:lnTo>
                  <a:pt x="4073" y="1988"/>
                </a:lnTo>
                <a:lnTo>
                  <a:pt x="4073" y="1988"/>
                </a:lnTo>
                <a:lnTo>
                  <a:pt x="4082" y="2003"/>
                </a:lnTo>
                <a:lnTo>
                  <a:pt x="4091" y="2018"/>
                </a:lnTo>
                <a:lnTo>
                  <a:pt x="4107" y="2049"/>
                </a:lnTo>
                <a:lnTo>
                  <a:pt x="4107" y="2049"/>
                </a:lnTo>
                <a:lnTo>
                  <a:pt x="4116" y="2062"/>
                </a:lnTo>
                <a:lnTo>
                  <a:pt x="4122" y="2065"/>
                </a:lnTo>
                <a:lnTo>
                  <a:pt x="4129" y="2071"/>
                </a:lnTo>
                <a:lnTo>
                  <a:pt x="4129" y="2071"/>
                </a:lnTo>
                <a:lnTo>
                  <a:pt x="4134" y="2073"/>
                </a:lnTo>
                <a:lnTo>
                  <a:pt x="4142" y="2076"/>
                </a:lnTo>
                <a:lnTo>
                  <a:pt x="4149" y="2076"/>
                </a:lnTo>
                <a:lnTo>
                  <a:pt x="4152" y="2076"/>
                </a:lnTo>
                <a:lnTo>
                  <a:pt x="4156" y="2075"/>
                </a:lnTo>
                <a:lnTo>
                  <a:pt x="4156" y="2075"/>
                </a:lnTo>
                <a:lnTo>
                  <a:pt x="4160" y="2067"/>
                </a:lnTo>
                <a:lnTo>
                  <a:pt x="4160" y="2060"/>
                </a:lnTo>
                <a:lnTo>
                  <a:pt x="4158" y="2045"/>
                </a:lnTo>
                <a:lnTo>
                  <a:pt x="4158" y="2045"/>
                </a:lnTo>
                <a:close/>
                <a:moveTo>
                  <a:pt x="4238" y="1623"/>
                </a:moveTo>
                <a:lnTo>
                  <a:pt x="4238" y="1623"/>
                </a:lnTo>
                <a:lnTo>
                  <a:pt x="4241" y="1618"/>
                </a:lnTo>
                <a:lnTo>
                  <a:pt x="4241" y="1610"/>
                </a:lnTo>
                <a:lnTo>
                  <a:pt x="4241" y="1610"/>
                </a:lnTo>
                <a:lnTo>
                  <a:pt x="4241" y="1603"/>
                </a:lnTo>
                <a:lnTo>
                  <a:pt x="4241" y="1603"/>
                </a:lnTo>
                <a:lnTo>
                  <a:pt x="4243" y="1599"/>
                </a:lnTo>
                <a:lnTo>
                  <a:pt x="4243" y="1596"/>
                </a:lnTo>
                <a:lnTo>
                  <a:pt x="4241" y="1594"/>
                </a:lnTo>
                <a:lnTo>
                  <a:pt x="4241" y="1594"/>
                </a:lnTo>
                <a:lnTo>
                  <a:pt x="4239" y="1592"/>
                </a:lnTo>
                <a:lnTo>
                  <a:pt x="4236" y="1592"/>
                </a:lnTo>
                <a:lnTo>
                  <a:pt x="4228" y="1594"/>
                </a:lnTo>
                <a:lnTo>
                  <a:pt x="4228" y="1594"/>
                </a:lnTo>
                <a:lnTo>
                  <a:pt x="4225" y="1596"/>
                </a:lnTo>
                <a:lnTo>
                  <a:pt x="4225" y="1596"/>
                </a:lnTo>
                <a:lnTo>
                  <a:pt x="4216" y="1599"/>
                </a:lnTo>
                <a:lnTo>
                  <a:pt x="4212" y="1603"/>
                </a:lnTo>
                <a:lnTo>
                  <a:pt x="4209" y="1607"/>
                </a:lnTo>
                <a:lnTo>
                  <a:pt x="4207" y="1612"/>
                </a:lnTo>
                <a:lnTo>
                  <a:pt x="4207" y="1616"/>
                </a:lnTo>
                <a:lnTo>
                  <a:pt x="4209" y="1621"/>
                </a:lnTo>
                <a:lnTo>
                  <a:pt x="4212" y="1627"/>
                </a:lnTo>
                <a:lnTo>
                  <a:pt x="4212" y="1627"/>
                </a:lnTo>
                <a:lnTo>
                  <a:pt x="4214" y="1629"/>
                </a:lnTo>
                <a:lnTo>
                  <a:pt x="4218" y="1631"/>
                </a:lnTo>
                <a:lnTo>
                  <a:pt x="4225" y="1632"/>
                </a:lnTo>
                <a:lnTo>
                  <a:pt x="4232" y="1629"/>
                </a:lnTo>
                <a:lnTo>
                  <a:pt x="4238" y="1623"/>
                </a:lnTo>
                <a:lnTo>
                  <a:pt x="4238" y="1623"/>
                </a:lnTo>
                <a:close/>
                <a:moveTo>
                  <a:pt x="3763" y="1794"/>
                </a:moveTo>
                <a:lnTo>
                  <a:pt x="3763" y="1794"/>
                </a:lnTo>
                <a:lnTo>
                  <a:pt x="3761" y="1798"/>
                </a:lnTo>
                <a:lnTo>
                  <a:pt x="3761" y="1798"/>
                </a:lnTo>
                <a:lnTo>
                  <a:pt x="3759" y="1799"/>
                </a:lnTo>
                <a:lnTo>
                  <a:pt x="3759" y="1799"/>
                </a:lnTo>
                <a:lnTo>
                  <a:pt x="3761" y="1801"/>
                </a:lnTo>
                <a:lnTo>
                  <a:pt x="3761" y="1803"/>
                </a:lnTo>
                <a:lnTo>
                  <a:pt x="3761" y="1803"/>
                </a:lnTo>
                <a:lnTo>
                  <a:pt x="3763" y="1805"/>
                </a:lnTo>
                <a:lnTo>
                  <a:pt x="3763" y="1809"/>
                </a:lnTo>
                <a:lnTo>
                  <a:pt x="3763" y="1809"/>
                </a:lnTo>
                <a:lnTo>
                  <a:pt x="3756" y="1827"/>
                </a:lnTo>
                <a:lnTo>
                  <a:pt x="3756" y="1827"/>
                </a:lnTo>
                <a:lnTo>
                  <a:pt x="3757" y="1836"/>
                </a:lnTo>
                <a:lnTo>
                  <a:pt x="3761" y="1847"/>
                </a:lnTo>
                <a:lnTo>
                  <a:pt x="3761" y="1847"/>
                </a:lnTo>
                <a:lnTo>
                  <a:pt x="3763" y="1858"/>
                </a:lnTo>
                <a:lnTo>
                  <a:pt x="3765" y="1865"/>
                </a:lnTo>
                <a:lnTo>
                  <a:pt x="3766" y="1867"/>
                </a:lnTo>
                <a:lnTo>
                  <a:pt x="3770" y="1867"/>
                </a:lnTo>
                <a:lnTo>
                  <a:pt x="3779" y="1864"/>
                </a:lnTo>
                <a:lnTo>
                  <a:pt x="3779" y="1864"/>
                </a:lnTo>
                <a:lnTo>
                  <a:pt x="3785" y="1862"/>
                </a:lnTo>
                <a:lnTo>
                  <a:pt x="3788" y="1860"/>
                </a:lnTo>
                <a:lnTo>
                  <a:pt x="3790" y="1858"/>
                </a:lnTo>
                <a:lnTo>
                  <a:pt x="3790" y="1858"/>
                </a:lnTo>
                <a:lnTo>
                  <a:pt x="3792" y="1853"/>
                </a:lnTo>
                <a:lnTo>
                  <a:pt x="3792" y="1845"/>
                </a:lnTo>
                <a:lnTo>
                  <a:pt x="3792" y="1838"/>
                </a:lnTo>
                <a:lnTo>
                  <a:pt x="3790" y="1832"/>
                </a:lnTo>
                <a:lnTo>
                  <a:pt x="3790" y="1832"/>
                </a:lnTo>
                <a:lnTo>
                  <a:pt x="3783" y="1820"/>
                </a:lnTo>
                <a:lnTo>
                  <a:pt x="3774" y="1809"/>
                </a:lnTo>
                <a:lnTo>
                  <a:pt x="3763" y="1794"/>
                </a:lnTo>
                <a:lnTo>
                  <a:pt x="3763" y="1794"/>
                </a:lnTo>
                <a:close/>
                <a:moveTo>
                  <a:pt x="4209" y="1952"/>
                </a:moveTo>
                <a:lnTo>
                  <a:pt x="4209" y="1952"/>
                </a:lnTo>
                <a:lnTo>
                  <a:pt x="4207" y="1959"/>
                </a:lnTo>
                <a:lnTo>
                  <a:pt x="4205" y="1966"/>
                </a:lnTo>
                <a:lnTo>
                  <a:pt x="4207" y="1974"/>
                </a:lnTo>
                <a:lnTo>
                  <a:pt x="4209" y="1981"/>
                </a:lnTo>
                <a:lnTo>
                  <a:pt x="4209" y="1981"/>
                </a:lnTo>
                <a:lnTo>
                  <a:pt x="4210" y="1988"/>
                </a:lnTo>
                <a:lnTo>
                  <a:pt x="4214" y="1994"/>
                </a:lnTo>
                <a:lnTo>
                  <a:pt x="4223" y="2003"/>
                </a:lnTo>
                <a:lnTo>
                  <a:pt x="4223" y="2003"/>
                </a:lnTo>
                <a:lnTo>
                  <a:pt x="4225" y="2010"/>
                </a:lnTo>
                <a:lnTo>
                  <a:pt x="4227" y="2018"/>
                </a:lnTo>
                <a:lnTo>
                  <a:pt x="4230" y="2025"/>
                </a:lnTo>
                <a:lnTo>
                  <a:pt x="4234" y="2032"/>
                </a:lnTo>
                <a:lnTo>
                  <a:pt x="4234" y="2032"/>
                </a:lnTo>
                <a:lnTo>
                  <a:pt x="4238" y="2036"/>
                </a:lnTo>
                <a:lnTo>
                  <a:pt x="4243" y="2038"/>
                </a:lnTo>
                <a:lnTo>
                  <a:pt x="4256" y="2041"/>
                </a:lnTo>
                <a:lnTo>
                  <a:pt x="4268" y="2041"/>
                </a:lnTo>
                <a:lnTo>
                  <a:pt x="4279" y="2040"/>
                </a:lnTo>
                <a:lnTo>
                  <a:pt x="4279" y="2040"/>
                </a:lnTo>
                <a:lnTo>
                  <a:pt x="4285" y="2038"/>
                </a:lnTo>
                <a:lnTo>
                  <a:pt x="4290" y="2038"/>
                </a:lnTo>
                <a:lnTo>
                  <a:pt x="4290" y="2038"/>
                </a:lnTo>
                <a:lnTo>
                  <a:pt x="4294" y="2038"/>
                </a:lnTo>
                <a:lnTo>
                  <a:pt x="4297" y="2040"/>
                </a:lnTo>
                <a:lnTo>
                  <a:pt x="4297" y="2040"/>
                </a:lnTo>
                <a:lnTo>
                  <a:pt x="4303" y="2041"/>
                </a:lnTo>
                <a:lnTo>
                  <a:pt x="4308" y="2041"/>
                </a:lnTo>
                <a:lnTo>
                  <a:pt x="4319" y="2038"/>
                </a:lnTo>
                <a:lnTo>
                  <a:pt x="4319" y="2038"/>
                </a:lnTo>
                <a:lnTo>
                  <a:pt x="4323" y="2036"/>
                </a:lnTo>
                <a:lnTo>
                  <a:pt x="4324" y="2032"/>
                </a:lnTo>
                <a:lnTo>
                  <a:pt x="4328" y="2025"/>
                </a:lnTo>
                <a:lnTo>
                  <a:pt x="4328" y="2025"/>
                </a:lnTo>
                <a:lnTo>
                  <a:pt x="4332" y="2016"/>
                </a:lnTo>
                <a:lnTo>
                  <a:pt x="4334" y="2007"/>
                </a:lnTo>
                <a:lnTo>
                  <a:pt x="4334" y="1996"/>
                </a:lnTo>
                <a:lnTo>
                  <a:pt x="4334" y="1986"/>
                </a:lnTo>
                <a:lnTo>
                  <a:pt x="4334" y="1986"/>
                </a:lnTo>
                <a:lnTo>
                  <a:pt x="4332" y="1981"/>
                </a:lnTo>
                <a:lnTo>
                  <a:pt x="4332" y="1977"/>
                </a:lnTo>
                <a:lnTo>
                  <a:pt x="4332" y="1974"/>
                </a:lnTo>
                <a:lnTo>
                  <a:pt x="4332" y="1974"/>
                </a:lnTo>
                <a:lnTo>
                  <a:pt x="4337" y="1968"/>
                </a:lnTo>
                <a:lnTo>
                  <a:pt x="4343" y="1966"/>
                </a:lnTo>
                <a:lnTo>
                  <a:pt x="4343" y="1966"/>
                </a:lnTo>
                <a:lnTo>
                  <a:pt x="4352" y="1964"/>
                </a:lnTo>
                <a:lnTo>
                  <a:pt x="4353" y="1963"/>
                </a:lnTo>
                <a:lnTo>
                  <a:pt x="4355" y="1959"/>
                </a:lnTo>
                <a:lnTo>
                  <a:pt x="4355" y="1959"/>
                </a:lnTo>
                <a:lnTo>
                  <a:pt x="4355" y="1955"/>
                </a:lnTo>
                <a:lnTo>
                  <a:pt x="4353" y="1953"/>
                </a:lnTo>
                <a:lnTo>
                  <a:pt x="4348" y="1948"/>
                </a:lnTo>
                <a:lnTo>
                  <a:pt x="4348" y="1948"/>
                </a:lnTo>
                <a:lnTo>
                  <a:pt x="4341" y="1942"/>
                </a:lnTo>
                <a:lnTo>
                  <a:pt x="4337" y="1935"/>
                </a:lnTo>
                <a:lnTo>
                  <a:pt x="4337" y="1935"/>
                </a:lnTo>
                <a:lnTo>
                  <a:pt x="4335" y="1926"/>
                </a:lnTo>
                <a:lnTo>
                  <a:pt x="4334" y="1922"/>
                </a:lnTo>
                <a:lnTo>
                  <a:pt x="4334" y="1917"/>
                </a:lnTo>
                <a:lnTo>
                  <a:pt x="4334" y="1917"/>
                </a:lnTo>
                <a:lnTo>
                  <a:pt x="4335" y="1908"/>
                </a:lnTo>
                <a:lnTo>
                  <a:pt x="4341" y="1897"/>
                </a:lnTo>
                <a:lnTo>
                  <a:pt x="4341" y="1897"/>
                </a:lnTo>
                <a:lnTo>
                  <a:pt x="4346" y="1893"/>
                </a:lnTo>
                <a:lnTo>
                  <a:pt x="4352" y="1889"/>
                </a:lnTo>
                <a:lnTo>
                  <a:pt x="4357" y="1886"/>
                </a:lnTo>
                <a:lnTo>
                  <a:pt x="4361" y="1880"/>
                </a:lnTo>
                <a:lnTo>
                  <a:pt x="4361" y="1880"/>
                </a:lnTo>
                <a:lnTo>
                  <a:pt x="4363" y="1878"/>
                </a:lnTo>
                <a:lnTo>
                  <a:pt x="4361" y="1875"/>
                </a:lnTo>
                <a:lnTo>
                  <a:pt x="4357" y="1873"/>
                </a:lnTo>
                <a:lnTo>
                  <a:pt x="4348" y="1867"/>
                </a:lnTo>
                <a:lnTo>
                  <a:pt x="4348" y="1867"/>
                </a:lnTo>
                <a:lnTo>
                  <a:pt x="4344" y="1864"/>
                </a:lnTo>
                <a:lnTo>
                  <a:pt x="4343" y="1858"/>
                </a:lnTo>
                <a:lnTo>
                  <a:pt x="4339" y="1853"/>
                </a:lnTo>
                <a:lnTo>
                  <a:pt x="4335" y="1849"/>
                </a:lnTo>
                <a:lnTo>
                  <a:pt x="4335" y="1849"/>
                </a:lnTo>
                <a:lnTo>
                  <a:pt x="4332" y="1849"/>
                </a:lnTo>
                <a:lnTo>
                  <a:pt x="4328" y="1849"/>
                </a:lnTo>
                <a:lnTo>
                  <a:pt x="4324" y="1851"/>
                </a:lnTo>
                <a:lnTo>
                  <a:pt x="4321" y="1853"/>
                </a:lnTo>
                <a:lnTo>
                  <a:pt x="4321" y="1853"/>
                </a:lnTo>
                <a:lnTo>
                  <a:pt x="4314" y="1862"/>
                </a:lnTo>
                <a:lnTo>
                  <a:pt x="4308" y="1873"/>
                </a:lnTo>
                <a:lnTo>
                  <a:pt x="4308" y="1873"/>
                </a:lnTo>
                <a:lnTo>
                  <a:pt x="4306" y="1880"/>
                </a:lnTo>
                <a:lnTo>
                  <a:pt x="4305" y="1886"/>
                </a:lnTo>
                <a:lnTo>
                  <a:pt x="4303" y="1889"/>
                </a:lnTo>
                <a:lnTo>
                  <a:pt x="4303" y="1889"/>
                </a:lnTo>
                <a:lnTo>
                  <a:pt x="4297" y="1895"/>
                </a:lnTo>
                <a:lnTo>
                  <a:pt x="4290" y="1897"/>
                </a:lnTo>
                <a:lnTo>
                  <a:pt x="4290" y="1897"/>
                </a:lnTo>
                <a:lnTo>
                  <a:pt x="4283" y="1900"/>
                </a:lnTo>
                <a:lnTo>
                  <a:pt x="4276" y="1904"/>
                </a:lnTo>
                <a:lnTo>
                  <a:pt x="4272" y="1909"/>
                </a:lnTo>
                <a:lnTo>
                  <a:pt x="4270" y="1917"/>
                </a:lnTo>
                <a:lnTo>
                  <a:pt x="4270" y="1917"/>
                </a:lnTo>
                <a:lnTo>
                  <a:pt x="4270" y="1924"/>
                </a:lnTo>
                <a:lnTo>
                  <a:pt x="4268" y="1928"/>
                </a:lnTo>
                <a:lnTo>
                  <a:pt x="4265" y="1933"/>
                </a:lnTo>
                <a:lnTo>
                  <a:pt x="4259" y="1935"/>
                </a:lnTo>
                <a:lnTo>
                  <a:pt x="4259" y="1935"/>
                </a:lnTo>
                <a:lnTo>
                  <a:pt x="4247" y="1941"/>
                </a:lnTo>
                <a:lnTo>
                  <a:pt x="4247" y="1941"/>
                </a:lnTo>
                <a:lnTo>
                  <a:pt x="4241" y="1944"/>
                </a:lnTo>
                <a:lnTo>
                  <a:pt x="4238" y="1946"/>
                </a:lnTo>
                <a:lnTo>
                  <a:pt x="4234" y="1946"/>
                </a:lnTo>
                <a:lnTo>
                  <a:pt x="4234" y="1946"/>
                </a:lnTo>
                <a:lnTo>
                  <a:pt x="4219" y="1944"/>
                </a:lnTo>
                <a:lnTo>
                  <a:pt x="4214" y="1946"/>
                </a:lnTo>
                <a:lnTo>
                  <a:pt x="4210" y="1948"/>
                </a:lnTo>
                <a:lnTo>
                  <a:pt x="4209" y="1952"/>
                </a:lnTo>
                <a:lnTo>
                  <a:pt x="4209" y="1952"/>
                </a:lnTo>
                <a:close/>
                <a:moveTo>
                  <a:pt x="4681" y="1115"/>
                </a:moveTo>
                <a:lnTo>
                  <a:pt x="4681" y="1115"/>
                </a:lnTo>
                <a:lnTo>
                  <a:pt x="4678" y="1117"/>
                </a:lnTo>
                <a:lnTo>
                  <a:pt x="4676" y="1119"/>
                </a:lnTo>
                <a:lnTo>
                  <a:pt x="4672" y="1128"/>
                </a:lnTo>
                <a:lnTo>
                  <a:pt x="4674" y="1135"/>
                </a:lnTo>
                <a:lnTo>
                  <a:pt x="4674" y="1139"/>
                </a:lnTo>
                <a:lnTo>
                  <a:pt x="4678" y="1143"/>
                </a:lnTo>
                <a:lnTo>
                  <a:pt x="4678" y="1143"/>
                </a:lnTo>
                <a:lnTo>
                  <a:pt x="4683" y="1145"/>
                </a:lnTo>
                <a:lnTo>
                  <a:pt x="4687" y="1145"/>
                </a:lnTo>
                <a:lnTo>
                  <a:pt x="4689" y="1143"/>
                </a:lnTo>
                <a:lnTo>
                  <a:pt x="4689" y="1143"/>
                </a:lnTo>
                <a:lnTo>
                  <a:pt x="4690" y="1141"/>
                </a:lnTo>
                <a:lnTo>
                  <a:pt x="4690" y="1137"/>
                </a:lnTo>
                <a:lnTo>
                  <a:pt x="4690" y="1134"/>
                </a:lnTo>
                <a:lnTo>
                  <a:pt x="4690" y="1132"/>
                </a:lnTo>
                <a:lnTo>
                  <a:pt x="4690" y="1132"/>
                </a:lnTo>
                <a:lnTo>
                  <a:pt x="4694" y="1126"/>
                </a:lnTo>
                <a:lnTo>
                  <a:pt x="4696" y="1124"/>
                </a:lnTo>
                <a:lnTo>
                  <a:pt x="4700" y="1124"/>
                </a:lnTo>
                <a:lnTo>
                  <a:pt x="4703" y="1124"/>
                </a:lnTo>
                <a:lnTo>
                  <a:pt x="4710" y="1128"/>
                </a:lnTo>
                <a:lnTo>
                  <a:pt x="4718" y="1130"/>
                </a:lnTo>
                <a:lnTo>
                  <a:pt x="4718" y="1130"/>
                </a:lnTo>
                <a:lnTo>
                  <a:pt x="4725" y="1130"/>
                </a:lnTo>
                <a:lnTo>
                  <a:pt x="4732" y="1128"/>
                </a:lnTo>
                <a:lnTo>
                  <a:pt x="4739" y="1124"/>
                </a:lnTo>
                <a:lnTo>
                  <a:pt x="4745" y="1119"/>
                </a:lnTo>
                <a:lnTo>
                  <a:pt x="4745" y="1119"/>
                </a:lnTo>
                <a:lnTo>
                  <a:pt x="4748" y="1113"/>
                </a:lnTo>
                <a:lnTo>
                  <a:pt x="4750" y="1106"/>
                </a:lnTo>
                <a:lnTo>
                  <a:pt x="4750" y="1101"/>
                </a:lnTo>
                <a:lnTo>
                  <a:pt x="4750" y="1097"/>
                </a:lnTo>
                <a:lnTo>
                  <a:pt x="4747" y="1095"/>
                </a:lnTo>
                <a:lnTo>
                  <a:pt x="4747" y="1095"/>
                </a:lnTo>
                <a:lnTo>
                  <a:pt x="4741" y="1093"/>
                </a:lnTo>
                <a:lnTo>
                  <a:pt x="4736" y="1093"/>
                </a:lnTo>
                <a:lnTo>
                  <a:pt x="4729" y="1091"/>
                </a:lnTo>
                <a:lnTo>
                  <a:pt x="4723" y="1090"/>
                </a:lnTo>
                <a:lnTo>
                  <a:pt x="4723" y="1090"/>
                </a:lnTo>
                <a:lnTo>
                  <a:pt x="4721" y="1086"/>
                </a:lnTo>
                <a:lnTo>
                  <a:pt x="4719" y="1082"/>
                </a:lnTo>
                <a:lnTo>
                  <a:pt x="4718" y="1073"/>
                </a:lnTo>
                <a:lnTo>
                  <a:pt x="4718" y="1073"/>
                </a:lnTo>
                <a:lnTo>
                  <a:pt x="4710" y="1066"/>
                </a:lnTo>
                <a:lnTo>
                  <a:pt x="4703" y="1058"/>
                </a:lnTo>
                <a:lnTo>
                  <a:pt x="4703" y="1058"/>
                </a:lnTo>
                <a:lnTo>
                  <a:pt x="4700" y="1060"/>
                </a:lnTo>
                <a:lnTo>
                  <a:pt x="4698" y="1062"/>
                </a:lnTo>
                <a:lnTo>
                  <a:pt x="4700" y="1069"/>
                </a:lnTo>
                <a:lnTo>
                  <a:pt x="4705" y="1080"/>
                </a:lnTo>
                <a:lnTo>
                  <a:pt x="4705" y="1080"/>
                </a:lnTo>
                <a:lnTo>
                  <a:pt x="4705" y="1088"/>
                </a:lnTo>
                <a:lnTo>
                  <a:pt x="4705" y="1097"/>
                </a:lnTo>
                <a:lnTo>
                  <a:pt x="4701" y="1104"/>
                </a:lnTo>
                <a:lnTo>
                  <a:pt x="4698" y="1110"/>
                </a:lnTo>
                <a:lnTo>
                  <a:pt x="4698" y="1110"/>
                </a:lnTo>
                <a:lnTo>
                  <a:pt x="4692" y="1113"/>
                </a:lnTo>
                <a:lnTo>
                  <a:pt x="4690" y="1113"/>
                </a:lnTo>
                <a:lnTo>
                  <a:pt x="4681" y="1115"/>
                </a:lnTo>
                <a:lnTo>
                  <a:pt x="4681" y="1115"/>
                </a:lnTo>
                <a:close/>
                <a:moveTo>
                  <a:pt x="4462" y="1809"/>
                </a:moveTo>
                <a:lnTo>
                  <a:pt x="4462" y="1809"/>
                </a:lnTo>
                <a:lnTo>
                  <a:pt x="4459" y="1809"/>
                </a:lnTo>
                <a:lnTo>
                  <a:pt x="4459" y="1809"/>
                </a:lnTo>
                <a:lnTo>
                  <a:pt x="4457" y="1810"/>
                </a:lnTo>
                <a:lnTo>
                  <a:pt x="4455" y="1814"/>
                </a:lnTo>
                <a:lnTo>
                  <a:pt x="4451" y="1820"/>
                </a:lnTo>
                <a:lnTo>
                  <a:pt x="4451" y="1820"/>
                </a:lnTo>
                <a:lnTo>
                  <a:pt x="4446" y="1823"/>
                </a:lnTo>
                <a:lnTo>
                  <a:pt x="4437" y="1825"/>
                </a:lnTo>
                <a:lnTo>
                  <a:pt x="4421" y="1825"/>
                </a:lnTo>
                <a:lnTo>
                  <a:pt x="4421" y="1825"/>
                </a:lnTo>
                <a:lnTo>
                  <a:pt x="4415" y="1825"/>
                </a:lnTo>
                <a:lnTo>
                  <a:pt x="4411" y="1827"/>
                </a:lnTo>
                <a:lnTo>
                  <a:pt x="4408" y="1831"/>
                </a:lnTo>
                <a:lnTo>
                  <a:pt x="4408" y="1836"/>
                </a:lnTo>
                <a:lnTo>
                  <a:pt x="4408" y="1836"/>
                </a:lnTo>
                <a:lnTo>
                  <a:pt x="4410" y="1840"/>
                </a:lnTo>
                <a:lnTo>
                  <a:pt x="4411" y="1842"/>
                </a:lnTo>
                <a:lnTo>
                  <a:pt x="4421" y="1842"/>
                </a:lnTo>
                <a:lnTo>
                  <a:pt x="4421" y="1842"/>
                </a:lnTo>
                <a:lnTo>
                  <a:pt x="4430" y="1842"/>
                </a:lnTo>
                <a:lnTo>
                  <a:pt x="4435" y="1843"/>
                </a:lnTo>
                <a:lnTo>
                  <a:pt x="4439" y="1845"/>
                </a:lnTo>
                <a:lnTo>
                  <a:pt x="4439" y="1845"/>
                </a:lnTo>
                <a:lnTo>
                  <a:pt x="4440" y="1849"/>
                </a:lnTo>
                <a:lnTo>
                  <a:pt x="4440" y="1853"/>
                </a:lnTo>
                <a:lnTo>
                  <a:pt x="4440" y="1856"/>
                </a:lnTo>
                <a:lnTo>
                  <a:pt x="4440" y="1860"/>
                </a:lnTo>
                <a:lnTo>
                  <a:pt x="4440" y="1860"/>
                </a:lnTo>
                <a:lnTo>
                  <a:pt x="4442" y="1864"/>
                </a:lnTo>
                <a:lnTo>
                  <a:pt x="4448" y="1867"/>
                </a:lnTo>
                <a:lnTo>
                  <a:pt x="4453" y="1869"/>
                </a:lnTo>
                <a:lnTo>
                  <a:pt x="4459" y="1869"/>
                </a:lnTo>
                <a:lnTo>
                  <a:pt x="4459" y="1869"/>
                </a:lnTo>
                <a:lnTo>
                  <a:pt x="4462" y="1865"/>
                </a:lnTo>
                <a:lnTo>
                  <a:pt x="4462" y="1862"/>
                </a:lnTo>
                <a:lnTo>
                  <a:pt x="4462" y="1856"/>
                </a:lnTo>
                <a:lnTo>
                  <a:pt x="4460" y="1851"/>
                </a:lnTo>
                <a:lnTo>
                  <a:pt x="4460" y="1851"/>
                </a:lnTo>
                <a:lnTo>
                  <a:pt x="4459" y="1845"/>
                </a:lnTo>
                <a:lnTo>
                  <a:pt x="4460" y="1842"/>
                </a:lnTo>
                <a:lnTo>
                  <a:pt x="4468" y="1834"/>
                </a:lnTo>
                <a:lnTo>
                  <a:pt x="4468" y="1834"/>
                </a:lnTo>
                <a:lnTo>
                  <a:pt x="4471" y="1831"/>
                </a:lnTo>
                <a:lnTo>
                  <a:pt x="4471" y="1827"/>
                </a:lnTo>
                <a:lnTo>
                  <a:pt x="4471" y="1827"/>
                </a:lnTo>
                <a:lnTo>
                  <a:pt x="4468" y="1818"/>
                </a:lnTo>
                <a:lnTo>
                  <a:pt x="4466" y="1812"/>
                </a:lnTo>
                <a:lnTo>
                  <a:pt x="4462" y="1809"/>
                </a:lnTo>
                <a:lnTo>
                  <a:pt x="4462" y="1809"/>
                </a:lnTo>
                <a:close/>
                <a:moveTo>
                  <a:pt x="4654" y="1234"/>
                </a:moveTo>
                <a:lnTo>
                  <a:pt x="4654" y="1234"/>
                </a:lnTo>
                <a:lnTo>
                  <a:pt x="4652" y="1238"/>
                </a:lnTo>
                <a:lnTo>
                  <a:pt x="4649" y="1244"/>
                </a:lnTo>
                <a:lnTo>
                  <a:pt x="4645" y="1251"/>
                </a:lnTo>
                <a:lnTo>
                  <a:pt x="4642" y="1253"/>
                </a:lnTo>
                <a:lnTo>
                  <a:pt x="4640" y="1255"/>
                </a:lnTo>
                <a:lnTo>
                  <a:pt x="4640" y="1255"/>
                </a:lnTo>
                <a:lnTo>
                  <a:pt x="4634" y="1253"/>
                </a:lnTo>
                <a:lnTo>
                  <a:pt x="4632" y="1251"/>
                </a:lnTo>
                <a:lnTo>
                  <a:pt x="4632" y="1247"/>
                </a:lnTo>
                <a:lnTo>
                  <a:pt x="4631" y="1244"/>
                </a:lnTo>
                <a:lnTo>
                  <a:pt x="4631" y="1244"/>
                </a:lnTo>
                <a:lnTo>
                  <a:pt x="4627" y="1244"/>
                </a:lnTo>
                <a:lnTo>
                  <a:pt x="4625" y="1244"/>
                </a:lnTo>
                <a:lnTo>
                  <a:pt x="4623" y="1247"/>
                </a:lnTo>
                <a:lnTo>
                  <a:pt x="4622" y="1256"/>
                </a:lnTo>
                <a:lnTo>
                  <a:pt x="4622" y="1256"/>
                </a:lnTo>
                <a:lnTo>
                  <a:pt x="4616" y="1267"/>
                </a:lnTo>
                <a:lnTo>
                  <a:pt x="4611" y="1278"/>
                </a:lnTo>
                <a:lnTo>
                  <a:pt x="4611" y="1278"/>
                </a:lnTo>
                <a:lnTo>
                  <a:pt x="4607" y="1282"/>
                </a:lnTo>
                <a:lnTo>
                  <a:pt x="4603" y="1284"/>
                </a:lnTo>
                <a:lnTo>
                  <a:pt x="4594" y="1286"/>
                </a:lnTo>
                <a:lnTo>
                  <a:pt x="4594" y="1286"/>
                </a:lnTo>
                <a:lnTo>
                  <a:pt x="4580" y="1286"/>
                </a:lnTo>
                <a:lnTo>
                  <a:pt x="4573" y="1288"/>
                </a:lnTo>
                <a:lnTo>
                  <a:pt x="4571" y="1291"/>
                </a:lnTo>
                <a:lnTo>
                  <a:pt x="4569" y="1293"/>
                </a:lnTo>
                <a:lnTo>
                  <a:pt x="4569" y="1293"/>
                </a:lnTo>
                <a:lnTo>
                  <a:pt x="4560" y="1299"/>
                </a:lnTo>
                <a:lnTo>
                  <a:pt x="4553" y="1304"/>
                </a:lnTo>
                <a:lnTo>
                  <a:pt x="4551" y="1306"/>
                </a:lnTo>
                <a:lnTo>
                  <a:pt x="4551" y="1310"/>
                </a:lnTo>
                <a:lnTo>
                  <a:pt x="4555" y="1310"/>
                </a:lnTo>
                <a:lnTo>
                  <a:pt x="4560" y="1311"/>
                </a:lnTo>
                <a:lnTo>
                  <a:pt x="4560" y="1311"/>
                </a:lnTo>
                <a:lnTo>
                  <a:pt x="4565" y="1310"/>
                </a:lnTo>
                <a:lnTo>
                  <a:pt x="4571" y="1308"/>
                </a:lnTo>
                <a:lnTo>
                  <a:pt x="4580" y="1302"/>
                </a:lnTo>
                <a:lnTo>
                  <a:pt x="4585" y="1299"/>
                </a:lnTo>
                <a:lnTo>
                  <a:pt x="4589" y="1299"/>
                </a:lnTo>
                <a:lnTo>
                  <a:pt x="4594" y="1300"/>
                </a:lnTo>
                <a:lnTo>
                  <a:pt x="4600" y="1304"/>
                </a:lnTo>
                <a:lnTo>
                  <a:pt x="4600" y="1304"/>
                </a:lnTo>
                <a:lnTo>
                  <a:pt x="4605" y="1315"/>
                </a:lnTo>
                <a:lnTo>
                  <a:pt x="4609" y="1321"/>
                </a:lnTo>
                <a:lnTo>
                  <a:pt x="4611" y="1321"/>
                </a:lnTo>
                <a:lnTo>
                  <a:pt x="4614" y="1322"/>
                </a:lnTo>
                <a:lnTo>
                  <a:pt x="4614" y="1322"/>
                </a:lnTo>
                <a:lnTo>
                  <a:pt x="4618" y="1321"/>
                </a:lnTo>
                <a:lnTo>
                  <a:pt x="4620" y="1317"/>
                </a:lnTo>
                <a:lnTo>
                  <a:pt x="4622" y="1308"/>
                </a:lnTo>
                <a:lnTo>
                  <a:pt x="4622" y="1308"/>
                </a:lnTo>
                <a:lnTo>
                  <a:pt x="4623" y="1302"/>
                </a:lnTo>
                <a:lnTo>
                  <a:pt x="4625" y="1300"/>
                </a:lnTo>
                <a:lnTo>
                  <a:pt x="4629" y="1299"/>
                </a:lnTo>
                <a:lnTo>
                  <a:pt x="4629" y="1299"/>
                </a:lnTo>
                <a:lnTo>
                  <a:pt x="4636" y="1299"/>
                </a:lnTo>
                <a:lnTo>
                  <a:pt x="4643" y="1300"/>
                </a:lnTo>
                <a:lnTo>
                  <a:pt x="4643" y="1300"/>
                </a:lnTo>
                <a:lnTo>
                  <a:pt x="4652" y="1304"/>
                </a:lnTo>
                <a:lnTo>
                  <a:pt x="4656" y="1306"/>
                </a:lnTo>
                <a:lnTo>
                  <a:pt x="4660" y="1304"/>
                </a:lnTo>
                <a:lnTo>
                  <a:pt x="4660" y="1304"/>
                </a:lnTo>
                <a:lnTo>
                  <a:pt x="4663" y="1300"/>
                </a:lnTo>
                <a:lnTo>
                  <a:pt x="4663" y="1299"/>
                </a:lnTo>
                <a:lnTo>
                  <a:pt x="4665" y="1295"/>
                </a:lnTo>
                <a:lnTo>
                  <a:pt x="4671" y="1295"/>
                </a:lnTo>
                <a:lnTo>
                  <a:pt x="4671" y="1295"/>
                </a:lnTo>
                <a:lnTo>
                  <a:pt x="4671" y="1289"/>
                </a:lnTo>
                <a:lnTo>
                  <a:pt x="4671" y="1286"/>
                </a:lnTo>
                <a:lnTo>
                  <a:pt x="4672" y="1284"/>
                </a:lnTo>
                <a:lnTo>
                  <a:pt x="4672" y="1284"/>
                </a:lnTo>
                <a:lnTo>
                  <a:pt x="4676" y="1282"/>
                </a:lnTo>
                <a:lnTo>
                  <a:pt x="4680" y="1284"/>
                </a:lnTo>
                <a:lnTo>
                  <a:pt x="4680" y="1288"/>
                </a:lnTo>
                <a:lnTo>
                  <a:pt x="4681" y="1291"/>
                </a:lnTo>
                <a:lnTo>
                  <a:pt x="4681" y="1291"/>
                </a:lnTo>
                <a:lnTo>
                  <a:pt x="4685" y="1291"/>
                </a:lnTo>
                <a:lnTo>
                  <a:pt x="4689" y="1289"/>
                </a:lnTo>
                <a:lnTo>
                  <a:pt x="4690" y="1286"/>
                </a:lnTo>
                <a:lnTo>
                  <a:pt x="4692" y="1282"/>
                </a:lnTo>
                <a:lnTo>
                  <a:pt x="4692" y="1273"/>
                </a:lnTo>
                <a:lnTo>
                  <a:pt x="4690" y="1266"/>
                </a:lnTo>
                <a:lnTo>
                  <a:pt x="4690" y="1266"/>
                </a:lnTo>
                <a:lnTo>
                  <a:pt x="4689" y="1255"/>
                </a:lnTo>
                <a:lnTo>
                  <a:pt x="4689" y="1249"/>
                </a:lnTo>
                <a:lnTo>
                  <a:pt x="4690" y="1242"/>
                </a:lnTo>
                <a:lnTo>
                  <a:pt x="4690" y="1242"/>
                </a:lnTo>
                <a:lnTo>
                  <a:pt x="4692" y="1236"/>
                </a:lnTo>
                <a:lnTo>
                  <a:pt x="4696" y="1231"/>
                </a:lnTo>
                <a:lnTo>
                  <a:pt x="4700" y="1223"/>
                </a:lnTo>
                <a:lnTo>
                  <a:pt x="4701" y="1218"/>
                </a:lnTo>
                <a:lnTo>
                  <a:pt x="4701" y="1218"/>
                </a:lnTo>
                <a:lnTo>
                  <a:pt x="4703" y="1205"/>
                </a:lnTo>
                <a:lnTo>
                  <a:pt x="4703" y="1189"/>
                </a:lnTo>
                <a:lnTo>
                  <a:pt x="4703" y="1181"/>
                </a:lnTo>
                <a:lnTo>
                  <a:pt x="4700" y="1174"/>
                </a:lnTo>
                <a:lnTo>
                  <a:pt x="4696" y="1168"/>
                </a:lnTo>
                <a:lnTo>
                  <a:pt x="4690" y="1165"/>
                </a:lnTo>
                <a:lnTo>
                  <a:pt x="4690" y="1165"/>
                </a:lnTo>
                <a:lnTo>
                  <a:pt x="4685" y="1165"/>
                </a:lnTo>
                <a:lnTo>
                  <a:pt x="4685" y="1165"/>
                </a:lnTo>
                <a:lnTo>
                  <a:pt x="4678" y="1167"/>
                </a:lnTo>
                <a:lnTo>
                  <a:pt x="4674" y="1170"/>
                </a:lnTo>
                <a:lnTo>
                  <a:pt x="4674" y="1170"/>
                </a:lnTo>
                <a:lnTo>
                  <a:pt x="4671" y="1176"/>
                </a:lnTo>
                <a:lnTo>
                  <a:pt x="4672" y="1183"/>
                </a:lnTo>
                <a:lnTo>
                  <a:pt x="4674" y="1196"/>
                </a:lnTo>
                <a:lnTo>
                  <a:pt x="4674" y="1196"/>
                </a:lnTo>
                <a:lnTo>
                  <a:pt x="4674" y="1207"/>
                </a:lnTo>
                <a:lnTo>
                  <a:pt x="4671" y="1216"/>
                </a:lnTo>
                <a:lnTo>
                  <a:pt x="4665" y="1225"/>
                </a:lnTo>
                <a:lnTo>
                  <a:pt x="4658" y="1234"/>
                </a:lnTo>
                <a:lnTo>
                  <a:pt x="4654" y="1234"/>
                </a:lnTo>
                <a:close/>
                <a:moveTo>
                  <a:pt x="4364" y="1776"/>
                </a:moveTo>
                <a:lnTo>
                  <a:pt x="4364" y="1776"/>
                </a:lnTo>
                <a:lnTo>
                  <a:pt x="4359" y="1776"/>
                </a:lnTo>
                <a:lnTo>
                  <a:pt x="4355" y="1779"/>
                </a:lnTo>
                <a:lnTo>
                  <a:pt x="4355" y="1779"/>
                </a:lnTo>
                <a:lnTo>
                  <a:pt x="4353" y="1781"/>
                </a:lnTo>
                <a:lnTo>
                  <a:pt x="4352" y="1785"/>
                </a:lnTo>
                <a:lnTo>
                  <a:pt x="4350" y="1792"/>
                </a:lnTo>
                <a:lnTo>
                  <a:pt x="4350" y="1792"/>
                </a:lnTo>
                <a:lnTo>
                  <a:pt x="4350" y="1796"/>
                </a:lnTo>
                <a:lnTo>
                  <a:pt x="4348" y="1799"/>
                </a:lnTo>
                <a:lnTo>
                  <a:pt x="4341" y="1803"/>
                </a:lnTo>
                <a:lnTo>
                  <a:pt x="4341" y="1803"/>
                </a:lnTo>
                <a:lnTo>
                  <a:pt x="4335" y="1809"/>
                </a:lnTo>
                <a:lnTo>
                  <a:pt x="4334" y="1810"/>
                </a:lnTo>
                <a:lnTo>
                  <a:pt x="4335" y="1814"/>
                </a:lnTo>
                <a:lnTo>
                  <a:pt x="4335" y="1814"/>
                </a:lnTo>
                <a:lnTo>
                  <a:pt x="4343" y="1814"/>
                </a:lnTo>
                <a:lnTo>
                  <a:pt x="4348" y="1812"/>
                </a:lnTo>
                <a:lnTo>
                  <a:pt x="4352" y="1809"/>
                </a:lnTo>
                <a:lnTo>
                  <a:pt x="4355" y="1803"/>
                </a:lnTo>
                <a:lnTo>
                  <a:pt x="4355" y="1803"/>
                </a:lnTo>
                <a:lnTo>
                  <a:pt x="4361" y="1798"/>
                </a:lnTo>
                <a:lnTo>
                  <a:pt x="4366" y="1792"/>
                </a:lnTo>
                <a:lnTo>
                  <a:pt x="4368" y="1787"/>
                </a:lnTo>
                <a:lnTo>
                  <a:pt x="4370" y="1783"/>
                </a:lnTo>
                <a:lnTo>
                  <a:pt x="4368" y="1779"/>
                </a:lnTo>
                <a:lnTo>
                  <a:pt x="4368" y="1779"/>
                </a:lnTo>
                <a:lnTo>
                  <a:pt x="4366" y="1776"/>
                </a:lnTo>
                <a:lnTo>
                  <a:pt x="4364" y="1776"/>
                </a:lnTo>
                <a:lnTo>
                  <a:pt x="4364" y="1776"/>
                </a:lnTo>
                <a:close/>
                <a:moveTo>
                  <a:pt x="4393" y="1489"/>
                </a:moveTo>
                <a:lnTo>
                  <a:pt x="4393" y="1489"/>
                </a:lnTo>
                <a:lnTo>
                  <a:pt x="4390" y="1493"/>
                </a:lnTo>
                <a:lnTo>
                  <a:pt x="4384" y="1499"/>
                </a:lnTo>
                <a:lnTo>
                  <a:pt x="4384" y="1499"/>
                </a:lnTo>
                <a:lnTo>
                  <a:pt x="4377" y="1510"/>
                </a:lnTo>
                <a:lnTo>
                  <a:pt x="4370" y="1522"/>
                </a:lnTo>
                <a:lnTo>
                  <a:pt x="4370" y="1530"/>
                </a:lnTo>
                <a:lnTo>
                  <a:pt x="4370" y="1537"/>
                </a:lnTo>
                <a:lnTo>
                  <a:pt x="4372" y="1543"/>
                </a:lnTo>
                <a:lnTo>
                  <a:pt x="4377" y="1548"/>
                </a:lnTo>
                <a:lnTo>
                  <a:pt x="4377" y="1548"/>
                </a:lnTo>
                <a:lnTo>
                  <a:pt x="4382" y="1548"/>
                </a:lnTo>
                <a:lnTo>
                  <a:pt x="4388" y="1548"/>
                </a:lnTo>
                <a:lnTo>
                  <a:pt x="4393" y="1544"/>
                </a:lnTo>
                <a:lnTo>
                  <a:pt x="4399" y="1541"/>
                </a:lnTo>
                <a:lnTo>
                  <a:pt x="4408" y="1530"/>
                </a:lnTo>
                <a:lnTo>
                  <a:pt x="4411" y="1521"/>
                </a:lnTo>
                <a:lnTo>
                  <a:pt x="4411" y="1521"/>
                </a:lnTo>
                <a:lnTo>
                  <a:pt x="4411" y="1513"/>
                </a:lnTo>
                <a:lnTo>
                  <a:pt x="4410" y="1506"/>
                </a:lnTo>
                <a:lnTo>
                  <a:pt x="4404" y="1495"/>
                </a:lnTo>
                <a:lnTo>
                  <a:pt x="4404" y="1495"/>
                </a:lnTo>
                <a:lnTo>
                  <a:pt x="4402" y="1491"/>
                </a:lnTo>
                <a:lnTo>
                  <a:pt x="4399" y="1489"/>
                </a:lnTo>
                <a:lnTo>
                  <a:pt x="4397" y="1489"/>
                </a:lnTo>
                <a:lnTo>
                  <a:pt x="4393" y="1489"/>
                </a:lnTo>
                <a:lnTo>
                  <a:pt x="4393" y="1489"/>
                </a:lnTo>
                <a:close/>
                <a:moveTo>
                  <a:pt x="2741" y="822"/>
                </a:moveTo>
                <a:lnTo>
                  <a:pt x="2741" y="822"/>
                </a:lnTo>
                <a:lnTo>
                  <a:pt x="2739" y="816"/>
                </a:lnTo>
                <a:lnTo>
                  <a:pt x="2737" y="814"/>
                </a:lnTo>
                <a:lnTo>
                  <a:pt x="2734" y="814"/>
                </a:lnTo>
                <a:lnTo>
                  <a:pt x="2732" y="816"/>
                </a:lnTo>
                <a:lnTo>
                  <a:pt x="2727" y="820"/>
                </a:lnTo>
                <a:lnTo>
                  <a:pt x="2723" y="827"/>
                </a:lnTo>
                <a:lnTo>
                  <a:pt x="2723" y="827"/>
                </a:lnTo>
                <a:lnTo>
                  <a:pt x="2723" y="827"/>
                </a:lnTo>
                <a:lnTo>
                  <a:pt x="2723" y="827"/>
                </a:lnTo>
                <a:lnTo>
                  <a:pt x="2725" y="833"/>
                </a:lnTo>
                <a:lnTo>
                  <a:pt x="2725" y="836"/>
                </a:lnTo>
                <a:lnTo>
                  <a:pt x="2728" y="840"/>
                </a:lnTo>
                <a:lnTo>
                  <a:pt x="2734" y="840"/>
                </a:lnTo>
                <a:lnTo>
                  <a:pt x="2734" y="840"/>
                </a:lnTo>
                <a:lnTo>
                  <a:pt x="2737" y="840"/>
                </a:lnTo>
                <a:lnTo>
                  <a:pt x="2739" y="838"/>
                </a:lnTo>
                <a:lnTo>
                  <a:pt x="2743" y="833"/>
                </a:lnTo>
                <a:lnTo>
                  <a:pt x="2743" y="827"/>
                </a:lnTo>
                <a:lnTo>
                  <a:pt x="2741" y="822"/>
                </a:lnTo>
                <a:lnTo>
                  <a:pt x="2741" y="822"/>
                </a:lnTo>
                <a:close/>
                <a:moveTo>
                  <a:pt x="2404" y="921"/>
                </a:moveTo>
                <a:lnTo>
                  <a:pt x="2404" y="921"/>
                </a:lnTo>
                <a:lnTo>
                  <a:pt x="2408" y="919"/>
                </a:lnTo>
                <a:lnTo>
                  <a:pt x="2413" y="919"/>
                </a:lnTo>
                <a:lnTo>
                  <a:pt x="2413" y="919"/>
                </a:lnTo>
                <a:lnTo>
                  <a:pt x="2419" y="921"/>
                </a:lnTo>
                <a:lnTo>
                  <a:pt x="2424" y="923"/>
                </a:lnTo>
                <a:lnTo>
                  <a:pt x="2424" y="923"/>
                </a:lnTo>
                <a:lnTo>
                  <a:pt x="2428" y="921"/>
                </a:lnTo>
                <a:lnTo>
                  <a:pt x="2429" y="917"/>
                </a:lnTo>
                <a:lnTo>
                  <a:pt x="2429" y="917"/>
                </a:lnTo>
                <a:lnTo>
                  <a:pt x="2439" y="912"/>
                </a:lnTo>
                <a:lnTo>
                  <a:pt x="2439" y="912"/>
                </a:lnTo>
                <a:lnTo>
                  <a:pt x="2446" y="910"/>
                </a:lnTo>
                <a:lnTo>
                  <a:pt x="2446" y="910"/>
                </a:lnTo>
                <a:lnTo>
                  <a:pt x="2449" y="906"/>
                </a:lnTo>
                <a:lnTo>
                  <a:pt x="2451" y="902"/>
                </a:lnTo>
                <a:lnTo>
                  <a:pt x="2451" y="902"/>
                </a:lnTo>
                <a:lnTo>
                  <a:pt x="2453" y="899"/>
                </a:lnTo>
                <a:lnTo>
                  <a:pt x="2457" y="895"/>
                </a:lnTo>
                <a:lnTo>
                  <a:pt x="2457" y="895"/>
                </a:lnTo>
                <a:lnTo>
                  <a:pt x="2457" y="890"/>
                </a:lnTo>
                <a:lnTo>
                  <a:pt x="2455" y="886"/>
                </a:lnTo>
                <a:lnTo>
                  <a:pt x="2453" y="882"/>
                </a:lnTo>
                <a:lnTo>
                  <a:pt x="2451" y="879"/>
                </a:lnTo>
                <a:lnTo>
                  <a:pt x="2451" y="879"/>
                </a:lnTo>
                <a:lnTo>
                  <a:pt x="2453" y="871"/>
                </a:lnTo>
                <a:lnTo>
                  <a:pt x="2453" y="871"/>
                </a:lnTo>
                <a:lnTo>
                  <a:pt x="2453" y="866"/>
                </a:lnTo>
                <a:lnTo>
                  <a:pt x="2453" y="866"/>
                </a:lnTo>
                <a:lnTo>
                  <a:pt x="2455" y="862"/>
                </a:lnTo>
                <a:lnTo>
                  <a:pt x="2457" y="860"/>
                </a:lnTo>
                <a:lnTo>
                  <a:pt x="2462" y="857"/>
                </a:lnTo>
                <a:lnTo>
                  <a:pt x="2462" y="857"/>
                </a:lnTo>
                <a:lnTo>
                  <a:pt x="2464" y="853"/>
                </a:lnTo>
                <a:lnTo>
                  <a:pt x="2464" y="847"/>
                </a:lnTo>
                <a:lnTo>
                  <a:pt x="2462" y="842"/>
                </a:lnTo>
                <a:lnTo>
                  <a:pt x="2458" y="838"/>
                </a:lnTo>
                <a:lnTo>
                  <a:pt x="2458" y="838"/>
                </a:lnTo>
                <a:lnTo>
                  <a:pt x="2457" y="838"/>
                </a:lnTo>
                <a:lnTo>
                  <a:pt x="2455" y="838"/>
                </a:lnTo>
                <a:lnTo>
                  <a:pt x="2449" y="838"/>
                </a:lnTo>
                <a:lnTo>
                  <a:pt x="2449" y="838"/>
                </a:lnTo>
                <a:lnTo>
                  <a:pt x="2448" y="838"/>
                </a:lnTo>
                <a:lnTo>
                  <a:pt x="2448" y="838"/>
                </a:lnTo>
                <a:lnTo>
                  <a:pt x="2446" y="836"/>
                </a:lnTo>
                <a:lnTo>
                  <a:pt x="2442" y="835"/>
                </a:lnTo>
                <a:lnTo>
                  <a:pt x="2442" y="835"/>
                </a:lnTo>
                <a:lnTo>
                  <a:pt x="2439" y="835"/>
                </a:lnTo>
                <a:lnTo>
                  <a:pt x="2435" y="836"/>
                </a:lnTo>
                <a:lnTo>
                  <a:pt x="2431" y="842"/>
                </a:lnTo>
                <a:lnTo>
                  <a:pt x="2431" y="842"/>
                </a:lnTo>
                <a:lnTo>
                  <a:pt x="2426" y="847"/>
                </a:lnTo>
                <a:lnTo>
                  <a:pt x="2419" y="851"/>
                </a:lnTo>
                <a:lnTo>
                  <a:pt x="2419" y="851"/>
                </a:lnTo>
                <a:lnTo>
                  <a:pt x="2413" y="853"/>
                </a:lnTo>
                <a:lnTo>
                  <a:pt x="2411" y="853"/>
                </a:lnTo>
                <a:lnTo>
                  <a:pt x="2410" y="855"/>
                </a:lnTo>
                <a:lnTo>
                  <a:pt x="2410" y="855"/>
                </a:lnTo>
                <a:lnTo>
                  <a:pt x="2408" y="857"/>
                </a:lnTo>
                <a:lnTo>
                  <a:pt x="2410" y="858"/>
                </a:lnTo>
                <a:lnTo>
                  <a:pt x="2411" y="862"/>
                </a:lnTo>
                <a:lnTo>
                  <a:pt x="2411" y="862"/>
                </a:lnTo>
                <a:lnTo>
                  <a:pt x="2411" y="864"/>
                </a:lnTo>
                <a:lnTo>
                  <a:pt x="2411" y="866"/>
                </a:lnTo>
                <a:lnTo>
                  <a:pt x="2408" y="866"/>
                </a:lnTo>
                <a:lnTo>
                  <a:pt x="2404" y="868"/>
                </a:lnTo>
                <a:lnTo>
                  <a:pt x="2402" y="869"/>
                </a:lnTo>
                <a:lnTo>
                  <a:pt x="2404" y="873"/>
                </a:lnTo>
                <a:lnTo>
                  <a:pt x="2404" y="873"/>
                </a:lnTo>
                <a:lnTo>
                  <a:pt x="2404" y="875"/>
                </a:lnTo>
                <a:lnTo>
                  <a:pt x="2406" y="877"/>
                </a:lnTo>
                <a:lnTo>
                  <a:pt x="2410" y="880"/>
                </a:lnTo>
                <a:lnTo>
                  <a:pt x="2410" y="880"/>
                </a:lnTo>
                <a:lnTo>
                  <a:pt x="2411" y="886"/>
                </a:lnTo>
                <a:lnTo>
                  <a:pt x="2411" y="891"/>
                </a:lnTo>
                <a:lnTo>
                  <a:pt x="2411" y="891"/>
                </a:lnTo>
                <a:lnTo>
                  <a:pt x="2410" y="897"/>
                </a:lnTo>
                <a:lnTo>
                  <a:pt x="2406" y="902"/>
                </a:lnTo>
                <a:lnTo>
                  <a:pt x="2406" y="902"/>
                </a:lnTo>
                <a:lnTo>
                  <a:pt x="2402" y="904"/>
                </a:lnTo>
                <a:lnTo>
                  <a:pt x="2400" y="906"/>
                </a:lnTo>
                <a:lnTo>
                  <a:pt x="2400" y="906"/>
                </a:lnTo>
                <a:lnTo>
                  <a:pt x="2399" y="912"/>
                </a:lnTo>
                <a:lnTo>
                  <a:pt x="2397" y="915"/>
                </a:lnTo>
                <a:lnTo>
                  <a:pt x="2397" y="915"/>
                </a:lnTo>
                <a:lnTo>
                  <a:pt x="2397" y="919"/>
                </a:lnTo>
                <a:lnTo>
                  <a:pt x="2399" y="921"/>
                </a:lnTo>
                <a:lnTo>
                  <a:pt x="2399" y="921"/>
                </a:lnTo>
                <a:lnTo>
                  <a:pt x="2402" y="921"/>
                </a:lnTo>
                <a:lnTo>
                  <a:pt x="2404" y="921"/>
                </a:lnTo>
                <a:lnTo>
                  <a:pt x="2404" y="921"/>
                </a:lnTo>
                <a:close/>
                <a:moveTo>
                  <a:pt x="3145" y="585"/>
                </a:moveTo>
                <a:lnTo>
                  <a:pt x="3145" y="585"/>
                </a:lnTo>
                <a:lnTo>
                  <a:pt x="3143" y="583"/>
                </a:lnTo>
                <a:lnTo>
                  <a:pt x="3143" y="585"/>
                </a:lnTo>
                <a:lnTo>
                  <a:pt x="3143" y="589"/>
                </a:lnTo>
                <a:lnTo>
                  <a:pt x="3143" y="589"/>
                </a:lnTo>
                <a:lnTo>
                  <a:pt x="3145" y="587"/>
                </a:lnTo>
                <a:lnTo>
                  <a:pt x="3147" y="585"/>
                </a:lnTo>
                <a:lnTo>
                  <a:pt x="3145" y="585"/>
                </a:lnTo>
                <a:lnTo>
                  <a:pt x="3145" y="585"/>
                </a:lnTo>
                <a:close/>
                <a:moveTo>
                  <a:pt x="3357" y="407"/>
                </a:moveTo>
                <a:lnTo>
                  <a:pt x="3357" y="407"/>
                </a:lnTo>
                <a:lnTo>
                  <a:pt x="3361" y="411"/>
                </a:lnTo>
                <a:lnTo>
                  <a:pt x="3364" y="415"/>
                </a:lnTo>
                <a:lnTo>
                  <a:pt x="3368" y="418"/>
                </a:lnTo>
                <a:lnTo>
                  <a:pt x="3373" y="422"/>
                </a:lnTo>
                <a:lnTo>
                  <a:pt x="3373" y="422"/>
                </a:lnTo>
                <a:lnTo>
                  <a:pt x="3381" y="426"/>
                </a:lnTo>
                <a:lnTo>
                  <a:pt x="3390" y="427"/>
                </a:lnTo>
                <a:lnTo>
                  <a:pt x="3401" y="427"/>
                </a:lnTo>
                <a:lnTo>
                  <a:pt x="3404" y="426"/>
                </a:lnTo>
                <a:lnTo>
                  <a:pt x="3406" y="424"/>
                </a:lnTo>
                <a:lnTo>
                  <a:pt x="3406" y="424"/>
                </a:lnTo>
                <a:lnTo>
                  <a:pt x="3408" y="420"/>
                </a:lnTo>
                <a:lnTo>
                  <a:pt x="3408" y="415"/>
                </a:lnTo>
                <a:lnTo>
                  <a:pt x="3408" y="404"/>
                </a:lnTo>
                <a:lnTo>
                  <a:pt x="3404" y="385"/>
                </a:lnTo>
                <a:lnTo>
                  <a:pt x="3404" y="385"/>
                </a:lnTo>
                <a:lnTo>
                  <a:pt x="3402" y="371"/>
                </a:lnTo>
                <a:lnTo>
                  <a:pt x="3402" y="358"/>
                </a:lnTo>
                <a:lnTo>
                  <a:pt x="3406" y="343"/>
                </a:lnTo>
                <a:lnTo>
                  <a:pt x="3411" y="330"/>
                </a:lnTo>
                <a:lnTo>
                  <a:pt x="3411" y="330"/>
                </a:lnTo>
                <a:lnTo>
                  <a:pt x="3419" y="323"/>
                </a:lnTo>
                <a:lnTo>
                  <a:pt x="3428" y="314"/>
                </a:lnTo>
                <a:lnTo>
                  <a:pt x="3448" y="303"/>
                </a:lnTo>
                <a:lnTo>
                  <a:pt x="3448" y="303"/>
                </a:lnTo>
                <a:lnTo>
                  <a:pt x="3462" y="293"/>
                </a:lnTo>
                <a:lnTo>
                  <a:pt x="3477" y="286"/>
                </a:lnTo>
                <a:lnTo>
                  <a:pt x="3491" y="282"/>
                </a:lnTo>
                <a:lnTo>
                  <a:pt x="3509" y="279"/>
                </a:lnTo>
                <a:lnTo>
                  <a:pt x="3509" y="279"/>
                </a:lnTo>
                <a:lnTo>
                  <a:pt x="3549" y="275"/>
                </a:lnTo>
                <a:lnTo>
                  <a:pt x="3549" y="275"/>
                </a:lnTo>
                <a:lnTo>
                  <a:pt x="3576" y="271"/>
                </a:lnTo>
                <a:lnTo>
                  <a:pt x="3589" y="270"/>
                </a:lnTo>
                <a:lnTo>
                  <a:pt x="3602" y="266"/>
                </a:lnTo>
                <a:lnTo>
                  <a:pt x="3602" y="266"/>
                </a:lnTo>
                <a:lnTo>
                  <a:pt x="3609" y="262"/>
                </a:lnTo>
                <a:lnTo>
                  <a:pt x="3613" y="260"/>
                </a:lnTo>
                <a:lnTo>
                  <a:pt x="3614" y="259"/>
                </a:lnTo>
                <a:lnTo>
                  <a:pt x="3614" y="255"/>
                </a:lnTo>
                <a:lnTo>
                  <a:pt x="3611" y="249"/>
                </a:lnTo>
                <a:lnTo>
                  <a:pt x="3611" y="249"/>
                </a:lnTo>
                <a:lnTo>
                  <a:pt x="3603" y="244"/>
                </a:lnTo>
                <a:lnTo>
                  <a:pt x="3596" y="242"/>
                </a:lnTo>
                <a:lnTo>
                  <a:pt x="3589" y="242"/>
                </a:lnTo>
                <a:lnTo>
                  <a:pt x="3582" y="246"/>
                </a:lnTo>
                <a:lnTo>
                  <a:pt x="3582" y="246"/>
                </a:lnTo>
                <a:lnTo>
                  <a:pt x="3574" y="249"/>
                </a:lnTo>
                <a:lnTo>
                  <a:pt x="3574" y="249"/>
                </a:lnTo>
                <a:lnTo>
                  <a:pt x="3562" y="255"/>
                </a:lnTo>
                <a:lnTo>
                  <a:pt x="3549" y="259"/>
                </a:lnTo>
                <a:lnTo>
                  <a:pt x="3549" y="259"/>
                </a:lnTo>
                <a:lnTo>
                  <a:pt x="3536" y="259"/>
                </a:lnTo>
                <a:lnTo>
                  <a:pt x="3522" y="259"/>
                </a:lnTo>
                <a:lnTo>
                  <a:pt x="3522" y="259"/>
                </a:lnTo>
                <a:lnTo>
                  <a:pt x="3509" y="259"/>
                </a:lnTo>
                <a:lnTo>
                  <a:pt x="3502" y="259"/>
                </a:lnTo>
                <a:lnTo>
                  <a:pt x="3497" y="260"/>
                </a:lnTo>
                <a:lnTo>
                  <a:pt x="3497" y="260"/>
                </a:lnTo>
                <a:lnTo>
                  <a:pt x="3480" y="270"/>
                </a:lnTo>
                <a:lnTo>
                  <a:pt x="3473" y="273"/>
                </a:lnTo>
                <a:lnTo>
                  <a:pt x="3464" y="275"/>
                </a:lnTo>
                <a:lnTo>
                  <a:pt x="3464" y="275"/>
                </a:lnTo>
                <a:lnTo>
                  <a:pt x="3451" y="277"/>
                </a:lnTo>
                <a:lnTo>
                  <a:pt x="3440" y="279"/>
                </a:lnTo>
                <a:lnTo>
                  <a:pt x="3428" y="281"/>
                </a:lnTo>
                <a:lnTo>
                  <a:pt x="3417" y="284"/>
                </a:lnTo>
                <a:lnTo>
                  <a:pt x="3417" y="284"/>
                </a:lnTo>
                <a:lnTo>
                  <a:pt x="3406" y="292"/>
                </a:lnTo>
                <a:lnTo>
                  <a:pt x="3395" y="301"/>
                </a:lnTo>
                <a:lnTo>
                  <a:pt x="3388" y="312"/>
                </a:lnTo>
                <a:lnTo>
                  <a:pt x="3384" y="315"/>
                </a:lnTo>
                <a:lnTo>
                  <a:pt x="3382" y="321"/>
                </a:lnTo>
                <a:lnTo>
                  <a:pt x="3382" y="321"/>
                </a:lnTo>
                <a:lnTo>
                  <a:pt x="3382" y="330"/>
                </a:lnTo>
                <a:lnTo>
                  <a:pt x="3381" y="334"/>
                </a:lnTo>
                <a:lnTo>
                  <a:pt x="3377" y="339"/>
                </a:lnTo>
                <a:lnTo>
                  <a:pt x="3377" y="339"/>
                </a:lnTo>
                <a:lnTo>
                  <a:pt x="3364" y="350"/>
                </a:lnTo>
                <a:lnTo>
                  <a:pt x="3357" y="358"/>
                </a:lnTo>
                <a:lnTo>
                  <a:pt x="3352" y="365"/>
                </a:lnTo>
                <a:lnTo>
                  <a:pt x="3352" y="365"/>
                </a:lnTo>
                <a:lnTo>
                  <a:pt x="3346" y="380"/>
                </a:lnTo>
                <a:lnTo>
                  <a:pt x="3344" y="387"/>
                </a:lnTo>
                <a:lnTo>
                  <a:pt x="3344" y="396"/>
                </a:lnTo>
                <a:lnTo>
                  <a:pt x="3344" y="396"/>
                </a:lnTo>
                <a:lnTo>
                  <a:pt x="3344" y="402"/>
                </a:lnTo>
                <a:lnTo>
                  <a:pt x="3348" y="404"/>
                </a:lnTo>
                <a:lnTo>
                  <a:pt x="3357" y="407"/>
                </a:lnTo>
                <a:lnTo>
                  <a:pt x="3357" y="407"/>
                </a:lnTo>
                <a:close/>
                <a:moveTo>
                  <a:pt x="2317" y="602"/>
                </a:moveTo>
                <a:lnTo>
                  <a:pt x="2317" y="602"/>
                </a:lnTo>
                <a:lnTo>
                  <a:pt x="2328" y="594"/>
                </a:lnTo>
                <a:lnTo>
                  <a:pt x="2332" y="591"/>
                </a:lnTo>
                <a:lnTo>
                  <a:pt x="2333" y="585"/>
                </a:lnTo>
                <a:lnTo>
                  <a:pt x="2333" y="585"/>
                </a:lnTo>
                <a:lnTo>
                  <a:pt x="2335" y="581"/>
                </a:lnTo>
                <a:lnTo>
                  <a:pt x="2337" y="580"/>
                </a:lnTo>
                <a:lnTo>
                  <a:pt x="2337" y="580"/>
                </a:lnTo>
                <a:lnTo>
                  <a:pt x="2341" y="578"/>
                </a:lnTo>
                <a:lnTo>
                  <a:pt x="2344" y="576"/>
                </a:lnTo>
                <a:lnTo>
                  <a:pt x="2344" y="576"/>
                </a:lnTo>
                <a:lnTo>
                  <a:pt x="2346" y="572"/>
                </a:lnTo>
                <a:lnTo>
                  <a:pt x="2346" y="569"/>
                </a:lnTo>
                <a:lnTo>
                  <a:pt x="2344" y="563"/>
                </a:lnTo>
                <a:lnTo>
                  <a:pt x="2344" y="563"/>
                </a:lnTo>
                <a:lnTo>
                  <a:pt x="2343" y="559"/>
                </a:lnTo>
                <a:lnTo>
                  <a:pt x="2339" y="559"/>
                </a:lnTo>
                <a:lnTo>
                  <a:pt x="2333" y="559"/>
                </a:lnTo>
                <a:lnTo>
                  <a:pt x="2326" y="558"/>
                </a:lnTo>
                <a:lnTo>
                  <a:pt x="2324" y="556"/>
                </a:lnTo>
                <a:lnTo>
                  <a:pt x="2323" y="554"/>
                </a:lnTo>
                <a:lnTo>
                  <a:pt x="2323" y="554"/>
                </a:lnTo>
                <a:lnTo>
                  <a:pt x="2319" y="547"/>
                </a:lnTo>
                <a:lnTo>
                  <a:pt x="2315" y="543"/>
                </a:lnTo>
                <a:lnTo>
                  <a:pt x="2315" y="543"/>
                </a:lnTo>
                <a:lnTo>
                  <a:pt x="2312" y="541"/>
                </a:lnTo>
                <a:lnTo>
                  <a:pt x="2308" y="541"/>
                </a:lnTo>
                <a:lnTo>
                  <a:pt x="2308" y="541"/>
                </a:lnTo>
                <a:lnTo>
                  <a:pt x="2306" y="541"/>
                </a:lnTo>
                <a:lnTo>
                  <a:pt x="2306" y="541"/>
                </a:lnTo>
                <a:lnTo>
                  <a:pt x="2304" y="543"/>
                </a:lnTo>
                <a:lnTo>
                  <a:pt x="2303" y="547"/>
                </a:lnTo>
                <a:lnTo>
                  <a:pt x="2303" y="547"/>
                </a:lnTo>
                <a:lnTo>
                  <a:pt x="2301" y="548"/>
                </a:lnTo>
                <a:lnTo>
                  <a:pt x="2297" y="548"/>
                </a:lnTo>
                <a:lnTo>
                  <a:pt x="2292" y="548"/>
                </a:lnTo>
                <a:lnTo>
                  <a:pt x="2292" y="548"/>
                </a:lnTo>
                <a:lnTo>
                  <a:pt x="2288" y="550"/>
                </a:lnTo>
                <a:lnTo>
                  <a:pt x="2286" y="552"/>
                </a:lnTo>
                <a:lnTo>
                  <a:pt x="2285" y="552"/>
                </a:lnTo>
                <a:lnTo>
                  <a:pt x="2285" y="552"/>
                </a:lnTo>
                <a:lnTo>
                  <a:pt x="2279" y="550"/>
                </a:lnTo>
                <a:lnTo>
                  <a:pt x="2279" y="550"/>
                </a:lnTo>
                <a:lnTo>
                  <a:pt x="2275" y="550"/>
                </a:lnTo>
                <a:lnTo>
                  <a:pt x="2274" y="552"/>
                </a:lnTo>
                <a:lnTo>
                  <a:pt x="2274" y="552"/>
                </a:lnTo>
                <a:lnTo>
                  <a:pt x="2270" y="552"/>
                </a:lnTo>
                <a:lnTo>
                  <a:pt x="2268" y="548"/>
                </a:lnTo>
                <a:lnTo>
                  <a:pt x="2268" y="548"/>
                </a:lnTo>
                <a:lnTo>
                  <a:pt x="2268" y="545"/>
                </a:lnTo>
                <a:lnTo>
                  <a:pt x="2266" y="545"/>
                </a:lnTo>
                <a:lnTo>
                  <a:pt x="2265" y="545"/>
                </a:lnTo>
                <a:lnTo>
                  <a:pt x="2265" y="545"/>
                </a:lnTo>
                <a:lnTo>
                  <a:pt x="2261" y="548"/>
                </a:lnTo>
                <a:lnTo>
                  <a:pt x="2259" y="552"/>
                </a:lnTo>
                <a:lnTo>
                  <a:pt x="2259" y="552"/>
                </a:lnTo>
                <a:lnTo>
                  <a:pt x="2256" y="556"/>
                </a:lnTo>
                <a:lnTo>
                  <a:pt x="2254" y="556"/>
                </a:lnTo>
                <a:lnTo>
                  <a:pt x="2252" y="554"/>
                </a:lnTo>
                <a:lnTo>
                  <a:pt x="2252" y="554"/>
                </a:lnTo>
                <a:lnTo>
                  <a:pt x="2250" y="550"/>
                </a:lnTo>
                <a:lnTo>
                  <a:pt x="2250" y="548"/>
                </a:lnTo>
                <a:lnTo>
                  <a:pt x="2248" y="548"/>
                </a:lnTo>
                <a:lnTo>
                  <a:pt x="2248" y="548"/>
                </a:lnTo>
                <a:lnTo>
                  <a:pt x="2245" y="550"/>
                </a:lnTo>
                <a:lnTo>
                  <a:pt x="2245" y="554"/>
                </a:lnTo>
                <a:lnTo>
                  <a:pt x="2245" y="561"/>
                </a:lnTo>
                <a:lnTo>
                  <a:pt x="2245" y="561"/>
                </a:lnTo>
                <a:lnTo>
                  <a:pt x="2243" y="563"/>
                </a:lnTo>
                <a:lnTo>
                  <a:pt x="2241" y="563"/>
                </a:lnTo>
                <a:lnTo>
                  <a:pt x="2241" y="563"/>
                </a:lnTo>
                <a:lnTo>
                  <a:pt x="2236" y="567"/>
                </a:lnTo>
                <a:lnTo>
                  <a:pt x="2234" y="567"/>
                </a:lnTo>
                <a:lnTo>
                  <a:pt x="2230" y="567"/>
                </a:lnTo>
                <a:lnTo>
                  <a:pt x="2230" y="567"/>
                </a:lnTo>
                <a:lnTo>
                  <a:pt x="2228" y="563"/>
                </a:lnTo>
                <a:lnTo>
                  <a:pt x="2228" y="561"/>
                </a:lnTo>
                <a:lnTo>
                  <a:pt x="2227" y="558"/>
                </a:lnTo>
                <a:lnTo>
                  <a:pt x="2225" y="554"/>
                </a:lnTo>
                <a:lnTo>
                  <a:pt x="2225" y="554"/>
                </a:lnTo>
                <a:lnTo>
                  <a:pt x="2219" y="552"/>
                </a:lnTo>
                <a:lnTo>
                  <a:pt x="2214" y="554"/>
                </a:lnTo>
                <a:lnTo>
                  <a:pt x="2214" y="554"/>
                </a:lnTo>
                <a:lnTo>
                  <a:pt x="2210" y="556"/>
                </a:lnTo>
                <a:lnTo>
                  <a:pt x="2210" y="558"/>
                </a:lnTo>
                <a:lnTo>
                  <a:pt x="2210" y="561"/>
                </a:lnTo>
                <a:lnTo>
                  <a:pt x="2212" y="563"/>
                </a:lnTo>
                <a:lnTo>
                  <a:pt x="2212" y="563"/>
                </a:lnTo>
                <a:lnTo>
                  <a:pt x="2216" y="567"/>
                </a:lnTo>
                <a:lnTo>
                  <a:pt x="2218" y="570"/>
                </a:lnTo>
                <a:lnTo>
                  <a:pt x="2216" y="572"/>
                </a:lnTo>
                <a:lnTo>
                  <a:pt x="2216" y="572"/>
                </a:lnTo>
                <a:lnTo>
                  <a:pt x="2212" y="574"/>
                </a:lnTo>
                <a:lnTo>
                  <a:pt x="2208" y="576"/>
                </a:lnTo>
                <a:lnTo>
                  <a:pt x="2208" y="576"/>
                </a:lnTo>
                <a:lnTo>
                  <a:pt x="2207" y="578"/>
                </a:lnTo>
                <a:lnTo>
                  <a:pt x="2208" y="580"/>
                </a:lnTo>
                <a:lnTo>
                  <a:pt x="2212" y="583"/>
                </a:lnTo>
                <a:lnTo>
                  <a:pt x="2219" y="587"/>
                </a:lnTo>
                <a:lnTo>
                  <a:pt x="2219" y="587"/>
                </a:lnTo>
                <a:lnTo>
                  <a:pt x="2223" y="589"/>
                </a:lnTo>
                <a:lnTo>
                  <a:pt x="2225" y="592"/>
                </a:lnTo>
                <a:lnTo>
                  <a:pt x="2225" y="592"/>
                </a:lnTo>
                <a:lnTo>
                  <a:pt x="2225" y="594"/>
                </a:lnTo>
                <a:lnTo>
                  <a:pt x="2223" y="596"/>
                </a:lnTo>
                <a:lnTo>
                  <a:pt x="2218" y="600"/>
                </a:lnTo>
                <a:lnTo>
                  <a:pt x="2218" y="600"/>
                </a:lnTo>
                <a:lnTo>
                  <a:pt x="2216" y="603"/>
                </a:lnTo>
                <a:lnTo>
                  <a:pt x="2218" y="603"/>
                </a:lnTo>
                <a:lnTo>
                  <a:pt x="2219" y="605"/>
                </a:lnTo>
                <a:lnTo>
                  <a:pt x="2219" y="605"/>
                </a:lnTo>
                <a:lnTo>
                  <a:pt x="2223" y="605"/>
                </a:lnTo>
                <a:lnTo>
                  <a:pt x="2227" y="603"/>
                </a:lnTo>
                <a:lnTo>
                  <a:pt x="2234" y="600"/>
                </a:lnTo>
                <a:lnTo>
                  <a:pt x="2234" y="600"/>
                </a:lnTo>
                <a:lnTo>
                  <a:pt x="2237" y="600"/>
                </a:lnTo>
                <a:lnTo>
                  <a:pt x="2239" y="602"/>
                </a:lnTo>
                <a:lnTo>
                  <a:pt x="2239" y="602"/>
                </a:lnTo>
                <a:lnTo>
                  <a:pt x="2241" y="605"/>
                </a:lnTo>
                <a:lnTo>
                  <a:pt x="2245" y="609"/>
                </a:lnTo>
                <a:lnTo>
                  <a:pt x="2245" y="609"/>
                </a:lnTo>
                <a:lnTo>
                  <a:pt x="2257" y="613"/>
                </a:lnTo>
                <a:lnTo>
                  <a:pt x="2265" y="613"/>
                </a:lnTo>
                <a:lnTo>
                  <a:pt x="2272" y="613"/>
                </a:lnTo>
                <a:lnTo>
                  <a:pt x="2272" y="613"/>
                </a:lnTo>
                <a:lnTo>
                  <a:pt x="2281" y="607"/>
                </a:lnTo>
                <a:lnTo>
                  <a:pt x="2286" y="605"/>
                </a:lnTo>
                <a:lnTo>
                  <a:pt x="2292" y="603"/>
                </a:lnTo>
                <a:lnTo>
                  <a:pt x="2292" y="603"/>
                </a:lnTo>
                <a:lnTo>
                  <a:pt x="2297" y="605"/>
                </a:lnTo>
                <a:lnTo>
                  <a:pt x="2297" y="605"/>
                </a:lnTo>
                <a:lnTo>
                  <a:pt x="2308" y="605"/>
                </a:lnTo>
                <a:lnTo>
                  <a:pt x="2314" y="603"/>
                </a:lnTo>
                <a:lnTo>
                  <a:pt x="2317" y="602"/>
                </a:lnTo>
                <a:lnTo>
                  <a:pt x="2317" y="602"/>
                </a:lnTo>
                <a:close/>
                <a:moveTo>
                  <a:pt x="3303" y="470"/>
                </a:moveTo>
                <a:lnTo>
                  <a:pt x="3303" y="470"/>
                </a:lnTo>
                <a:lnTo>
                  <a:pt x="3306" y="471"/>
                </a:lnTo>
                <a:lnTo>
                  <a:pt x="3310" y="470"/>
                </a:lnTo>
                <a:lnTo>
                  <a:pt x="3312" y="466"/>
                </a:lnTo>
                <a:lnTo>
                  <a:pt x="3312" y="462"/>
                </a:lnTo>
                <a:lnTo>
                  <a:pt x="3310" y="455"/>
                </a:lnTo>
                <a:lnTo>
                  <a:pt x="3308" y="453"/>
                </a:lnTo>
                <a:lnTo>
                  <a:pt x="3305" y="451"/>
                </a:lnTo>
                <a:lnTo>
                  <a:pt x="3305" y="451"/>
                </a:lnTo>
                <a:lnTo>
                  <a:pt x="3303" y="451"/>
                </a:lnTo>
                <a:lnTo>
                  <a:pt x="3303" y="451"/>
                </a:lnTo>
                <a:lnTo>
                  <a:pt x="3299" y="451"/>
                </a:lnTo>
                <a:lnTo>
                  <a:pt x="3297" y="453"/>
                </a:lnTo>
                <a:lnTo>
                  <a:pt x="3295" y="455"/>
                </a:lnTo>
                <a:lnTo>
                  <a:pt x="3295" y="459"/>
                </a:lnTo>
                <a:lnTo>
                  <a:pt x="3297" y="466"/>
                </a:lnTo>
                <a:lnTo>
                  <a:pt x="3301" y="470"/>
                </a:lnTo>
                <a:lnTo>
                  <a:pt x="3303" y="470"/>
                </a:lnTo>
                <a:lnTo>
                  <a:pt x="3303" y="470"/>
                </a:lnTo>
                <a:close/>
                <a:moveTo>
                  <a:pt x="2493" y="926"/>
                </a:moveTo>
                <a:lnTo>
                  <a:pt x="2493" y="926"/>
                </a:lnTo>
                <a:lnTo>
                  <a:pt x="2486" y="928"/>
                </a:lnTo>
                <a:lnTo>
                  <a:pt x="2482" y="934"/>
                </a:lnTo>
                <a:lnTo>
                  <a:pt x="2482" y="934"/>
                </a:lnTo>
                <a:lnTo>
                  <a:pt x="2478" y="937"/>
                </a:lnTo>
                <a:lnTo>
                  <a:pt x="2473" y="943"/>
                </a:lnTo>
                <a:lnTo>
                  <a:pt x="2473" y="943"/>
                </a:lnTo>
                <a:lnTo>
                  <a:pt x="2468" y="946"/>
                </a:lnTo>
                <a:lnTo>
                  <a:pt x="2462" y="950"/>
                </a:lnTo>
                <a:lnTo>
                  <a:pt x="2462" y="950"/>
                </a:lnTo>
                <a:lnTo>
                  <a:pt x="2462" y="954"/>
                </a:lnTo>
                <a:lnTo>
                  <a:pt x="2462" y="956"/>
                </a:lnTo>
                <a:lnTo>
                  <a:pt x="2464" y="957"/>
                </a:lnTo>
                <a:lnTo>
                  <a:pt x="2466" y="957"/>
                </a:lnTo>
                <a:lnTo>
                  <a:pt x="2466" y="957"/>
                </a:lnTo>
                <a:lnTo>
                  <a:pt x="2469" y="957"/>
                </a:lnTo>
                <a:lnTo>
                  <a:pt x="2471" y="956"/>
                </a:lnTo>
                <a:lnTo>
                  <a:pt x="2475" y="952"/>
                </a:lnTo>
                <a:lnTo>
                  <a:pt x="2475" y="952"/>
                </a:lnTo>
                <a:lnTo>
                  <a:pt x="2482" y="946"/>
                </a:lnTo>
                <a:lnTo>
                  <a:pt x="2486" y="946"/>
                </a:lnTo>
                <a:lnTo>
                  <a:pt x="2489" y="946"/>
                </a:lnTo>
                <a:lnTo>
                  <a:pt x="2489" y="946"/>
                </a:lnTo>
                <a:lnTo>
                  <a:pt x="2497" y="946"/>
                </a:lnTo>
                <a:lnTo>
                  <a:pt x="2498" y="946"/>
                </a:lnTo>
                <a:lnTo>
                  <a:pt x="2502" y="945"/>
                </a:lnTo>
                <a:lnTo>
                  <a:pt x="2502" y="945"/>
                </a:lnTo>
                <a:lnTo>
                  <a:pt x="2506" y="943"/>
                </a:lnTo>
                <a:lnTo>
                  <a:pt x="2507" y="943"/>
                </a:lnTo>
                <a:lnTo>
                  <a:pt x="2515" y="945"/>
                </a:lnTo>
                <a:lnTo>
                  <a:pt x="2515" y="945"/>
                </a:lnTo>
                <a:lnTo>
                  <a:pt x="2520" y="943"/>
                </a:lnTo>
                <a:lnTo>
                  <a:pt x="2524" y="941"/>
                </a:lnTo>
                <a:lnTo>
                  <a:pt x="2527" y="937"/>
                </a:lnTo>
                <a:lnTo>
                  <a:pt x="2531" y="935"/>
                </a:lnTo>
                <a:lnTo>
                  <a:pt x="2531" y="935"/>
                </a:lnTo>
                <a:lnTo>
                  <a:pt x="2538" y="935"/>
                </a:lnTo>
                <a:lnTo>
                  <a:pt x="2544" y="937"/>
                </a:lnTo>
                <a:lnTo>
                  <a:pt x="2544" y="937"/>
                </a:lnTo>
                <a:lnTo>
                  <a:pt x="2560" y="937"/>
                </a:lnTo>
                <a:lnTo>
                  <a:pt x="2560" y="937"/>
                </a:lnTo>
                <a:lnTo>
                  <a:pt x="2565" y="935"/>
                </a:lnTo>
                <a:lnTo>
                  <a:pt x="2573" y="932"/>
                </a:lnTo>
                <a:lnTo>
                  <a:pt x="2573" y="932"/>
                </a:lnTo>
                <a:lnTo>
                  <a:pt x="2574" y="928"/>
                </a:lnTo>
                <a:lnTo>
                  <a:pt x="2573" y="924"/>
                </a:lnTo>
                <a:lnTo>
                  <a:pt x="2573" y="923"/>
                </a:lnTo>
                <a:lnTo>
                  <a:pt x="2573" y="923"/>
                </a:lnTo>
                <a:lnTo>
                  <a:pt x="2567" y="923"/>
                </a:lnTo>
                <a:lnTo>
                  <a:pt x="2565" y="923"/>
                </a:lnTo>
                <a:lnTo>
                  <a:pt x="2564" y="921"/>
                </a:lnTo>
                <a:lnTo>
                  <a:pt x="2564" y="921"/>
                </a:lnTo>
                <a:lnTo>
                  <a:pt x="2564" y="919"/>
                </a:lnTo>
                <a:lnTo>
                  <a:pt x="2564" y="915"/>
                </a:lnTo>
                <a:lnTo>
                  <a:pt x="2569" y="912"/>
                </a:lnTo>
                <a:lnTo>
                  <a:pt x="2569" y="912"/>
                </a:lnTo>
                <a:lnTo>
                  <a:pt x="2573" y="912"/>
                </a:lnTo>
                <a:lnTo>
                  <a:pt x="2576" y="910"/>
                </a:lnTo>
                <a:lnTo>
                  <a:pt x="2576" y="910"/>
                </a:lnTo>
                <a:lnTo>
                  <a:pt x="2578" y="904"/>
                </a:lnTo>
                <a:lnTo>
                  <a:pt x="2578" y="899"/>
                </a:lnTo>
                <a:lnTo>
                  <a:pt x="2578" y="899"/>
                </a:lnTo>
                <a:lnTo>
                  <a:pt x="2578" y="893"/>
                </a:lnTo>
                <a:lnTo>
                  <a:pt x="2576" y="890"/>
                </a:lnTo>
                <a:lnTo>
                  <a:pt x="2574" y="886"/>
                </a:lnTo>
                <a:lnTo>
                  <a:pt x="2569" y="886"/>
                </a:lnTo>
                <a:lnTo>
                  <a:pt x="2569" y="886"/>
                </a:lnTo>
                <a:lnTo>
                  <a:pt x="2562" y="888"/>
                </a:lnTo>
                <a:lnTo>
                  <a:pt x="2560" y="886"/>
                </a:lnTo>
                <a:lnTo>
                  <a:pt x="2558" y="882"/>
                </a:lnTo>
                <a:lnTo>
                  <a:pt x="2558" y="882"/>
                </a:lnTo>
                <a:lnTo>
                  <a:pt x="2556" y="877"/>
                </a:lnTo>
                <a:lnTo>
                  <a:pt x="2556" y="877"/>
                </a:lnTo>
                <a:lnTo>
                  <a:pt x="2556" y="873"/>
                </a:lnTo>
                <a:lnTo>
                  <a:pt x="2556" y="871"/>
                </a:lnTo>
                <a:lnTo>
                  <a:pt x="2556" y="871"/>
                </a:lnTo>
                <a:lnTo>
                  <a:pt x="2556" y="868"/>
                </a:lnTo>
                <a:lnTo>
                  <a:pt x="2554" y="866"/>
                </a:lnTo>
                <a:lnTo>
                  <a:pt x="2551" y="862"/>
                </a:lnTo>
                <a:lnTo>
                  <a:pt x="2551" y="862"/>
                </a:lnTo>
                <a:lnTo>
                  <a:pt x="2545" y="858"/>
                </a:lnTo>
                <a:lnTo>
                  <a:pt x="2544" y="853"/>
                </a:lnTo>
                <a:lnTo>
                  <a:pt x="2544" y="853"/>
                </a:lnTo>
                <a:lnTo>
                  <a:pt x="2542" y="851"/>
                </a:lnTo>
                <a:lnTo>
                  <a:pt x="2542" y="851"/>
                </a:lnTo>
                <a:lnTo>
                  <a:pt x="2538" y="846"/>
                </a:lnTo>
                <a:lnTo>
                  <a:pt x="2538" y="846"/>
                </a:lnTo>
                <a:lnTo>
                  <a:pt x="2535" y="842"/>
                </a:lnTo>
                <a:lnTo>
                  <a:pt x="2531" y="836"/>
                </a:lnTo>
                <a:lnTo>
                  <a:pt x="2531" y="836"/>
                </a:lnTo>
                <a:lnTo>
                  <a:pt x="2527" y="831"/>
                </a:lnTo>
                <a:lnTo>
                  <a:pt x="2524" y="825"/>
                </a:lnTo>
                <a:lnTo>
                  <a:pt x="2524" y="825"/>
                </a:lnTo>
                <a:lnTo>
                  <a:pt x="2520" y="822"/>
                </a:lnTo>
                <a:lnTo>
                  <a:pt x="2518" y="818"/>
                </a:lnTo>
                <a:lnTo>
                  <a:pt x="2518" y="818"/>
                </a:lnTo>
                <a:lnTo>
                  <a:pt x="2516" y="814"/>
                </a:lnTo>
                <a:lnTo>
                  <a:pt x="2513" y="813"/>
                </a:lnTo>
                <a:lnTo>
                  <a:pt x="2513" y="813"/>
                </a:lnTo>
                <a:lnTo>
                  <a:pt x="2511" y="809"/>
                </a:lnTo>
                <a:lnTo>
                  <a:pt x="2511" y="807"/>
                </a:lnTo>
                <a:lnTo>
                  <a:pt x="2513" y="803"/>
                </a:lnTo>
                <a:lnTo>
                  <a:pt x="2513" y="803"/>
                </a:lnTo>
                <a:lnTo>
                  <a:pt x="2513" y="800"/>
                </a:lnTo>
                <a:lnTo>
                  <a:pt x="2513" y="796"/>
                </a:lnTo>
                <a:lnTo>
                  <a:pt x="2513" y="796"/>
                </a:lnTo>
                <a:lnTo>
                  <a:pt x="2515" y="794"/>
                </a:lnTo>
                <a:lnTo>
                  <a:pt x="2516" y="792"/>
                </a:lnTo>
                <a:lnTo>
                  <a:pt x="2520" y="791"/>
                </a:lnTo>
                <a:lnTo>
                  <a:pt x="2520" y="791"/>
                </a:lnTo>
                <a:lnTo>
                  <a:pt x="2524" y="785"/>
                </a:lnTo>
                <a:lnTo>
                  <a:pt x="2525" y="780"/>
                </a:lnTo>
                <a:lnTo>
                  <a:pt x="2525" y="780"/>
                </a:lnTo>
                <a:lnTo>
                  <a:pt x="2527" y="772"/>
                </a:lnTo>
                <a:lnTo>
                  <a:pt x="2527" y="770"/>
                </a:lnTo>
                <a:lnTo>
                  <a:pt x="2525" y="767"/>
                </a:lnTo>
                <a:lnTo>
                  <a:pt x="2525" y="767"/>
                </a:lnTo>
                <a:lnTo>
                  <a:pt x="2518" y="763"/>
                </a:lnTo>
                <a:lnTo>
                  <a:pt x="2518" y="763"/>
                </a:lnTo>
                <a:lnTo>
                  <a:pt x="2513" y="763"/>
                </a:lnTo>
                <a:lnTo>
                  <a:pt x="2507" y="763"/>
                </a:lnTo>
                <a:lnTo>
                  <a:pt x="2502" y="761"/>
                </a:lnTo>
                <a:lnTo>
                  <a:pt x="2502" y="759"/>
                </a:lnTo>
                <a:lnTo>
                  <a:pt x="2500" y="756"/>
                </a:lnTo>
                <a:lnTo>
                  <a:pt x="2500" y="756"/>
                </a:lnTo>
                <a:lnTo>
                  <a:pt x="2502" y="752"/>
                </a:lnTo>
                <a:lnTo>
                  <a:pt x="2504" y="748"/>
                </a:lnTo>
                <a:lnTo>
                  <a:pt x="2504" y="748"/>
                </a:lnTo>
                <a:lnTo>
                  <a:pt x="2502" y="745"/>
                </a:lnTo>
                <a:lnTo>
                  <a:pt x="2500" y="743"/>
                </a:lnTo>
                <a:lnTo>
                  <a:pt x="2498" y="743"/>
                </a:lnTo>
                <a:lnTo>
                  <a:pt x="2495" y="743"/>
                </a:lnTo>
                <a:lnTo>
                  <a:pt x="2495" y="743"/>
                </a:lnTo>
                <a:lnTo>
                  <a:pt x="2493" y="743"/>
                </a:lnTo>
                <a:lnTo>
                  <a:pt x="2493" y="743"/>
                </a:lnTo>
                <a:lnTo>
                  <a:pt x="2486" y="745"/>
                </a:lnTo>
                <a:lnTo>
                  <a:pt x="2486" y="745"/>
                </a:lnTo>
                <a:lnTo>
                  <a:pt x="2482" y="747"/>
                </a:lnTo>
                <a:lnTo>
                  <a:pt x="2482" y="747"/>
                </a:lnTo>
                <a:lnTo>
                  <a:pt x="2480" y="752"/>
                </a:lnTo>
                <a:lnTo>
                  <a:pt x="2480" y="752"/>
                </a:lnTo>
                <a:lnTo>
                  <a:pt x="2480" y="754"/>
                </a:lnTo>
                <a:lnTo>
                  <a:pt x="2478" y="756"/>
                </a:lnTo>
                <a:lnTo>
                  <a:pt x="2475" y="758"/>
                </a:lnTo>
                <a:lnTo>
                  <a:pt x="2475" y="758"/>
                </a:lnTo>
                <a:lnTo>
                  <a:pt x="2475" y="761"/>
                </a:lnTo>
                <a:lnTo>
                  <a:pt x="2475" y="765"/>
                </a:lnTo>
                <a:lnTo>
                  <a:pt x="2475" y="765"/>
                </a:lnTo>
                <a:lnTo>
                  <a:pt x="2471" y="769"/>
                </a:lnTo>
                <a:lnTo>
                  <a:pt x="2468" y="770"/>
                </a:lnTo>
                <a:lnTo>
                  <a:pt x="2468" y="770"/>
                </a:lnTo>
                <a:lnTo>
                  <a:pt x="2468" y="776"/>
                </a:lnTo>
                <a:lnTo>
                  <a:pt x="2468" y="780"/>
                </a:lnTo>
                <a:lnTo>
                  <a:pt x="2468" y="780"/>
                </a:lnTo>
                <a:lnTo>
                  <a:pt x="2471" y="783"/>
                </a:lnTo>
                <a:lnTo>
                  <a:pt x="2469" y="787"/>
                </a:lnTo>
                <a:lnTo>
                  <a:pt x="2466" y="792"/>
                </a:lnTo>
                <a:lnTo>
                  <a:pt x="2466" y="792"/>
                </a:lnTo>
                <a:lnTo>
                  <a:pt x="2468" y="796"/>
                </a:lnTo>
                <a:lnTo>
                  <a:pt x="2469" y="800"/>
                </a:lnTo>
                <a:lnTo>
                  <a:pt x="2469" y="800"/>
                </a:lnTo>
                <a:lnTo>
                  <a:pt x="2469" y="803"/>
                </a:lnTo>
                <a:lnTo>
                  <a:pt x="2468" y="809"/>
                </a:lnTo>
                <a:lnTo>
                  <a:pt x="2468" y="809"/>
                </a:lnTo>
                <a:lnTo>
                  <a:pt x="2469" y="811"/>
                </a:lnTo>
                <a:lnTo>
                  <a:pt x="2469" y="813"/>
                </a:lnTo>
                <a:lnTo>
                  <a:pt x="2475" y="813"/>
                </a:lnTo>
                <a:lnTo>
                  <a:pt x="2475" y="813"/>
                </a:lnTo>
                <a:lnTo>
                  <a:pt x="2477" y="814"/>
                </a:lnTo>
                <a:lnTo>
                  <a:pt x="2478" y="818"/>
                </a:lnTo>
                <a:lnTo>
                  <a:pt x="2478" y="818"/>
                </a:lnTo>
                <a:lnTo>
                  <a:pt x="2478" y="822"/>
                </a:lnTo>
                <a:lnTo>
                  <a:pt x="2478" y="825"/>
                </a:lnTo>
                <a:lnTo>
                  <a:pt x="2478" y="825"/>
                </a:lnTo>
                <a:lnTo>
                  <a:pt x="2480" y="829"/>
                </a:lnTo>
                <a:lnTo>
                  <a:pt x="2482" y="831"/>
                </a:lnTo>
                <a:lnTo>
                  <a:pt x="2487" y="835"/>
                </a:lnTo>
                <a:lnTo>
                  <a:pt x="2487" y="835"/>
                </a:lnTo>
                <a:lnTo>
                  <a:pt x="2497" y="835"/>
                </a:lnTo>
                <a:lnTo>
                  <a:pt x="2500" y="836"/>
                </a:lnTo>
                <a:lnTo>
                  <a:pt x="2502" y="838"/>
                </a:lnTo>
                <a:lnTo>
                  <a:pt x="2502" y="838"/>
                </a:lnTo>
                <a:lnTo>
                  <a:pt x="2504" y="840"/>
                </a:lnTo>
                <a:lnTo>
                  <a:pt x="2502" y="844"/>
                </a:lnTo>
                <a:lnTo>
                  <a:pt x="2500" y="847"/>
                </a:lnTo>
                <a:lnTo>
                  <a:pt x="2498" y="851"/>
                </a:lnTo>
                <a:lnTo>
                  <a:pt x="2498" y="853"/>
                </a:lnTo>
                <a:lnTo>
                  <a:pt x="2500" y="855"/>
                </a:lnTo>
                <a:lnTo>
                  <a:pt x="2500" y="855"/>
                </a:lnTo>
                <a:lnTo>
                  <a:pt x="2504" y="855"/>
                </a:lnTo>
                <a:lnTo>
                  <a:pt x="2506" y="853"/>
                </a:lnTo>
                <a:lnTo>
                  <a:pt x="2507" y="853"/>
                </a:lnTo>
                <a:lnTo>
                  <a:pt x="2509" y="855"/>
                </a:lnTo>
                <a:lnTo>
                  <a:pt x="2509" y="855"/>
                </a:lnTo>
                <a:lnTo>
                  <a:pt x="2511" y="860"/>
                </a:lnTo>
                <a:lnTo>
                  <a:pt x="2509" y="864"/>
                </a:lnTo>
                <a:lnTo>
                  <a:pt x="2506" y="866"/>
                </a:lnTo>
                <a:lnTo>
                  <a:pt x="2502" y="866"/>
                </a:lnTo>
                <a:lnTo>
                  <a:pt x="2493" y="868"/>
                </a:lnTo>
                <a:lnTo>
                  <a:pt x="2487" y="869"/>
                </a:lnTo>
                <a:lnTo>
                  <a:pt x="2486" y="871"/>
                </a:lnTo>
                <a:lnTo>
                  <a:pt x="2486" y="871"/>
                </a:lnTo>
                <a:lnTo>
                  <a:pt x="2486" y="875"/>
                </a:lnTo>
                <a:lnTo>
                  <a:pt x="2486" y="877"/>
                </a:lnTo>
                <a:lnTo>
                  <a:pt x="2487" y="879"/>
                </a:lnTo>
                <a:lnTo>
                  <a:pt x="2487" y="882"/>
                </a:lnTo>
                <a:lnTo>
                  <a:pt x="2487" y="882"/>
                </a:lnTo>
                <a:lnTo>
                  <a:pt x="2487" y="884"/>
                </a:lnTo>
                <a:lnTo>
                  <a:pt x="2486" y="886"/>
                </a:lnTo>
                <a:lnTo>
                  <a:pt x="2484" y="888"/>
                </a:lnTo>
                <a:lnTo>
                  <a:pt x="2484" y="891"/>
                </a:lnTo>
                <a:lnTo>
                  <a:pt x="2484" y="891"/>
                </a:lnTo>
                <a:lnTo>
                  <a:pt x="2486" y="897"/>
                </a:lnTo>
                <a:lnTo>
                  <a:pt x="2486" y="899"/>
                </a:lnTo>
                <a:lnTo>
                  <a:pt x="2486" y="901"/>
                </a:lnTo>
                <a:lnTo>
                  <a:pt x="2486" y="901"/>
                </a:lnTo>
                <a:lnTo>
                  <a:pt x="2480" y="904"/>
                </a:lnTo>
                <a:lnTo>
                  <a:pt x="2477" y="908"/>
                </a:lnTo>
                <a:lnTo>
                  <a:pt x="2477" y="908"/>
                </a:lnTo>
                <a:lnTo>
                  <a:pt x="2477" y="912"/>
                </a:lnTo>
                <a:lnTo>
                  <a:pt x="2477" y="913"/>
                </a:lnTo>
                <a:lnTo>
                  <a:pt x="2482" y="915"/>
                </a:lnTo>
                <a:lnTo>
                  <a:pt x="2482" y="915"/>
                </a:lnTo>
                <a:lnTo>
                  <a:pt x="2487" y="917"/>
                </a:lnTo>
                <a:lnTo>
                  <a:pt x="2493" y="919"/>
                </a:lnTo>
                <a:lnTo>
                  <a:pt x="2493" y="919"/>
                </a:lnTo>
                <a:lnTo>
                  <a:pt x="2498" y="919"/>
                </a:lnTo>
                <a:lnTo>
                  <a:pt x="2506" y="919"/>
                </a:lnTo>
                <a:lnTo>
                  <a:pt x="2506" y="919"/>
                </a:lnTo>
                <a:lnTo>
                  <a:pt x="2509" y="921"/>
                </a:lnTo>
                <a:lnTo>
                  <a:pt x="2509" y="923"/>
                </a:lnTo>
                <a:lnTo>
                  <a:pt x="2509" y="924"/>
                </a:lnTo>
                <a:lnTo>
                  <a:pt x="2509" y="924"/>
                </a:lnTo>
                <a:lnTo>
                  <a:pt x="2506" y="926"/>
                </a:lnTo>
                <a:lnTo>
                  <a:pt x="2500" y="926"/>
                </a:lnTo>
                <a:lnTo>
                  <a:pt x="2493" y="926"/>
                </a:lnTo>
                <a:lnTo>
                  <a:pt x="2493" y="926"/>
                </a:lnTo>
                <a:close/>
                <a:moveTo>
                  <a:pt x="3299" y="2256"/>
                </a:moveTo>
                <a:lnTo>
                  <a:pt x="3299" y="2256"/>
                </a:lnTo>
                <a:lnTo>
                  <a:pt x="3290" y="2252"/>
                </a:lnTo>
                <a:lnTo>
                  <a:pt x="3283" y="2252"/>
                </a:lnTo>
                <a:lnTo>
                  <a:pt x="3279" y="2252"/>
                </a:lnTo>
                <a:lnTo>
                  <a:pt x="3279" y="2252"/>
                </a:lnTo>
                <a:lnTo>
                  <a:pt x="3276" y="2254"/>
                </a:lnTo>
                <a:lnTo>
                  <a:pt x="3272" y="2258"/>
                </a:lnTo>
                <a:lnTo>
                  <a:pt x="3268" y="2265"/>
                </a:lnTo>
                <a:lnTo>
                  <a:pt x="3268" y="2265"/>
                </a:lnTo>
                <a:lnTo>
                  <a:pt x="3265" y="2273"/>
                </a:lnTo>
                <a:lnTo>
                  <a:pt x="3257" y="2280"/>
                </a:lnTo>
                <a:lnTo>
                  <a:pt x="3257" y="2280"/>
                </a:lnTo>
                <a:lnTo>
                  <a:pt x="3248" y="2285"/>
                </a:lnTo>
                <a:lnTo>
                  <a:pt x="3236" y="2291"/>
                </a:lnTo>
                <a:lnTo>
                  <a:pt x="3225" y="2296"/>
                </a:lnTo>
                <a:lnTo>
                  <a:pt x="3221" y="2300"/>
                </a:lnTo>
                <a:lnTo>
                  <a:pt x="3218" y="2306"/>
                </a:lnTo>
                <a:lnTo>
                  <a:pt x="3218" y="2306"/>
                </a:lnTo>
                <a:lnTo>
                  <a:pt x="3216" y="2315"/>
                </a:lnTo>
                <a:lnTo>
                  <a:pt x="3216" y="2324"/>
                </a:lnTo>
                <a:lnTo>
                  <a:pt x="3219" y="2342"/>
                </a:lnTo>
                <a:lnTo>
                  <a:pt x="3219" y="2342"/>
                </a:lnTo>
                <a:lnTo>
                  <a:pt x="3221" y="2351"/>
                </a:lnTo>
                <a:lnTo>
                  <a:pt x="3221" y="2361"/>
                </a:lnTo>
                <a:lnTo>
                  <a:pt x="3218" y="2368"/>
                </a:lnTo>
                <a:lnTo>
                  <a:pt x="3212" y="2377"/>
                </a:lnTo>
                <a:lnTo>
                  <a:pt x="3212" y="2377"/>
                </a:lnTo>
                <a:lnTo>
                  <a:pt x="3205" y="2384"/>
                </a:lnTo>
                <a:lnTo>
                  <a:pt x="3201" y="2392"/>
                </a:lnTo>
                <a:lnTo>
                  <a:pt x="3198" y="2401"/>
                </a:lnTo>
                <a:lnTo>
                  <a:pt x="3196" y="2410"/>
                </a:lnTo>
                <a:lnTo>
                  <a:pt x="3196" y="2410"/>
                </a:lnTo>
                <a:lnTo>
                  <a:pt x="3198" y="2421"/>
                </a:lnTo>
                <a:lnTo>
                  <a:pt x="3199" y="2429"/>
                </a:lnTo>
                <a:lnTo>
                  <a:pt x="3210" y="2443"/>
                </a:lnTo>
                <a:lnTo>
                  <a:pt x="3210" y="2443"/>
                </a:lnTo>
                <a:lnTo>
                  <a:pt x="3212" y="2451"/>
                </a:lnTo>
                <a:lnTo>
                  <a:pt x="3216" y="2458"/>
                </a:lnTo>
                <a:lnTo>
                  <a:pt x="3216" y="2458"/>
                </a:lnTo>
                <a:lnTo>
                  <a:pt x="3221" y="2467"/>
                </a:lnTo>
                <a:lnTo>
                  <a:pt x="3230" y="2473"/>
                </a:lnTo>
                <a:lnTo>
                  <a:pt x="3239" y="2474"/>
                </a:lnTo>
                <a:lnTo>
                  <a:pt x="3245" y="2474"/>
                </a:lnTo>
                <a:lnTo>
                  <a:pt x="3248" y="2473"/>
                </a:lnTo>
                <a:lnTo>
                  <a:pt x="3248" y="2473"/>
                </a:lnTo>
                <a:lnTo>
                  <a:pt x="3252" y="2471"/>
                </a:lnTo>
                <a:lnTo>
                  <a:pt x="3256" y="2467"/>
                </a:lnTo>
                <a:lnTo>
                  <a:pt x="3259" y="2458"/>
                </a:lnTo>
                <a:lnTo>
                  <a:pt x="3263" y="2440"/>
                </a:lnTo>
                <a:lnTo>
                  <a:pt x="3263" y="2440"/>
                </a:lnTo>
                <a:lnTo>
                  <a:pt x="3266" y="2427"/>
                </a:lnTo>
                <a:lnTo>
                  <a:pt x="3272" y="2416"/>
                </a:lnTo>
                <a:lnTo>
                  <a:pt x="3277" y="2405"/>
                </a:lnTo>
                <a:lnTo>
                  <a:pt x="3281" y="2392"/>
                </a:lnTo>
                <a:lnTo>
                  <a:pt x="3281" y="2392"/>
                </a:lnTo>
                <a:lnTo>
                  <a:pt x="3283" y="2379"/>
                </a:lnTo>
                <a:lnTo>
                  <a:pt x="3288" y="2368"/>
                </a:lnTo>
                <a:lnTo>
                  <a:pt x="3299" y="2346"/>
                </a:lnTo>
                <a:lnTo>
                  <a:pt x="3299" y="2346"/>
                </a:lnTo>
                <a:lnTo>
                  <a:pt x="3303" y="2333"/>
                </a:lnTo>
                <a:lnTo>
                  <a:pt x="3305" y="2322"/>
                </a:lnTo>
                <a:lnTo>
                  <a:pt x="3305" y="2309"/>
                </a:lnTo>
                <a:lnTo>
                  <a:pt x="3303" y="2296"/>
                </a:lnTo>
                <a:lnTo>
                  <a:pt x="3303" y="2296"/>
                </a:lnTo>
                <a:lnTo>
                  <a:pt x="3303" y="2287"/>
                </a:lnTo>
                <a:lnTo>
                  <a:pt x="3305" y="2278"/>
                </a:lnTo>
                <a:lnTo>
                  <a:pt x="3305" y="2278"/>
                </a:lnTo>
                <a:lnTo>
                  <a:pt x="3305" y="2273"/>
                </a:lnTo>
                <a:lnTo>
                  <a:pt x="3305" y="2267"/>
                </a:lnTo>
                <a:lnTo>
                  <a:pt x="3303" y="2260"/>
                </a:lnTo>
                <a:lnTo>
                  <a:pt x="3299" y="2256"/>
                </a:lnTo>
                <a:lnTo>
                  <a:pt x="3299" y="2256"/>
                </a:lnTo>
                <a:close/>
              </a:path>
            </a:pathLst>
          </a:custGeom>
          <a:solidFill>
            <a:schemeClr val="bg1">
              <a:alpha val="58000"/>
            </a:schemeClr>
          </a:solidFill>
          <a:ln w="9525">
            <a:solidFill>
              <a:schemeClr val="bg1">
                <a:lumMod val="85000"/>
                <a:alpha val="0"/>
              </a:schemeClr>
            </a:solidFill>
            <a:round/>
            <a:headEnd/>
            <a:tailEnd/>
          </a:ln>
          <a:scene3d>
            <a:camera prst="orthographicFront">
              <a:rot lat="3300000" lon="0" rev="0"/>
            </a:camera>
            <a:lightRig rig="threePt" dir="t"/>
          </a:scene3d>
        </p:spPr>
        <p:txBody>
          <a:bodyPr vert="horz" wrap="square" lIns="91428" tIns="45714" rIns="91428" bIns="45714" numCol="1" anchor="ctr" anchorCtr="0" compatLnSpc="1">
            <a:prstTxWarp prst="textNoShape">
              <a:avLst/>
            </a:prstTxWarp>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914158" rtl="0" eaLnBrk="1" fontAlgn="auto" latinLnBrk="0" hangingPunct="1">
              <a:lnSpc>
                <a:spcPct val="100000"/>
              </a:lnSpc>
              <a:spcBef>
                <a:spcPts val="0"/>
              </a:spcBef>
              <a:spcAft>
                <a:spcPts val="0"/>
              </a:spcAft>
              <a:buClrTx/>
              <a:buSzTx/>
              <a:buFontTx/>
              <a:buNone/>
              <a:tabLst/>
              <a:defRPr/>
            </a:pPr>
            <a:endParaRPr kumimoji="0" lang="fr-FR" sz="1200" b="1"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46" name="Straight Connector 45">
            <a:extLst>
              <a:ext uri="{FF2B5EF4-FFF2-40B4-BE49-F238E27FC236}">
                <a16:creationId xmlns:a16="http://schemas.microsoft.com/office/drawing/2014/main" id="{506487E9-B47E-D8E6-A242-EACAAB2F23C7}"/>
              </a:ext>
            </a:extLst>
          </p:cNvPr>
          <p:cNvCxnSpPr>
            <a:cxnSpLocks/>
          </p:cNvCxnSpPr>
          <p:nvPr/>
        </p:nvCxnSpPr>
        <p:spPr>
          <a:xfrm>
            <a:off x="2849769" y="1873180"/>
            <a:ext cx="0" cy="755288"/>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215BE1-3AE0-6208-462D-CA73DC1E776C}"/>
              </a:ext>
            </a:extLst>
          </p:cNvPr>
          <p:cNvCxnSpPr>
            <a:cxnSpLocks/>
          </p:cNvCxnSpPr>
          <p:nvPr/>
        </p:nvCxnSpPr>
        <p:spPr>
          <a:xfrm>
            <a:off x="3486180" y="2129678"/>
            <a:ext cx="0" cy="808698"/>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402BE41-3CF1-D46B-7E28-141465F9046D}"/>
              </a:ext>
            </a:extLst>
          </p:cNvPr>
          <p:cNvCxnSpPr>
            <a:cxnSpLocks/>
          </p:cNvCxnSpPr>
          <p:nvPr/>
        </p:nvCxnSpPr>
        <p:spPr>
          <a:xfrm>
            <a:off x="6357853" y="1569691"/>
            <a:ext cx="0" cy="1554907"/>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5A987AA-285B-A1D1-F20F-83F7DADF7ED5}"/>
              </a:ext>
            </a:extLst>
          </p:cNvPr>
          <p:cNvCxnSpPr>
            <a:cxnSpLocks/>
          </p:cNvCxnSpPr>
          <p:nvPr/>
        </p:nvCxnSpPr>
        <p:spPr>
          <a:xfrm>
            <a:off x="5907754" y="3413478"/>
            <a:ext cx="0" cy="347775"/>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B1123BC-1917-7018-FBF1-3CC33960D7FF}"/>
              </a:ext>
            </a:extLst>
          </p:cNvPr>
          <p:cNvCxnSpPr>
            <a:cxnSpLocks/>
          </p:cNvCxnSpPr>
          <p:nvPr/>
        </p:nvCxnSpPr>
        <p:spPr>
          <a:xfrm>
            <a:off x="9150116" y="3459793"/>
            <a:ext cx="0" cy="488263"/>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sp>
        <p:nvSpPr>
          <p:cNvPr id="65" name="Teardrop 64">
            <a:extLst>
              <a:ext uri="{FF2B5EF4-FFF2-40B4-BE49-F238E27FC236}">
                <a16:creationId xmlns:a16="http://schemas.microsoft.com/office/drawing/2014/main" id="{A8382D7E-9FBF-4067-AA80-317149CD5738}"/>
              </a:ext>
            </a:extLst>
          </p:cNvPr>
          <p:cNvSpPr/>
          <p:nvPr/>
        </p:nvSpPr>
        <p:spPr>
          <a:xfrm rot="8100000">
            <a:off x="3097050" y="2755309"/>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66" name="TextBox 65">
            <a:extLst>
              <a:ext uri="{FF2B5EF4-FFF2-40B4-BE49-F238E27FC236}">
                <a16:creationId xmlns:a16="http://schemas.microsoft.com/office/drawing/2014/main" id="{1C7E679D-7E6D-006E-C784-3045F5BB4EE6}"/>
              </a:ext>
            </a:extLst>
          </p:cNvPr>
          <p:cNvSpPr txBox="1"/>
          <p:nvPr/>
        </p:nvSpPr>
        <p:spPr>
          <a:xfrm>
            <a:off x="2034357" y="1718479"/>
            <a:ext cx="599790"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r" defTabSz="91415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Ubuntu" panose="020B0504030602030204" pitchFamily="34" charset="0"/>
                <a:ea typeface="Roboto" panose="02000000000000000000" pitchFamily="2" charset="0"/>
                <a:cs typeface="+mn-cs"/>
              </a:rPr>
              <a:t>Canada</a:t>
            </a:r>
          </a:p>
        </p:txBody>
      </p:sp>
      <p:sp>
        <p:nvSpPr>
          <p:cNvPr id="67" name="TextBox 66">
            <a:extLst>
              <a:ext uri="{FF2B5EF4-FFF2-40B4-BE49-F238E27FC236}">
                <a16:creationId xmlns:a16="http://schemas.microsoft.com/office/drawing/2014/main" id="{50858198-A94A-211F-0026-40A288D64864}"/>
              </a:ext>
            </a:extLst>
          </p:cNvPr>
          <p:cNvSpPr txBox="1"/>
          <p:nvPr/>
        </p:nvSpPr>
        <p:spPr>
          <a:xfrm>
            <a:off x="3686045" y="1989906"/>
            <a:ext cx="424796"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r" defTabSz="91415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Ubuntu" panose="020B0504030602030204" pitchFamily="34" charset="0"/>
                <a:ea typeface="Roboto" panose="02000000000000000000" pitchFamily="2" charset="0"/>
                <a:cs typeface="+mn-cs"/>
              </a:rPr>
              <a:t>USA*</a:t>
            </a:r>
          </a:p>
        </p:txBody>
      </p:sp>
      <p:cxnSp>
        <p:nvCxnSpPr>
          <p:cNvPr id="49" name="Straight Connector 48">
            <a:extLst>
              <a:ext uri="{FF2B5EF4-FFF2-40B4-BE49-F238E27FC236}">
                <a16:creationId xmlns:a16="http://schemas.microsoft.com/office/drawing/2014/main" id="{CA39CA62-C165-D61A-3440-59122831D876}"/>
              </a:ext>
            </a:extLst>
          </p:cNvPr>
          <p:cNvCxnSpPr>
            <a:cxnSpLocks/>
          </p:cNvCxnSpPr>
          <p:nvPr/>
        </p:nvCxnSpPr>
        <p:spPr>
          <a:xfrm>
            <a:off x="3223248" y="2828572"/>
            <a:ext cx="0" cy="358284"/>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sp>
        <p:nvSpPr>
          <p:cNvPr id="72" name="Teardrop 71">
            <a:extLst>
              <a:ext uri="{FF2B5EF4-FFF2-40B4-BE49-F238E27FC236}">
                <a16:creationId xmlns:a16="http://schemas.microsoft.com/office/drawing/2014/main" id="{E60B287E-3CE8-B0D2-B893-E7C945BE8479}"/>
              </a:ext>
            </a:extLst>
          </p:cNvPr>
          <p:cNvSpPr/>
          <p:nvPr/>
        </p:nvSpPr>
        <p:spPr>
          <a:xfrm rot="8100000">
            <a:off x="3359981" y="1971430"/>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73" name="TextBox 72">
            <a:extLst>
              <a:ext uri="{FF2B5EF4-FFF2-40B4-BE49-F238E27FC236}">
                <a16:creationId xmlns:a16="http://schemas.microsoft.com/office/drawing/2014/main" id="{24C59BBE-6B48-D441-D5BC-40293D33D668}"/>
              </a:ext>
            </a:extLst>
          </p:cNvPr>
          <p:cNvSpPr txBox="1"/>
          <p:nvPr/>
        </p:nvSpPr>
        <p:spPr>
          <a:xfrm>
            <a:off x="2463027" y="2773784"/>
            <a:ext cx="582424"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r" defTabSz="91415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Ubuntu" panose="020B0504030602030204" pitchFamily="34" charset="0"/>
                <a:ea typeface="Roboto" panose="02000000000000000000" pitchFamily="2" charset="0"/>
                <a:cs typeface="+mn-cs"/>
              </a:rPr>
              <a:t>Mexico</a:t>
            </a:r>
          </a:p>
        </p:txBody>
      </p:sp>
      <p:sp>
        <p:nvSpPr>
          <p:cNvPr id="77" name="Teardrop 76">
            <a:extLst>
              <a:ext uri="{FF2B5EF4-FFF2-40B4-BE49-F238E27FC236}">
                <a16:creationId xmlns:a16="http://schemas.microsoft.com/office/drawing/2014/main" id="{117BA774-ABAE-9D9B-398A-CA761C1827BA}"/>
              </a:ext>
            </a:extLst>
          </p:cNvPr>
          <p:cNvSpPr/>
          <p:nvPr/>
        </p:nvSpPr>
        <p:spPr>
          <a:xfrm rot="8100000">
            <a:off x="5183628" y="2013362"/>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78" name="TextBox 77">
            <a:extLst>
              <a:ext uri="{FF2B5EF4-FFF2-40B4-BE49-F238E27FC236}">
                <a16:creationId xmlns:a16="http://schemas.microsoft.com/office/drawing/2014/main" id="{710739A4-3355-E202-A66D-5329CF062433}"/>
              </a:ext>
            </a:extLst>
          </p:cNvPr>
          <p:cNvSpPr txBox="1"/>
          <p:nvPr/>
        </p:nvSpPr>
        <p:spPr>
          <a:xfrm>
            <a:off x="4793573" y="2031838"/>
            <a:ext cx="347745" cy="215444"/>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7619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UK</a:t>
            </a:r>
          </a:p>
        </p:txBody>
      </p:sp>
      <p:sp>
        <p:nvSpPr>
          <p:cNvPr id="79" name="Teardrop 78">
            <a:extLst>
              <a:ext uri="{FF2B5EF4-FFF2-40B4-BE49-F238E27FC236}">
                <a16:creationId xmlns:a16="http://schemas.microsoft.com/office/drawing/2014/main" id="{2FF5CED0-9884-8A9A-66B8-4C16973CEC91}"/>
              </a:ext>
            </a:extLst>
          </p:cNvPr>
          <p:cNvSpPr/>
          <p:nvPr/>
        </p:nvSpPr>
        <p:spPr>
          <a:xfrm rot="8100000">
            <a:off x="5781283" y="3287280"/>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83" name="TextBox 82">
            <a:extLst>
              <a:ext uri="{FF2B5EF4-FFF2-40B4-BE49-F238E27FC236}">
                <a16:creationId xmlns:a16="http://schemas.microsoft.com/office/drawing/2014/main" id="{80B9362A-7030-6530-1B56-50B5AEAA2885}"/>
              </a:ext>
            </a:extLst>
          </p:cNvPr>
          <p:cNvSpPr txBox="1"/>
          <p:nvPr/>
        </p:nvSpPr>
        <p:spPr>
          <a:xfrm>
            <a:off x="5145538" y="1520430"/>
            <a:ext cx="1011228"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7619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Saudi Arabia</a:t>
            </a:r>
          </a:p>
        </p:txBody>
      </p:sp>
      <p:sp>
        <p:nvSpPr>
          <p:cNvPr id="86" name="TextBox 85">
            <a:extLst>
              <a:ext uri="{FF2B5EF4-FFF2-40B4-BE49-F238E27FC236}">
                <a16:creationId xmlns:a16="http://schemas.microsoft.com/office/drawing/2014/main" id="{E82071B2-533D-3383-B4E3-56766BAA5361}"/>
              </a:ext>
            </a:extLst>
          </p:cNvPr>
          <p:cNvSpPr txBox="1"/>
          <p:nvPr/>
        </p:nvSpPr>
        <p:spPr>
          <a:xfrm>
            <a:off x="4711120" y="3278394"/>
            <a:ext cx="1000541"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Ubuntu" panose="020B0504030602030204" pitchFamily="34" charset="0"/>
                <a:ea typeface="Roboto" panose="02000000000000000000" pitchFamily="2" charset="0"/>
                <a:cs typeface="+mn-cs"/>
              </a:rPr>
              <a:t>South Africa</a:t>
            </a:r>
          </a:p>
        </p:txBody>
      </p:sp>
      <p:cxnSp>
        <p:nvCxnSpPr>
          <p:cNvPr id="53" name="Straight Connector 52">
            <a:extLst>
              <a:ext uri="{FF2B5EF4-FFF2-40B4-BE49-F238E27FC236}">
                <a16:creationId xmlns:a16="http://schemas.microsoft.com/office/drawing/2014/main" id="{894EF11F-1BE2-2143-4F06-76AC3C16898D}"/>
              </a:ext>
            </a:extLst>
          </p:cNvPr>
          <p:cNvCxnSpPr>
            <a:cxnSpLocks/>
          </p:cNvCxnSpPr>
          <p:nvPr/>
        </p:nvCxnSpPr>
        <p:spPr>
          <a:xfrm>
            <a:off x="5309826" y="2101606"/>
            <a:ext cx="0" cy="618494"/>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sp>
        <p:nvSpPr>
          <p:cNvPr id="97" name="Teardrop 96">
            <a:extLst>
              <a:ext uri="{FF2B5EF4-FFF2-40B4-BE49-F238E27FC236}">
                <a16:creationId xmlns:a16="http://schemas.microsoft.com/office/drawing/2014/main" id="{0A385BF6-7933-C823-75A7-A7EED172DE58}"/>
              </a:ext>
            </a:extLst>
          </p:cNvPr>
          <p:cNvSpPr/>
          <p:nvPr/>
        </p:nvSpPr>
        <p:spPr>
          <a:xfrm rot="8100000">
            <a:off x="6231654" y="1517362"/>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98" name="Teardrop 97">
            <a:extLst>
              <a:ext uri="{FF2B5EF4-FFF2-40B4-BE49-F238E27FC236}">
                <a16:creationId xmlns:a16="http://schemas.microsoft.com/office/drawing/2014/main" id="{600F470D-50A3-A6E2-3FEF-7AB6F1F6E0DC}"/>
              </a:ext>
            </a:extLst>
          </p:cNvPr>
          <p:cNvSpPr/>
          <p:nvPr/>
        </p:nvSpPr>
        <p:spPr>
          <a:xfrm rot="8100000">
            <a:off x="5918406" y="2774926"/>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99" name="TextBox 98">
            <a:extLst>
              <a:ext uri="{FF2B5EF4-FFF2-40B4-BE49-F238E27FC236}">
                <a16:creationId xmlns:a16="http://schemas.microsoft.com/office/drawing/2014/main" id="{8A58DE12-E0F5-3FFE-86E1-BEBFE634A8CD}"/>
              </a:ext>
            </a:extLst>
          </p:cNvPr>
          <p:cNvSpPr txBox="1"/>
          <p:nvPr/>
        </p:nvSpPr>
        <p:spPr>
          <a:xfrm>
            <a:off x="5395143" y="2792846"/>
            <a:ext cx="474222"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7619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Egypt</a:t>
            </a:r>
          </a:p>
        </p:txBody>
      </p:sp>
      <p:cxnSp>
        <p:nvCxnSpPr>
          <p:cNvPr id="51" name="Straight Connector 50">
            <a:extLst>
              <a:ext uri="{FF2B5EF4-FFF2-40B4-BE49-F238E27FC236}">
                <a16:creationId xmlns:a16="http://schemas.microsoft.com/office/drawing/2014/main" id="{FE17B70A-6846-B520-1829-B7D746F56836}"/>
              </a:ext>
            </a:extLst>
          </p:cNvPr>
          <p:cNvCxnSpPr>
            <a:cxnSpLocks/>
          </p:cNvCxnSpPr>
          <p:nvPr/>
        </p:nvCxnSpPr>
        <p:spPr>
          <a:xfrm>
            <a:off x="6044603" y="2850148"/>
            <a:ext cx="0" cy="336708"/>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3FFC1206-093B-FBAB-A115-AE5703F506CB}"/>
              </a:ext>
            </a:extLst>
          </p:cNvPr>
          <p:cNvSpPr txBox="1"/>
          <p:nvPr/>
        </p:nvSpPr>
        <p:spPr>
          <a:xfrm>
            <a:off x="7087312" y="1956664"/>
            <a:ext cx="777457"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7619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mn-ea"/>
                <a:cs typeface="+mn-cs"/>
              </a:rPr>
              <a:t>Pakistan*</a:t>
            </a:r>
          </a:p>
        </p:txBody>
      </p:sp>
      <p:sp>
        <p:nvSpPr>
          <p:cNvPr id="110" name="TextBox 109">
            <a:extLst>
              <a:ext uri="{FF2B5EF4-FFF2-40B4-BE49-F238E27FC236}">
                <a16:creationId xmlns:a16="http://schemas.microsoft.com/office/drawing/2014/main" id="{3AF7D489-EEE4-9BBB-319F-77C43BBB0B2F}"/>
              </a:ext>
            </a:extLst>
          </p:cNvPr>
          <p:cNvSpPr txBox="1"/>
          <p:nvPr/>
        </p:nvSpPr>
        <p:spPr>
          <a:xfrm>
            <a:off x="7337439" y="2561109"/>
            <a:ext cx="482238"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91415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Ubuntu" panose="020B0504030602030204" pitchFamily="34" charset="0"/>
                <a:ea typeface="Roboto" panose="02000000000000000000" pitchFamily="2" charset="0"/>
                <a:cs typeface="+mn-cs"/>
              </a:rPr>
              <a:t>India*</a:t>
            </a:r>
          </a:p>
        </p:txBody>
      </p:sp>
      <p:sp>
        <p:nvSpPr>
          <p:cNvPr id="112" name="TextBox 111">
            <a:extLst>
              <a:ext uri="{FF2B5EF4-FFF2-40B4-BE49-F238E27FC236}">
                <a16:creationId xmlns:a16="http://schemas.microsoft.com/office/drawing/2014/main" id="{21F32D04-2D30-0465-99C8-0008F588C177}"/>
              </a:ext>
            </a:extLst>
          </p:cNvPr>
          <p:cNvSpPr txBox="1"/>
          <p:nvPr/>
        </p:nvSpPr>
        <p:spPr>
          <a:xfrm>
            <a:off x="8473416" y="2916214"/>
            <a:ext cx="725359"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91415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Ubuntu" panose="020B0504030602030204" pitchFamily="34" charset="0"/>
                <a:ea typeface="Roboto" panose="02000000000000000000" pitchFamily="2" charset="0"/>
                <a:cs typeface="+mn-cs"/>
              </a:rPr>
              <a:t>Australia</a:t>
            </a:r>
          </a:p>
        </p:txBody>
      </p:sp>
      <p:sp>
        <p:nvSpPr>
          <p:cNvPr id="113" name="Teardrop 112">
            <a:extLst>
              <a:ext uri="{FF2B5EF4-FFF2-40B4-BE49-F238E27FC236}">
                <a16:creationId xmlns:a16="http://schemas.microsoft.com/office/drawing/2014/main" id="{0AD6FA76-3A82-3AF4-DE24-00465A3B86D5}"/>
              </a:ext>
            </a:extLst>
          </p:cNvPr>
          <p:cNvSpPr/>
          <p:nvPr/>
        </p:nvSpPr>
        <p:spPr>
          <a:xfrm rot="8100000">
            <a:off x="9023917" y="3357601"/>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14" name="TextBox 113">
            <a:extLst>
              <a:ext uri="{FF2B5EF4-FFF2-40B4-BE49-F238E27FC236}">
                <a16:creationId xmlns:a16="http://schemas.microsoft.com/office/drawing/2014/main" id="{EA551DC9-B813-64C5-5DB4-6FAEC44D6B13}"/>
              </a:ext>
            </a:extLst>
          </p:cNvPr>
          <p:cNvSpPr txBox="1"/>
          <p:nvPr/>
        </p:nvSpPr>
        <p:spPr>
          <a:xfrm>
            <a:off x="9327329" y="3376078"/>
            <a:ext cx="1059318" cy="215443"/>
          </a:xfrm>
          <a:prstGeom prst="rect">
            <a:avLst/>
          </a:prstGeom>
          <a:noFill/>
          <a:effectLst>
            <a:outerShdw blurRad="50800" dist="38100" dir="8100000" algn="tr" rotWithShape="0">
              <a:prstClr val="black">
                <a:alpha val="40000"/>
              </a:prstClr>
            </a:outerShdw>
          </a:effectLst>
        </p:spPr>
        <p:txBody>
          <a:bodyPr wrap="square" lIns="0" tIns="0" rIns="0" bIns="0" rtlCol="0" anchor="ctr">
            <a:sp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l" defTabSz="91415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Ubuntu" panose="020B0504030602030204" pitchFamily="34" charset="0"/>
                <a:ea typeface="Roboto" panose="02000000000000000000" pitchFamily="2" charset="0"/>
                <a:cs typeface="+mn-cs"/>
              </a:rPr>
              <a:t>New Zealand</a:t>
            </a:r>
          </a:p>
        </p:txBody>
      </p:sp>
      <p:pic>
        <p:nvPicPr>
          <p:cNvPr id="118" name="Picture 117">
            <a:extLst>
              <a:ext uri="{FF2B5EF4-FFF2-40B4-BE49-F238E27FC236}">
                <a16:creationId xmlns:a16="http://schemas.microsoft.com/office/drawing/2014/main" id="{BF8CF57D-E399-F7BC-76D2-B4E03831C554}"/>
              </a:ext>
            </a:extLst>
          </p:cNvPr>
          <p:cNvPicPr>
            <a:picLocks noChangeAspect="1"/>
          </p:cNvPicPr>
          <p:nvPr/>
        </p:nvPicPr>
        <p:blipFill>
          <a:blip r:embed="rId3"/>
          <a:stretch>
            <a:fillRect/>
          </a:stretch>
        </p:blipFill>
        <p:spPr>
          <a:xfrm>
            <a:off x="5218386" y="2051043"/>
            <a:ext cx="182880" cy="182880"/>
          </a:xfrm>
          <a:prstGeom prst="ellipse">
            <a:avLst/>
          </a:prstGeom>
          <a:ln>
            <a:solidFill>
              <a:schemeClr val="tx2">
                <a:lumMod val="20000"/>
                <a:lumOff val="80000"/>
              </a:schemeClr>
            </a:solidFill>
          </a:ln>
          <a:effectLst/>
        </p:spPr>
      </p:pic>
      <p:pic>
        <p:nvPicPr>
          <p:cNvPr id="119" name="Picture 118">
            <a:extLst>
              <a:ext uri="{FF2B5EF4-FFF2-40B4-BE49-F238E27FC236}">
                <a16:creationId xmlns:a16="http://schemas.microsoft.com/office/drawing/2014/main" id="{2E03768A-FC5C-632B-F639-F11CE3AD2538}"/>
              </a:ext>
            </a:extLst>
          </p:cNvPr>
          <p:cNvPicPr>
            <a:picLocks noChangeAspect="1"/>
          </p:cNvPicPr>
          <p:nvPr/>
        </p:nvPicPr>
        <p:blipFill>
          <a:blip r:embed="rId4"/>
          <a:stretch>
            <a:fillRect/>
          </a:stretch>
        </p:blipFill>
        <p:spPr>
          <a:xfrm>
            <a:off x="3394740" y="2008377"/>
            <a:ext cx="182880" cy="182880"/>
          </a:xfrm>
          <a:prstGeom prst="ellipse">
            <a:avLst/>
          </a:prstGeom>
          <a:ln>
            <a:solidFill>
              <a:schemeClr val="tx2">
                <a:lumMod val="20000"/>
                <a:lumOff val="80000"/>
              </a:schemeClr>
            </a:solidFill>
          </a:ln>
          <a:effectLst/>
        </p:spPr>
      </p:pic>
      <p:pic>
        <p:nvPicPr>
          <p:cNvPr id="120" name="Picture 119">
            <a:extLst>
              <a:ext uri="{FF2B5EF4-FFF2-40B4-BE49-F238E27FC236}">
                <a16:creationId xmlns:a16="http://schemas.microsoft.com/office/drawing/2014/main" id="{56508410-19FF-2AE4-6093-0C383ADE0E33}"/>
              </a:ext>
            </a:extLst>
          </p:cNvPr>
          <p:cNvPicPr>
            <a:picLocks noChangeAspect="1"/>
          </p:cNvPicPr>
          <p:nvPr/>
        </p:nvPicPr>
        <p:blipFill>
          <a:blip r:embed="rId5"/>
          <a:stretch>
            <a:fillRect/>
          </a:stretch>
        </p:blipFill>
        <p:spPr>
          <a:xfrm>
            <a:off x="3132834" y="2795721"/>
            <a:ext cx="182880" cy="182880"/>
          </a:xfrm>
          <a:prstGeom prst="ellipse">
            <a:avLst/>
          </a:prstGeom>
          <a:ln>
            <a:solidFill>
              <a:schemeClr val="tx2">
                <a:lumMod val="20000"/>
                <a:lumOff val="80000"/>
              </a:schemeClr>
            </a:solidFill>
          </a:ln>
          <a:effectLst/>
        </p:spPr>
      </p:pic>
      <p:pic>
        <p:nvPicPr>
          <p:cNvPr id="121" name="Picture 120">
            <a:extLst>
              <a:ext uri="{FF2B5EF4-FFF2-40B4-BE49-F238E27FC236}">
                <a16:creationId xmlns:a16="http://schemas.microsoft.com/office/drawing/2014/main" id="{D91F756A-110E-9C6F-F4CB-5A1A1832D15B}"/>
              </a:ext>
            </a:extLst>
          </p:cNvPr>
          <p:cNvPicPr>
            <a:picLocks noChangeAspect="1"/>
          </p:cNvPicPr>
          <p:nvPr/>
        </p:nvPicPr>
        <p:blipFill>
          <a:blip r:embed="rId6"/>
          <a:stretch>
            <a:fillRect/>
          </a:stretch>
        </p:blipFill>
        <p:spPr>
          <a:xfrm>
            <a:off x="9058675" y="3394167"/>
            <a:ext cx="182880" cy="182880"/>
          </a:xfrm>
          <a:prstGeom prst="ellipse">
            <a:avLst/>
          </a:prstGeom>
          <a:ln>
            <a:solidFill>
              <a:schemeClr val="tx2">
                <a:lumMod val="20000"/>
                <a:lumOff val="80000"/>
              </a:schemeClr>
            </a:solidFill>
          </a:ln>
          <a:effectLst/>
        </p:spPr>
      </p:pic>
      <p:pic>
        <p:nvPicPr>
          <p:cNvPr id="124" name="Picture 123">
            <a:extLst>
              <a:ext uri="{FF2B5EF4-FFF2-40B4-BE49-F238E27FC236}">
                <a16:creationId xmlns:a16="http://schemas.microsoft.com/office/drawing/2014/main" id="{25968965-7A87-F657-2431-69D942555D0B}"/>
              </a:ext>
            </a:extLst>
          </p:cNvPr>
          <p:cNvPicPr>
            <a:picLocks noChangeAspect="1"/>
          </p:cNvPicPr>
          <p:nvPr/>
        </p:nvPicPr>
        <p:blipFill>
          <a:blip r:embed="rId7"/>
          <a:stretch>
            <a:fillRect/>
          </a:stretch>
        </p:blipFill>
        <p:spPr>
          <a:xfrm>
            <a:off x="5816042" y="3325339"/>
            <a:ext cx="182880" cy="182880"/>
          </a:xfrm>
          <a:prstGeom prst="ellipse">
            <a:avLst/>
          </a:prstGeom>
          <a:ln>
            <a:solidFill>
              <a:schemeClr val="tx2">
                <a:lumMod val="20000"/>
                <a:lumOff val="80000"/>
              </a:schemeClr>
            </a:solidFill>
          </a:ln>
          <a:effectLst/>
        </p:spPr>
      </p:pic>
      <p:pic>
        <p:nvPicPr>
          <p:cNvPr id="125" name="Picture 124">
            <a:extLst>
              <a:ext uri="{FF2B5EF4-FFF2-40B4-BE49-F238E27FC236}">
                <a16:creationId xmlns:a16="http://schemas.microsoft.com/office/drawing/2014/main" id="{AEDCA39A-2142-6CB0-5D9E-FDBC0383FE28}"/>
              </a:ext>
            </a:extLst>
          </p:cNvPr>
          <p:cNvPicPr>
            <a:picLocks noChangeAspect="1"/>
          </p:cNvPicPr>
          <p:nvPr/>
        </p:nvPicPr>
        <p:blipFill>
          <a:blip r:embed="rId8"/>
          <a:stretch>
            <a:fillRect/>
          </a:stretch>
        </p:blipFill>
        <p:spPr>
          <a:xfrm>
            <a:off x="5953163" y="2810021"/>
            <a:ext cx="182880" cy="182880"/>
          </a:xfrm>
          <a:prstGeom prst="ellipse">
            <a:avLst/>
          </a:prstGeom>
          <a:ln>
            <a:solidFill>
              <a:schemeClr val="tx2">
                <a:lumMod val="20000"/>
                <a:lumOff val="80000"/>
              </a:schemeClr>
            </a:solidFill>
          </a:ln>
          <a:effectLst/>
        </p:spPr>
      </p:pic>
      <p:pic>
        <p:nvPicPr>
          <p:cNvPr id="126" name="Picture 125">
            <a:extLst>
              <a:ext uri="{FF2B5EF4-FFF2-40B4-BE49-F238E27FC236}">
                <a16:creationId xmlns:a16="http://schemas.microsoft.com/office/drawing/2014/main" id="{0C663A96-8151-7056-6200-098AE955E348}"/>
              </a:ext>
            </a:extLst>
          </p:cNvPr>
          <p:cNvPicPr>
            <a:picLocks noChangeAspect="1"/>
          </p:cNvPicPr>
          <p:nvPr/>
        </p:nvPicPr>
        <p:blipFill>
          <a:blip r:embed="rId9"/>
          <a:stretch>
            <a:fillRect/>
          </a:stretch>
        </p:blipFill>
        <p:spPr>
          <a:xfrm>
            <a:off x="6266413" y="1554678"/>
            <a:ext cx="182880" cy="182880"/>
          </a:xfrm>
          <a:prstGeom prst="ellipse">
            <a:avLst/>
          </a:prstGeom>
          <a:ln>
            <a:solidFill>
              <a:schemeClr val="tx2">
                <a:lumMod val="20000"/>
                <a:lumOff val="80000"/>
              </a:schemeClr>
            </a:solidFill>
          </a:ln>
          <a:effectLst/>
        </p:spPr>
      </p:pic>
      <p:sp>
        <p:nvSpPr>
          <p:cNvPr id="44" name="Teardrop 43">
            <a:extLst>
              <a:ext uri="{FF2B5EF4-FFF2-40B4-BE49-F238E27FC236}">
                <a16:creationId xmlns:a16="http://schemas.microsoft.com/office/drawing/2014/main" id="{8CF4CD7F-D178-29E7-C9CD-4694BE969515}"/>
              </a:ext>
            </a:extLst>
          </p:cNvPr>
          <p:cNvSpPr/>
          <p:nvPr/>
        </p:nvSpPr>
        <p:spPr>
          <a:xfrm rot="8100000">
            <a:off x="2723569" y="1698795"/>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pic>
        <p:nvPicPr>
          <p:cNvPr id="115" name="Picture 114">
            <a:extLst>
              <a:ext uri="{FF2B5EF4-FFF2-40B4-BE49-F238E27FC236}">
                <a16:creationId xmlns:a16="http://schemas.microsoft.com/office/drawing/2014/main" id="{3F5180F2-7468-99F1-5FA4-FB3913DE9D80}"/>
              </a:ext>
            </a:extLst>
          </p:cNvPr>
          <p:cNvPicPr>
            <a:picLocks noChangeAspect="1"/>
          </p:cNvPicPr>
          <p:nvPr/>
        </p:nvPicPr>
        <p:blipFill>
          <a:blip r:embed="rId10"/>
          <a:stretch>
            <a:fillRect/>
          </a:stretch>
        </p:blipFill>
        <p:spPr>
          <a:xfrm>
            <a:off x="2758328" y="1732559"/>
            <a:ext cx="182880" cy="182880"/>
          </a:xfrm>
          <a:prstGeom prst="ellipse">
            <a:avLst/>
          </a:prstGeom>
          <a:ln>
            <a:solidFill>
              <a:schemeClr val="tx2">
                <a:lumMod val="20000"/>
                <a:lumOff val="80000"/>
              </a:schemeClr>
            </a:solidFill>
          </a:ln>
          <a:effectLst/>
        </p:spPr>
      </p:pic>
      <p:cxnSp>
        <p:nvCxnSpPr>
          <p:cNvPr id="61" name="Straight Connector 60">
            <a:extLst>
              <a:ext uri="{FF2B5EF4-FFF2-40B4-BE49-F238E27FC236}">
                <a16:creationId xmlns:a16="http://schemas.microsoft.com/office/drawing/2014/main" id="{D8096F21-9599-B8E9-7ADB-F42E6ECE5D36}"/>
              </a:ext>
            </a:extLst>
          </p:cNvPr>
          <p:cNvCxnSpPr>
            <a:cxnSpLocks/>
          </p:cNvCxnSpPr>
          <p:nvPr/>
        </p:nvCxnSpPr>
        <p:spPr>
          <a:xfrm>
            <a:off x="7133471" y="2605797"/>
            <a:ext cx="0" cy="538699"/>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sp>
        <p:nvSpPr>
          <p:cNvPr id="108" name="Teardrop 107">
            <a:extLst>
              <a:ext uri="{FF2B5EF4-FFF2-40B4-BE49-F238E27FC236}">
                <a16:creationId xmlns:a16="http://schemas.microsoft.com/office/drawing/2014/main" id="{5F29A6BE-5DDE-22F1-26E2-081F8CD6B5AF}"/>
              </a:ext>
            </a:extLst>
          </p:cNvPr>
          <p:cNvSpPr/>
          <p:nvPr/>
        </p:nvSpPr>
        <p:spPr>
          <a:xfrm rot="8100000">
            <a:off x="7007272" y="2537404"/>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pic>
        <p:nvPicPr>
          <p:cNvPr id="1026" name="Picture 2" descr="India Round Flag PNGs for Free Download">
            <a:extLst>
              <a:ext uri="{FF2B5EF4-FFF2-40B4-BE49-F238E27FC236}">
                <a16:creationId xmlns:a16="http://schemas.microsoft.com/office/drawing/2014/main" id="{A5829410-F288-CCA6-9827-51E6B6910B2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7037" t="7037" r="7037" b="7037"/>
          <a:stretch/>
        </p:blipFill>
        <p:spPr bwMode="auto">
          <a:xfrm>
            <a:off x="7044528" y="2575733"/>
            <a:ext cx="182880" cy="182880"/>
          </a:xfrm>
          <a:prstGeom prst="ellipse">
            <a:avLst/>
          </a:prstGeom>
          <a:ln>
            <a:solidFill>
              <a:schemeClr val="tx2">
                <a:lumMod val="20000"/>
                <a:lumOff val="80000"/>
              </a:schemeClr>
            </a:solidFill>
          </a:ln>
          <a:effectLst/>
          <a:extLst>
            <a:ext uri="{909E8E84-426E-40DD-AFC4-6F175D3DCCD1}">
              <a14:hiddenFill xmlns:a14="http://schemas.microsoft.com/office/drawing/2010/main">
                <a:solidFill>
                  <a:srgbClr val="FFFFFF"/>
                </a:solidFill>
              </a14:hiddenFill>
            </a:ext>
          </a:extLst>
        </p:spPr>
      </p:pic>
      <p:cxnSp>
        <p:nvCxnSpPr>
          <p:cNvPr id="62" name="Straight Connector 61">
            <a:extLst>
              <a:ext uri="{FF2B5EF4-FFF2-40B4-BE49-F238E27FC236}">
                <a16:creationId xmlns:a16="http://schemas.microsoft.com/office/drawing/2014/main" id="{DB390197-2063-2D6B-93FD-572845B4CA35}"/>
              </a:ext>
            </a:extLst>
          </p:cNvPr>
          <p:cNvCxnSpPr>
            <a:cxnSpLocks/>
          </p:cNvCxnSpPr>
          <p:nvPr/>
        </p:nvCxnSpPr>
        <p:spPr>
          <a:xfrm>
            <a:off x="8288664" y="3059980"/>
            <a:ext cx="0" cy="652274"/>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sp>
        <p:nvSpPr>
          <p:cNvPr id="111" name="Teardrop 110">
            <a:extLst>
              <a:ext uri="{FF2B5EF4-FFF2-40B4-BE49-F238E27FC236}">
                <a16:creationId xmlns:a16="http://schemas.microsoft.com/office/drawing/2014/main" id="{DE16ADD1-25CA-A9C2-CBBA-81E087F096FF}"/>
              </a:ext>
            </a:extLst>
          </p:cNvPr>
          <p:cNvSpPr/>
          <p:nvPr/>
        </p:nvSpPr>
        <p:spPr>
          <a:xfrm rot="8100000">
            <a:off x="8162465" y="2917675"/>
            <a:ext cx="252398" cy="252396"/>
          </a:xfrm>
          <a:prstGeom prst="teardrop">
            <a:avLst>
              <a:gd name="adj" fmla="val 106451"/>
            </a:avLst>
          </a:prstGeom>
          <a:solidFill>
            <a:schemeClr val="bg1"/>
          </a:solidFill>
          <a:ln w="9525">
            <a:solidFill>
              <a:schemeClr val="bg1"/>
            </a:solidFill>
            <a:headEnd type="oval" w="med" len="med"/>
            <a:tailEnd type="oval"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pic>
        <p:nvPicPr>
          <p:cNvPr id="123" name="Picture 122">
            <a:extLst>
              <a:ext uri="{FF2B5EF4-FFF2-40B4-BE49-F238E27FC236}">
                <a16:creationId xmlns:a16="http://schemas.microsoft.com/office/drawing/2014/main" id="{3023A240-5EBA-8337-9E9D-8B2D4CE86E8B}"/>
              </a:ext>
            </a:extLst>
          </p:cNvPr>
          <p:cNvPicPr>
            <a:picLocks noChangeAspect="1"/>
          </p:cNvPicPr>
          <p:nvPr/>
        </p:nvPicPr>
        <p:blipFill>
          <a:blip r:embed="rId12"/>
          <a:stretch>
            <a:fillRect/>
          </a:stretch>
        </p:blipFill>
        <p:spPr>
          <a:xfrm>
            <a:off x="8197224" y="2955450"/>
            <a:ext cx="182880" cy="182880"/>
          </a:xfrm>
          <a:prstGeom prst="ellipse">
            <a:avLst/>
          </a:prstGeom>
          <a:ln>
            <a:solidFill>
              <a:schemeClr val="tx2">
                <a:lumMod val="20000"/>
                <a:lumOff val="80000"/>
              </a:schemeClr>
            </a:solidFill>
          </a:ln>
          <a:effectLst/>
        </p:spPr>
      </p:pic>
      <p:cxnSp>
        <p:nvCxnSpPr>
          <p:cNvPr id="60" name="Straight Connector 59">
            <a:extLst>
              <a:ext uri="{FF2B5EF4-FFF2-40B4-BE49-F238E27FC236}">
                <a16:creationId xmlns:a16="http://schemas.microsoft.com/office/drawing/2014/main" id="{85A7E262-7933-6074-49A5-3AC485CCC768}"/>
              </a:ext>
            </a:extLst>
          </p:cNvPr>
          <p:cNvCxnSpPr>
            <a:cxnSpLocks/>
          </p:cNvCxnSpPr>
          <p:nvPr/>
        </p:nvCxnSpPr>
        <p:spPr>
          <a:xfrm>
            <a:off x="6911008" y="2025290"/>
            <a:ext cx="0" cy="941745"/>
          </a:xfrm>
          <a:prstGeom prst="line">
            <a:avLst/>
          </a:prstGeom>
          <a:ln w="9525">
            <a:solidFill>
              <a:schemeClr val="bg1"/>
            </a:solidFill>
            <a:headEnd type="oval" w="med" len="med"/>
            <a:tailEnd type="oval" w="sm" len="sm"/>
          </a:ln>
        </p:spPr>
        <p:style>
          <a:lnRef idx="1">
            <a:schemeClr val="accent1"/>
          </a:lnRef>
          <a:fillRef idx="0">
            <a:schemeClr val="accent1"/>
          </a:fillRef>
          <a:effectRef idx="0">
            <a:schemeClr val="accent1"/>
          </a:effectRef>
          <a:fontRef idx="minor">
            <a:schemeClr val="tx1"/>
          </a:fontRef>
        </p:style>
      </p:cxnSp>
      <p:sp>
        <p:nvSpPr>
          <p:cNvPr id="105" name="Teardrop 104">
            <a:extLst>
              <a:ext uri="{FF2B5EF4-FFF2-40B4-BE49-F238E27FC236}">
                <a16:creationId xmlns:a16="http://schemas.microsoft.com/office/drawing/2014/main" id="{B2F8B9AE-8C18-01F2-506E-ACFEC0481B08}"/>
              </a:ext>
            </a:extLst>
          </p:cNvPr>
          <p:cNvSpPr/>
          <p:nvPr/>
        </p:nvSpPr>
        <p:spPr>
          <a:xfrm rot="8100000">
            <a:off x="6784810" y="1920207"/>
            <a:ext cx="252398" cy="252396"/>
          </a:xfrm>
          <a:prstGeom prst="teardrop">
            <a:avLst>
              <a:gd name="adj" fmla="val 106451"/>
            </a:avLst>
          </a:prstGeom>
          <a:solidFill>
            <a:schemeClr val="bg1"/>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marR="0" lvl="0" indent="0" algn="ctr" defTabSz="914158"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pic>
        <p:nvPicPr>
          <p:cNvPr id="127" name="Picture 126">
            <a:extLst>
              <a:ext uri="{FF2B5EF4-FFF2-40B4-BE49-F238E27FC236}">
                <a16:creationId xmlns:a16="http://schemas.microsoft.com/office/drawing/2014/main" id="{3D2AECD0-7E3D-625A-39B3-9F19E5EE2147}"/>
              </a:ext>
            </a:extLst>
          </p:cNvPr>
          <p:cNvPicPr>
            <a:picLocks noChangeAspect="1"/>
          </p:cNvPicPr>
          <p:nvPr/>
        </p:nvPicPr>
        <p:blipFill>
          <a:blip r:embed="rId13"/>
          <a:stretch>
            <a:fillRect/>
          </a:stretch>
        </p:blipFill>
        <p:spPr>
          <a:xfrm>
            <a:off x="6819569" y="1958140"/>
            <a:ext cx="182880" cy="182880"/>
          </a:xfrm>
          <a:prstGeom prst="ellipse">
            <a:avLst/>
          </a:prstGeom>
          <a:ln>
            <a:solidFill>
              <a:schemeClr val="tx2">
                <a:lumMod val="20000"/>
                <a:lumOff val="80000"/>
              </a:schemeClr>
            </a:solidFill>
          </a:ln>
          <a:effectLst/>
        </p:spPr>
      </p:pic>
      <p:pic>
        <p:nvPicPr>
          <p:cNvPr id="36" name="Picture 35">
            <a:extLst>
              <a:ext uri="{FF2B5EF4-FFF2-40B4-BE49-F238E27FC236}">
                <a16:creationId xmlns:a16="http://schemas.microsoft.com/office/drawing/2014/main" id="{C72924F6-4D6B-5372-159D-299A4188D1FD}"/>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tretch>
            <a:fillRect/>
          </a:stretch>
        </p:blipFill>
        <p:spPr>
          <a:xfrm>
            <a:off x="2546313" y="4514756"/>
            <a:ext cx="457200" cy="457200"/>
          </a:xfrm>
          <a:prstGeom prst="rect">
            <a:avLst/>
          </a:prstGeom>
        </p:spPr>
      </p:pic>
      <p:pic>
        <p:nvPicPr>
          <p:cNvPr id="37" name="Picture 36">
            <a:extLst>
              <a:ext uri="{FF2B5EF4-FFF2-40B4-BE49-F238E27FC236}">
                <a16:creationId xmlns:a16="http://schemas.microsoft.com/office/drawing/2014/main" id="{5BAAABD8-701A-AF1E-3FAD-A5617453EA85}"/>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100000"/>
                    </a14:imgEffect>
                  </a14:imgLayer>
                </a14:imgProps>
              </a:ext>
            </a:extLst>
          </a:blip>
          <a:stretch>
            <a:fillRect/>
          </a:stretch>
        </p:blipFill>
        <p:spPr>
          <a:xfrm>
            <a:off x="4256571" y="4560476"/>
            <a:ext cx="365762" cy="365760"/>
          </a:xfrm>
          <a:prstGeom prst="rect">
            <a:avLst/>
          </a:prstGeom>
        </p:spPr>
      </p:pic>
      <p:pic>
        <p:nvPicPr>
          <p:cNvPr id="38" name="Picture 37">
            <a:extLst>
              <a:ext uri="{FF2B5EF4-FFF2-40B4-BE49-F238E27FC236}">
                <a16:creationId xmlns:a16="http://schemas.microsoft.com/office/drawing/2014/main" id="{FAE3C1B6-2F93-C8F5-3B8A-88167735440B}"/>
              </a:ext>
            </a:extLst>
          </p:cNvPr>
          <p:cNvPicPr>
            <a:picLocks noChangeAspect="1"/>
          </p:cNvPicPr>
          <p:nvPr/>
        </p:nvPicPr>
        <p:blipFill>
          <a:blip r:embed="rId18">
            <a:extLst>
              <a:ext uri="{BEBA8EAE-BF5A-486C-A8C5-ECC9F3942E4B}">
                <a14:imgProps xmlns:a14="http://schemas.microsoft.com/office/drawing/2010/main">
                  <a14:imgLayer r:embed="rId19">
                    <a14:imgEffect>
                      <a14:brightnessContrast bright="100000"/>
                    </a14:imgEffect>
                  </a14:imgLayer>
                </a14:imgProps>
              </a:ext>
            </a:extLst>
          </a:blip>
          <a:stretch>
            <a:fillRect/>
          </a:stretch>
        </p:blipFill>
        <p:spPr>
          <a:xfrm>
            <a:off x="5898533" y="4560476"/>
            <a:ext cx="365760" cy="365760"/>
          </a:xfrm>
          <a:prstGeom prst="rect">
            <a:avLst/>
          </a:prstGeom>
        </p:spPr>
      </p:pic>
      <p:pic>
        <p:nvPicPr>
          <p:cNvPr id="41" name="Picture 40">
            <a:extLst>
              <a:ext uri="{FF2B5EF4-FFF2-40B4-BE49-F238E27FC236}">
                <a16:creationId xmlns:a16="http://schemas.microsoft.com/office/drawing/2014/main" id="{4D8F2831-681A-6184-168C-E9E41ABA2408}"/>
              </a:ext>
            </a:extLst>
          </p:cNvPr>
          <p:cNvPicPr>
            <a:picLocks noChangeAspect="1"/>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Lst>
          </a:blip>
          <a:stretch>
            <a:fillRect/>
          </a:stretch>
        </p:blipFill>
        <p:spPr>
          <a:xfrm>
            <a:off x="7585650" y="4560476"/>
            <a:ext cx="365760" cy="365760"/>
          </a:xfrm>
          <a:prstGeom prst="rect">
            <a:avLst/>
          </a:prstGeom>
        </p:spPr>
      </p:pic>
      <p:pic>
        <p:nvPicPr>
          <p:cNvPr id="42" name="Picture 41">
            <a:extLst>
              <a:ext uri="{FF2B5EF4-FFF2-40B4-BE49-F238E27FC236}">
                <a16:creationId xmlns:a16="http://schemas.microsoft.com/office/drawing/2014/main" id="{5F02E9BF-A5BA-7139-AB83-78D2BE2AA481}"/>
              </a:ext>
            </a:extLst>
          </p:cNvPr>
          <p:cNvPicPr>
            <a:picLocks noChangeAspect="1"/>
          </p:cNvPicPr>
          <p:nvPr/>
        </p:nvPicPr>
        <p:blipFill>
          <a:blip r:embed="rId22">
            <a:extLst>
              <a:ext uri="{BEBA8EAE-BF5A-486C-A8C5-ECC9F3942E4B}">
                <a14:imgProps xmlns:a14="http://schemas.microsoft.com/office/drawing/2010/main">
                  <a14:imgLayer r:embed="rId23">
                    <a14:imgEffect>
                      <a14:brightnessContrast bright="100000"/>
                    </a14:imgEffect>
                  </a14:imgLayer>
                </a14:imgProps>
              </a:ext>
            </a:extLst>
          </a:blip>
          <a:stretch>
            <a:fillRect/>
          </a:stretch>
        </p:blipFill>
        <p:spPr>
          <a:xfrm>
            <a:off x="9250189" y="4560476"/>
            <a:ext cx="365760" cy="365760"/>
          </a:xfrm>
          <a:prstGeom prst="rect">
            <a:avLst/>
          </a:prstGeom>
        </p:spPr>
      </p:pic>
      <p:pic>
        <p:nvPicPr>
          <p:cNvPr id="45" name="Picture 44">
            <a:extLst>
              <a:ext uri="{FF2B5EF4-FFF2-40B4-BE49-F238E27FC236}">
                <a16:creationId xmlns:a16="http://schemas.microsoft.com/office/drawing/2014/main" id="{72159657-3E2C-4A98-1EEF-B8AB19859B28}"/>
              </a:ext>
            </a:extLst>
          </p:cNvPr>
          <p:cNvPicPr>
            <a:picLocks noChangeAspect="1"/>
          </p:cNvPicPr>
          <p:nvPr/>
        </p:nvPicPr>
        <p:blipFill>
          <a:blip r:embed="rId24">
            <a:extLst>
              <a:ext uri="{BEBA8EAE-BF5A-486C-A8C5-ECC9F3942E4B}">
                <a14:imgProps xmlns:a14="http://schemas.microsoft.com/office/drawing/2010/main">
                  <a14:imgLayer r:embed="rId25">
                    <a14:imgEffect>
                      <a14:brightnessContrast bright="100000"/>
                    </a14:imgEffect>
                  </a14:imgLayer>
                </a14:imgProps>
              </a:ext>
            </a:extLst>
          </a:blip>
          <a:stretch>
            <a:fillRect/>
          </a:stretch>
        </p:blipFill>
        <p:spPr>
          <a:xfrm>
            <a:off x="927494" y="4560476"/>
            <a:ext cx="365760" cy="365760"/>
          </a:xfrm>
          <a:prstGeom prst="rect">
            <a:avLst/>
          </a:prstGeom>
        </p:spPr>
      </p:pic>
      <p:pic>
        <p:nvPicPr>
          <p:cNvPr id="47" name="Picture 46">
            <a:extLst>
              <a:ext uri="{FF2B5EF4-FFF2-40B4-BE49-F238E27FC236}">
                <a16:creationId xmlns:a16="http://schemas.microsoft.com/office/drawing/2014/main" id="{D9517B8F-5F75-0344-6839-F77AB46E663A}"/>
              </a:ext>
            </a:extLst>
          </p:cNvPr>
          <p:cNvPicPr>
            <a:picLocks noChangeAspect="1"/>
          </p:cNvPicPr>
          <p:nvPr/>
        </p:nvPicPr>
        <p:blipFill>
          <a:blip r:embed="rId26">
            <a:extLst>
              <a:ext uri="{BEBA8EAE-BF5A-486C-A8C5-ECC9F3942E4B}">
                <a14:imgProps xmlns:a14="http://schemas.microsoft.com/office/drawing/2010/main">
                  <a14:imgLayer r:embed="rId27">
                    <a14:imgEffect>
                      <a14:brightnessContrast bright="100000"/>
                    </a14:imgEffect>
                  </a14:imgLayer>
                </a14:imgProps>
              </a:ext>
            </a:extLst>
          </a:blip>
          <a:stretch>
            <a:fillRect/>
          </a:stretch>
        </p:blipFill>
        <p:spPr>
          <a:xfrm>
            <a:off x="10914725" y="4560476"/>
            <a:ext cx="365760" cy="365760"/>
          </a:xfrm>
          <a:prstGeom prst="rect">
            <a:avLst/>
          </a:prstGeom>
        </p:spPr>
      </p:pic>
    </p:spTree>
    <p:extLst>
      <p:ext uri="{BB962C8B-B14F-4D97-AF65-F5344CB8AC3E}">
        <p14:creationId xmlns:p14="http://schemas.microsoft.com/office/powerpoint/2010/main" val="320682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2880360" cy="6858000"/>
          </a:xfrm>
          <a:prstGeom prst="rect">
            <a:avLst/>
          </a:prstGeom>
          <a:solidFill>
            <a:srgbClr val="241033"/>
          </a:solidFill>
          <a:ln/>
        </p:spPr>
        <p:txBody>
          <a:bodyPr/>
          <a:lstStyle/>
          <a:p>
            <a:endParaRPr lang="en-US"/>
          </a:p>
        </p:txBody>
      </p:sp>
      <p:sp>
        <p:nvSpPr>
          <p:cNvPr id="3" name="Text 1"/>
          <p:cNvSpPr txBox="1"/>
          <p:nvPr/>
        </p:nvSpPr>
        <p:spPr>
          <a:xfrm>
            <a:off x="320040" y="320040"/>
            <a:ext cx="2331720" cy="457200"/>
          </a:xfrm>
          <a:prstGeom prst="rect">
            <a:avLst/>
          </a:prstGeom>
          <a:noFill/>
          <a:ln/>
        </p:spPr>
        <p:txBody>
          <a:bodyPr wrap="square" lIns="0" tIns="0" rIns="0" bIns="0" rtlCol="0" anchor="ctr"/>
          <a:lstStyle/>
          <a:p>
            <a:pPr marL="0" indent="0">
              <a:buNone/>
            </a:pPr>
            <a:r>
              <a:rPr lang="en-US" sz="1700" b="1" dirty="0">
                <a:solidFill>
                  <a:srgbClr val="FFC629"/>
                </a:solidFill>
                <a:latin typeface="Arial" pitchFamily="34" charset="0"/>
                <a:ea typeface="Arial" pitchFamily="34" charset="-122"/>
                <a:cs typeface="Arial" pitchFamily="34" charset="-120"/>
              </a:rPr>
              <a:t>Key Differentiators</a:t>
            </a:r>
            <a:endParaRPr lang="en-US" sz="1700" dirty="0"/>
          </a:p>
        </p:txBody>
      </p:sp>
      <p:sp>
        <p:nvSpPr>
          <p:cNvPr id="4" name="Text 2"/>
          <p:cNvSpPr txBox="1"/>
          <p:nvPr/>
        </p:nvSpPr>
        <p:spPr>
          <a:xfrm>
            <a:off x="320040" y="896112"/>
            <a:ext cx="2331720" cy="274320"/>
          </a:xfrm>
          <a:prstGeom prst="rect">
            <a:avLst/>
          </a:prstGeom>
          <a:noFill/>
          <a:ln/>
        </p:spPr>
        <p:txBody>
          <a:bodyPr wrap="square" lIns="0" tIns="0" rIns="0" bIns="0" rtlCol="0" anchor="ctr"/>
          <a:lstStyle/>
          <a:p>
            <a:pPr marL="0" indent="0">
              <a:buNone/>
            </a:pPr>
            <a:r>
              <a:rPr lang="en-US" sz="1250" b="1" dirty="0">
                <a:solidFill>
                  <a:srgbClr val="00A99D"/>
                </a:solidFill>
                <a:latin typeface="Arial" pitchFamily="34" charset="0"/>
                <a:ea typeface="Arial" pitchFamily="34" charset="-122"/>
                <a:cs typeface="Arial" pitchFamily="34" charset="-120"/>
              </a:rPr>
              <a:t>B2B/B2C Business Knowledge</a:t>
            </a:r>
            <a:endParaRPr lang="en-US" sz="1250" dirty="0"/>
          </a:p>
        </p:txBody>
      </p:sp>
      <p:sp>
        <p:nvSpPr>
          <p:cNvPr id="5" name="Text 3"/>
          <p:cNvSpPr txBox="1"/>
          <p:nvPr/>
        </p:nvSpPr>
        <p:spPr>
          <a:xfrm>
            <a:off x="320040" y="1207008"/>
            <a:ext cx="2331720" cy="1499616"/>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Experienced domain experts with in-depth understanding of B2B/B2C Ecommerce trends across +12 industries</a:t>
            </a:r>
            <a:endParaRPr lang="en-US" sz="1000" dirty="0"/>
          </a:p>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Increased efficiency and consistency by using reusable components</a:t>
            </a:r>
            <a:endParaRPr lang="en-US" sz="1000" dirty="0"/>
          </a:p>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Experts in ecommerce architectural patterns and UX/UI design</a:t>
            </a:r>
            <a:endParaRPr lang="en-US" sz="1000" dirty="0"/>
          </a:p>
        </p:txBody>
      </p:sp>
      <p:sp>
        <p:nvSpPr>
          <p:cNvPr id="6" name="Text 4"/>
          <p:cNvSpPr txBox="1"/>
          <p:nvPr/>
        </p:nvSpPr>
        <p:spPr>
          <a:xfrm>
            <a:off x="320040" y="2834640"/>
            <a:ext cx="2331720" cy="274320"/>
          </a:xfrm>
          <a:prstGeom prst="rect">
            <a:avLst/>
          </a:prstGeom>
          <a:noFill/>
          <a:ln/>
        </p:spPr>
        <p:txBody>
          <a:bodyPr wrap="square" lIns="0" tIns="0" rIns="0" bIns="0" rtlCol="0" anchor="ctr"/>
          <a:lstStyle/>
          <a:p>
            <a:pPr marL="0" indent="0">
              <a:buNone/>
            </a:pPr>
            <a:r>
              <a:rPr lang="en-US" sz="1250" b="1" dirty="0">
                <a:solidFill>
                  <a:srgbClr val="00A99D"/>
                </a:solidFill>
                <a:latin typeface="Arial" pitchFamily="34" charset="0"/>
                <a:ea typeface="Arial" pitchFamily="34" charset="-122"/>
                <a:cs typeface="Arial" pitchFamily="34" charset="-120"/>
              </a:rPr>
              <a:t>Delivery Excellence</a:t>
            </a:r>
            <a:endParaRPr lang="en-US" sz="1250" dirty="0"/>
          </a:p>
        </p:txBody>
      </p:sp>
      <p:sp>
        <p:nvSpPr>
          <p:cNvPr id="7" name="Text 5"/>
          <p:cNvSpPr txBox="1"/>
          <p:nvPr/>
        </p:nvSpPr>
        <p:spPr>
          <a:xfrm>
            <a:off x="320040" y="3145536"/>
            <a:ext cx="2331720" cy="10972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Strong experience in program governance, risk management and project schedules</a:t>
            </a:r>
            <a:endParaRPr lang="en-US" sz="1000" dirty="0"/>
          </a:p>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On-time delivery track record</a:t>
            </a:r>
            <a:endParaRPr lang="en-US" sz="1000" dirty="0"/>
          </a:p>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Code reviews per standard technology guidelines, with SonarQube quality checks</a:t>
            </a:r>
            <a:endParaRPr lang="en-US" sz="1000" dirty="0"/>
          </a:p>
        </p:txBody>
      </p:sp>
      <p:sp>
        <p:nvSpPr>
          <p:cNvPr id="8" name="Text 6"/>
          <p:cNvSpPr txBox="1"/>
          <p:nvPr/>
        </p:nvSpPr>
        <p:spPr>
          <a:xfrm>
            <a:off x="320040" y="4370832"/>
            <a:ext cx="2331720" cy="274320"/>
          </a:xfrm>
          <a:prstGeom prst="rect">
            <a:avLst/>
          </a:prstGeom>
          <a:noFill/>
          <a:ln/>
        </p:spPr>
        <p:txBody>
          <a:bodyPr wrap="square" lIns="0" tIns="0" rIns="0" bIns="0" rtlCol="0" anchor="ctr"/>
          <a:lstStyle/>
          <a:p>
            <a:pPr marL="0" indent="0">
              <a:buNone/>
            </a:pPr>
            <a:r>
              <a:rPr lang="en-US" sz="1250" b="1" dirty="0">
                <a:solidFill>
                  <a:srgbClr val="00A99D"/>
                </a:solidFill>
                <a:latin typeface="Arial" pitchFamily="34" charset="0"/>
                <a:ea typeface="Arial" pitchFamily="34" charset="-122"/>
                <a:cs typeface="Arial" pitchFamily="34" charset="-120"/>
              </a:rPr>
              <a:t>RC Innovation Advantage</a:t>
            </a:r>
            <a:endParaRPr lang="en-US" sz="1250" dirty="0"/>
          </a:p>
        </p:txBody>
      </p:sp>
      <p:sp>
        <p:nvSpPr>
          <p:cNvPr id="9" name="Text 7"/>
          <p:cNvSpPr txBox="1"/>
          <p:nvPr/>
        </p:nvSpPr>
        <p:spPr>
          <a:xfrm>
            <a:off x="320040" y="4681728"/>
            <a:ext cx="2331720" cy="896112"/>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Free RC-built Accelerator that integrates easily with commerce platforms</a:t>
            </a:r>
            <a:endParaRPr lang="en-US" sz="1000" dirty="0"/>
          </a:p>
          <a:p>
            <a:pPr marL="342900" indent="-342900">
              <a:spcAft>
                <a:spcPts val="600"/>
              </a:spcAft>
              <a:buSzPct val="100000"/>
              <a:buChar char="✓"/>
            </a:pPr>
            <a:r>
              <a:rPr lang="en-US" sz="1000" dirty="0">
                <a:solidFill>
                  <a:srgbClr val="EDE7F5"/>
                </a:solidFill>
                <a:latin typeface="Calibri" pitchFamily="34" charset="0"/>
                <a:ea typeface="Calibri" pitchFamily="34" charset="-122"/>
                <a:cs typeface="Calibri" pitchFamily="34" charset="-120"/>
              </a:rPr>
              <a:t>Dev environment integrated with RC-built testing tool – GTP</a:t>
            </a:r>
            <a:endParaRPr lang="en-US" sz="1000" dirty="0"/>
          </a:p>
        </p:txBody>
      </p:sp>
      <p:sp>
        <p:nvSpPr>
          <p:cNvPr id="10" name="Text 8"/>
          <p:cNvSpPr txBox="1"/>
          <p:nvPr/>
        </p:nvSpPr>
        <p:spPr>
          <a:xfrm>
            <a:off x="3200400" y="320040"/>
            <a:ext cx="7296912" cy="502920"/>
          </a:xfrm>
          <a:prstGeom prst="rect">
            <a:avLst/>
          </a:prstGeom>
          <a:noFill/>
          <a:ln/>
        </p:spPr>
        <p:txBody>
          <a:bodyPr wrap="square" lIns="0" tIns="0" rIns="0" bIns="0" rtlCol="0" anchor="ctr"/>
          <a:lstStyle/>
          <a:p>
            <a:pPr marL="0" indent="0">
              <a:buNone/>
            </a:pPr>
            <a:r>
              <a:rPr lang="en-US" sz="2600" b="1" dirty="0">
                <a:solidFill>
                  <a:srgbClr val="241033"/>
                </a:solidFill>
                <a:latin typeface="Arial" pitchFamily="34" charset="0"/>
                <a:ea typeface="Arial" pitchFamily="34" charset="-122"/>
                <a:cs typeface="Arial" pitchFamily="34" charset="-120"/>
              </a:rPr>
              <a:t>commercetools Practice</a:t>
            </a:r>
            <a:endParaRPr lang="en-US" sz="2600" dirty="0"/>
          </a:p>
        </p:txBody>
      </p:sp>
      <p:pic>
        <p:nvPicPr>
          <p:cNvPr id="11" name="Image 0" descr="/home/claude/build/img/ct_badges.png"/>
          <p:cNvPicPr>
            <a:picLocks noChangeAspect="1"/>
          </p:cNvPicPr>
          <p:nvPr/>
        </p:nvPicPr>
        <p:blipFill>
          <a:blip r:embed="rId3"/>
          <a:stretch>
            <a:fillRect/>
          </a:stretch>
        </p:blipFill>
        <p:spPr>
          <a:xfrm>
            <a:off x="10497312" y="256032"/>
            <a:ext cx="1417320" cy="530352"/>
          </a:xfrm>
          <a:prstGeom prst="rect">
            <a:avLst/>
          </a:prstGeom>
        </p:spPr>
      </p:pic>
      <p:sp>
        <p:nvSpPr>
          <p:cNvPr id="12" name="Shape 9"/>
          <p:cNvSpPr/>
          <p:nvPr/>
        </p:nvSpPr>
        <p:spPr>
          <a:xfrm>
            <a:off x="3200400" y="960120"/>
            <a:ext cx="8668512" cy="384048"/>
          </a:xfrm>
          <a:prstGeom prst="roundRect">
            <a:avLst>
              <a:gd name="adj" fmla="val 14286"/>
            </a:avLst>
          </a:prstGeom>
          <a:solidFill>
            <a:srgbClr val="331A4D"/>
          </a:solidFill>
          <a:ln/>
        </p:spPr>
        <p:txBody>
          <a:bodyPr/>
          <a:lstStyle/>
          <a:p>
            <a:endParaRPr lang="en-US"/>
          </a:p>
        </p:txBody>
      </p:sp>
      <p:sp>
        <p:nvSpPr>
          <p:cNvPr id="13" name="Text 10"/>
          <p:cNvSpPr txBox="1"/>
          <p:nvPr/>
        </p:nvSpPr>
        <p:spPr>
          <a:xfrm>
            <a:off x="3337560" y="960120"/>
            <a:ext cx="8394192"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Focus</a:t>
            </a:r>
            <a:endParaRPr lang="en-US" sz="1300" dirty="0"/>
          </a:p>
        </p:txBody>
      </p:sp>
      <p:sp>
        <p:nvSpPr>
          <p:cNvPr id="14" name="Shape 11"/>
          <p:cNvSpPr/>
          <p:nvPr/>
        </p:nvSpPr>
        <p:spPr>
          <a:xfrm>
            <a:off x="3200400" y="1344168"/>
            <a:ext cx="8668512" cy="777240"/>
          </a:xfrm>
          <a:prstGeom prst="roundRect">
            <a:avLst>
              <a:gd name="adj" fmla="val 5882"/>
            </a:avLst>
          </a:prstGeom>
          <a:solidFill>
            <a:srgbClr val="FFFFFF"/>
          </a:solidFill>
          <a:ln w="12700">
            <a:solidFill>
              <a:srgbClr val="E4DEED"/>
            </a:solidFill>
            <a:prstDash val="solid"/>
          </a:ln>
        </p:spPr>
        <p:txBody>
          <a:bodyPr/>
          <a:lstStyle/>
          <a:p>
            <a:endParaRPr lang="en-US"/>
          </a:p>
        </p:txBody>
      </p:sp>
      <p:sp>
        <p:nvSpPr>
          <p:cNvPr id="15" name="Text 12"/>
          <p:cNvSpPr txBox="1"/>
          <p:nvPr/>
        </p:nvSpPr>
        <p:spPr>
          <a:xfrm>
            <a:off x="3337560" y="1417320"/>
            <a:ext cx="8394192" cy="640080"/>
          </a:xfrm>
          <a:prstGeom prst="rect">
            <a:avLst/>
          </a:prstGeom>
          <a:noFill/>
          <a:ln/>
        </p:spPr>
        <p:txBody>
          <a:bodyPr wrap="square" lIns="0" tIns="0" rIns="0" bIns="0" rtlCol="0" anchor="t"/>
          <a:lstStyle/>
          <a:p>
            <a:pPr marL="0" indent="0">
              <a:buNone/>
            </a:pPr>
            <a:r>
              <a:rPr lang="en-US" sz="1050" dirty="0">
                <a:solidFill>
                  <a:srgbClr val="5E5770"/>
                </a:solidFill>
                <a:latin typeface="Calibri" pitchFamily="34" charset="0"/>
                <a:ea typeface="Calibri" pitchFamily="34" charset="-122"/>
                <a:cs typeface="Calibri" pitchFamily="34" charset="-120"/>
              </a:rPr>
              <a:t>Royal Cyber focuses on building futuristic and innovative businesses powered by commercetools, delivering agility, insight, and efficiency across every sector. We are experts in Green Field Implementation, B2B and B2C Implementation, Microservices, Frontastic, Cloud Migration, Support and Enhancement, Composable Commerce, CMS, Search, Headless, Performance Tuning, Managed Service Support, and Regional and Global Roll-outs.</a:t>
            </a:r>
            <a:endParaRPr lang="en-US" sz="1050" dirty="0"/>
          </a:p>
        </p:txBody>
      </p:sp>
      <p:sp>
        <p:nvSpPr>
          <p:cNvPr id="16" name="Shape 13"/>
          <p:cNvSpPr/>
          <p:nvPr/>
        </p:nvSpPr>
        <p:spPr>
          <a:xfrm>
            <a:off x="3200400" y="2286000"/>
            <a:ext cx="4219956" cy="384048"/>
          </a:xfrm>
          <a:prstGeom prst="roundRect">
            <a:avLst>
              <a:gd name="adj" fmla="val 14286"/>
            </a:avLst>
          </a:prstGeom>
          <a:solidFill>
            <a:srgbClr val="331A4D"/>
          </a:solidFill>
          <a:ln/>
        </p:spPr>
        <p:txBody>
          <a:bodyPr/>
          <a:lstStyle/>
          <a:p>
            <a:endParaRPr lang="en-US"/>
          </a:p>
        </p:txBody>
      </p:sp>
      <p:sp>
        <p:nvSpPr>
          <p:cNvPr id="17" name="Text 14"/>
          <p:cNvSpPr txBox="1"/>
          <p:nvPr/>
        </p:nvSpPr>
        <p:spPr>
          <a:xfrm>
            <a:off x="3337560" y="2286000"/>
            <a:ext cx="3945636"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Practice Overview</a:t>
            </a:r>
            <a:endParaRPr lang="en-US" sz="1300" dirty="0"/>
          </a:p>
        </p:txBody>
      </p:sp>
      <p:sp>
        <p:nvSpPr>
          <p:cNvPr id="18" name="Shape 15"/>
          <p:cNvSpPr/>
          <p:nvPr/>
        </p:nvSpPr>
        <p:spPr>
          <a:xfrm>
            <a:off x="7648956" y="2286000"/>
            <a:ext cx="4219956" cy="384048"/>
          </a:xfrm>
          <a:prstGeom prst="roundRect">
            <a:avLst>
              <a:gd name="adj" fmla="val 14286"/>
            </a:avLst>
          </a:prstGeom>
          <a:solidFill>
            <a:srgbClr val="331A4D"/>
          </a:solidFill>
          <a:ln/>
        </p:spPr>
        <p:txBody>
          <a:bodyPr/>
          <a:lstStyle/>
          <a:p>
            <a:endParaRPr lang="en-US"/>
          </a:p>
        </p:txBody>
      </p:sp>
      <p:sp>
        <p:nvSpPr>
          <p:cNvPr id="19" name="Text 16"/>
          <p:cNvSpPr txBox="1"/>
          <p:nvPr/>
        </p:nvSpPr>
        <p:spPr>
          <a:xfrm>
            <a:off x="7786116" y="2286000"/>
            <a:ext cx="3945636"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Customers</a:t>
            </a:r>
            <a:endParaRPr lang="en-US" sz="1300" dirty="0"/>
          </a:p>
        </p:txBody>
      </p:sp>
      <p:sp>
        <p:nvSpPr>
          <p:cNvPr id="20" name="Shape 17"/>
          <p:cNvSpPr/>
          <p:nvPr/>
        </p:nvSpPr>
        <p:spPr>
          <a:xfrm>
            <a:off x="3200400" y="2670048"/>
            <a:ext cx="4219956" cy="1965960"/>
          </a:xfrm>
          <a:prstGeom prst="roundRect">
            <a:avLst>
              <a:gd name="adj" fmla="val 2326"/>
            </a:avLst>
          </a:prstGeom>
          <a:solidFill>
            <a:srgbClr val="FFFFFF"/>
          </a:solidFill>
          <a:ln w="12700">
            <a:solidFill>
              <a:srgbClr val="E4DEED"/>
            </a:solidFill>
            <a:prstDash val="solid"/>
          </a:ln>
        </p:spPr>
        <p:txBody>
          <a:bodyPr/>
          <a:lstStyle/>
          <a:p>
            <a:endParaRPr lang="en-US"/>
          </a:p>
        </p:txBody>
      </p:sp>
      <p:sp>
        <p:nvSpPr>
          <p:cNvPr id="21" name="Shape 18"/>
          <p:cNvSpPr/>
          <p:nvPr/>
        </p:nvSpPr>
        <p:spPr>
          <a:xfrm>
            <a:off x="7648956" y="2670048"/>
            <a:ext cx="4219956" cy="1965960"/>
          </a:xfrm>
          <a:prstGeom prst="roundRect">
            <a:avLst>
              <a:gd name="adj" fmla="val 2326"/>
            </a:avLst>
          </a:prstGeom>
          <a:solidFill>
            <a:srgbClr val="FFFFFF"/>
          </a:solidFill>
          <a:ln w="12700">
            <a:solidFill>
              <a:srgbClr val="E4DEED"/>
            </a:solidFill>
            <a:prstDash val="solid"/>
          </a:ln>
        </p:spPr>
        <p:txBody>
          <a:bodyPr/>
          <a:lstStyle/>
          <a:p>
            <a:endParaRPr lang="en-US"/>
          </a:p>
        </p:txBody>
      </p:sp>
      <p:sp>
        <p:nvSpPr>
          <p:cNvPr id="22" name="Text 19"/>
          <p:cNvSpPr txBox="1"/>
          <p:nvPr/>
        </p:nvSpPr>
        <p:spPr>
          <a:xfrm>
            <a:off x="3337560" y="2761488"/>
            <a:ext cx="3945636" cy="178308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41033"/>
                </a:solidFill>
                <a:latin typeface="Calibri" pitchFamily="34" charset="0"/>
                <a:ea typeface="Calibri" pitchFamily="34" charset="-122"/>
                <a:cs typeface="Calibri" pitchFamily="34" charset="-120"/>
              </a:rPr>
              <a:t>Working with commercetools since 2019, with 75+ resources, 30+ Certified Consultants</a:t>
            </a:r>
            <a:endParaRPr lang="en-US" sz="950" dirty="0"/>
          </a:p>
          <a:p>
            <a:pPr marL="342900" indent="-342900">
              <a:spcAft>
                <a:spcPts val="400"/>
              </a:spcAft>
              <a:buSzPct val="100000"/>
              <a:buChar char="✓"/>
            </a:pPr>
            <a:r>
              <a:rPr lang="en-US" sz="950" dirty="0">
                <a:solidFill>
                  <a:srgbClr val="241033"/>
                </a:solidFill>
                <a:latin typeface="Calibri" pitchFamily="34" charset="0"/>
                <a:ea typeface="Calibri" pitchFamily="34" charset="-122"/>
                <a:cs typeface="Calibri" pitchFamily="34" charset="-120"/>
              </a:rPr>
              <a:t>commercetools configuration and implementation</a:t>
            </a:r>
            <a:endParaRPr lang="en-US" sz="950" dirty="0"/>
          </a:p>
          <a:p>
            <a:pPr marL="342900" indent="-342900">
              <a:spcAft>
                <a:spcPts val="400"/>
              </a:spcAft>
              <a:buSzPct val="100000"/>
              <a:buChar char="✓"/>
            </a:pPr>
            <a:r>
              <a:rPr lang="en-US" sz="950" dirty="0">
                <a:solidFill>
                  <a:srgbClr val="241033"/>
                </a:solidFill>
                <a:latin typeface="Calibri" pitchFamily="34" charset="0"/>
                <a:ea typeface="Calibri" pitchFamily="34" charset="-122"/>
                <a:cs typeface="Calibri" pitchFamily="34" charset="-120"/>
              </a:rPr>
              <a:t>Composable commerce implementations (CoCo)</a:t>
            </a:r>
            <a:endParaRPr lang="en-US" sz="950" dirty="0"/>
          </a:p>
          <a:p>
            <a:pPr marL="342900" indent="-342900">
              <a:spcAft>
                <a:spcPts val="400"/>
              </a:spcAft>
              <a:buSzPct val="100000"/>
              <a:buChar char="✓"/>
            </a:pPr>
            <a:r>
              <a:rPr lang="en-US" sz="950" dirty="0">
                <a:solidFill>
                  <a:srgbClr val="241033"/>
                </a:solidFill>
                <a:latin typeface="Calibri" pitchFamily="34" charset="0"/>
                <a:ea typeface="Calibri" pitchFamily="34" charset="-122"/>
                <a:cs typeface="Calibri" pitchFamily="34" charset="-120"/>
              </a:rPr>
              <a:t>Frontastic implementation (CoFe)</a:t>
            </a:r>
            <a:endParaRPr lang="en-US" sz="950" dirty="0"/>
          </a:p>
          <a:p>
            <a:pPr marL="342900" indent="-342900">
              <a:spcAft>
                <a:spcPts val="400"/>
              </a:spcAft>
              <a:buSzPct val="100000"/>
              <a:buChar char="✓"/>
            </a:pPr>
            <a:r>
              <a:rPr lang="en-US" sz="950" dirty="0">
                <a:solidFill>
                  <a:srgbClr val="241033"/>
                </a:solidFill>
                <a:latin typeface="Calibri" pitchFamily="34" charset="0"/>
                <a:ea typeface="Calibri" pitchFamily="34" charset="-122"/>
                <a:cs typeface="Calibri" pitchFamily="34" charset="-120"/>
              </a:rPr>
              <a:t>Managed services</a:t>
            </a:r>
            <a:endParaRPr lang="en-US" sz="950" dirty="0"/>
          </a:p>
          <a:p>
            <a:pPr marL="342900" indent="-342900">
              <a:spcAft>
                <a:spcPts val="400"/>
              </a:spcAft>
              <a:buSzPct val="100000"/>
              <a:buChar char="✓"/>
            </a:pPr>
            <a:r>
              <a:rPr lang="en-US" sz="950" dirty="0">
                <a:solidFill>
                  <a:srgbClr val="241033"/>
                </a:solidFill>
                <a:latin typeface="Calibri" pitchFamily="34" charset="0"/>
                <a:ea typeface="Calibri" pitchFamily="34" charset="-122"/>
                <a:cs typeface="Calibri" pitchFamily="34" charset="-120"/>
              </a:rPr>
              <a:t>Solution / extension build</a:t>
            </a:r>
            <a:endParaRPr lang="en-US" sz="950" dirty="0"/>
          </a:p>
          <a:p>
            <a:pPr marL="342900" indent="-342900">
              <a:spcAft>
                <a:spcPts val="400"/>
              </a:spcAft>
              <a:buSzPct val="100000"/>
              <a:buChar char="✓"/>
            </a:pPr>
            <a:r>
              <a:rPr lang="en-US" sz="950" dirty="0">
                <a:solidFill>
                  <a:srgbClr val="241033"/>
                </a:solidFill>
                <a:latin typeface="Calibri" pitchFamily="34" charset="0"/>
                <a:ea typeface="Calibri" pitchFamily="34" charset="-122"/>
                <a:cs typeface="Calibri" pitchFamily="34" charset="-120"/>
              </a:rPr>
              <a:t>Performance &amp; quality enhancements</a:t>
            </a:r>
            <a:endParaRPr lang="en-US" sz="950" dirty="0"/>
          </a:p>
        </p:txBody>
      </p:sp>
      <p:sp>
        <p:nvSpPr>
          <p:cNvPr id="23" name="Text 20"/>
          <p:cNvSpPr txBox="1"/>
          <p:nvPr/>
        </p:nvSpPr>
        <p:spPr>
          <a:xfrm>
            <a:off x="7786116" y="2743200"/>
            <a:ext cx="3945636" cy="1828800"/>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JSW – APAC</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Breville – NA and ANZ</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Rich Products – NA</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Dr. Reddy's Lab – NA, German, APAC</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Sportsman's Guide – NA</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MARS – NA</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GWA – ANZ</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Nerivio – German</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Wildfork – NA</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Abbott Labs – NA</a:t>
            </a:r>
            <a:endParaRPr lang="en-US" sz="900" dirty="0"/>
          </a:p>
          <a:p>
            <a:pPr marL="342900" indent="-342900">
              <a:lnSpc>
                <a:spcPct val="100000"/>
              </a:lnSpc>
              <a:spcAft>
                <a:spcPts val="200"/>
              </a:spcAft>
              <a:buSzPct val="100000"/>
              <a:buChar char="✓"/>
            </a:pPr>
            <a:r>
              <a:rPr lang="en-US" sz="900" dirty="0">
                <a:solidFill>
                  <a:srgbClr val="241033"/>
                </a:solidFill>
                <a:latin typeface="Calibri" pitchFamily="34" charset="0"/>
                <a:ea typeface="Calibri" pitchFamily="34" charset="-122"/>
                <a:cs typeface="Calibri" pitchFamily="34" charset="-120"/>
              </a:rPr>
              <a:t>Beckett Collectible – NA</a:t>
            </a:r>
            <a:endParaRPr lang="en-US" sz="900" dirty="0"/>
          </a:p>
        </p:txBody>
      </p:sp>
      <p:sp>
        <p:nvSpPr>
          <p:cNvPr id="24" name="Shape 21"/>
          <p:cNvSpPr/>
          <p:nvPr/>
        </p:nvSpPr>
        <p:spPr>
          <a:xfrm>
            <a:off x="3200400" y="4818888"/>
            <a:ext cx="8668512" cy="384048"/>
          </a:xfrm>
          <a:prstGeom prst="roundRect">
            <a:avLst>
              <a:gd name="adj" fmla="val 14286"/>
            </a:avLst>
          </a:prstGeom>
          <a:solidFill>
            <a:srgbClr val="331A4D"/>
          </a:solidFill>
          <a:ln/>
        </p:spPr>
        <p:txBody>
          <a:bodyPr/>
          <a:lstStyle/>
          <a:p>
            <a:endParaRPr lang="en-US"/>
          </a:p>
        </p:txBody>
      </p:sp>
      <p:sp>
        <p:nvSpPr>
          <p:cNvPr id="25" name="Text 22"/>
          <p:cNvSpPr txBox="1"/>
          <p:nvPr/>
        </p:nvSpPr>
        <p:spPr>
          <a:xfrm>
            <a:off x="3337560" y="4818888"/>
            <a:ext cx="8394192"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Summary of Experience</a:t>
            </a:r>
            <a:endParaRPr lang="en-US" sz="1300" dirty="0"/>
          </a:p>
        </p:txBody>
      </p:sp>
      <p:sp>
        <p:nvSpPr>
          <p:cNvPr id="26" name="Shape 23"/>
          <p:cNvSpPr/>
          <p:nvPr/>
        </p:nvSpPr>
        <p:spPr>
          <a:xfrm>
            <a:off x="3200400" y="5276088"/>
            <a:ext cx="1254252" cy="457200"/>
          </a:xfrm>
          <a:prstGeom prst="roundRect">
            <a:avLst>
              <a:gd name="adj" fmla="val 8000"/>
            </a:avLst>
          </a:prstGeom>
          <a:solidFill>
            <a:srgbClr val="331A4D"/>
          </a:solidFill>
          <a:ln/>
        </p:spPr>
        <p:txBody>
          <a:bodyPr/>
          <a:lstStyle/>
          <a:p>
            <a:endParaRPr lang="en-US"/>
          </a:p>
        </p:txBody>
      </p:sp>
      <p:sp>
        <p:nvSpPr>
          <p:cNvPr id="27" name="Text 24"/>
          <p:cNvSpPr txBox="1"/>
          <p:nvPr/>
        </p:nvSpPr>
        <p:spPr>
          <a:xfrm>
            <a:off x="3273552" y="5276088"/>
            <a:ext cx="11079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Commercetools B2B/B2C Implementation</a:t>
            </a:r>
            <a:endParaRPr lang="en-US" sz="800" dirty="0"/>
          </a:p>
        </p:txBody>
      </p:sp>
      <p:sp>
        <p:nvSpPr>
          <p:cNvPr id="28" name="Shape 25"/>
          <p:cNvSpPr/>
          <p:nvPr/>
        </p:nvSpPr>
        <p:spPr>
          <a:xfrm>
            <a:off x="3200400" y="5788152"/>
            <a:ext cx="1254252" cy="914400"/>
          </a:xfrm>
          <a:prstGeom prst="roundRect">
            <a:avLst>
              <a:gd name="adj" fmla="val 4000"/>
            </a:avLst>
          </a:prstGeom>
          <a:solidFill>
            <a:srgbClr val="F0EBF7"/>
          </a:solidFill>
          <a:ln/>
        </p:spPr>
        <p:txBody>
          <a:bodyPr/>
          <a:lstStyle/>
          <a:p>
            <a:endParaRPr lang="en-US"/>
          </a:p>
        </p:txBody>
      </p:sp>
      <p:sp>
        <p:nvSpPr>
          <p:cNvPr id="29" name="Text 26"/>
          <p:cNvSpPr txBox="1"/>
          <p:nvPr/>
        </p:nvSpPr>
        <p:spPr>
          <a:xfrm>
            <a:off x="3273552" y="5824728"/>
            <a:ext cx="1107948" cy="841248"/>
          </a:xfrm>
          <a:prstGeom prst="rect">
            <a:avLst/>
          </a:prstGeom>
          <a:noFill/>
          <a:ln/>
        </p:spPr>
        <p:txBody>
          <a:bodyPr wrap="square" lIns="0" tIns="0" rIns="0" bIns="0" rtlCol="0" anchor="t"/>
          <a:lstStyle/>
          <a:p>
            <a:pPr marL="0" indent="0" algn="ctr">
              <a:buNone/>
            </a:pPr>
            <a:r>
              <a:rPr lang="en-US" sz="750" dirty="0">
                <a:solidFill>
                  <a:srgbClr val="5E5770"/>
                </a:solidFill>
                <a:latin typeface="Calibri" pitchFamily="34" charset="0"/>
                <a:ea typeface="Calibri" pitchFamily="34" charset="-122"/>
                <a:cs typeface="Calibri" pitchFamily="34" charset="-120"/>
              </a:rPr>
              <a:t>Several implementations for some of the largest global and national brands</a:t>
            </a:r>
            <a:endParaRPr lang="en-US" sz="750" dirty="0"/>
          </a:p>
        </p:txBody>
      </p:sp>
      <p:sp>
        <p:nvSpPr>
          <p:cNvPr id="30" name="Shape 27"/>
          <p:cNvSpPr/>
          <p:nvPr/>
        </p:nvSpPr>
        <p:spPr>
          <a:xfrm>
            <a:off x="4683252" y="5276088"/>
            <a:ext cx="1254252" cy="457200"/>
          </a:xfrm>
          <a:prstGeom prst="roundRect">
            <a:avLst>
              <a:gd name="adj" fmla="val 8000"/>
            </a:avLst>
          </a:prstGeom>
          <a:solidFill>
            <a:srgbClr val="331A4D"/>
          </a:solidFill>
          <a:ln/>
        </p:spPr>
        <p:txBody>
          <a:bodyPr/>
          <a:lstStyle/>
          <a:p>
            <a:endParaRPr lang="en-US"/>
          </a:p>
        </p:txBody>
      </p:sp>
      <p:sp>
        <p:nvSpPr>
          <p:cNvPr id="31" name="Text 28"/>
          <p:cNvSpPr txBox="1"/>
          <p:nvPr/>
        </p:nvSpPr>
        <p:spPr>
          <a:xfrm>
            <a:off x="4756404" y="5276088"/>
            <a:ext cx="11079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Large Delivery Team</a:t>
            </a:r>
            <a:endParaRPr lang="en-US" sz="800" dirty="0"/>
          </a:p>
        </p:txBody>
      </p:sp>
      <p:sp>
        <p:nvSpPr>
          <p:cNvPr id="32" name="Shape 29"/>
          <p:cNvSpPr/>
          <p:nvPr/>
        </p:nvSpPr>
        <p:spPr>
          <a:xfrm>
            <a:off x="4683252" y="5788152"/>
            <a:ext cx="1254252" cy="914400"/>
          </a:xfrm>
          <a:prstGeom prst="roundRect">
            <a:avLst>
              <a:gd name="adj" fmla="val 4000"/>
            </a:avLst>
          </a:prstGeom>
          <a:solidFill>
            <a:srgbClr val="F0EBF7"/>
          </a:solidFill>
          <a:ln/>
        </p:spPr>
        <p:txBody>
          <a:bodyPr/>
          <a:lstStyle/>
          <a:p>
            <a:endParaRPr lang="en-US"/>
          </a:p>
        </p:txBody>
      </p:sp>
      <p:sp>
        <p:nvSpPr>
          <p:cNvPr id="33" name="Text 30"/>
          <p:cNvSpPr txBox="1"/>
          <p:nvPr/>
        </p:nvSpPr>
        <p:spPr>
          <a:xfrm>
            <a:off x="4756404" y="5824728"/>
            <a:ext cx="1107948" cy="841248"/>
          </a:xfrm>
          <a:prstGeom prst="rect">
            <a:avLst/>
          </a:prstGeom>
          <a:noFill/>
          <a:ln/>
        </p:spPr>
        <p:txBody>
          <a:bodyPr wrap="square" lIns="0" tIns="0" rIns="0" bIns="0" rtlCol="0" anchor="t"/>
          <a:lstStyle/>
          <a:p>
            <a:pPr marL="0" indent="0" algn="ctr">
              <a:buNone/>
            </a:pPr>
            <a:r>
              <a:rPr lang="en-US" sz="750" dirty="0">
                <a:solidFill>
                  <a:srgbClr val="5E5770"/>
                </a:solidFill>
                <a:latin typeface="Calibri" pitchFamily="34" charset="0"/>
                <a:ea typeface="Calibri" pitchFamily="34" charset="-122"/>
                <a:cs typeface="Calibri" pitchFamily="34" charset="-120"/>
              </a:rPr>
              <a:t>75+ commercetools resources, of which 30+ are certified around the globe</a:t>
            </a:r>
            <a:endParaRPr lang="en-US" sz="750" dirty="0"/>
          </a:p>
        </p:txBody>
      </p:sp>
      <p:sp>
        <p:nvSpPr>
          <p:cNvPr id="34" name="Shape 31"/>
          <p:cNvSpPr/>
          <p:nvPr/>
        </p:nvSpPr>
        <p:spPr>
          <a:xfrm>
            <a:off x="6166104" y="5276088"/>
            <a:ext cx="1254252" cy="457200"/>
          </a:xfrm>
          <a:prstGeom prst="roundRect">
            <a:avLst>
              <a:gd name="adj" fmla="val 8000"/>
            </a:avLst>
          </a:prstGeom>
          <a:solidFill>
            <a:srgbClr val="331A4D"/>
          </a:solidFill>
          <a:ln/>
        </p:spPr>
        <p:txBody>
          <a:bodyPr/>
          <a:lstStyle/>
          <a:p>
            <a:endParaRPr lang="en-US"/>
          </a:p>
        </p:txBody>
      </p:sp>
      <p:sp>
        <p:nvSpPr>
          <p:cNvPr id="35" name="Text 32"/>
          <p:cNvSpPr txBox="1"/>
          <p:nvPr/>
        </p:nvSpPr>
        <p:spPr>
          <a:xfrm>
            <a:off x="6239256" y="5276088"/>
            <a:ext cx="11079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Strong North American Presence</a:t>
            </a:r>
            <a:endParaRPr lang="en-US" sz="800" dirty="0"/>
          </a:p>
        </p:txBody>
      </p:sp>
      <p:sp>
        <p:nvSpPr>
          <p:cNvPr id="36" name="Shape 33"/>
          <p:cNvSpPr/>
          <p:nvPr/>
        </p:nvSpPr>
        <p:spPr>
          <a:xfrm>
            <a:off x="6166104" y="5788152"/>
            <a:ext cx="1254252" cy="914400"/>
          </a:xfrm>
          <a:prstGeom prst="roundRect">
            <a:avLst>
              <a:gd name="adj" fmla="val 4000"/>
            </a:avLst>
          </a:prstGeom>
          <a:solidFill>
            <a:srgbClr val="F0EBF7"/>
          </a:solidFill>
          <a:ln/>
        </p:spPr>
        <p:txBody>
          <a:bodyPr/>
          <a:lstStyle/>
          <a:p>
            <a:endParaRPr lang="en-US"/>
          </a:p>
        </p:txBody>
      </p:sp>
      <p:sp>
        <p:nvSpPr>
          <p:cNvPr id="37" name="Text 34"/>
          <p:cNvSpPr txBox="1"/>
          <p:nvPr/>
        </p:nvSpPr>
        <p:spPr>
          <a:xfrm>
            <a:off x="6239256" y="5824728"/>
            <a:ext cx="1107948" cy="841248"/>
          </a:xfrm>
          <a:prstGeom prst="rect">
            <a:avLst/>
          </a:prstGeom>
          <a:noFill/>
          <a:ln/>
        </p:spPr>
        <p:txBody>
          <a:bodyPr wrap="square" lIns="0" tIns="0" rIns="0" bIns="0" rtlCol="0" anchor="t"/>
          <a:lstStyle/>
          <a:p>
            <a:pPr marL="0" indent="0" algn="ctr">
              <a:buNone/>
            </a:pPr>
            <a:r>
              <a:rPr lang="en-US" sz="750" dirty="0">
                <a:solidFill>
                  <a:srgbClr val="5E5770"/>
                </a:solidFill>
                <a:latin typeface="Calibri" pitchFamily="34" charset="0"/>
                <a:ea typeface="Calibri" pitchFamily="34" charset="-122"/>
                <a:cs typeface="Calibri" pitchFamily="34" charset="-120"/>
              </a:rPr>
              <a:t>10+ commercetools resources in the U.S.</a:t>
            </a:r>
            <a:endParaRPr lang="en-US" sz="750" dirty="0"/>
          </a:p>
        </p:txBody>
      </p:sp>
      <p:sp>
        <p:nvSpPr>
          <p:cNvPr id="38" name="Shape 35"/>
          <p:cNvSpPr/>
          <p:nvPr/>
        </p:nvSpPr>
        <p:spPr>
          <a:xfrm>
            <a:off x="7648956" y="5276088"/>
            <a:ext cx="1254252" cy="457200"/>
          </a:xfrm>
          <a:prstGeom prst="roundRect">
            <a:avLst>
              <a:gd name="adj" fmla="val 8000"/>
            </a:avLst>
          </a:prstGeom>
          <a:solidFill>
            <a:srgbClr val="331A4D"/>
          </a:solidFill>
          <a:ln/>
        </p:spPr>
        <p:txBody>
          <a:bodyPr/>
          <a:lstStyle/>
          <a:p>
            <a:endParaRPr lang="en-US"/>
          </a:p>
        </p:txBody>
      </p:sp>
      <p:sp>
        <p:nvSpPr>
          <p:cNvPr id="39" name="Text 36"/>
          <p:cNvSpPr txBox="1"/>
          <p:nvPr/>
        </p:nvSpPr>
        <p:spPr>
          <a:xfrm>
            <a:off x="7722108" y="5276088"/>
            <a:ext cx="11079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Established Partnership</a:t>
            </a:r>
            <a:endParaRPr lang="en-US" sz="800" dirty="0"/>
          </a:p>
        </p:txBody>
      </p:sp>
      <p:sp>
        <p:nvSpPr>
          <p:cNvPr id="40" name="Shape 37"/>
          <p:cNvSpPr/>
          <p:nvPr/>
        </p:nvSpPr>
        <p:spPr>
          <a:xfrm>
            <a:off x="7648956" y="5788152"/>
            <a:ext cx="1254252" cy="914400"/>
          </a:xfrm>
          <a:prstGeom prst="roundRect">
            <a:avLst>
              <a:gd name="adj" fmla="val 4000"/>
            </a:avLst>
          </a:prstGeom>
          <a:solidFill>
            <a:srgbClr val="F0EBF7"/>
          </a:solidFill>
          <a:ln/>
        </p:spPr>
        <p:txBody>
          <a:bodyPr/>
          <a:lstStyle/>
          <a:p>
            <a:endParaRPr lang="en-US"/>
          </a:p>
        </p:txBody>
      </p:sp>
      <p:sp>
        <p:nvSpPr>
          <p:cNvPr id="41" name="Text 38"/>
          <p:cNvSpPr txBox="1"/>
          <p:nvPr/>
        </p:nvSpPr>
        <p:spPr>
          <a:xfrm>
            <a:off x="7722108" y="5824728"/>
            <a:ext cx="1107948" cy="841248"/>
          </a:xfrm>
          <a:prstGeom prst="rect">
            <a:avLst/>
          </a:prstGeom>
          <a:noFill/>
          <a:ln/>
        </p:spPr>
        <p:txBody>
          <a:bodyPr wrap="square" lIns="0" tIns="0" rIns="0" bIns="0" rtlCol="0" anchor="t"/>
          <a:lstStyle/>
          <a:p>
            <a:pPr marL="0" indent="0" algn="ctr">
              <a:buNone/>
            </a:pPr>
            <a:r>
              <a:rPr lang="en-US" sz="750" dirty="0">
                <a:solidFill>
                  <a:srgbClr val="5E5770"/>
                </a:solidFill>
                <a:latin typeface="Calibri" pitchFamily="34" charset="0"/>
                <a:ea typeface="Calibri" pitchFamily="34" charset="-122"/>
                <a:cs typeface="Calibri" pitchFamily="34" charset="-120"/>
              </a:rPr>
              <a:t>commercetools Silver Partner</a:t>
            </a:r>
            <a:endParaRPr lang="en-US" sz="750" dirty="0"/>
          </a:p>
        </p:txBody>
      </p:sp>
      <p:sp>
        <p:nvSpPr>
          <p:cNvPr id="42" name="Shape 39"/>
          <p:cNvSpPr/>
          <p:nvPr/>
        </p:nvSpPr>
        <p:spPr>
          <a:xfrm>
            <a:off x="9131808" y="5276088"/>
            <a:ext cx="1254252" cy="457200"/>
          </a:xfrm>
          <a:prstGeom prst="roundRect">
            <a:avLst>
              <a:gd name="adj" fmla="val 8000"/>
            </a:avLst>
          </a:prstGeom>
          <a:solidFill>
            <a:srgbClr val="331A4D"/>
          </a:solidFill>
          <a:ln/>
        </p:spPr>
        <p:txBody>
          <a:bodyPr/>
          <a:lstStyle/>
          <a:p>
            <a:endParaRPr lang="en-US"/>
          </a:p>
        </p:txBody>
      </p:sp>
      <p:sp>
        <p:nvSpPr>
          <p:cNvPr id="43" name="Text 40"/>
          <p:cNvSpPr txBox="1"/>
          <p:nvPr/>
        </p:nvSpPr>
        <p:spPr>
          <a:xfrm>
            <a:off x="9204960" y="5276088"/>
            <a:ext cx="11079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Deep Commerce Expertise</a:t>
            </a:r>
            <a:endParaRPr lang="en-US" sz="800" dirty="0"/>
          </a:p>
        </p:txBody>
      </p:sp>
      <p:sp>
        <p:nvSpPr>
          <p:cNvPr id="44" name="Shape 41"/>
          <p:cNvSpPr/>
          <p:nvPr/>
        </p:nvSpPr>
        <p:spPr>
          <a:xfrm>
            <a:off x="9131808" y="5788152"/>
            <a:ext cx="1254252" cy="914400"/>
          </a:xfrm>
          <a:prstGeom prst="roundRect">
            <a:avLst>
              <a:gd name="adj" fmla="val 4000"/>
            </a:avLst>
          </a:prstGeom>
          <a:solidFill>
            <a:srgbClr val="F0EBF7"/>
          </a:solidFill>
          <a:ln/>
        </p:spPr>
        <p:txBody>
          <a:bodyPr/>
          <a:lstStyle/>
          <a:p>
            <a:endParaRPr lang="en-US"/>
          </a:p>
        </p:txBody>
      </p:sp>
      <p:sp>
        <p:nvSpPr>
          <p:cNvPr id="45" name="Text 42"/>
          <p:cNvSpPr txBox="1"/>
          <p:nvPr/>
        </p:nvSpPr>
        <p:spPr>
          <a:xfrm>
            <a:off x="9204960" y="5824728"/>
            <a:ext cx="1107948" cy="841248"/>
          </a:xfrm>
          <a:prstGeom prst="rect">
            <a:avLst/>
          </a:prstGeom>
          <a:noFill/>
          <a:ln/>
        </p:spPr>
        <p:txBody>
          <a:bodyPr wrap="square" lIns="0" tIns="0" rIns="0" bIns="0" rtlCol="0" anchor="t"/>
          <a:lstStyle/>
          <a:p>
            <a:pPr marL="0" indent="0" algn="ctr">
              <a:buNone/>
            </a:pPr>
            <a:r>
              <a:rPr lang="en-US" sz="750" dirty="0">
                <a:solidFill>
                  <a:srgbClr val="5E5770"/>
                </a:solidFill>
                <a:latin typeface="Calibri" pitchFamily="34" charset="0"/>
                <a:ea typeface="Calibri" pitchFamily="34" charset="-122"/>
                <a:cs typeface="Calibri" pitchFamily="34" charset="-120"/>
              </a:rPr>
              <a:t>4 delivery centers worldwide: U.S., India, Canada and Pakistan</a:t>
            </a:r>
            <a:endParaRPr lang="en-US" sz="750" dirty="0"/>
          </a:p>
        </p:txBody>
      </p:sp>
      <p:sp>
        <p:nvSpPr>
          <p:cNvPr id="46" name="Shape 43"/>
          <p:cNvSpPr/>
          <p:nvPr/>
        </p:nvSpPr>
        <p:spPr>
          <a:xfrm>
            <a:off x="10614660" y="5276088"/>
            <a:ext cx="1254252" cy="457200"/>
          </a:xfrm>
          <a:prstGeom prst="roundRect">
            <a:avLst>
              <a:gd name="adj" fmla="val 8000"/>
            </a:avLst>
          </a:prstGeom>
          <a:solidFill>
            <a:srgbClr val="331A4D"/>
          </a:solidFill>
          <a:ln/>
        </p:spPr>
        <p:txBody>
          <a:bodyPr/>
          <a:lstStyle/>
          <a:p>
            <a:endParaRPr lang="en-US"/>
          </a:p>
        </p:txBody>
      </p:sp>
      <p:sp>
        <p:nvSpPr>
          <p:cNvPr id="47" name="Text 44"/>
          <p:cNvSpPr txBox="1"/>
          <p:nvPr/>
        </p:nvSpPr>
        <p:spPr>
          <a:xfrm>
            <a:off x="10687812" y="5276088"/>
            <a:ext cx="11079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We Build Innovation</a:t>
            </a:r>
            <a:endParaRPr lang="en-US" sz="800" dirty="0"/>
          </a:p>
        </p:txBody>
      </p:sp>
      <p:sp>
        <p:nvSpPr>
          <p:cNvPr id="48" name="Shape 45"/>
          <p:cNvSpPr/>
          <p:nvPr/>
        </p:nvSpPr>
        <p:spPr>
          <a:xfrm>
            <a:off x="10614660" y="5788152"/>
            <a:ext cx="1254252" cy="914400"/>
          </a:xfrm>
          <a:prstGeom prst="roundRect">
            <a:avLst>
              <a:gd name="adj" fmla="val 4000"/>
            </a:avLst>
          </a:prstGeom>
          <a:solidFill>
            <a:srgbClr val="F0EBF7"/>
          </a:solidFill>
          <a:ln/>
        </p:spPr>
        <p:txBody>
          <a:bodyPr/>
          <a:lstStyle/>
          <a:p>
            <a:endParaRPr lang="en-US"/>
          </a:p>
        </p:txBody>
      </p:sp>
      <p:sp>
        <p:nvSpPr>
          <p:cNvPr id="49" name="Text 46"/>
          <p:cNvSpPr txBox="1"/>
          <p:nvPr/>
        </p:nvSpPr>
        <p:spPr>
          <a:xfrm>
            <a:off x="10687812" y="5824728"/>
            <a:ext cx="1107948" cy="841248"/>
          </a:xfrm>
          <a:prstGeom prst="rect">
            <a:avLst/>
          </a:prstGeom>
          <a:noFill/>
          <a:ln/>
        </p:spPr>
        <p:txBody>
          <a:bodyPr wrap="square" lIns="0" tIns="0" rIns="0" bIns="0" rtlCol="0" anchor="t"/>
          <a:lstStyle/>
          <a:p>
            <a:pPr marL="0" indent="0" algn="ctr">
              <a:buNone/>
            </a:pPr>
            <a:r>
              <a:rPr lang="en-US" sz="750" dirty="0">
                <a:solidFill>
                  <a:srgbClr val="5E5770"/>
                </a:solidFill>
                <a:latin typeface="Calibri" pitchFamily="34" charset="0"/>
                <a:ea typeface="Calibri" pitchFamily="34" charset="-122"/>
                <a:cs typeface="Calibri" pitchFamily="34" charset="-120"/>
              </a:rPr>
              <a:t>Several Royal Cyber solutions enabling clients to compete with an edge</a:t>
            </a:r>
            <a:endParaRPr lang="en-US" sz="750" dirty="0"/>
          </a:p>
        </p:txBody>
      </p:sp>
      <p:sp>
        <p:nvSpPr>
          <p:cNvPr id="50" name="Text 47"/>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51" name="Text 48"/>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1033"/>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331A4D"/>
          </a:solidFill>
          <a:ln/>
        </p:spPr>
        <p:txBody>
          <a:bodyPr/>
          <a:lstStyle/>
          <a:p>
            <a:endParaRPr lang="en-US"/>
          </a:p>
        </p:txBody>
      </p:sp>
      <p:sp>
        <p:nvSpPr>
          <p:cNvPr id="3" name="Shape 1"/>
          <p:cNvSpPr/>
          <p:nvPr/>
        </p:nvSpPr>
        <p:spPr>
          <a:xfrm>
            <a:off x="9144000" y="2743200"/>
            <a:ext cx="5486400" cy="5486400"/>
          </a:xfrm>
          <a:prstGeom prst="ellipse">
            <a:avLst/>
          </a:prstGeom>
          <a:solidFill>
            <a:srgbClr val="4A2470"/>
          </a:solidFill>
          <a:ln/>
        </p:spPr>
        <p:txBody>
          <a:bodyPr/>
          <a:lstStyle/>
          <a:p>
            <a:endParaRPr lang="en-US"/>
          </a:p>
        </p:txBody>
      </p:sp>
      <p:sp>
        <p:nvSpPr>
          <p:cNvPr id="4" name="Shape 2"/>
          <p:cNvSpPr/>
          <p:nvPr/>
        </p:nvSpPr>
        <p:spPr>
          <a:xfrm>
            <a:off x="0" y="0"/>
            <a:ext cx="12188952" cy="6858000"/>
          </a:xfrm>
          <a:prstGeom prst="rect">
            <a:avLst/>
          </a:prstGeom>
          <a:solidFill>
            <a:srgbClr val="241033">
              <a:alpha val="85000"/>
            </a:srgbClr>
          </a:solidFill>
          <a:ln/>
        </p:spPr>
        <p:txBody>
          <a:bodyPr/>
          <a:lstStyle/>
          <a:p>
            <a:endParaRPr lang="en-US"/>
          </a:p>
        </p:txBody>
      </p:sp>
      <p:pic>
        <p:nvPicPr>
          <p:cNvPr id="5" name="Image 0" descr="/home/claude/build/img/ct_cube.png"/>
          <p:cNvPicPr>
            <a:picLocks noChangeAspect="1"/>
          </p:cNvPicPr>
          <p:nvPr/>
        </p:nvPicPr>
        <p:blipFill>
          <a:blip r:embed="rId3"/>
          <a:stretch>
            <a:fillRect/>
          </a:stretch>
        </p:blipFill>
        <p:spPr>
          <a:xfrm>
            <a:off x="5774436" y="1965960"/>
            <a:ext cx="640080" cy="640080"/>
          </a:xfrm>
          <a:prstGeom prst="rect">
            <a:avLst/>
          </a:prstGeom>
        </p:spPr>
      </p:pic>
      <p:sp>
        <p:nvSpPr>
          <p:cNvPr id="6" name="Text 3"/>
          <p:cNvSpPr txBox="1"/>
          <p:nvPr/>
        </p:nvSpPr>
        <p:spPr>
          <a:xfrm>
            <a:off x="731520" y="2880360"/>
            <a:ext cx="10725912" cy="548640"/>
          </a:xfrm>
          <a:prstGeom prst="rect">
            <a:avLst/>
          </a:prstGeom>
          <a:noFill/>
          <a:ln/>
        </p:spPr>
        <p:txBody>
          <a:bodyPr wrap="square" lIns="0" tIns="0" rIns="0" bIns="0" rtlCol="0" anchor="ctr"/>
          <a:lstStyle/>
          <a:p>
            <a:pPr marL="0" indent="0" algn="ctr">
              <a:buNone/>
            </a:pPr>
            <a:r>
              <a:rPr lang="en-US" sz="3200" b="1" kern="0" spc="200" dirty="0">
                <a:solidFill>
                  <a:srgbClr val="FFC629"/>
                </a:solidFill>
                <a:latin typeface="Arial" pitchFamily="34" charset="0"/>
                <a:ea typeface="Arial" pitchFamily="34" charset="-122"/>
                <a:cs typeface="Arial" pitchFamily="34" charset="-120"/>
              </a:rPr>
              <a:t>SUCCESS STORIES</a:t>
            </a:r>
            <a:endParaRPr lang="en-US" sz="3200" dirty="0"/>
          </a:p>
        </p:txBody>
      </p:sp>
      <p:sp>
        <p:nvSpPr>
          <p:cNvPr id="7" name="Text 4"/>
          <p:cNvSpPr txBox="1"/>
          <p:nvPr/>
        </p:nvSpPr>
        <p:spPr>
          <a:xfrm>
            <a:off x="731520" y="3520440"/>
            <a:ext cx="10725912" cy="548640"/>
          </a:xfrm>
          <a:prstGeom prst="rect">
            <a:avLst/>
          </a:prstGeom>
          <a:noFill/>
          <a:ln/>
        </p:spPr>
        <p:txBody>
          <a:bodyPr wrap="square" lIns="0" tIns="0" rIns="0" bIns="0"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Core Features Driving Customer Transformation</a:t>
            </a:r>
            <a:endParaRPr lang="en-US" sz="2200" dirty="0"/>
          </a:p>
        </p:txBody>
      </p:sp>
      <p:sp>
        <p:nvSpPr>
          <p:cNvPr id="8" name="Text 5"/>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C9BEDD"/>
                </a:solidFill>
                <a:latin typeface="Calibri" pitchFamily="34" charset="0"/>
                <a:ea typeface="Calibri" pitchFamily="34" charset="-122"/>
                <a:cs typeface="Calibri" pitchFamily="34" charset="-120"/>
              </a:rPr>
              <a:t>Copyright © 2026 Royal Cyber. All rights reserved.</a:t>
            </a:r>
            <a:endParaRPr lang="en-US" sz="900" dirty="0"/>
          </a:p>
        </p:txBody>
      </p:sp>
      <p:sp>
        <p:nvSpPr>
          <p:cNvPr id="9" name="Text 6"/>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C9BED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Rich’s USA</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Scalable, Efficient, and Customer-Centric Commerce</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Composable Architecture (D2C Model): </a:t>
            </a:r>
            <a:r>
              <a:rPr lang="en-US" sz="1300" dirty="0">
                <a:solidFill>
                  <a:srgbClr val="241033"/>
                </a:solidFill>
                <a:latin typeface="Calibri" pitchFamily="34" charset="0"/>
                <a:ea typeface="Calibri" pitchFamily="34" charset="-122"/>
                <a:cs typeface="Calibri" pitchFamily="34" charset="-120"/>
              </a:rPr>
              <a:t>Enabled Rich’s to break free from monolithic constraints, scaling rapidly across products, regions, and business units.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Faster Time-to-Market: </a:t>
            </a:r>
            <a:r>
              <a:rPr lang="en-US" sz="1300" dirty="0">
                <a:solidFill>
                  <a:srgbClr val="241033"/>
                </a:solidFill>
                <a:latin typeface="Calibri" pitchFamily="34" charset="0"/>
                <a:ea typeface="Calibri" pitchFamily="34" charset="-122"/>
                <a:cs typeface="Calibri" pitchFamily="34" charset="-120"/>
              </a:rPr>
              <a:t>Reduced deployment cycles for new features and offerings, enabling quicker adaptation to market demands.</a:t>
            </a:r>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Corporate Gifting (B2B Model)</a:t>
            </a:r>
            <a:r>
              <a:rPr lang="en-US" sz="1300" dirty="0">
                <a:solidFill>
                  <a:srgbClr val="241033"/>
                </a:solidFill>
                <a:latin typeface="Calibri" pitchFamily="34" charset="0"/>
                <a:ea typeface="Calibri" pitchFamily="34" charset="-122"/>
                <a:cs typeface="Calibri" pitchFamily="34" charset="-120"/>
              </a:rPr>
              <a:t>: Built a self-service portal where customers now can manage gifting orders and receive updates. </a:t>
            </a:r>
          </a:p>
          <a:p>
            <a:pPr marL="342900" indent="-342900">
              <a:lnSpc>
                <a:spcPct val="112000"/>
              </a:lnSpc>
              <a:buSzPct val="100000"/>
              <a:buFontTx/>
              <a:buChar char="●"/>
            </a:pPr>
            <a:r>
              <a:rPr lang="en-US" sz="1300" b="1" dirty="0">
                <a:solidFill>
                  <a:srgbClr val="4A2470"/>
                </a:solidFill>
                <a:latin typeface="Calibri" pitchFamily="34" charset="0"/>
                <a:ea typeface="Calibri" pitchFamily="34" charset="-122"/>
                <a:cs typeface="Calibri" pitchFamily="34" charset="-120"/>
              </a:rPr>
              <a:t>Streamlined PIM: </a:t>
            </a:r>
            <a:r>
              <a:rPr lang="en-US" sz="1300" dirty="0">
                <a:solidFill>
                  <a:srgbClr val="241033"/>
                </a:solidFill>
                <a:latin typeface="Calibri" pitchFamily="34" charset="0"/>
                <a:ea typeface="Calibri" pitchFamily="34" charset="-122"/>
                <a:cs typeface="Calibri" pitchFamily="34" charset="-120"/>
              </a:rPr>
              <a:t>Centralized product data into a unified platform, reducing duplication and ensuring consistency across channels.</a:t>
            </a:r>
            <a:endParaRPr lang="en-US" sz="1300" dirty="0"/>
          </a:p>
          <a:p>
            <a:pPr>
              <a:lnSpc>
                <a:spcPct val="112000"/>
              </a:lnSpc>
              <a:buSzPct val="100000"/>
            </a:pP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rich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Rich's USA | Foodservice &amp; In-Store Bakery Food Supplier</a:t>
            </a:r>
            <a:endParaRPr lang="en-US" sz="950" dirty="0"/>
          </a:p>
        </p:txBody>
      </p:sp>
      <p:sp>
        <p:nvSpPr>
          <p:cNvPr id="13" name="Text 9"/>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Mars</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Personalization, Multibrand Management &amp; Catalog Optimization</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Enhanced Personalization: </a:t>
            </a:r>
            <a:r>
              <a:rPr lang="en-US" sz="1300" dirty="0">
                <a:solidFill>
                  <a:srgbClr val="241033"/>
                </a:solidFill>
                <a:latin typeface="Calibri" pitchFamily="34" charset="0"/>
                <a:ea typeface="Calibri" pitchFamily="34" charset="-122"/>
                <a:cs typeface="Calibri" pitchFamily="34" charset="-120"/>
              </a:rPr>
              <a:t>Integrated capabilities for customizable products, such as personalized M&amp;M's, improving engagement and satisfaction.</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Streamlined Catalog Management: </a:t>
            </a:r>
            <a:r>
              <a:rPr lang="en-US" sz="1300" dirty="0">
                <a:solidFill>
                  <a:srgbClr val="241033"/>
                </a:solidFill>
                <a:latin typeface="Calibri" pitchFamily="34" charset="0"/>
                <a:ea typeface="Calibri" pitchFamily="34" charset="-122"/>
                <a:cs typeface="Calibri" pitchFamily="34" charset="-120"/>
              </a:rPr>
              <a:t>Efficient management of product catalogs, enabling quicker updates and consistency across channels.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Multibrand Enablement: </a:t>
            </a:r>
            <a:r>
              <a:rPr lang="en-US" sz="1300" dirty="0">
                <a:solidFill>
                  <a:srgbClr val="241033"/>
                </a:solidFill>
                <a:latin typeface="Calibri" pitchFamily="34" charset="0"/>
                <a:ea typeface="Calibri" pitchFamily="34" charset="-122"/>
                <a:cs typeface="Calibri" pitchFamily="34" charset="-120"/>
              </a:rPr>
              <a:t>Centralized management of multiple Mars brands on one platform, preserving brand identity while accelerating time-to-market.</a:t>
            </a: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mars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Global Petcare, Food &amp; Nutrition, and Snacking Brands | Mars, Incorporated</a:t>
            </a:r>
            <a:endParaRPr lang="en-US" sz="950" dirty="0"/>
          </a:p>
        </p:txBody>
      </p:sp>
      <p:sp>
        <p:nvSpPr>
          <p:cNvPr id="13" name="Text 9"/>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6</a:t>
            </a:r>
            <a:endParaRPr lang="en-US" sz="900" dirty="0"/>
          </a:p>
        </p:txBody>
      </p:sp>
      <p:sp>
        <p:nvSpPr>
          <p:cNvPr id="17" name="Text 12"/>
          <p:cNvSpPr txBox="1"/>
          <p:nvPr/>
        </p:nvSpPr>
        <p:spPr>
          <a:xfrm>
            <a:off x="10369296" y="6428232"/>
            <a:ext cx="1600200" cy="292608"/>
          </a:xfrm>
          <a:prstGeom prst="rect">
            <a:avLst/>
          </a:prstGeom>
          <a:noFill/>
          <a:ln/>
        </p:spPr>
        <p:txBody>
          <a:bodyPr wrap="square" lIns="0" tIns="0" rIns="0" bIns="0" rtlCol="0" anchor="ctr"/>
          <a:lstStyle/>
          <a:p>
            <a:pPr marL="0" indent="0" algn="l">
              <a:buNone/>
            </a:pP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B"/>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566928"/>
          </a:xfrm>
          <a:prstGeom prst="rect">
            <a:avLst/>
          </a:prstGeom>
          <a:noFill/>
          <a:ln/>
        </p:spPr>
        <p:txBody>
          <a:bodyPr wrap="square" lIns="0" tIns="0" rIns="0" bIns="0" rtlCol="0" anchor="ctr"/>
          <a:lstStyle/>
          <a:p>
            <a:pPr marL="0" indent="0">
              <a:buNone/>
            </a:pPr>
            <a:r>
              <a:rPr lang="en-US" sz="3000" b="1" dirty="0">
                <a:solidFill>
                  <a:srgbClr val="241033"/>
                </a:solidFill>
                <a:latin typeface="Arial" pitchFamily="34" charset="0"/>
                <a:ea typeface="Arial" pitchFamily="34" charset="-122"/>
                <a:cs typeface="Arial" pitchFamily="34" charset="-120"/>
              </a:rPr>
              <a:t>Mars D2C Experience</a:t>
            </a:r>
            <a:endParaRPr lang="en-US" sz="3000" dirty="0"/>
          </a:p>
        </p:txBody>
      </p:sp>
      <p:sp>
        <p:nvSpPr>
          <p:cNvPr id="3" name="Text 1"/>
          <p:cNvSpPr txBox="1"/>
          <p:nvPr/>
        </p:nvSpPr>
        <p:spPr>
          <a:xfrm>
            <a:off x="502920" y="896112"/>
            <a:ext cx="11155680" cy="365760"/>
          </a:xfrm>
          <a:prstGeom prst="rect">
            <a:avLst/>
          </a:prstGeom>
          <a:noFill/>
          <a:ln/>
        </p:spPr>
        <p:txBody>
          <a:bodyPr wrap="square" lIns="0" tIns="0" rIns="0" bIns="0" rtlCol="0" anchor="ctr"/>
          <a:lstStyle/>
          <a:p>
            <a:pPr marL="0" indent="0">
              <a:buNone/>
            </a:pPr>
            <a:r>
              <a:rPr lang="en-US" sz="1400" dirty="0">
                <a:solidFill>
                  <a:srgbClr val="5E5770"/>
                </a:solidFill>
                <a:latin typeface="Calibri" pitchFamily="34" charset="0"/>
                <a:ea typeface="Calibri" pitchFamily="34" charset="-122"/>
                <a:cs typeface="Calibri" pitchFamily="34" charset="-120"/>
              </a:rPr>
              <a:t>Features That Power Personalization &amp; Scale</a:t>
            </a:r>
            <a:endParaRPr lang="en-US" sz="1400" dirty="0"/>
          </a:p>
        </p:txBody>
      </p:sp>
      <p:sp>
        <p:nvSpPr>
          <p:cNvPr id="4" name="Shape 2"/>
          <p:cNvSpPr/>
          <p:nvPr/>
        </p:nvSpPr>
        <p:spPr>
          <a:xfrm>
            <a:off x="502920" y="1417320"/>
            <a:ext cx="5989320" cy="384048"/>
          </a:xfrm>
          <a:prstGeom prst="roundRect">
            <a:avLst>
              <a:gd name="adj" fmla="val 14286"/>
            </a:avLst>
          </a:prstGeom>
          <a:solidFill>
            <a:srgbClr val="331A4D"/>
          </a:solidFill>
          <a:ln/>
        </p:spPr>
        <p:txBody>
          <a:bodyPr/>
          <a:lstStyle/>
          <a:p>
            <a:endParaRPr lang="en-US"/>
          </a:p>
        </p:txBody>
      </p:sp>
      <p:sp>
        <p:nvSpPr>
          <p:cNvPr id="5" name="Text 3"/>
          <p:cNvSpPr txBox="1"/>
          <p:nvPr/>
        </p:nvSpPr>
        <p:spPr>
          <a:xfrm>
            <a:off x="640080" y="1417320"/>
            <a:ext cx="571500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Create Your M&amp;M's Feature</a:t>
            </a:r>
            <a:endParaRPr lang="en-US" sz="1300" dirty="0"/>
          </a:p>
        </p:txBody>
      </p:sp>
      <p:sp>
        <p:nvSpPr>
          <p:cNvPr id="6" name="Shape 4"/>
          <p:cNvSpPr/>
          <p:nvPr/>
        </p:nvSpPr>
        <p:spPr>
          <a:xfrm>
            <a:off x="493776" y="1865376"/>
            <a:ext cx="5961888" cy="2487168"/>
          </a:xfrm>
          <a:prstGeom prst="roundRect">
            <a:avLst>
              <a:gd name="adj" fmla="val 2941"/>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7" name="Image 0" descr="/home/claude/build/img/mars_mm.jpg"/>
          <p:cNvPicPr>
            <a:picLocks noChangeAspect="1"/>
          </p:cNvPicPr>
          <p:nvPr/>
        </p:nvPicPr>
        <p:blipFill>
          <a:blip r:embed="rId3"/>
          <a:stretch>
            <a:fillRect/>
          </a:stretch>
        </p:blipFill>
        <p:spPr>
          <a:xfrm>
            <a:off x="548640" y="1920240"/>
            <a:ext cx="5852160" cy="2377440"/>
          </a:xfrm>
          <a:prstGeom prst="rect">
            <a:avLst/>
          </a:prstGeom>
        </p:spPr>
      </p:pic>
      <p:sp>
        <p:nvSpPr>
          <p:cNvPr id="8" name="Shape 5"/>
          <p:cNvSpPr/>
          <p:nvPr/>
        </p:nvSpPr>
        <p:spPr>
          <a:xfrm>
            <a:off x="6748272" y="1417320"/>
            <a:ext cx="4709160" cy="384048"/>
          </a:xfrm>
          <a:prstGeom prst="roundRect">
            <a:avLst>
              <a:gd name="adj" fmla="val 14286"/>
            </a:avLst>
          </a:prstGeom>
          <a:solidFill>
            <a:srgbClr val="331A4D"/>
          </a:solidFill>
          <a:ln/>
        </p:spPr>
        <p:txBody>
          <a:bodyPr/>
          <a:lstStyle/>
          <a:p>
            <a:endParaRPr lang="en-US"/>
          </a:p>
        </p:txBody>
      </p:sp>
      <p:sp>
        <p:nvSpPr>
          <p:cNvPr id="9" name="Text 6"/>
          <p:cNvSpPr txBox="1"/>
          <p:nvPr/>
        </p:nvSpPr>
        <p:spPr>
          <a:xfrm>
            <a:off x="6885432" y="1417320"/>
            <a:ext cx="443484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Latest News Feature</a:t>
            </a:r>
            <a:endParaRPr lang="en-US" sz="1300" dirty="0"/>
          </a:p>
        </p:txBody>
      </p:sp>
      <p:sp>
        <p:nvSpPr>
          <p:cNvPr id="10" name="Shape 7"/>
          <p:cNvSpPr/>
          <p:nvPr/>
        </p:nvSpPr>
        <p:spPr>
          <a:xfrm>
            <a:off x="6739128" y="1865376"/>
            <a:ext cx="4681728" cy="2487168"/>
          </a:xfrm>
          <a:prstGeom prst="roundRect">
            <a:avLst>
              <a:gd name="adj" fmla="val 2941"/>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mars_news.jpg"/>
          <p:cNvPicPr>
            <a:picLocks noChangeAspect="1"/>
          </p:cNvPicPr>
          <p:nvPr/>
        </p:nvPicPr>
        <p:blipFill>
          <a:blip r:embed="rId4"/>
          <a:stretch>
            <a:fillRect/>
          </a:stretch>
        </p:blipFill>
        <p:spPr>
          <a:xfrm>
            <a:off x="6793992" y="1920240"/>
            <a:ext cx="4572000" cy="2377440"/>
          </a:xfrm>
          <a:prstGeom prst="rect">
            <a:avLst/>
          </a:prstGeom>
        </p:spPr>
      </p:pic>
      <p:sp>
        <p:nvSpPr>
          <p:cNvPr id="12" name="Shape 8"/>
          <p:cNvSpPr/>
          <p:nvPr/>
        </p:nvSpPr>
        <p:spPr>
          <a:xfrm>
            <a:off x="502920" y="4572000"/>
            <a:ext cx="11183112" cy="384048"/>
          </a:xfrm>
          <a:prstGeom prst="roundRect">
            <a:avLst>
              <a:gd name="adj" fmla="val 14286"/>
            </a:avLst>
          </a:prstGeom>
          <a:solidFill>
            <a:srgbClr val="331A4D"/>
          </a:solidFill>
          <a:ln/>
        </p:spPr>
        <p:txBody>
          <a:bodyPr/>
          <a:lstStyle/>
          <a:p>
            <a:endParaRPr lang="en-US"/>
          </a:p>
        </p:txBody>
      </p:sp>
      <p:sp>
        <p:nvSpPr>
          <p:cNvPr id="13" name="Text 9"/>
          <p:cNvSpPr txBox="1"/>
          <p:nvPr/>
        </p:nvSpPr>
        <p:spPr>
          <a:xfrm>
            <a:off x="640080" y="4572000"/>
            <a:ext cx="10908792"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Brands Powered on the Platform</a:t>
            </a:r>
            <a:endParaRPr lang="en-US" sz="1300" dirty="0"/>
          </a:p>
        </p:txBody>
      </p:sp>
      <p:sp>
        <p:nvSpPr>
          <p:cNvPr id="14" name="Shape 10"/>
          <p:cNvSpPr/>
          <p:nvPr/>
        </p:nvSpPr>
        <p:spPr>
          <a:xfrm>
            <a:off x="493776" y="5020056"/>
            <a:ext cx="11201400" cy="704088"/>
          </a:xfrm>
          <a:prstGeom prst="roundRect">
            <a:avLst>
              <a:gd name="adj" fmla="val 10390"/>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5" name="Image 2" descr="/home/claude/build/img/mars_brands.jpg"/>
          <p:cNvPicPr>
            <a:picLocks noChangeAspect="1"/>
          </p:cNvPicPr>
          <p:nvPr/>
        </p:nvPicPr>
        <p:blipFill>
          <a:blip r:embed="rId5"/>
          <a:stretch>
            <a:fillRect/>
          </a:stretch>
        </p:blipFill>
        <p:spPr>
          <a:xfrm>
            <a:off x="548640" y="5074920"/>
            <a:ext cx="11091672" cy="594360"/>
          </a:xfrm>
          <a:prstGeom prst="rect">
            <a:avLst/>
          </a:prstGeom>
        </p:spPr>
      </p:pic>
      <p:sp>
        <p:nvSpPr>
          <p:cNvPr id="16" name="Text 11"/>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7" name="Text 12"/>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7</a:t>
            </a:r>
            <a:endParaRPr lang="en-US" sz="900" dirty="0"/>
          </a:p>
        </p:txBody>
      </p:sp>
      <p:sp>
        <p:nvSpPr>
          <p:cNvPr id="20" name="Text 14"/>
          <p:cNvSpPr txBox="1"/>
          <p:nvPr/>
        </p:nvSpPr>
        <p:spPr>
          <a:xfrm>
            <a:off x="10369296" y="6428232"/>
            <a:ext cx="1600200" cy="292608"/>
          </a:xfrm>
          <a:prstGeom prst="rect">
            <a:avLst/>
          </a:prstGeom>
          <a:noFill/>
          <a:ln/>
        </p:spPr>
        <p:txBody>
          <a:bodyPr wrap="square" lIns="0" tIns="0" rIns="0" bIns="0" rtlCol="0" anchor="ctr"/>
          <a:lstStyle/>
          <a:p>
            <a:pPr marL="0" indent="0" algn="l">
              <a:buNone/>
            </a:pP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Breville</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API-Driven Bundles, Subscriptions &amp; Personalization</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Product Bundling &amp; Subscriptions: </a:t>
            </a:r>
            <a:r>
              <a:rPr lang="en-US" sz="1300" dirty="0">
                <a:solidFill>
                  <a:srgbClr val="241033"/>
                </a:solidFill>
                <a:latin typeface="Calibri" pitchFamily="34" charset="0"/>
                <a:ea typeface="Calibri" pitchFamily="34" charset="-122"/>
                <a:cs typeface="Calibri" pitchFamily="34" charset="-120"/>
              </a:rPr>
              <a:t>Flexible bundling and subscription options, combining one-time purchases with recurring subscriptions in a single checkout.</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Cross-Brand Promotions: </a:t>
            </a:r>
            <a:r>
              <a:rPr lang="en-US" sz="1300" dirty="0">
                <a:solidFill>
                  <a:srgbClr val="241033"/>
                </a:solidFill>
                <a:latin typeface="Calibri" pitchFamily="34" charset="0"/>
                <a:ea typeface="Calibri" pitchFamily="34" charset="-122"/>
                <a:cs typeface="Calibri" pitchFamily="34" charset="-120"/>
              </a:rPr>
              <a:t>Integrated Voucherify with commercetools via API extensions to manage complex, cross-brand promotional campaigns.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Personalized Experiences: </a:t>
            </a:r>
            <a:r>
              <a:rPr lang="en-US" sz="1300" dirty="0">
                <a:solidFill>
                  <a:srgbClr val="241033"/>
                </a:solidFill>
                <a:latin typeface="Calibri" pitchFamily="34" charset="0"/>
                <a:ea typeface="Calibri" pitchFamily="34" charset="-122"/>
                <a:cs typeface="Calibri" pitchFamily="34" charset="-120"/>
              </a:rPr>
              <a:t>Features like the “coffee quiz” on Beanz.com deliver tailored product recommendations based on taste profiles.</a:t>
            </a: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breville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Breville Commercial – beanz.com | Coffee Subscription &amp; Delivery</a:t>
            </a:r>
            <a:endParaRPr lang="en-US" sz="950" dirty="0"/>
          </a:p>
        </p:txBody>
      </p:sp>
      <p:sp>
        <p:nvSpPr>
          <p:cNvPr id="13" name="Text 9"/>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B"/>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566928"/>
          </a:xfrm>
          <a:prstGeom prst="rect">
            <a:avLst/>
          </a:prstGeom>
          <a:noFill/>
          <a:ln/>
        </p:spPr>
        <p:txBody>
          <a:bodyPr wrap="square" lIns="0" tIns="0" rIns="0" bIns="0" rtlCol="0" anchor="ctr"/>
          <a:lstStyle/>
          <a:p>
            <a:pPr marL="0" indent="0">
              <a:buNone/>
            </a:pPr>
            <a:r>
              <a:rPr lang="en-US" sz="3000" b="1" dirty="0">
                <a:solidFill>
                  <a:srgbClr val="241033"/>
                </a:solidFill>
                <a:latin typeface="Arial" pitchFamily="34" charset="0"/>
                <a:ea typeface="Arial" pitchFamily="34" charset="-122"/>
                <a:cs typeface="Arial" pitchFamily="34" charset="-120"/>
              </a:rPr>
              <a:t>Breville Website Features</a:t>
            </a:r>
            <a:endParaRPr lang="en-US" sz="3000" dirty="0"/>
          </a:p>
        </p:txBody>
      </p:sp>
      <p:sp>
        <p:nvSpPr>
          <p:cNvPr id="3" name="Shape 1"/>
          <p:cNvSpPr/>
          <p:nvPr/>
        </p:nvSpPr>
        <p:spPr>
          <a:xfrm>
            <a:off x="502920" y="1234440"/>
            <a:ext cx="5440680" cy="384048"/>
          </a:xfrm>
          <a:prstGeom prst="roundRect">
            <a:avLst>
              <a:gd name="adj" fmla="val 14286"/>
            </a:avLst>
          </a:prstGeom>
          <a:solidFill>
            <a:srgbClr val="331A4D"/>
          </a:solidFill>
          <a:ln/>
        </p:spPr>
        <p:txBody>
          <a:bodyPr/>
          <a:lstStyle/>
          <a:p>
            <a:endParaRPr lang="en-US"/>
          </a:p>
        </p:txBody>
      </p:sp>
      <p:sp>
        <p:nvSpPr>
          <p:cNvPr id="4" name="Text 2"/>
          <p:cNvSpPr txBox="1"/>
          <p:nvPr/>
        </p:nvSpPr>
        <p:spPr>
          <a:xfrm>
            <a:off x="640080"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Customizable Beans Subscription</a:t>
            </a:r>
            <a:endParaRPr lang="en-US" sz="1300" dirty="0"/>
          </a:p>
        </p:txBody>
      </p:sp>
      <p:sp>
        <p:nvSpPr>
          <p:cNvPr id="5" name="Shape 3"/>
          <p:cNvSpPr/>
          <p:nvPr/>
        </p:nvSpPr>
        <p:spPr>
          <a:xfrm>
            <a:off x="493776" y="1682496"/>
            <a:ext cx="5413248" cy="4498848"/>
          </a:xfrm>
          <a:prstGeom prst="roundRect">
            <a:avLst>
              <a:gd name="adj" fmla="val 1626"/>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6" name="Image 0" descr="/home/claude/build/img/breville_shot1.jpg"/>
          <p:cNvPicPr>
            <a:picLocks noChangeAspect="1"/>
          </p:cNvPicPr>
          <p:nvPr/>
        </p:nvPicPr>
        <p:blipFill>
          <a:blip r:embed="rId3"/>
          <a:stretch>
            <a:fillRect/>
          </a:stretch>
        </p:blipFill>
        <p:spPr>
          <a:xfrm>
            <a:off x="548640" y="1737360"/>
            <a:ext cx="5303520" cy="4389120"/>
          </a:xfrm>
          <a:prstGeom prst="rect">
            <a:avLst/>
          </a:prstGeom>
        </p:spPr>
      </p:pic>
      <p:sp>
        <p:nvSpPr>
          <p:cNvPr id="7" name="Shape 4"/>
          <p:cNvSpPr/>
          <p:nvPr/>
        </p:nvSpPr>
        <p:spPr>
          <a:xfrm>
            <a:off x="6199632" y="1234440"/>
            <a:ext cx="5440680" cy="384048"/>
          </a:xfrm>
          <a:prstGeom prst="roundRect">
            <a:avLst>
              <a:gd name="adj" fmla="val 14286"/>
            </a:avLst>
          </a:prstGeom>
          <a:solidFill>
            <a:srgbClr val="331A4D"/>
          </a:solidFill>
          <a:ln/>
        </p:spPr>
        <p:txBody>
          <a:bodyPr/>
          <a:lstStyle/>
          <a:p>
            <a:endParaRPr lang="en-US"/>
          </a:p>
        </p:txBody>
      </p:sp>
      <p:sp>
        <p:nvSpPr>
          <p:cNvPr id="8" name="Text 5"/>
          <p:cNvSpPr txBox="1"/>
          <p:nvPr/>
        </p:nvSpPr>
        <p:spPr>
          <a:xfrm>
            <a:off x="6336792"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Personalized Coffee Selection Quiz</a:t>
            </a:r>
            <a:endParaRPr lang="en-US" sz="1300" dirty="0"/>
          </a:p>
        </p:txBody>
      </p:sp>
      <p:sp>
        <p:nvSpPr>
          <p:cNvPr id="9" name="Shape 6"/>
          <p:cNvSpPr/>
          <p:nvPr/>
        </p:nvSpPr>
        <p:spPr>
          <a:xfrm>
            <a:off x="6190488" y="1682496"/>
            <a:ext cx="5413248" cy="4498848"/>
          </a:xfrm>
          <a:prstGeom prst="roundRect">
            <a:avLst>
              <a:gd name="adj" fmla="val 1626"/>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0" name="Image 1" descr="/home/claude/build/img/breville_shot2.jpg"/>
          <p:cNvPicPr>
            <a:picLocks noChangeAspect="1"/>
          </p:cNvPicPr>
          <p:nvPr/>
        </p:nvPicPr>
        <p:blipFill>
          <a:blip r:embed="rId4"/>
          <a:stretch>
            <a:fillRect/>
          </a:stretch>
        </p:blipFill>
        <p:spPr>
          <a:xfrm>
            <a:off x="6245352" y="1737360"/>
            <a:ext cx="5303520" cy="4389120"/>
          </a:xfrm>
          <a:prstGeom prst="rect">
            <a:avLst/>
          </a:prstGeom>
        </p:spPr>
      </p:pic>
      <p:sp>
        <p:nvSpPr>
          <p:cNvPr id="11" name="Text 7"/>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2" name="Text 8"/>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9</a:t>
            </a:r>
            <a:endParaRPr lang="en-US" sz="900" dirty="0"/>
          </a:p>
        </p:txBody>
      </p:sp>
      <p:sp>
        <p:nvSpPr>
          <p:cNvPr id="15" name="Text 10"/>
          <p:cNvSpPr txBox="1"/>
          <p:nvPr/>
        </p:nvSpPr>
        <p:spPr>
          <a:xfrm>
            <a:off x="10369296" y="6428232"/>
            <a:ext cx="1600200" cy="292608"/>
          </a:xfrm>
          <a:prstGeom prst="rect">
            <a:avLst/>
          </a:prstGeom>
          <a:noFill/>
          <a:ln/>
        </p:spPr>
        <p:txBody>
          <a:bodyPr wrap="square" lIns="0" tIns="0" rIns="0" bIns="0" rtlCol="0" anchor="ctr"/>
          <a:lstStyle/>
          <a:p>
            <a:pPr marL="0" indent="0" algn="l">
              <a:buNone/>
            </a:pPr>
            <a:r>
              <a:rPr lang="en-US" sz="700" b="1" dirty="0">
                <a:solidFill>
                  <a:srgbClr val="FFFFFF"/>
                </a:solidFill>
                <a:latin typeface="Arial" pitchFamily="34" charset="0"/>
                <a:ea typeface="Arial" pitchFamily="34" charset="-122"/>
                <a:cs typeface="Arial" pitchFamily="34" charset="-120"/>
              </a:rPr>
              <a:t>ROYAL CYBER × commercetools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GWA</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Unified, Intelligent, and Merchant-Driven Digital Experience</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Self-Service Merchant Portal: </a:t>
            </a:r>
            <a:r>
              <a:rPr lang="en-US" sz="1300" dirty="0">
                <a:solidFill>
                  <a:srgbClr val="241033"/>
                </a:solidFill>
                <a:latin typeface="Calibri" pitchFamily="34" charset="0"/>
                <a:ea typeface="Calibri" pitchFamily="34" charset="-122"/>
                <a:cs typeface="Calibri" pitchFamily="34" charset="-120"/>
              </a:rPr>
              <a:t>Centralized B2B platform for merchants to manage orders, access pricing, and track inventory without sales reps.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Composable Multi-Brand CMS: </a:t>
            </a:r>
            <a:r>
              <a:rPr lang="en-US" sz="1300" dirty="0">
                <a:solidFill>
                  <a:srgbClr val="241033"/>
                </a:solidFill>
                <a:latin typeface="Calibri" pitchFamily="34" charset="0"/>
                <a:ea typeface="Calibri" pitchFamily="34" charset="-122"/>
                <a:cs typeface="Calibri" pitchFamily="34" charset="-120"/>
              </a:rPr>
              <a:t>Unified content system for managing multiple brand sites, preserving identities and reducing time-to-market.</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Dynamic Price Toggling: </a:t>
            </a:r>
            <a:r>
              <a:rPr lang="en-US" sz="1300" dirty="0">
                <a:solidFill>
                  <a:srgbClr val="241033"/>
                </a:solidFill>
                <a:latin typeface="Calibri" pitchFamily="34" charset="0"/>
                <a:ea typeface="Calibri" pitchFamily="34" charset="-122"/>
                <a:cs typeface="Calibri" pitchFamily="34" charset="-120"/>
              </a:rPr>
              <a:t>Real-time switching between customer-specific, tiered, and promotional pricing based on user type and status.</a:t>
            </a: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gwa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Caroma Made For Life AU / Caroma Specify Australia</a:t>
            </a:r>
            <a:endParaRPr lang="en-US" sz="950" dirty="0"/>
          </a:p>
        </p:txBody>
      </p:sp>
      <p:sp>
        <p:nvSpPr>
          <p:cNvPr id="13" name="Text 9"/>
          <p:cNvSpPr txBox="1"/>
          <p:nvPr/>
        </p:nvSpPr>
        <p:spPr>
          <a:xfrm>
            <a:off x="914400" y="6537960"/>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8F6FB"/>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566928"/>
          </a:xfrm>
          <a:prstGeom prst="rect">
            <a:avLst/>
          </a:prstGeom>
          <a:noFill/>
          <a:ln/>
        </p:spPr>
        <p:txBody>
          <a:bodyPr wrap="square" lIns="0" tIns="0" rIns="0" bIns="0" rtlCol="0" anchor="ctr"/>
          <a:lstStyle/>
          <a:p>
            <a:pPr marL="0" indent="0">
              <a:buNone/>
            </a:pPr>
            <a:r>
              <a:rPr lang="en-US" sz="3000" b="1" dirty="0">
                <a:solidFill>
                  <a:srgbClr val="241033"/>
                </a:solidFill>
                <a:latin typeface="Arial" pitchFamily="34" charset="0"/>
                <a:ea typeface="Arial" pitchFamily="34" charset="-122"/>
                <a:cs typeface="Arial" pitchFamily="34" charset="-120"/>
              </a:rPr>
              <a:t>GWA Digital Experience Highlights</a:t>
            </a:r>
            <a:endParaRPr lang="en-US" sz="3000" dirty="0"/>
          </a:p>
        </p:txBody>
      </p:sp>
      <p:sp>
        <p:nvSpPr>
          <p:cNvPr id="3" name="Shape 1"/>
          <p:cNvSpPr/>
          <p:nvPr/>
        </p:nvSpPr>
        <p:spPr>
          <a:xfrm>
            <a:off x="502920" y="1234440"/>
            <a:ext cx="5440680" cy="384048"/>
          </a:xfrm>
          <a:prstGeom prst="roundRect">
            <a:avLst>
              <a:gd name="adj" fmla="val 14286"/>
            </a:avLst>
          </a:prstGeom>
          <a:solidFill>
            <a:srgbClr val="331A4D"/>
          </a:solidFill>
          <a:ln/>
        </p:spPr>
        <p:txBody>
          <a:bodyPr/>
          <a:lstStyle/>
          <a:p>
            <a:endParaRPr lang="en-US"/>
          </a:p>
        </p:txBody>
      </p:sp>
      <p:sp>
        <p:nvSpPr>
          <p:cNvPr id="4" name="Text 2"/>
          <p:cNvSpPr txBox="1"/>
          <p:nvPr/>
        </p:nvSpPr>
        <p:spPr>
          <a:xfrm>
            <a:off x="640080"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Dynamic Pricing and Product View</a:t>
            </a:r>
            <a:endParaRPr lang="en-US" sz="1300" dirty="0"/>
          </a:p>
        </p:txBody>
      </p:sp>
      <p:sp>
        <p:nvSpPr>
          <p:cNvPr id="5" name="Shape 3"/>
          <p:cNvSpPr/>
          <p:nvPr/>
        </p:nvSpPr>
        <p:spPr>
          <a:xfrm>
            <a:off x="493776" y="1682496"/>
            <a:ext cx="5413248" cy="4681728"/>
          </a:xfrm>
          <a:prstGeom prst="roundRect">
            <a:avLst>
              <a:gd name="adj" fmla="val 1563"/>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6" name="Image 0" descr="/home/claude/build/img/gwa_shot1.jpg"/>
          <p:cNvPicPr>
            <a:picLocks noChangeAspect="1"/>
          </p:cNvPicPr>
          <p:nvPr/>
        </p:nvPicPr>
        <p:blipFill>
          <a:blip r:embed="rId3"/>
          <a:stretch>
            <a:fillRect/>
          </a:stretch>
        </p:blipFill>
        <p:spPr>
          <a:xfrm>
            <a:off x="548640" y="1737360"/>
            <a:ext cx="5303520" cy="4572000"/>
          </a:xfrm>
          <a:prstGeom prst="rect">
            <a:avLst/>
          </a:prstGeom>
        </p:spPr>
      </p:pic>
      <p:sp>
        <p:nvSpPr>
          <p:cNvPr id="7" name="Shape 4"/>
          <p:cNvSpPr/>
          <p:nvPr/>
        </p:nvSpPr>
        <p:spPr>
          <a:xfrm>
            <a:off x="6199632" y="1234440"/>
            <a:ext cx="5440680" cy="384048"/>
          </a:xfrm>
          <a:prstGeom prst="roundRect">
            <a:avLst>
              <a:gd name="adj" fmla="val 14286"/>
            </a:avLst>
          </a:prstGeom>
          <a:solidFill>
            <a:srgbClr val="331A4D"/>
          </a:solidFill>
          <a:ln/>
        </p:spPr>
        <p:txBody>
          <a:bodyPr/>
          <a:lstStyle/>
          <a:p>
            <a:endParaRPr lang="en-US"/>
          </a:p>
        </p:txBody>
      </p:sp>
      <p:sp>
        <p:nvSpPr>
          <p:cNvPr id="8" name="Text 5"/>
          <p:cNvSpPr txBox="1"/>
          <p:nvPr/>
        </p:nvSpPr>
        <p:spPr>
          <a:xfrm>
            <a:off x="6336792"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Streamlined Multibrand Content Mgmt</a:t>
            </a:r>
            <a:endParaRPr lang="en-US" sz="1300" dirty="0"/>
          </a:p>
        </p:txBody>
      </p:sp>
      <p:sp>
        <p:nvSpPr>
          <p:cNvPr id="9" name="Shape 6"/>
          <p:cNvSpPr/>
          <p:nvPr/>
        </p:nvSpPr>
        <p:spPr>
          <a:xfrm>
            <a:off x="6190488" y="1682496"/>
            <a:ext cx="5413248" cy="3172968"/>
          </a:xfrm>
          <a:prstGeom prst="roundRect">
            <a:avLst>
              <a:gd name="adj" fmla="val 2305"/>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0" name="Image 1" descr="/home/claude/build/img/gwa_shot2.jpg"/>
          <p:cNvPicPr>
            <a:picLocks noChangeAspect="1"/>
          </p:cNvPicPr>
          <p:nvPr/>
        </p:nvPicPr>
        <p:blipFill>
          <a:blip r:embed="rId4"/>
          <a:stretch>
            <a:fillRect/>
          </a:stretch>
        </p:blipFill>
        <p:spPr>
          <a:xfrm>
            <a:off x="6245352" y="1737360"/>
            <a:ext cx="5303520" cy="3063240"/>
          </a:xfrm>
          <a:prstGeom prst="rect">
            <a:avLst/>
          </a:prstGeom>
        </p:spPr>
      </p:pic>
      <p:sp>
        <p:nvSpPr>
          <p:cNvPr id="11" name="Text 7"/>
          <p:cNvSpPr txBox="1"/>
          <p:nvPr/>
        </p:nvSpPr>
        <p:spPr>
          <a:xfrm>
            <a:off x="0" y="6492240"/>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2" name="Text 8"/>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12</a:t>
            </a:r>
            <a:endParaRPr lang="en-US" sz="900" dirty="0"/>
          </a:p>
        </p:txBody>
      </p:sp>
      <p:sp>
        <p:nvSpPr>
          <p:cNvPr id="15" name="Text 10"/>
          <p:cNvSpPr txBox="1"/>
          <p:nvPr/>
        </p:nvSpPr>
        <p:spPr>
          <a:xfrm>
            <a:off x="10369296" y="6428232"/>
            <a:ext cx="1600200" cy="292608"/>
          </a:xfrm>
          <a:prstGeom prst="rect">
            <a:avLst/>
          </a:prstGeom>
          <a:noFill/>
          <a:ln/>
        </p:spPr>
        <p:txBody>
          <a:bodyPr wrap="square" lIns="0" tIns="0" rIns="0" bIns="0" rtlCol="0" anchor="ctr"/>
          <a:lstStyle/>
          <a:p>
            <a:pPr marL="0" indent="0" algn="l">
              <a:buNone/>
            </a:pP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JSW One</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Modern Commerce Solutions by Royal Cyber</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Configurable Product Variants: </a:t>
            </a:r>
            <a:r>
              <a:rPr lang="en-US" sz="1300" dirty="0">
                <a:solidFill>
                  <a:srgbClr val="241033"/>
                </a:solidFill>
                <a:latin typeface="Calibri" pitchFamily="34" charset="0"/>
                <a:ea typeface="Calibri" pitchFamily="34" charset="-122"/>
                <a:cs typeface="Calibri" pitchFamily="34" charset="-120"/>
              </a:rPr>
              <a:t>Enabled management of complex steel product configurations by weight, grade, and length.</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Dynamic Pricing Models: </a:t>
            </a:r>
            <a:r>
              <a:rPr lang="en-US" sz="1300" dirty="0">
                <a:solidFill>
                  <a:srgbClr val="241033"/>
                </a:solidFill>
                <a:latin typeface="Calibri" pitchFamily="34" charset="0"/>
                <a:ea typeface="Calibri" pitchFamily="34" charset="-122"/>
                <a:cs typeface="Calibri" pitchFamily="34" charset="-120"/>
              </a:rPr>
              <a:t>Flexible pricing strategies tailored to customer segments and order volumes.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Omnichannel B2B/B2B2C + AI: </a:t>
            </a:r>
            <a:r>
              <a:rPr lang="en-US" sz="1300" dirty="0">
                <a:solidFill>
                  <a:srgbClr val="241033"/>
                </a:solidFill>
                <a:latin typeface="Calibri" pitchFamily="34" charset="0"/>
                <a:ea typeface="Calibri" pitchFamily="34" charset="-122"/>
                <a:cs typeface="Calibri" pitchFamily="34" charset="-120"/>
              </a:rPr>
              <a:t>Unified marketplace for distributors and retailers, with AI/ML-driven personalized recommendations.</a:t>
            </a: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jsw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Buy Steel Online | Industrial Materials Marketplace | JSW One MSME</a:t>
            </a:r>
            <a:endParaRPr lang="en-US" sz="950" dirty="0"/>
          </a:p>
        </p:txBody>
      </p:sp>
      <p:sp>
        <p:nvSpPr>
          <p:cNvPr id="13" name="Text 9"/>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8F6FB"/>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566928"/>
          </a:xfrm>
          <a:prstGeom prst="rect">
            <a:avLst/>
          </a:prstGeom>
          <a:noFill/>
          <a:ln/>
        </p:spPr>
        <p:txBody>
          <a:bodyPr wrap="square" lIns="0" tIns="0" rIns="0" bIns="0" rtlCol="0" anchor="ctr"/>
          <a:lstStyle/>
          <a:p>
            <a:pPr marL="0" indent="0">
              <a:buNone/>
            </a:pPr>
            <a:r>
              <a:rPr lang="en-US" sz="3000" b="1" dirty="0">
                <a:solidFill>
                  <a:srgbClr val="241033"/>
                </a:solidFill>
                <a:latin typeface="Arial" pitchFamily="34" charset="0"/>
                <a:ea typeface="Arial" pitchFamily="34" charset="-122"/>
                <a:cs typeface="Arial" pitchFamily="34" charset="-120"/>
              </a:rPr>
              <a:t>JSW Steel Configurability Feature</a:t>
            </a:r>
            <a:endParaRPr lang="en-US" sz="3000" dirty="0"/>
          </a:p>
        </p:txBody>
      </p:sp>
      <p:sp>
        <p:nvSpPr>
          <p:cNvPr id="3" name="Shape 1"/>
          <p:cNvSpPr/>
          <p:nvPr/>
        </p:nvSpPr>
        <p:spPr>
          <a:xfrm>
            <a:off x="1376172" y="1408176"/>
            <a:ext cx="9436608" cy="4361688"/>
          </a:xfrm>
          <a:prstGeom prst="roundRect">
            <a:avLst>
              <a:gd name="adj" fmla="val 1677"/>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4" name="Image 0" descr="/home/claude/build/img/jsw_shot.jpg"/>
          <p:cNvPicPr>
            <a:picLocks noChangeAspect="1"/>
          </p:cNvPicPr>
          <p:nvPr/>
        </p:nvPicPr>
        <p:blipFill>
          <a:blip r:embed="rId3"/>
          <a:stretch>
            <a:fillRect/>
          </a:stretch>
        </p:blipFill>
        <p:spPr>
          <a:xfrm>
            <a:off x="1431036" y="1463040"/>
            <a:ext cx="9326880" cy="4251960"/>
          </a:xfrm>
          <a:prstGeom prst="rect">
            <a:avLst/>
          </a:prstGeom>
        </p:spPr>
      </p:pic>
      <p:sp>
        <p:nvSpPr>
          <p:cNvPr id="5" name="Text 2"/>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6" name="Text 3"/>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14</a:t>
            </a:r>
            <a:endParaRPr lang="en-US" sz="900" dirty="0"/>
          </a:p>
        </p:txBody>
      </p:sp>
      <p:sp>
        <p:nvSpPr>
          <p:cNvPr id="9" name="Text 5"/>
          <p:cNvSpPr txBox="1"/>
          <p:nvPr/>
        </p:nvSpPr>
        <p:spPr>
          <a:xfrm>
            <a:off x="10369296" y="6428232"/>
            <a:ext cx="1600200" cy="292608"/>
          </a:xfrm>
          <a:prstGeom prst="rect">
            <a:avLst/>
          </a:prstGeom>
          <a:noFill/>
          <a:ln/>
        </p:spPr>
        <p:txBody>
          <a:bodyPr wrap="square" lIns="0" tIns="0" rIns="0" bIns="0" rtlCol="0" anchor="ctr"/>
          <a:lstStyle/>
          <a:p>
            <a:pPr marL="0" indent="0" algn="l">
              <a:buNone/>
            </a:pP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Wild Fork</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CSA-Enabled Seamless Support</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Assisted Service Capability: </a:t>
            </a:r>
            <a:r>
              <a:rPr lang="en-US" sz="1300" dirty="0">
                <a:solidFill>
                  <a:srgbClr val="241033"/>
                </a:solidFill>
                <a:latin typeface="Calibri" pitchFamily="34" charset="0"/>
                <a:ea typeface="Calibri" pitchFamily="34" charset="-122"/>
                <a:cs typeface="Calibri" pitchFamily="34" charset="-120"/>
              </a:rPr>
              <a:t>CS agents securely log in as customers for real-time help with purchases, login issues, or cart abandonment.</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Integrated Ticketing: </a:t>
            </a:r>
            <a:r>
              <a:rPr lang="en-US" sz="1300" dirty="0">
                <a:solidFill>
                  <a:srgbClr val="241033"/>
                </a:solidFill>
                <a:latin typeface="Calibri" pitchFamily="34" charset="0"/>
                <a:ea typeface="Calibri" pitchFamily="34" charset="-122"/>
                <a:cs typeface="Calibri" pitchFamily="34" charset="-120"/>
              </a:rPr>
              <a:t>Seamless multichannel support (email, chat, phone) with efficient tracking and resolution under unique IDs.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Fraudulent Order Detection: </a:t>
            </a:r>
            <a:r>
              <a:rPr lang="en-US" sz="1300" dirty="0">
                <a:solidFill>
                  <a:srgbClr val="241033"/>
                </a:solidFill>
                <a:latin typeface="Calibri" pitchFamily="34" charset="0"/>
                <a:ea typeface="Calibri" pitchFamily="34" charset="-122"/>
                <a:cs typeface="Calibri" pitchFamily="34" charset="-120"/>
              </a:rPr>
              <a:t>Smart fraud detection using behavioral analytics cut fraud by 50% in three months and boosted efficiency.</a:t>
            </a: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wildfork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Meat Online Store | Frozen Meat &amp; Seafood Delivery | Wild Fork Foods</a:t>
            </a:r>
            <a:endParaRPr lang="en-US" sz="950" dirty="0"/>
          </a:p>
        </p:txBody>
      </p:sp>
      <p:sp>
        <p:nvSpPr>
          <p:cNvPr id="13" name="Text 9"/>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8F6FB"/>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566928"/>
          </a:xfrm>
          <a:prstGeom prst="rect">
            <a:avLst/>
          </a:prstGeom>
          <a:noFill/>
          <a:ln/>
        </p:spPr>
        <p:txBody>
          <a:bodyPr wrap="square" lIns="0" tIns="0" rIns="0" bIns="0" rtlCol="0" anchor="ctr"/>
          <a:lstStyle/>
          <a:p>
            <a:pPr marL="0" indent="0">
              <a:buNone/>
            </a:pPr>
            <a:r>
              <a:rPr lang="en-US" sz="3000" b="1" dirty="0">
                <a:solidFill>
                  <a:srgbClr val="241033"/>
                </a:solidFill>
                <a:latin typeface="Arial" pitchFamily="34" charset="0"/>
                <a:ea typeface="Arial" pitchFamily="34" charset="-122"/>
                <a:cs typeface="Arial" pitchFamily="34" charset="-120"/>
              </a:rPr>
              <a:t>Merchant Center View</a:t>
            </a:r>
            <a:endParaRPr lang="en-US" sz="3000" dirty="0"/>
          </a:p>
        </p:txBody>
      </p:sp>
      <p:sp>
        <p:nvSpPr>
          <p:cNvPr id="3" name="Text 1"/>
          <p:cNvSpPr txBox="1"/>
          <p:nvPr/>
        </p:nvSpPr>
        <p:spPr>
          <a:xfrm>
            <a:off x="502920" y="896112"/>
            <a:ext cx="11155680" cy="365760"/>
          </a:xfrm>
          <a:prstGeom prst="rect">
            <a:avLst/>
          </a:prstGeom>
          <a:noFill/>
          <a:ln/>
        </p:spPr>
        <p:txBody>
          <a:bodyPr wrap="square" lIns="0" tIns="0" rIns="0" bIns="0" rtlCol="0" anchor="ctr"/>
          <a:lstStyle/>
          <a:p>
            <a:pPr marL="0" indent="0">
              <a:buNone/>
            </a:pPr>
            <a:r>
              <a:rPr lang="en-US" sz="1400" dirty="0">
                <a:solidFill>
                  <a:srgbClr val="5E5770"/>
                </a:solidFill>
                <a:latin typeface="Calibri" pitchFamily="34" charset="0"/>
                <a:ea typeface="Calibri" pitchFamily="34" charset="-122"/>
                <a:cs typeface="Calibri" pitchFamily="34" charset="-120"/>
              </a:rPr>
              <a:t>CSA Key Features</a:t>
            </a:r>
            <a:endParaRPr lang="en-US" sz="1400" dirty="0"/>
          </a:p>
        </p:txBody>
      </p:sp>
      <p:sp>
        <p:nvSpPr>
          <p:cNvPr id="4" name="Shape 2"/>
          <p:cNvSpPr/>
          <p:nvPr/>
        </p:nvSpPr>
        <p:spPr>
          <a:xfrm>
            <a:off x="502920" y="1234440"/>
            <a:ext cx="5440680" cy="384048"/>
          </a:xfrm>
          <a:prstGeom prst="roundRect">
            <a:avLst>
              <a:gd name="adj" fmla="val 14286"/>
            </a:avLst>
          </a:prstGeom>
          <a:solidFill>
            <a:srgbClr val="331A4D"/>
          </a:solidFill>
          <a:ln/>
        </p:spPr>
        <p:txBody>
          <a:bodyPr/>
          <a:lstStyle/>
          <a:p>
            <a:endParaRPr lang="en-US"/>
          </a:p>
        </p:txBody>
      </p:sp>
      <p:sp>
        <p:nvSpPr>
          <p:cNvPr id="5" name="Text 3"/>
          <p:cNvSpPr txBox="1"/>
          <p:nvPr/>
        </p:nvSpPr>
        <p:spPr>
          <a:xfrm>
            <a:off x="640080"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Customer 360° View</a:t>
            </a:r>
            <a:endParaRPr lang="en-US" sz="1300" dirty="0"/>
          </a:p>
        </p:txBody>
      </p:sp>
      <p:sp>
        <p:nvSpPr>
          <p:cNvPr id="6" name="Shape 4"/>
          <p:cNvSpPr/>
          <p:nvPr/>
        </p:nvSpPr>
        <p:spPr>
          <a:xfrm>
            <a:off x="493776" y="1682496"/>
            <a:ext cx="5321808" cy="1892808"/>
          </a:xfrm>
          <a:prstGeom prst="roundRect">
            <a:avLst>
              <a:gd name="adj" fmla="val 3865"/>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7" name="Image 0" descr="/home/claude/build/img/mc_shot1.jpg"/>
          <p:cNvPicPr>
            <a:picLocks noChangeAspect="1"/>
          </p:cNvPicPr>
          <p:nvPr/>
        </p:nvPicPr>
        <p:blipFill>
          <a:blip r:embed="rId3"/>
          <a:stretch>
            <a:fillRect/>
          </a:stretch>
        </p:blipFill>
        <p:spPr>
          <a:xfrm>
            <a:off x="548640" y="1737360"/>
            <a:ext cx="5212080" cy="1783080"/>
          </a:xfrm>
          <a:prstGeom prst="rect">
            <a:avLst/>
          </a:prstGeom>
        </p:spPr>
      </p:pic>
      <p:sp>
        <p:nvSpPr>
          <p:cNvPr id="8" name="Shape 5"/>
          <p:cNvSpPr/>
          <p:nvPr/>
        </p:nvSpPr>
        <p:spPr>
          <a:xfrm>
            <a:off x="6199632" y="1234440"/>
            <a:ext cx="5440680" cy="384048"/>
          </a:xfrm>
          <a:prstGeom prst="roundRect">
            <a:avLst>
              <a:gd name="adj" fmla="val 14286"/>
            </a:avLst>
          </a:prstGeom>
          <a:solidFill>
            <a:srgbClr val="331A4D"/>
          </a:solidFill>
          <a:ln/>
        </p:spPr>
        <p:txBody>
          <a:bodyPr/>
          <a:lstStyle/>
          <a:p>
            <a:endParaRPr lang="en-US"/>
          </a:p>
        </p:txBody>
      </p:sp>
      <p:sp>
        <p:nvSpPr>
          <p:cNvPr id="9" name="Text 6"/>
          <p:cNvSpPr txBox="1"/>
          <p:nvPr/>
        </p:nvSpPr>
        <p:spPr>
          <a:xfrm>
            <a:off x="6336792"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Order Management: Cancel, Return, Refund</a:t>
            </a:r>
            <a:endParaRPr lang="en-US" sz="1300" dirty="0"/>
          </a:p>
        </p:txBody>
      </p:sp>
      <p:sp>
        <p:nvSpPr>
          <p:cNvPr id="10" name="Shape 7"/>
          <p:cNvSpPr/>
          <p:nvPr/>
        </p:nvSpPr>
        <p:spPr>
          <a:xfrm>
            <a:off x="6190488" y="1682496"/>
            <a:ext cx="5321808" cy="1892808"/>
          </a:xfrm>
          <a:prstGeom prst="roundRect">
            <a:avLst>
              <a:gd name="adj" fmla="val 3865"/>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mc_shot2.jpg"/>
          <p:cNvPicPr>
            <a:picLocks noChangeAspect="1"/>
          </p:cNvPicPr>
          <p:nvPr/>
        </p:nvPicPr>
        <p:blipFill>
          <a:blip r:embed="rId4"/>
          <a:stretch>
            <a:fillRect/>
          </a:stretch>
        </p:blipFill>
        <p:spPr>
          <a:xfrm>
            <a:off x="6245352" y="1737360"/>
            <a:ext cx="5212080" cy="1783080"/>
          </a:xfrm>
          <a:prstGeom prst="rect">
            <a:avLst/>
          </a:prstGeom>
        </p:spPr>
      </p:pic>
      <p:sp>
        <p:nvSpPr>
          <p:cNvPr id="12" name="Shape 8"/>
          <p:cNvSpPr/>
          <p:nvPr/>
        </p:nvSpPr>
        <p:spPr>
          <a:xfrm>
            <a:off x="502920" y="3886200"/>
            <a:ext cx="5440680" cy="384048"/>
          </a:xfrm>
          <a:prstGeom prst="roundRect">
            <a:avLst>
              <a:gd name="adj" fmla="val 14286"/>
            </a:avLst>
          </a:prstGeom>
          <a:solidFill>
            <a:srgbClr val="331A4D"/>
          </a:solidFill>
          <a:ln/>
        </p:spPr>
        <p:txBody>
          <a:bodyPr/>
          <a:lstStyle/>
          <a:p>
            <a:endParaRPr lang="en-US"/>
          </a:p>
        </p:txBody>
      </p:sp>
      <p:sp>
        <p:nvSpPr>
          <p:cNvPr id="13" name="Text 9"/>
          <p:cNvSpPr txBox="1"/>
          <p:nvPr/>
        </p:nvSpPr>
        <p:spPr>
          <a:xfrm>
            <a:off x="640080" y="388620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Ticket Creation and Resolution</a:t>
            </a:r>
            <a:endParaRPr lang="en-US" sz="1300" dirty="0"/>
          </a:p>
        </p:txBody>
      </p:sp>
      <p:sp>
        <p:nvSpPr>
          <p:cNvPr id="14" name="Shape 10"/>
          <p:cNvSpPr/>
          <p:nvPr/>
        </p:nvSpPr>
        <p:spPr>
          <a:xfrm>
            <a:off x="493776" y="4334256"/>
            <a:ext cx="5321808" cy="1892808"/>
          </a:xfrm>
          <a:prstGeom prst="roundRect">
            <a:avLst>
              <a:gd name="adj" fmla="val 3865"/>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5" name="Image 2" descr="/home/claude/build/img/mc_shot3.jpg"/>
          <p:cNvPicPr>
            <a:picLocks noChangeAspect="1"/>
          </p:cNvPicPr>
          <p:nvPr/>
        </p:nvPicPr>
        <p:blipFill>
          <a:blip r:embed="rId5"/>
          <a:stretch>
            <a:fillRect/>
          </a:stretch>
        </p:blipFill>
        <p:spPr>
          <a:xfrm>
            <a:off x="548640" y="4389120"/>
            <a:ext cx="5212080" cy="1783080"/>
          </a:xfrm>
          <a:prstGeom prst="rect">
            <a:avLst/>
          </a:prstGeom>
        </p:spPr>
      </p:pic>
      <p:sp>
        <p:nvSpPr>
          <p:cNvPr id="16" name="Shape 11"/>
          <p:cNvSpPr/>
          <p:nvPr/>
        </p:nvSpPr>
        <p:spPr>
          <a:xfrm>
            <a:off x="6199632" y="3886200"/>
            <a:ext cx="5440680" cy="384048"/>
          </a:xfrm>
          <a:prstGeom prst="roundRect">
            <a:avLst>
              <a:gd name="adj" fmla="val 14286"/>
            </a:avLst>
          </a:prstGeom>
          <a:solidFill>
            <a:srgbClr val="331A4D"/>
          </a:solidFill>
          <a:ln/>
        </p:spPr>
        <p:txBody>
          <a:bodyPr/>
          <a:lstStyle/>
          <a:p>
            <a:endParaRPr lang="en-US"/>
          </a:p>
        </p:txBody>
      </p:sp>
      <p:sp>
        <p:nvSpPr>
          <p:cNvPr id="17" name="Text 12"/>
          <p:cNvSpPr txBox="1"/>
          <p:nvPr/>
        </p:nvSpPr>
        <p:spPr>
          <a:xfrm>
            <a:off x="6336792" y="388620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Product View &amp; Real-Time Inventory</a:t>
            </a:r>
            <a:endParaRPr lang="en-US" sz="1300" dirty="0"/>
          </a:p>
        </p:txBody>
      </p:sp>
      <p:sp>
        <p:nvSpPr>
          <p:cNvPr id="18" name="Shape 13"/>
          <p:cNvSpPr/>
          <p:nvPr/>
        </p:nvSpPr>
        <p:spPr>
          <a:xfrm>
            <a:off x="6190488" y="4334256"/>
            <a:ext cx="5321808" cy="1892808"/>
          </a:xfrm>
          <a:prstGeom prst="roundRect">
            <a:avLst>
              <a:gd name="adj" fmla="val 3865"/>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9" name="Image 3" descr="/home/claude/build/img/mc_shot4.jpg"/>
          <p:cNvPicPr>
            <a:picLocks noChangeAspect="1"/>
          </p:cNvPicPr>
          <p:nvPr/>
        </p:nvPicPr>
        <p:blipFill>
          <a:blip r:embed="rId6"/>
          <a:stretch>
            <a:fillRect/>
          </a:stretch>
        </p:blipFill>
        <p:spPr>
          <a:xfrm>
            <a:off x="6245352" y="4389120"/>
            <a:ext cx="5212080" cy="1783080"/>
          </a:xfrm>
          <a:prstGeom prst="rect">
            <a:avLst/>
          </a:prstGeom>
        </p:spPr>
      </p:pic>
      <p:sp>
        <p:nvSpPr>
          <p:cNvPr id="20" name="Text 14"/>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21" name="Text 15"/>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8F6FB"/>
        </a:solidFill>
        <a:effectLst/>
      </p:bgPr>
    </p:bg>
    <p:spTree>
      <p:nvGrpSpPr>
        <p:cNvPr id="1" name=""/>
        <p:cNvGrpSpPr/>
        <p:nvPr/>
      </p:nvGrpSpPr>
      <p:grpSpPr>
        <a:xfrm>
          <a:off x="0" y="0"/>
          <a:ext cx="0" cy="0"/>
          <a:chOff x="0" y="0"/>
          <a:chExt cx="0" cy="0"/>
        </a:xfrm>
      </p:grpSpPr>
      <p:pic>
        <p:nvPicPr>
          <p:cNvPr id="2" name="Image 0" descr="/home/claude/build/img/ct_cube.png"/>
          <p:cNvPicPr>
            <a:picLocks noChangeAspect="1"/>
          </p:cNvPicPr>
          <p:nvPr/>
        </p:nvPicPr>
        <p:blipFill>
          <a:blip r:embed="rId3"/>
          <a:stretch>
            <a:fillRect/>
          </a:stretch>
        </p:blipFill>
        <p:spPr>
          <a:xfrm>
            <a:off x="502920" y="384048"/>
            <a:ext cx="365760" cy="365760"/>
          </a:xfrm>
          <a:prstGeom prst="rect">
            <a:avLst/>
          </a:prstGeom>
        </p:spPr>
      </p:pic>
      <p:sp>
        <p:nvSpPr>
          <p:cNvPr id="3" name="Text 0"/>
          <p:cNvSpPr txBox="1"/>
          <p:nvPr/>
        </p:nvSpPr>
        <p:spPr>
          <a:xfrm>
            <a:off x="960120" y="347472"/>
            <a:ext cx="10515600" cy="457200"/>
          </a:xfrm>
          <a:prstGeom prst="rect">
            <a:avLst/>
          </a:prstGeom>
          <a:noFill/>
          <a:ln/>
        </p:spPr>
        <p:txBody>
          <a:bodyPr wrap="square" lIns="0" tIns="0" rIns="0" bIns="0" rtlCol="0" anchor="ctr"/>
          <a:lstStyle/>
          <a:p>
            <a:pPr marL="0" indent="0">
              <a:buNone/>
            </a:pPr>
            <a:r>
              <a:rPr lang="en-US" sz="2600" b="1" dirty="0">
                <a:solidFill>
                  <a:srgbClr val="241033"/>
                </a:solidFill>
                <a:latin typeface="Arial" pitchFamily="34" charset="0"/>
                <a:ea typeface="Arial" pitchFamily="34" charset="-122"/>
                <a:cs typeface="Arial" pitchFamily="34" charset="-120"/>
              </a:rPr>
              <a:t>MetaFyAI  </a:t>
            </a:r>
            <a:r>
              <a:rPr lang="en-US" sz="1500" b="1" dirty="0">
                <a:solidFill>
                  <a:srgbClr val="017F76"/>
                </a:solidFill>
                <a:latin typeface="Arial" pitchFamily="34" charset="0"/>
                <a:ea typeface="Arial" pitchFamily="34" charset="-122"/>
                <a:cs typeface="Arial" pitchFamily="34" charset="-120"/>
              </a:rPr>
              <a:t>AI Visibility &amp; Answer Engine Optimization</a:t>
            </a:r>
            <a:endParaRPr lang="en-US" sz="2600" dirty="0"/>
          </a:p>
        </p:txBody>
      </p:sp>
      <p:sp>
        <p:nvSpPr>
          <p:cNvPr id="4" name="Text 1"/>
          <p:cNvSpPr txBox="1"/>
          <p:nvPr/>
        </p:nvSpPr>
        <p:spPr>
          <a:xfrm>
            <a:off x="502920" y="841248"/>
            <a:ext cx="11155680" cy="502920"/>
          </a:xfrm>
          <a:prstGeom prst="rect">
            <a:avLst/>
          </a:prstGeom>
          <a:noFill/>
          <a:ln/>
        </p:spPr>
        <p:txBody>
          <a:bodyPr wrap="square" lIns="0" tIns="0" rIns="0" bIns="0" rtlCol="0" anchor="ctr"/>
          <a:lstStyle/>
          <a:p>
            <a:pPr marL="0" indent="0">
              <a:buNone/>
            </a:pPr>
            <a:r>
              <a:rPr lang="en-US" sz="1150" dirty="0">
                <a:solidFill>
                  <a:srgbClr val="5E5770"/>
                </a:solidFill>
                <a:latin typeface="Calibri" pitchFamily="34" charset="0"/>
                <a:ea typeface="Calibri" pitchFamily="34" charset="-122"/>
                <a:cs typeface="Calibri" pitchFamily="34" charset="-120"/>
              </a:rPr>
              <a:t>See how AI recommends your brand before buyers ever search. MetaFyAI measures, benchmarks, and improves how your brand appears across ChatGPT, Perplexity, Gemini, Google AI Overviews, and AI shopping assistants — the new answer economy.</a:t>
            </a:r>
            <a:endParaRPr lang="en-US" sz="1150" dirty="0"/>
          </a:p>
        </p:txBody>
      </p:sp>
      <p:sp>
        <p:nvSpPr>
          <p:cNvPr id="5" name="Shape 2"/>
          <p:cNvSpPr/>
          <p:nvPr/>
        </p:nvSpPr>
        <p:spPr>
          <a:xfrm>
            <a:off x="502920" y="1508760"/>
            <a:ext cx="6537960" cy="384048"/>
          </a:xfrm>
          <a:prstGeom prst="roundRect">
            <a:avLst>
              <a:gd name="adj" fmla="val 14286"/>
            </a:avLst>
          </a:prstGeom>
          <a:solidFill>
            <a:srgbClr val="331A4D"/>
          </a:solidFill>
          <a:ln/>
        </p:spPr>
        <p:txBody>
          <a:bodyPr/>
          <a:lstStyle/>
          <a:p>
            <a:endParaRPr lang="en-US"/>
          </a:p>
        </p:txBody>
      </p:sp>
      <p:sp>
        <p:nvSpPr>
          <p:cNvPr id="6" name="Text 3"/>
          <p:cNvSpPr txBox="1"/>
          <p:nvPr/>
        </p:nvSpPr>
        <p:spPr>
          <a:xfrm>
            <a:off x="640080" y="1508760"/>
            <a:ext cx="626364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Key Features</a:t>
            </a:r>
            <a:endParaRPr lang="en-US" sz="1300" dirty="0"/>
          </a:p>
        </p:txBody>
      </p:sp>
      <p:sp>
        <p:nvSpPr>
          <p:cNvPr id="7" name="Shape 4"/>
          <p:cNvSpPr/>
          <p:nvPr/>
        </p:nvSpPr>
        <p:spPr>
          <a:xfrm>
            <a:off x="502920" y="2011680"/>
            <a:ext cx="6537960" cy="667512"/>
          </a:xfrm>
          <a:prstGeom prst="roundRect">
            <a:avLst>
              <a:gd name="adj" fmla="val 6849"/>
            </a:avLst>
          </a:prstGeom>
          <a:solidFill>
            <a:srgbClr val="FFFFFF"/>
          </a:solidFill>
          <a:ln w="12700">
            <a:solidFill>
              <a:srgbClr val="E4DEED"/>
            </a:solidFill>
            <a:prstDash val="solid"/>
          </a:ln>
        </p:spPr>
        <p:txBody>
          <a:bodyPr/>
          <a:lstStyle/>
          <a:p>
            <a:endParaRPr lang="en-US"/>
          </a:p>
        </p:txBody>
      </p:sp>
      <p:sp>
        <p:nvSpPr>
          <p:cNvPr id="8" name="Shape 5"/>
          <p:cNvSpPr/>
          <p:nvPr/>
        </p:nvSpPr>
        <p:spPr>
          <a:xfrm>
            <a:off x="612648" y="2180844"/>
            <a:ext cx="329184" cy="329184"/>
          </a:xfrm>
          <a:prstGeom prst="ellipse">
            <a:avLst/>
          </a:prstGeom>
          <a:solidFill>
            <a:srgbClr val="00A99D"/>
          </a:solidFill>
          <a:ln/>
        </p:spPr>
        <p:txBody>
          <a:bodyPr/>
          <a:lstStyle/>
          <a:p>
            <a:endParaRPr lang="en-US"/>
          </a:p>
        </p:txBody>
      </p:sp>
      <p:sp>
        <p:nvSpPr>
          <p:cNvPr id="9" name="Text 6"/>
          <p:cNvSpPr txBox="1"/>
          <p:nvPr/>
        </p:nvSpPr>
        <p:spPr>
          <a:xfrm>
            <a:off x="612648" y="21808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7"/>
          <p:cNvSpPr txBox="1"/>
          <p:nvPr/>
        </p:nvSpPr>
        <p:spPr>
          <a:xfrm>
            <a:off x="1051560" y="2066544"/>
            <a:ext cx="5852160" cy="576072"/>
          </a:xfrm>
          <a:prstGeom prst="rect">
            <a:avLst/>
          </a:prstGeom>
          <a:noFill/>
          <a:ln/>
        </p:spPr>
        <p:txBody>
          <a:bodyPr wrap="square" lIns="0" tIns="0" rIns="0" bIns="0" rtlCol="0" anchor="t"/>
          <a:lstStyle/>
          <a:p>
            <a:pPr marL="0" indent="0">
              <a:lnSpc>
                <a:spcPct val="105000"/>
              </a:lnSpc>
              <a:buNone/>
            </a:pPr>
            <a:r>
              <a:rPr lang="en-US" sz="1150" b="1" dirty="0">
                <a:solidFill>
                  <a:srgbClr val="4A2470"/>
                </a:solidFill>
                <a:latin typeface="Calibri" pitchFamily="34" charset="0"/>
                <a:ea typeface="Calibri" pitchFamily="34" charset="-122"/>
                <a:cs typeface="Calibri" pitchFamily="34" charset="-120"/>
              </a:rPr>
              <a:t>Multi-Engine Visibility Intelligence
</a:t>
            </a:r>
            <a:endParaRPr lang="en-US" sz="1150" dirty="0"/>
          </a:p>
          <a:p>
            <a:pPr marL="0" indent="0">
              <a:lnSpc>
                <a:spcPct val="105000"/>
              </a:lnSpc>
              <a:buNone/>
            </a:pPr>
            <a:r>
              <a:rPr lang="en-US" sz="930" dirty="0">
                <a:solidFill>
                  <a:srgbClr val="5E5770"/>
                </a:solidFill>
                <a:latin typeface="Calibri" pitchFamily="34" charset="0"/>
                <a:ea typeface="Calibri" pitchFamily="34" charset="-122"/>
                <a:cs typeface="Calibri" pitchFamily="34" charset="-120"/>
              </a:rPr>
              <a:t>Track brand mentions, share of voice, and rank across every major AI engine and AI shopping assistant.</a:t>
            </a:r>
            <a:endParaRPr lang="en-US" sz="1150" dirty="0"/>
          </a:p>
        </p:txBody>
      </p:sp>
      <p:sp>
        <p:nvSpPr>
          <p:cNvPr id="11" name="Shape 8"/>
          <p:cNvSpPr/>
          <p:nvPr/>
        </p:nvSpPr>
        <p:spPr>
          <a:xfrm>
            <a:off x="502920" y="2770632"/>
            <a:ext cx="6537960" cy="667512"/>
          </a:xfrm>
          <a:prstGeom prst="roundRect">
            <a:avLst>
              <a:gd name="adj" fmla="val 6849"/>
            </a:avLst>
          </a:prstGeom>
          <a:solidFill>
            <a:srgbClr val="FFFFFF"/>
          </a:solidFill>
          <a:ln w="12700">
            <a:solidFill>
              <a:srgbClr val="E4DEED"/>
            </a:solidFill>
            <a:prstDash val="solid"/>
          </a:ln>
        </p:spPr>
        <p:txBody>
          <a:bodyPr/>
          <a:lstStyle/>
          <a:p>
            <a:endParaRPr lang="en-US"/>
          </a:p>
        </p:txBody>
      </p:sp>
      <p:sp>
        <p:nvSpPr>
          <p:cNvPr id="12" name="Shape 9"/>
          <p:cNvSpPr/>
          <p:nvPr/>
        </p:nvSpPr>
        <p:spPr>
          <a:xfrm>
            <a:off x="612648" y="2939796"/>
            <a:ext cx="329184" cy="329184"/>
          </a:xfrm>
          <a:prstGeom prst="ellipse">
            <a:avLst/>
          </a:prstGeom>
          <a:solidFill>
            <a:srgbClr val="00A99D"/>
          </a:solidFill>
          <a:ln/>
        </p:spPr>
        <p:txBody>
          <a:bodyPr/>
          <a:lstStyle/>
          <a:p>
            <a:endParaRPr lang="en-US"/>
          </a:p>
        </p:txBody>
      </p:sp>
      <p:sp>
        <p:nvSpPr>
          <p:cNvPr id="13" name="Text 10"/>
          <p:cNvSpPr txBox="1"/>
          <p:nvPr/>
        </p:nvSpPr>
        <p:spPr>
          <a:xfrm>
            <a:off x="612648" y="29397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1"/>
          <p:cNvSpPr txBox="1"/>
          <p:nvPr/>
        </p:nvSpPr>
        <p:spPr>
          <a:xfrm>
            <a:off x="1051560" y="2825496"/>
            <a:ext cx="5852160" cy="576072"/>
          </a:xfrm>
          <a:prstGeom prst="rect">
            <a:avLst/>
          </a:prstGeom>
          <a:noFill/>
          <a:ln/>
        </p:spPr>
        <p:txBody>
          <a:bodyPr wrap="square" lIns="0" tIns="0" rIns="0" bIns="0" rtlCol="0" anchor="t"/>
          <a:lstStyle/>
          <a:p>
            <a:pPr marL="0" indent="0">
              <a:lnSpc>
                <a:spcPct val="105000"/>
              </a:lnSpc>
              <a:buNone/>
            </a:pPr>
            <a:r>
              <a:rPr lang="en-US" sz="1150" b="1" dirty="0">
                <a:solidFill>
                  <a:srgbClr val="4A2470"/>
                </a:solidFill>
                <a:latin typeface="Calibri" pitchFamily="34" charset="0"/>
                <a:ea typeface="Calibri" pitchFamily="34" charset="-122"/>
                <a:cs typeface="Calibri" pitchFamily="34" charset="-120"/>
              </a:rPr>
              <a:t>Competitive Benchmarking
</a:t>
            </a:r>
            <a:endParaRPr lang="en-US" sz="1150" dirty="0"/>
          </a:p>
          <a:p>
            <a:pPr marL="0" indent="0">
              <a:lnSpc>
                <a:spcPct val="105000"/>
              </a:lnSpc>
              <a:buNone/>
            </a:pPr>
            <a:r>
              <a:rPr lang="en-US" sz="930" dirty="0">
                <a:solidFill>
                  <a:srgbClr val="5E5770"/>
                </a:solidFill>
                <a:latin typeface="Calibri" pitchFamily="34" charset="0"/>
                <a:ea typeface="Calibri" pitchFamily="34" charset="-122"/>
                <a:cs typeface="Calibri" pitchFamily="34" charset="-120"/>
              </a:rPr>
              <a:t>Compare your presence by category, product line, and buying intent — see who AI recommends instead of you.</a:t>
            </a:r>
            <a:endParaRPr lang="en-US" sz="1150" dirty="0"/>
          </a:p>
        </p:txBody>
      </p:sp>
      <p:sp>
        <p:nvSpPr>
          <p:cNvPr id="15" name="Shape 12"/>
          <p:cNvSpPr/>
          <p:nvPr/>
        </p:nvSpPr>
        <p:spPr>
          <a:xfrm>
            <a:off x="502920" y="3529584"/>
            <a:ext cx="6537960" cy="667512"/>
          </a:xfrm>
          <a:prstGeom prst="roundRect">
            <a:avLst>
              <a:gd name="adj" fmla="val 6849"/>
            </a:avLst>
          </a:prstGeom>
          <a:solidFill>
            <a:srgbClr val="FFFFFF"/>
          </a:solidFill>
          <a:ln w="12700">
            <a:solidFill>
              <a:srgbClr val="E4DEED"/>
            </a:solidFill>
            <a:prstDash val="solid"/>
          </a:ln>
        </p:spPr>
        <p:txBody>
          <a:bodyPr/>
          <a:lstStyle/>
          <a:p>
            <a:endParaRPr lang="en-US"/>
          </a:p>
        </p:txBody>
      </p:sp>
      <p:sp>
        <p:nvSpPr>
          <p:cNvPr id="16" name="Shape 13"/>
          <p:cNvSpPr/>
          <p:nvPr/>
        </p:nvSpPr>
        <p:spPr>
          <a:xfrm>
            <a:off x="612648" y="3698748"/>
            <a:ext cx="329184" cy="329184"/>
          </a:xfrm>
          <a:prstGeom prst="ellipse">
            <a:avLst/>
          </a:prstGeom>
          <a:solidFill>
            <a:srgbClr val="00A99D"/>
          </a:solidFill>
          <a:ln/>
        </p:spPr>
        <p:txBody>
          <a:bodyPr/>
          <a:lstStyle/>
          <a:p>
            <a:endParaRPr lang="en-US"/>
          </a:p>
        </p:txBody>
      </p:sp>
      <p:sp>
        <p:nvSpPr>
          <p:cNvPr id="17" name="Text 14"/>
          <p:cNvSpPr txBox="1"/>
          <p:nvPr/>
        </p:nvSpPr>
        <p:spPr>
          <a:xfrm>
            <a:off x="612648" y="36987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txBox="1"/>
          <p:nvPr/>
        </p:nvSpPr>
        <p:spPr>
          <a:xfrm>
            <a:off x="1051560" y="3584448"/>
            <a:ext cx="5852160" cy="576072"/>
          </a:xfrm>
          <a:prstGeom prst="rect">
            <a:avLst/>
          </a:prstGeom>
          <a:noFill/>
          <a:ln/>
        </p:spPr>
        <p:txBody>
          <a:bodyPr wrap="square" lIns="0" tIns="0" rIns="0" bIns="0" rtlCol="0" anchor="t"/>
          <a:lstStyle/>
          <a:p>
            <a:pPr marL="0" indent="0">
              <a:lnSpc>
                <a:spcPct val="105000"/>
              </a:lnSpc>
              <a:buNone/>
            </a:pPr>
            <a:r>
              <a:rPr lang="en-US" sz="1150" b="1" dirty="0">
                <a:solidFill>
                  <a:srgbClr val="4A2470"/>
                </a:solidFill>
                <a:latin typeface="Calibri" pitchFamily="34" charset="0"/>
                <a:ea typeface="Calibri" pitchFamily="34" charset="-122"/>
                <a:cs typeface="Calibri" pitchFamily="34" charset="-120"/>
              </a:rPr>
              <a:t>Citation Discovery
</a:t>
            </a:r>
            <a:endParaRPr lang="en-US" sz="1150" dirty="0"/>
          </a:p>
          <a:p>
            <a:pPr marL="0" indent="0">
              <a:lnSpc>
                <a:spcPct val="105000"/>
              </a:lnSpc>
              <a:buNone/>
            </a:pPr>
            <a:r>
              <a:rPr lang="en-US" sz="930" dirty="0">
                <a:solidFill>
                  <a:srgbClr val="5E5770"/>
                </a:solidFill>
                <a:latin typeface="Calibri" pitchFamily="34" charset="0"/>
                <a:ea typeface="Calibri" pitchFamily="34" charset="-122"/>
                <a:cs typeface="Calibri" pitchFamily="34" charset="-120"/>
              </a:rPr>
              <a:t>Scan sites, social, partner pages, and directories to surface where you're mentioned, inconsistent, or missing.</a:t>
            </a:r>
            <a:endParaRPr lang="en-US" sz="1150" dirty="0"/>
          </a:p>
        </p:txBody>
      </p:sp>
      <p:sp>
        <p:nvSpPr>
          <p:cNvPr id="19" name="Shape 16"/>
          <p:cNvSpPr/>
          <p:nvPr/>
        </p:nvSpPr>
        <p:spPr>
          <a:xfrm>
            <a:off x="502920" y="4288536"/>
            <a:ext cx="6537960" cy="667512"/>
          </a:xfrm>
          <a:prstGeom prst="roundRect">
            <a:avLst>
              <a:gd name="adj" fmla="val 6849"/>
            </a:avLst>
          </a:prstGeom>
          <a:solidFill>
            <a:srgbClr val="FFFFFF"/>
          </a:solidFill>
          <a:ln w="12700">
            <a:solidFill>
              <a:srgbClr val="E4DEED"/>
            </a:solidFill>
            <a:prstDash val="solid"/>
          </a:ln>
        </p:spPr>
        <p:txBody>
          <a:bodyPr/>
          <a:lstStyle/>
          <a:p>
            <a:endParaRPr lang="en-US"/>
          </a:p>
        </p:txBody>
      </p:sp>
      <p:sp>
        <p:nvSpPr>
          <p:cNvPr id="20" name="Shape 17"/>
          <p:cNvSpPr/>
          <p:nvPr/>
        </p:nvSpPr>
        <p:spPr>
          <a:xfrm>
            <a:off x="612648" y="4457700"/>
            <a:ext cx="329184" cy="329184"/>
          </a:xfrm>
          <a:prstGeom prst="ellipse">
            <a:avLst/>
          </a:prstGeom>
          <a:solidFill>
            <a:srgbClr val="00A99D"/>
          </a:solidFill>
          <a:ln/>
        </p:spPr>
        <p:txBody>
          <a:bodyPr/>
          <a:lstStyle/>
          <a:p>
            <a:endParaRPr lang="en-US"/>
          </a:p>
        </p:txBody>
      </p:sp>
      <p:sp>
        <p:nvSpPr>
          <p:cNvPr id="21" name="Text 18"/>
          <p:cNvSpPr txBox="1"/>
          <p:nvPr/>
        </p:nvSpPr>
        <p:spPr>
          <a:xfrm>
            <a:off x="612648" y="44577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19"/>
          <p:cNvSpPr txBox="1"/>
          <p:nvPr/>
        </p:nvSpPr>
        <p:spPr>
          <a:xfrm>
            <a:off x="1051560" y="4343400"/>
            <a:ext cx="5852160" cy="576072"/>
          </a:xfrm>
          <a:prstGeom prst="rect">
            <a:avLst/>
          </a:prstGeom>
          <a:noFill/>
          <a:ln/>
        </p:spPr>
        <p:txBody>
          <a:bodyPr wrap="square" lIns="0" tIns="0" rIns="0" bIns="0" rtlCol="0" anchor="t"/>
          <a:lstStyle/>
          <a:p>
            <a:pPr marL="0" indent="0">
              <a:lnSpc>
                <a:spcPct val="105000"/>
              </a:lnSpc>
              <a:buNone/>
            </a:pPr>
            <a:r>
              <a:rPr lang="en-US" sz="1150" b="1" dirty="0">
                <a:solidFill>
                  <a:srgbClr val="4A2470"/>
                </a:solidFill>
                <a:latin typeface="Calibri" pitchFamily="34" charset="0"/>
                <a:ea typeface="Calibri" pitchFamily="34" charset="-122"/>
                <a:cs typeface="Calibri" pitchFamily="34" charset="-120"/>
              </a:rPr>
              <a:t>Agentic Feed Hub
</a:t>
            </a:r>
            <a:endParaRPr lang="en-US" sz="1150" dirty="0"/>
          </a:p>
          <a:p>
            <a:pPr marL="0" indent="0">
              <a:lnSpc>
                <a:spcPct val="105000"/>
              </a:lnSpc>
              <a:buNone/>
            </a:pPr>
            <a:r>
              <a:rPr lang="en-US" sz="930" dirty="0">
                <a:solidFill>
                  <a:srgbClr val="5E5770"/>
                </a:solidFill>
                <a:latin typeface="Calibri" pitchFamily="34" charset="0"/>
                <a:ea typeface="Calibri" pitchFamily="34" charset="-122"/>
                <a:cs typeface="Calibri" pitchFamily="34" charset="-120"/>
              </a:rPr>
              <a:t>Push AI-ready product feeds to AI, commerce, and social platforms with real-time pricing, inventory, and promo logic.</a:t>
            </a:r>
            <a:endParaRPr lang="en-US" sz="1150" dirty="0"/>
          </a:p>
        </p:txBody>
      </p:sp>
      <p:sp>
        <p:nvSpPr>
          <p:cNvPr id="23" name="Shape 20"/>
          <p:cNvSpPr/>
          <p:nvPr/>
        </p:nvSpPr>
        <p:spPr>
          <a:xfrm>
            <a:off x="502920" y="5047488"/>
            <a:ext cx="6537960" cy="667512"/>
          </a:xfrm>
          <a:prstGeom prst="roundRect">
            <a:avLst>
              <a:gd name="adj" fmla="val 6849"/>
            </a:avLst>
          </a:prstGeom>
          <a:solidFill>
            <a:srgbClr val="FFFFFF"/>
          </a:solidFill>
          <a:ln w="12700">
            <a:solidFill>
              <a:srgbClr val="E4DEED"/>
            </a:solidFill>
            <a:prstDash val="solid"/>
          </a:ln>
        </p:spPr>
        <p:txBody>
          <a:bodyPr/>
          <a:lstStyle/>
          <a:p>
            <a:endParaRPr lang="en-US"/>
          </a:p>
        </p:txBody>
      </p:sp>
      <p:sp>
        <p:nvSpPr>
          <p:cNvPr id="24" name="Shape 21"/>
          <p:cNvSpPr/>
          <p:nvPr/>
        </p:nvSpPr>
        <p:spPr>
          <a:xfrm>
            <a:off x="612648" y="5216652"/>
            <a:ext cx="329184" cy="329184"/>
          </a:xfrm>
          <a:prstGeom prst="ellipse">
            <a:avLst/>
          </a:prstGeom>
          <a:solidFill>
            <a:srgbClr val="00A99D"/>
          </a:solidFill>
          <a:ln/>
        </p:spPr>
        <p:txBody>
          <a:bodyPr/>
          <a:lstStyle/>
          <a:p>
            <a:endParaRPr lang="en-US"/>
          </a:p>
        </p:txBody>
      </p:sp>
      <p:sp>
        <p:nvSpPr>
          <p:cNvPr id="25" name="Text 22"/>
          <p:cNvSpPr txBox="1"/>
          <p:nvPr/>
        </p:nvSpPr>
        <p:spPr>
          <a:xfrm>
            <a:off x="612648" y="52166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6" name="Text 23"/>
          <p:cNvSpPr txBox="1"/>
          <p:nvPr/>
        </p:nvSpPr>
        <p:spPr>
          <a:xfrm>
            <a:off x="1051560" y="5102352"/>
            <a:ext cx="5852160" cy="576072"/>
          </a:xfrm>
          <a:prstGeom prst="rect">
            <a:avLst/>
          </a:prstGeom>
          <a:noFill/>
          <a:ln/>
        </p:spPr>
        <p:txBody>
          <a:bodyPr wrap="square" lIns="0" tIns="0" rIns="0" bIns="0" rtlCol="0" anchor="t"/>
          <a:lstStyle/>
          <a:p>
            <a:pPr marL="0" indent="0">
              <a:lnSpc>
                <a:spcPct val="105000"/>
              </a:lnSpc>
              <a:buNone/>
            </a:pPr>
            <a:r>
              <a:rPr lang="en-US" sz="1150" b="1" dirty="0">
                <a:solidFill>
                  <a:srgbClr val="4A2470"/>
                </a:solidFill>
                <a:latin typeface="Calibri" pitchFamily="34" charset="0"/>
                <a:ea typeface="Calibri" pitchFamily="34" charset="-122"/>
                <a:cs typeface="Calibri" pitchFamily="34" charset="-120"/>
              </a:rPr>
              <a:t>AEO Content Optimization
</a:t>
            </a:r>
            <a:endParaRPr lang="en-US" sz="1150" dirty="0"/>
          </a:p>
          <a:p>
            <a:pPr marL="0" indent="0">
              <a:lnSpc>
                <a:spcPct val="105000"/>
              </a:lnSpc>
              <a:buNone/>
            </a:pPr>
            <a:r>
              <a:rPr lang="en-US" sz="930" dirty="0">
                <a:solidFill>
                  <a:srgbClr val="5E5770"/>
                </a:solidFill>
                <a:latin typeface="Calibri" pitchFamily="34" charset="0"/>
                <a:ea typeface="Calibri" pitchFamily="34" charset="-122"/>
                <a:cs typeface="Calibri" pitchFamily="34" charset="-120"/>
              </a:rPr>
              <a:t>Structure and enrich product data and content so AI engines can confidently find, understand, and cite you.</a:t>
            </a:r>
            <a:endParaRPr lang="en-US" sz="1150" dirty="0"/>
          </a:p>
        </p:txBody>
      </p:sp>
      <p:sp>
        <p:nvSpPr>
          <p:cNvPr id="27" name="Shape 24"/>
          <p:cNvSpPr/>
          <p:nvPr/>
        </p:nvSpPr>
        <p:spPr>
          <a:xfrm>
            <a:off x="502920" y="5806440"/>
            <a:ext cx="6537960" cy="667512"/>
          </a:xfrm>
          <a:prstGeom prst="roundRect">
            <a:avLst>
              <a:gd name="adj" fmla="val 6849"/>
            </a:avLst>
          </a:prstGeom>
          <a:solidFill>
            <a:srgbClr val="FFFFFF"/>
          </a:solidFill>
          <a:ln w="12700">
            <a:solidFill>
              <a:srgbClr val="E4DEED"/>
            </a:solidFill>
            <a:prstDash val="solid"/>
          </a:ln>
        </p:spPr>
        <p:txBody>
          <a:bodyPr/>
          <a:lstStyle/>
          <a:p>
            <a:endParaRPr lang="en-US"/>
          </a:p>
        </p:txBody>
      </p:sp>
      <p:sp>
        <p:nvSpPr>
          <p:cNvPr id="28" name="Shape 25"/>
          <p:cNvSpPr/>
          <p:nvPr/>
        </p:nvSpPr>
        <p:spPr>
          <a:xfrm>
            <a:off x="612648" y="5975604"/>
            <a:ext cx="329184" cy="329184"/>
          </a:xfrm>
          <a:prstGeom prst="ellipse">
            <a:avLst/>
          </a:prstGeom>
          <a:solidFill>
            <a:srgbClr val="00A99D"/>
          </a:solidFill>
          <a:ln/>
        </p:spPr>
        <p:txBody>
          <a:bodyPr/>
          <a:lstStyle/>
          <a:p>
            <a:endParaRPr lang="en-US"/>
          </a:p>
        </p:txBody>
      </p:sp>
      <p:sp>
        <p:nvSpPr>
          <p:cNvPr id="29" name="Text 26"/>
          <p:cNvSpPr txBox="1"/>
          <p:nvPr/>
        </p:nvSpPr>
        <p:spPr>
          <a:xfrm>
            <a:off x="612648" y="59756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0" name="Text 27"/>
          <p:cNvSpPr txBox="1"/>
          <p:nvPr/>
        </p:nvSpPr>
        <p:spPr>
          <a:xfrm>
            <a:off x="1051560" y="5861304"/>
            <a:ext cx="5852160" cy="576072"/>
          </a:xfrm>
          <a:prstGeom prst="rect">
            <a:avLst/>
          </a:prstGeom>
          <a:noFill/>
          <a:ln/>
        </p:spPr>
        <p:txBody>
          <a:bodyPr wrap="square" lIns="0" tIns="0" rIns="0" bIns="0" rtlCol="0" anchor="t"/>
          <a:lstStyle/>
          <a:p>
            <a:pPr marL="0" indent="0">
              <a:lnSpc>
                <a:spcPct val="105000"/>
              </a:lnSpc>
              <a:buNone/>
            </a:pPr>
            <a:r>
              <a:rPr lang="en-US" sz="1150" b="1" dirty="0">
                <a:solidFill>
                  <a:srgbClr val="4A2470"/>
                </a:solidFill>
                <a:latin typeface="Calibri" pitchFamily="34" charset="0"/>
                <a:ea typeface="Calibri" pitchFamily="34" charset="-122"/>
                <a:cs typeface="Calibri" pitchFamily="34" charset="-120"/>
              </a:rPr>
              <a:t>Local Visibility (GEO)
</a:t>
            </a:r>
            <a:endParaRPr lang="en-US" sz="1150" dirty="0"/>
          </a:p>
          <a:p>
            <a:pPr marL="0" indent="0">
              <a:lnSpc>
                <a:spcPct val="105000"/>
              </a:lnSpc>
              <a:buNone/>
            </a:pPr>
            <a:r>
              <a:rPr lang="en-US" sz="930" dirty="0">
                <a:solidFill>
                  <a:srgbClr val="5E5770"/>
                </a:solidFill>
                <a:latin typeface="Calibri" pitchFamily="34" charset="0"/>
                <a:ea typeface="Calibri" pitchFamily="34" charset="-122"/>
                <a:cs typeface="Calibri" pitchFamily="34" charset="-120"/>
              </a:rPr>
              <a:t>Geo-tagged content, location landing pages, and consistent directory mentions to win location-qualified AI searches.</a:t>
            </a:r>
            <a:endParaRPr lang="en-US" sz="1150" dirty="0"/>
          </a:p>
        </p:txBody>
      </p:sp>
      <p:sp>
        <p:nvSpPr>
          <p:cNvPr id="31" name="Shape 28"/>
          <p:cNvSpPr/>
          <p:nvPr/>
        </p:nvSpPr>
        <p:spPr>
          <a:xfrm>
            <a:off x="7315200" y="1508760"/>
            <a:ext cx="4370832" cy="5056632"/>
          </a:xfrm>
          <a:prstGeom prst="roundRect">
            <a:avLst>
              <a:gd name="adj" fmla="val 1674"/>
            </a:avLst>
          </a:prstGeom>
          <a:solidFill>
            <a:srgbClr val="241033"/>
          </a:solidFill>
          <a:ln/>
        </p:spPr>
        <p:txBody>
          <a:bodyPr/>
          <a:lstStyle/>
          <a:p>
            <a:endParaRPr lang="en-US"/>
          </a:p>
        </p:txBody>
      </p:sp>
      <p:sp>
        <p:nvSpPr>
          <p:cNvPr id="32" name="Text 29"/>
          <p:cNvSpPr txBox="1"/>
          <p:nvPr/>
        </p:nvSpPr>
        <p:spPr>
          <a:xfrm>
            <a:off x="7543800" y="1691640"/>
            <a:ext cx="3913632" cy="365760"/>
          </a:xfrm>
          <a:prstGeom prst="rect">
            <a:avLst/>
          </a:prstGeom>
          <a:noFill/>
          <a:ln/>
        </p:spPr>
        <p:txBody>
          <a:bodyPr wrap="square" lIns="0" tIns="0" rIns="0" bIns="0" rtlCol="0" anchor="ctr"/>
          <a:lstStyle/>
          <a:p>
            <a:pPr marL="0" indent="0">
              <a:buNone/>
            </a:pPr>
            <a:r>
              <a:rPr lang="en-US" sz="1400" b="1" dirty="0">
                <a:solidFill>
                  <a:srgbClr val="FFC629"/>
                </a:solidFill>
                <a:latin typeface="Arial" pitchFamily="34" charset="0"/>
                <a:ea typeface="Arial" pitchFamily="34" charset="-122"/>
                <a:cs typeface="Arial" pitchFamily="34" charset="-120"/>
              </a:rPr>
              <a:t>How It Helps Customers</a:t>
            </a:r>
            <a:endParaRPr lang="en-US" sz="1400" dirty="0"/>
          </a:p>
        </p:txBody>
      </p:sp>
      <p:sp>
        <p:nvSpPr>
          <p:cNvPr id="33" name="Shape 30"/>
          <p:cNvSpPr/>
          <p:nvPr/>
        </p:nvSpPr>
        <p:spPr>
          <a:xfrm>
            <a:off x="7543800" y="2240280"/>
            <a:ext cx="91440" cy="91440"/>
          </a:xfrm>
          <a:prstGeom prst="ellipse">
            <a:avLst/>
          </a:prstGeom>
          <a:solidFill>
            <a:srgbClr val="00A99D"/>
          </a:solidFill>
          <a:ln/>
        </p:spPr>
        <p:txBody>
          <a:bodyPr/>
          <a:lstStyle/>
          <a:p>
            <a:endParaRPr lang="en-US"/>
          </a:p>
        </p:txBody>
      </p:sp>
      <p:sp>
        <p:nvSpPr>
          <p:cNvPr id="34" name="Text 31"/>
          <p:cNvSpPr txBox="1"/>
          <p:nvPr/>
        </p:nvSpPr>
        <p:spPr>
          <a:xfrm>
            <a:off x="7754112" y="2121408"/>
            <a:ext cx="3685032" cy="685800"/>
          </a:xfrm>
          <a:prstGeom prst="rect">
            <a:avLst/>
          </a:prstGeom>
          <a:noFill/>
          <a:ln/>
        </p:spPr>
        <p:txBody>
          <a:bodyPr wrap="square" lIns="0" tIns="0" rIns="0" bIns="0" rtlCol="0" anchor="t"/>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Win the shift from SEO to AEO
</a:t>
            </a:r>
            <a:endParaRPr lang="en-US" sz="1150" dirty="0"/>
          </a:p>
          <a:p>
            <a:pPr marL="0" indent="0">
              <a:lnSpc>
                <a:spcPct val="105000"/>
              </a:lnSpc>
              <a:buNone/>
            </a:pPr>
            <a:r>
              <a:rPr lang="en-US" sz="930" dirty="0">
                <a:solidFill>
                  <a:srgbClr val="C9BEDD"/>
                </a:solidFill>
                <a:latin typeface="Calibri" pitchFamily="34" charset="0"/>
                <a:ea typeface="Calibri" pitchFamily="34" charset="-122"/>
                <a:cs typeface="Calibri" pitchFamily="34" charset="-120"/>
              </a:rPr>
              <a:t>Stay discoverable as buyers move from search results to AI answers.</a:t>
            </a:r>
            <a:endParaRPr lang="en-US" sz="1150" dirty="0"/>
          </a:p>
        </p:txBody>
      </p:sp>
      <p:sp>
        <p:nvSpPr>
          <p:cNvPr id="35" name="Shape 32"/>
          <p:cNvSpPr/>
          <p:nvPr/>
        </p:nvSpPr>
        <p:spPr>
          <a:xfrm>
            <a:off x="7543800" y="2971800"/>
            <a:ext cx="91440" cy="91440"/>
          </a:xfrm>
          <a:prstGeom prst="ellipse">
            <a:avLst/>
          </a:prstGeom>
          <a:solidFill>
            <a:srgbClr val="00A99D"/>
          </a:solidFill>
          <a:ln/>
        </p:spPr>
        <p:txBody>
          <a:bodyPr/>
          <a:lstStyle/>
          <a:p>
            <a:endParaRPr lang="en-US"/>
          </a:p>
        </p:txBody>
      </p:sp>
      <p:sp>
        <p:nvSpPr>
          <p:cNvPr id="36" name="Text 33"/>
          <p:cNvSpPr txBox="1"/>
          <p:nvPr/>
        </p:nvSpPr>
        <p:spPr>
          <a:xfrm>
            <a:off x="7754112" y="2852928"/>
            <a:ext cx="3685032" cy="685800"/>
          </a:xfrm>
          <a:prstGeom prst="rect">
            <a:avLst/>
          </a:prstGeom>
          <a:noFill/>
          <a:ln/>
        </p:spPr>
        <p:txBody>
          <a:bodyPr wrap="square" lIns="0" tIns="0" rIns="0" bIns="0" rtlCol="0" anchor="t"/>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Protect brand &amp; revenue
</a:t>
            </a:r>
            <a:endParaRPr lang="en-US" sz="1150" dirty="0"/>
          </a:p>
          <a:p>
            <a:pPr marL="0" indent="0">
              <a:lnSpc>
                <a:spcPct val="105000"/>
              </a:lnSpc>
              <a:buNone/>
            </a:pPr>
            <a:r>
              <a:rPr lang="en-US" sz="930" dirty="0">
                <a:solidFill>
                  <a:srgbClr val="C9BEDD"/>
                </a:solidFill>
                <a:latin typeface="Calibri" pitchFamily="34" charset="0"/>
                <a:ea typeface="Calibri" pitchFamily="34" charset="-122"/>
                <a:cs typeface="Calibri" pitchFamily="34" charset="-120"/>
              </a:rPr>
              <a:t>Catch invisible demand and stop competitors from being recommended in your place.</a:t>
            </a:r>
            <a:endParaRPr lang="en-US" sz="1150" dirty="0"/>
          </a:p>
        </p:txBody>
      </p:sp>
      <p:sp>
        <p:nvSpPr>
          <p:cNvPr id="37" name="Shape 34"/>
          <p:cNvSpPr/>
          <p:nvPr/>
        </p:nvSpPr>
        <p:spPr>
          <a:xfrm>
            <a:off x="7543800" y="3703320"/>
            <a:ext cx="91440" cy="91440"/>
          </a:xfrm>
          <a:prstGeom prst="ellipse">
            <a:avLst/>
          </a:prstGeom>
          <a:solidFill>
            <a:srgbClr val="00A99D"/>
          </a:solidFill>
          <a:ln/>
        </p:spPr>
        <p:txBody>
          <a:bodyPr/>
          <a:lstStyle/>
          <a:p>
            <a:endParaRPr lang="en-US"/>
          </a:p>
        </p:txBody>
      </p:sp>
      <p:sp>
        <p:nvSpPr>
          <p:cNvPr id="38" name="Text 35"/>
          <p:cNvSpPr txBox="1"/>
          <p:nvPr/>
        </p:nvSpPr>
        <p:spPr>
          <a:xfrm>
            <a:off x="7754112" y="3584448"/>
            <a:ext cx="3685032" cy="685800"/>
          </a:xfrm>
          <a:prstGeom prst="rect">
            <a:avLst/>
          </a:prstGeom>
          <a:noFill/>
          <a:ln/>
        </p:spPr>
        <p:txBody>
          <a:bodyPr wrap="square" lIns="0" tIns="0" rIns="0" bIns="0" rtlCol="0" anchor="t"/>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Fix visibility gaps
</a:t>
            </a:r>
            <a:endParaRPr lang="en-US" sz="1150" dirty="0"/>
          </a:p>
          <a:p>
            <a:pPr marL="0" indent="0">
              <a:lnSpc>
                <a:spcPct val="105000"/>
              </a:lnSpc>
              <a:buNone/>
            </a:pPr>
            <a:r>
              <a:rPr lang="en-US" sz="930" dirty="0">
                <a:solidFill>
                  <a:srgbClr val="C9BEDD"/>
                </a:solidFill>
                <a:latin typeface="Calibri" pitchFamily="34" charset="0"/>
                <a:ea typeface="Calibri" pitchFamily="34" charset="-122"/>
                <a:cs typeface="Calibri" pitchFamily="34" charset="-120"/>
              </a:rPr>
              <a:t>Correct product data, content structure, and source authority that keep strong brands invisible.</a:t>
            </a:r>
            <a:endParaRPr lang="en-US" sz="1150" dirty="0"/>
          </a:p>
        </p:txBody>
      </p:sp>
      <p:sp>
        <p:nvSpPr>
          <p:cNvPr id="39" name="Shape 36"/>
          <p:cNvSpPr/>
          <p:nvPr/>
        </p:nvSpPr>
        <p:spPr>
          <a:xfrm>
            <a:off x="7543800" y="4434840"/>
            <a:ext cx="91440" cy="91440"/>
          </a:xfrm>
          <a:prstGeom prst="ellipse">
            <a:avLst/>
          </a:prstGeom>
          <a:solidFill>
            <a:srgbClr val="00A99D"/>
          </a:solidFill>
          <a:ln/>
        </p:spPr>
        <p:txBody>
          <a:bodyPr/>
          <a:lstStyle/>
          <a:p>
            <a:endParaRPr lang="en-US"/>
          </a:p>
        </p:txBody>
      </p:sp>
      <p:sp>
        <p:nvSpPr>
          <p:cNvPr id="40" name="Text 37"/>
          <p:cNvSpPr txBox="1"/>
          <p:nvPr/>
        </p:nvSpPr>
        <p:spPr>
          <a:xfrm>
            <a:off x="7754112" y="4315968"/>
            <a:ext cx="3685032" cy="685800"/>
          </a:xfrm>
          <a:prstGeom prst="rect">
            <a:avLst/>
          </a:prstGeom>
          <a:noFill/>
          <a:ln/>
        </p:spPr>
        <p:txBody>
          <a:bodyPr wrap="square" lIns="0" tIns="0" rIns="0" bIns="0" rtlCol="0" anchor="t"/>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Always-fresh product data
</a:t>
            </a:r>
            <a:endParaRPr lang="en-US" sz="1150" dirty="0"/>
          </a:p>
          <a:p>
            <a:pPr marL="0" indent="0">
              <a:lnSpc>
                <a:spcPct val="105000"/>
              </a:lnSpc>
              <a:buNone/>
            </a:pPr>
            <a:r>
              <a:rPr lang="en-US" sz="930" dirty="0">
                <a:solidFill>
                  <a:srgbClr val="C9BEDD"/>
                </a:solidFill>
                <a:latin typeface="Calibri" pitchFamily="34" charset="0"/>
                <a:ea typeface="Calibri" pitchFamily="34" charset="-122"/>
                <a:cs typeface="Calibri" pitchFamily="34" charset="-120"/>
              </a:rPr>
              <a:t>Real-time feeds keep pricing, inventory, and promotions accurate across every AI channel.</a:t>
            </a:r>
            <a:endParaRPr lang="en-US" sz="1150" dirty="0"/>
          </a:p>
        </p:txBody>
      </p:sp>
      <p:sp>
        <p:nvSpPr>
          <p:cNvPr id="41" name="Shape 38"/>
          <p:cNvSpPr/>
          <p:nvPr/>
        </p:nvSpPr>
        <p:spPr>
          <a:xfrm>
            <a:off x="7543800" y="5166360"/>
            <a:ext cx="91440" cy="91440"/>
          </a:xfrm>
          <a:prstGeom prst="ellipse">
            <a:avLst/>
          </a:prstGeom>
          <a:solidFill>
            <a:srgbClr val="00A99D"/>
          </a:solidFill>
          <a:ln/>
        </p:spPr>
        <p:txBody>
          <a:bodyPr/>
          <a:lstStyle/>
          <a:p>
            <a:endParaRPr lang="en-US"/>
          </a:p>
        </p:txBody>
      </p:sp>
      <p:sp>
        <p:nvSpPr>
          <p:cNvPr id="42" name="Text 39"/>
          <p:cNvSpPr txBox="1"/>
          <p:nvPr/>
        </p:nvSpPr>
        <p:spPr>
          <a:xfrm>
            <a:off x="7754112" y="5047488"/>
            <a:ext cx="3685032" cy="685800"/>
          </a:xfrm>
          <a:prstGeom prst="rect">
            <a:avLst/>
          </a:prstGeom>
          <a:noFill/>
          <a:ln/>
        </p:spPr>
        <p:txBody>
          <a:bodyPr wrap="square" lIns="0" tIns="0" rIns="0" bIns="0" rtlCol="0" anchor="t"/>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A clear 30-day action plan
</a:t>
            </a:r>
            <a:endParaRPr lang="en-US" sz="1150" dirty="0"/>
          </a:p>
          <a:p>
            <a:pPr marL="0" indent="0">
              <a:lnSpc>
                <a:spcPct val="105000"/>
              </a:lnSpc>
              <a:buNone/>
            </a:pPr>
            <a:r>
              <a:rPr lang="en-US" sz="930" dirty="0">
                <a:solidFill>
                  <a:srgbClr val="C9BEDD"/>
                </a:solidFill>
                <a:latin typeface="Calibri" pitchFamily="34" charset="0"/>
                <a:ea typeface="Calibri" pitchFamily="34" charset="-122"/>
                <a:cs typeface="Calibri" pitchFamily="34" charset="-120"/>
              </a:rPr>
              <a:t>Know exactly where you stand and what to do next to improve.</a:t>
            </a:r>
            <a:endParaRPr lang="en-US" sz="1150" dirty="0"/>
          </a:p>
        </p:txBody>
      </p:sp>
      <p:sp>
        <p:nvSpPr>
          <p:cNvPr id="43" name="Text 40"/>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44" name="Text 41"/>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Dr. Reddy’s</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Intelligent, Regulated, and Multi-Vendor Pharma Marketplace</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Pharma Marketplace Enablement: </a:t>
            </a:r>
            <a:r>
              <a:rPr lang="en-US" sz="1300" dirty="0">
                <a:solidFill>
                  <a:srgbClr val="241033"/>
                </a:solidFill>
                <a:latin typeface="Calibri" pitchFamily="34" charset="0"/>
                <a:ea typeface="Calibri" pitchFamily="34" charset="-122"/>
                <a:cs typeface="Calibri" pitchFamily="34" charset="-120"/>
              </a:rPr>
              <a:t>Multi-vendor marketplace with RFQs, dynamic pricing, and order workflows across 10,000+ SKUs.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Dynamic Compliance Engine: </a:t>
            </a:r>
            <a:r>
              <a:rPr lang="en-US" sz="1300" dirty="0">
                <a:solidFill>
                  <a:srgbClr val="241033"/>
                </a:solidFill>
                <a:latin typeface="Calibri" pitchFamily="34" charset="0"/>
                <a:ea typeface="Calibri" pitchFamily="34" charset="-122"/>
                <a:cs typeface="Calibri" pitchFamily="34" charset="-120"/>
              </a:rPr>
              <a:t>Regulatory alerts and patent expiration tracking ensure compliance and sourcing restrictions across global markets.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Composable, Region-Aware: </a:t>
            </a:r>
            <a:r>
              <a:rPr lang="en-US" sz="1300" dirty="0">
                <a:solidFill>
                  <a:srgbClr val="241033"/>
                </a:solidFill>
                <a:latin typeface="Calibri" pitchFamily="34" charset="0"/>
                <a:ea typeface="Calibri" pitchFamily="34" charset="-122"/>
                <a:cs typeface="Calibri" pitchFamily="34" charset="-120"/>
              </a:rPr>
              <a:t>commercetools' headless framework supports multi-region deployment (US, EU, India) with role-based buyer access.</a:t>
            </a: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reddy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Dr. Reddy's Laboratories – Good Health Can't Wait</a:t>
            </a:r>
            <a:endParaRPr lang="en-US" sz="950" dirty="0"/>
          </a:p>
        </p:txBody>
      </p:sp>
      <p:sp>
        <p:nvSpPr>
          <p:cNvPr id="13" name="Text 9"/>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17</a:t>
            </a:r>
            <a:endParaRPr lang="en-US" sz="900" dirty="0"/>
          </a:p>
        </p:txBody>
      </p:sp>
      <p:sp>
        <p:nvSpPr>
          <p:cNvPr id="15" name="Shape 11"/>
          <p:cNvSpPr/>
          <p:nvPr/>
        </p:nvSpPr>
        <p:spPr>
          <a:xfrm>
            <a:off x="10040112" y="6437376"/>
            <a:ext cx="1920240" cy="292608"/>
          </a:xfrm>
          <a:prstGeom prst="roundRect">
            <a:avLst>
              <a:gd name="adj" fmla="val 18750"/>
            </a:avLst>
          </a:prstGeom>
          <a:solidFill>
            <a:srgbClr val="331A4D"/>
          </a:solidFill>
          <a:ln/>
        </p:spPr>
        <p:txBody>
          <a:bodyPr/>
          <a:lstStyle/>
          <a:p>
            <a:endParaRPr lang="en-US"/>
          </a:p>
        </p:txBody>
      </p:sp>
      <p:pic>
        <p:nvPicPr>
          <p:cNvPr id="16" name="Image 2" descr="/home/claude/build/img/ct_cube.png"/>
          <p:cNvPicPr>
            <a:picLocks noChangeAspect="1"/>
          </p:cNvPicPr>
          <p:nvPr/>
        </p:nvPicPr>
        <p:blipFill>
          <a:blip r:embed="rId3"/>
          <a:stretch>
            <a:fillRect/>
          </a:stretch>
        </p:blipFill>
        <p:spPr>
          <a:xfrm>
            <a:off x="10113264" y="6487668"/>
            <a:ext cx="201168" cy="201168"/>
          </a:xfrm>
          <a:prstGeom prst="rect">
            <a:avLst/>
          </a:prstGeom>
        </p:spPr>
      </p:pic>
      <p:sp>
        <p:nvSpPr>
          <p:cNvPr id="17" name="Text 12"/>
          <p:cNvSpPr txBox="1"/>
          <p:nvPr/>
        </p:nvSpPr>
        <p:spPr>
          <a:xfrm>
            <a:off x="10369296" y="6428232"/>
            <a:ext cx="1600200" cy="292608"/>
          </a:xfrm>
          <a:prstGeom prst="rect">
            <a:avLst/>
          </a:prstGeom>
          <a:noFill/>
          <a:ln/>
        </p:spPr>
        <p:txBody>
          <a:bodyPr wrap="square" lIns="0" tIns="0" rIns="0" bIns="0" rtlCol="0" anchor="ctr"/>
          <a:lstStyle/>
          <a:p>
            <a:pPr marL="0" indent="0" algn="l">
              <a:buNone/>
            </a:pPr>
            <a:r>
              <a:rPr lang="en-US" sz="700" b="1" dirty="0">
                <a:solidFill>
                  <a:srgbClr val="FFFFFF"/>
                </a:solidFill>
                <a:latin typeface="Arial" pitchFamily="34" charset="0"/>
                <a:ea typeface="Arial" pitchFamily="34" charset="-122"/>
                <a:cs typeface="Arial" pitchFamily="34" charset="-120"/>
              </a:rPr>
              <a:t>ROYAL CYBER × commercetools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8F6FB"/>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566928"/>
          </a:xfrm>
          <a:prstGeom prst="rect">
            <a:avLst/>
          </a:prstGeom>
          <a:noFill/>
          <a:ln/>
        </p:spPr>
        <p:txBody>
          <a:bodyPr wrap="square" lIns="0" tIns="0" rIns="0" bIns="0" rtlCol="0" anchor="ctr"/>
          <a:lstStyle/>
          <a:p>
            <a:pPr marL="0" indent="0">
              <a:buNone/>
            </a:pPr>
            <a:r>
              <a:rPr lang="en-US" sz="3000" b="1" dirty="0">
                <a:solidFill>
                  <a:srgbClr val="241033"/>
                </a:solidFill>
                <a:latin typeface="Arial" pitchFamily="34" charset="0"/>
                <a:ea typeface="Arial" pitchFamily="34" charset="-122"/>
                <a:cs typeface="Arial" pitchFamily="34" charset="-120"/>
              </a:rPr>
              <a:t>Dragon Shield Implemented Features</a:t>
            </a:r>
            <a:endParaRPr lang="en-US" sz="3000" dirty="0"/>
          </a:p>
        </p:txBody>
      </p:sp>
      <p:sp>
        <p:nvSpPr>
          <p:cNvPr id="3" name="Shape 1"/>
          <p:cNvSpPr/>
          <p:nvPr/>
        </p:nvSpPr>
        <p:spPr>
          <a:xfrm>
            <a:off x="502920" y="1234440"/>
            <a:ext cx="5440680" cy="384048"/>
          </a:xfrm>
          <a:prstGeom prst="roundRect">
            <a:avLst>
              <a:gd name="adj" fmla="val 14286"/>
            </a:avLst>
          </a:prstGeom>
          <a:solidFill>
            <a:srgbClr val="331A4D"/>
          </a:solidFill>
          <a:ln/>
        </p:spPr>
        <p:txBody>
          <a:bodyPr/>
          <a:lstStyle/>
          <a:p>
            <a:endParaRPr lang="en-US"/>
          </a:p>
        </p:txBody>
      </p:sp>
      <p:sp>
        <p:nvSpPr>
          <p:cNvPr id="4" name="Text 2"/>
          <p:cNvSpPr txBox="1"/>
          <p:nvPr/>
        </p:nvSpPr>
        <p:spPr>
          <a:xfrm>
            <a:off x="640080"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Custom CSR Workflow for Safe Image Moderation</a:t>
            </a:r>
            <a:endParaRPr lang="en-US" sz="1300" dirty="0"/>
          </a:p>
        </p:txBody>
      </p:sp>
      <p:sp>
        <p:nvSpPr>
          <p:cNvPr id="5" name="Shape 3"/>
          <p:cNvSpPr/>
          <p:nvPr/>
        </p:nvSpPr>
        <p:spPr>
          <a:xfrm>
            <a:off x="493776" y="1682496"/>
            <a:ext cx="5413248" cy="4498848"/>
          </a:xfrm>
          <a:prstGeom prst="roundRect">
            <a:avLst>
              <a:gd name="adj" fmla="val 1626"/>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6" name="Image 0" descr="/home/claude/build/img/dragon_shot1.jpg"/>
          <p:cNvPicPr>
            <a:picLocks noChangeAspect="1"/>
          </p:cNvPicPr>
          <p:nvPr/>
        </p:nvPicPr>
        <p:blipFill>
          <a:blip r:embed="rId3"/>
          <a:stretch>
            <a:fillRect/>
          </a:stretch>
        </p:blipFill>
        <p:spPr>
          <a:xfrm>
            <a:off x="548640" y="1737360"/>
            <a:ext cx="5303520" cy="4389120"/>
          </a:xfrm>
          <a:prstGeom prst="rect">
            <a:avLst/>
          </a:prstGeom>
        </p:spPr>
      </p:pic>
      <p:sp>
        <p:nvSpPr>
          <p:cNvPr id="7" name="Shape 4"/>
          <p:cNvSpPr/>
          <p:nvPr/>
        </p:nvSpPr>
        <p:spPr>
          <a:xfrm>
            <a:off x="6199632" y="1234440"/>
            <a:ext cx="5440680" cy="384048"/>
          </a:xfrm>
          <a:prstGeom prst="roundRect">
            <a:avLst>
              <a:gd name="adj" fmla="val 14286"/>
            </a:avLst>
          </a:prstGeom>
          <a:solidFill>
            <a:srgbClr val="331A4D"/>
          </a:solidFill>
          <a:ln/>
        </p:spPr>
        <p:txBody>
          <a:bodyPr/>
          <a:lstStyle/>
          <a:p>
            <a:endParaRPr lang="en-US"/>
          </a:p>
        </p:txBody>
      </p:sp>
      <p:sp>
        <p:nvSpPr>
          <p:cNvPr id="8" name="Text 5"/>
          <p:cNvSpPr txBox="1"/>
          <p:nvPr/>
        </p:nvSpPr>
        <p:spPr>
          <a:xfrm>
            <a:off x="6336792" y="1234440"/>
            <a:ext cx="5166360" cy="38404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Smarter Customization, Proactive Comms</a:t>
            </a:r>
            <a:endParaRPr lang="en-US" sz="1300" dirty="0"/>
          </a:p>
        </p:txBody>
      </p:sp>
      <p:sp>
        <p:nvSpPr>
          <p:cNvPr id="9" name="Shape 6"/>
          <p:cNvSpPr/>
          <p:nvPr/>
        </p:nvSpPr>
        <p:spPr>
          <a:xfrm>
            <a:off x="6190488" y="1682496"/>
            <a:ext cx="5413248" cy="4498848"/>
          </a:xfrm>
          <a:prstGeom prst="roundRect">
            <a:avLst>
              <a:gd name="adj" fmla="val 1626"/>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0" name="Image 1" descr="/home/claude/build/img/dragon_shot2.jpg"/>
          <p:cNvPicPr>
            <a:picLocks noChangeAspect="1"/>
          </p:cNvPicPr>
          <p:nvPr/>
        </p:nvPicPr>
        <p:blipFill>
          <a:blip r:embed="rId4"/>
          <a:stretch>
            <a:fillRect/>
          </a:stretch>
        </p:blipFill>
        <p:spPr>
          <a:xfrm>
            <a:off x="6245352" y="1737360"/>
            <a:ext cx="5303520" cy="4389120"/>
          </a:xfrm>
          <a:prstGeom prst="rect">
            <a:avLst/>
          </a:prstGeom>
        </p:spPr>
      </p:pic>
      <p:sp>
        <p:nvSpPr>
          <p:cNvPr id="11" name="Text 7"/>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2" name="Text 8"/>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8F6FB"/>
        </a:solidFill>
        <a:effectLst/>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241033"/>
          </a:solidFill>
          <a:ln/>
        </p:spPr>
        <p:txBody>
          <a:bodyPr/>
          <a:lstStyle/>
          <a:p>
            <a:endParaRPr lang="en-US"/>
          </a:p>
        </p:txBody>
      </p:sp>
      <p:sp>
        <p:nvSpPr>
          <p:cNvPr id="3" name="Shape 1"/>
          <p:cNvSpPr/>
          <p:nvPr/>
        </p:nvSpPr>
        <p:spPr>
          <a:xfrm>
            <a:off x="-1188720" y="4846320"/>
            <a:ext cx="3108960" cy="3108960"/>
          </a:xfrm>
          <a:prstGeom prst="ellipse">
            <a:avLst/>
          </a:prstGeom>
          <a:solidFill>
            <a:srgbClr val="331A4D"/>
          </a:solidFill>
          <a:ln/>
        </p:spPr>
        <p:txBody>
          <a:bodyPr/>
          <a:lstStyle/>
          <a:p>
            <a:endParaRPr lang="en-US"/>
          </a:p>
        </p:txBody>
      </p:sp>
      <p:pic>
        <p:nvPicPr>
          <p:cNvPr id="4" name="Image 0" descr="/home/claude/build/img/ct_cube.png"/>
          <p:cNvPicPr>
            <a:picLocks noChangeAspect="1"/>
          </p:cNvPicPr>
          <p:nvPr/>
        </p:nvPicPr>
        <p:blipFill>
          <a:blip r:embed="rId3"/>
          <a:stretch>
            <a:fillRect/>
          </a:stretch>
        </p:blipFill>
        <p:spPr>
          <a:xfrm>
            <a:off x="1508760" y="548640"/>
            <a:ext cx="548640" cy="548640"/>
          </a:xfrm>
          <a:prstGeom prst="rect">
            <a:avLst/>
          </a:prstGeom>
        </p:spPr>
      </p:pic>
      <p:sp>
        <p:nvSpPr>
          <p:cNvPr id="5" name="Text 2"/>
          <p:cNvSpPr txBox="1"/>
          <p:nvPr/>
        </p:nvSpPr>
        <p:spPr>
          <a:xfrm>
            <a:off x="274320" y="1417320"/>
            <a:ext cx="3017520" cy="640080"/>
          </a:xfrm>
          <a:prstGeom prst="rect">
            <a:avLst/>
          </a:prstGeom>
          <a:noFill/>
          <a:ln/>
        </p:spPr>
        <p:txBody>
          <a:bodyPr wrap="square" lIns="0" tIns="0" rIns="0" bIns="0" rtlCol="0" anchor="ctr"/>
          <a:lstStyle/>
          <a:p>
            <a:pPr marL="0" indent="0" algn="ctr">
              <a:buNone/>
            </a:pPr>
            <a:r>
              <a:rPr lang="en-US" sz="2500" b="1" dirty="0">
                <a:solidFill>
                  <a:srgbClr val="FFC629"/>
                </a:solidFill>
                <a:latin typeface="Arial" pitchFamily="34" charset="0"/>
                <a:ea typeface="Arial" pitchFamily="34" charset="-122"/>
                <a:cs typeface="Arial" pitchFamily="34" charset="-120"/>
              </a:rPr>
              <a:t>Dragon Shield</a:t>
            </a:r>
            <a:endParaRPr lang="en-US" sz="2500" dirty="0"/>
          </a:p>
        </p:txBody>
      </p:sp>
      <p:sp>
        <p:nvSpPr>
          <p:cNvPr id="6" name="Text 3"/>
          <p:cNvSpPr txBox="1"/>
          <p:nvPr/>
        </p:nvSpPr>
        <p:spPr>
          <a:xfrm>
            <a:off x="274320" y="2103120"/>
            <a:ext cx="3017520" cy="1463040"/>
          </a:xfrm>
          <a:prstGeom prst="rect">
            <a:avLst/>
          </a:prstGeom>
          <a:noFill/>
          <a:ln/>
        </p:spPr>
        <p:txBody>
          <a:bodyPr wrap="square" lIns="0" tIns="0" rIns="0" bIns="0" rtlCol="0" anchor="ct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Secure, Scalable, and Seamlessly Personalized Commerce</a:t>
            </a:r>
            <a:endParaRPr lang="en-US" sz="1800" dirty="0"/>
          </a:p>
        </p:txBody>
      </p:sp>
      <p:sp>
        <p:nvSpPr>
          <p:cNvPr id="7" name="Shape 4"/>
          <p:cNvSpPr/>
          <p:nvPr/>
        </p:nvSpPr>
        <p:spPr>
          <a:xfrm>
            <a:off x="4023360" y="411480"/>
            <a:ext cx="1920240" cy="329184"/>
          </a:xfrm>
          <a:prstGeom prst="roundRect">
            <a:avLst>
              <a:gd name="adj" fmla="val 50000"/>
            </a:avLst>
          </a:prstGeom>
          <a:solidFill>
            <a:srgbClr val="331A4D"/>
          </a:solidFill>
          <a:ln/>
        </p:spPr>
        <p:txBody>
          <a:bodyPr/>
          <a:lstStyle/>
          <a:p>
            <a:endParaRPr lang="en-US"/>
          </a:p>
        </p:txBody>
      </p:sp>
      <p:sp>
        <p:nvSpPr>
          <p:cNvPr id="8" name="Text 5"/>
          <p:cNvSpPr txBox="1"/>
          <p:nvPr/>
        </p:nvSpPr>
        <p:spPr>
          <a:xfrm>
            <a:off x="4023360" y="411480"/>
            <a:ext cx="192024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KEY FEATURES</a:t>
            </a:r>
            <a:endParaRPr lang="en-US" sz="1100" dirty="0"/>
          </a:p>
        </p:txBody>
      </p:sp>
      <p:sp>
        <p:nvSpPr>
          <p:cNvPr id="9" name="Text 6"/>
          <p:cNvSpPr txBox="1"/>
          <p:nvPr/>
        </p:nvSpPr>
        <p:spPr>
          <a:xfrm>
            <a:off x="4023360" y="914400"/>
            <a:ext cx="7708392" cy="2514600"/>
          </a:xfrm>
          <a:prstGeom prst="rect">
            <a:avLst/>
          </a:prstGeom>
          <a:noFill/>
          <a:ln/>
        </p:spPr>
        <p:txBody>
          <a:bodyPr wrap="square" lIns="0" tIns="0" rIns="0" bIns="0" rtlCol="0" anchor="t"/>
          <a:lstStyle/>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Custom CSR Moderation: </a:t>
            </a:r>
            <a:r>
              <a:rPr lang="en-US" sz="1300" dirty="0">
                <a:solidFill>
                  <a:srgbClr val="241033"/>
                </a:solidFill>
                <a:latin typeface="Calibri" pitchFamily="34" charset="0"/>
                <a:ea typeface="Calibri" pitchFamily="34" charset="-122"/>
                <a:cs typeface="Calibri" pitchFamily="34" charset="-120"/>
              </a:rPr>
              <a:t>A commercetools Custom Application in the Merchant Center lets CSRs review user-uploaded images post-order, reducing IP risk.</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Seamless System Integration: </a:t>
            </a:r>
            <a:r>
              <a:rPr lang="en-US" sz="1300" dirty="0">
                <a:solidFill>
                  <a:srgbClr val="241033"/>
                </a:solidFill>
                <a:latin typeface="Calibri" pitchFamily="34" charset="0"/>
                <a:ea typeface="Calibri" pitchFamily="34" charset="-122"/>
                <a:cs typeface="Calibri" pitchFamily="34" charset="-120"/>
              </a:rPr>
              <a:t>Maintained existing systems like Printess and HP Siteflow while adding new moderation capabilities.</a:t>
            </a:r>
            <a:endParaRPr lang="en-US" sz="1300" dirty="0"/>
          </a:p>
          <a:p>
            <a:pPr marL="342900" indent="-342900">
              <a:lnSpc>
                <a:spcPct val="112000"/>
              </a:lnSpc>
              <a:buSzPct val="100000"/>
              <a:buChar char="●"/>
            </a:pPr>
            <a:r>
              <a:rPr lang="en-US" sz="1300" b="1" dirty="0">
                <a:solidFill>
                  <a:srgbClr val="4A2470"/>
                </a:solidFill>
                <a:latin typeface="Calibri" pitchFamily="34" charset="0"/>
                <a:ea typeface="Calibri" pitchFamily="34" charset="-122"/>
                <a:cs typeface="Calibri" pitchFamily="34" charset="-120"/>
              </a:rPr>
              <a:t>Enhanced Communication: </a:t>
            </a:r>
            <a:r>
              <a:rPr lang="en-US" sz="1300" dirty="0">
                <a:solidFill>
                  <a:srgbClr val="241033"/>
                </a:solidFill>
                <a:latin typeface="Calibri" pitchFamily="34" charset="0"/>
                <a:ea typeface="Calibri" pitchFamily="34" charset="-122"/>
                <a:cs typeface="Calibri" pitchFamily="34" charset="-120"/>
              </a:rPr>
              <a:t>Automated email alerts for rejected uploads increase transparency and improve the user experience.</a:t>
            </a:r>
            <a:endParaRPr lang="en-US" sz="1300" dirty="0"/>
          </a:p>
        </p:txBody>
      </p:sp>
      <p:sp>
        <p:nvSpPr>
          <p:cNvPr id="10" name="Shape 7"/>
          <p:cNvSpPr/>
          <p:nvPr/>
        </p:nvSpPr>
        <p:spPr>
          <a:xfrm>
            <a:off x="3968496" y="3557016"/>
            <a:ext cx="7818120" cy="2651760"/>
          </a:xfrm>
          <a:prstGeom prst="roundRect">
            <a:avLst>
              <a:gd name="adj" fmla="val 2759"/>
            </a:avLst>
          </a:prstGeom>
          <a:solidFill>
            <a:srgbClr val="FFFFFF"/>
          </a:solidFill>
          <a:ln w="12700">
            <a:solidFill>
              <a:srgbClr val="E4DEED"/>
            </a:solidFill>
            <a:prstDash val="solid"/>
          </a:ln>
          <a:effectLst>
            <a:outerShdw blurRad="127000" dist="38100" dir="5400000" algn="bl" rotWithShape="0">
              <a:srgbClr val="3A2955">
                <a:alpha val="25000"/>
              </a:srgbClr>
            </a:outerShdw>
          </a:effectLst>
        </p:spPr>
        <p:txBody>
          <a:bodyPr/>
          <a:lstStyle/>
          <a:p>
            <a:endParaRPr lang="en-US"/>
          </a:p>
        </p:txBody>
      </p:sp>
      <p:pic>
        <p:nvPicPr>
          <p:cNvPr id="11" name="Image 1" descr="/home/claude/build/img/dragon_full.jpg"/>
          <p:cNvPicPr>
            <a:picLocks noChangeAspect="1"/>
          </p:cNvPicPr>
          <p:nvPr/>
        </p:nvPicPr>
        <p:blipFill>
          <a:blip r:embed="rId4"/>
          <a:stretch>
            <a:fillRect/>
          </a:stretch>
        </p:blipFill>
        <p:spPr>
          <a:xfrm>
            <a:off x="4023360" y="3611880"/>
            <a:ext cx="7708392" cy="2542032"/>
          </a:xfrm>
          <a:prstGeom prst="rect">
            <a:avLst/>
          </a:prstGeom>
        </p:spPr>
      </p:pic>
      <p:sp>
        <p:nvSpPr>
          <p:cNvPr id="12" name="Text 8"/>
          <p:cNvSpPr txBox="1"/>
          <p:nvPr/>
        </p:nvSpPr>
        <p:spPr>
          <a:xfrm>
            <a:off x="4023360" y="6263640"/>
            <a:ext cx="7708392" cy="274320"/>
          </a:xfrm>
          <a:prstGeom prst="rect">
            <a:avLst/>
          </a:prstGeom>
          <a:noFill/>
          <a:ln/>
        </p:spPr>
        <p:txBody>
          <a:bodyPr wrap="square" lIns="0" tIns="0" rIns="0" bIns="0" rtlCol="0" anchor="ctr"/>
          <a:lstStyle/>
          <a:p>
            <a:pPr marL="0" indent="0">
              <a:buNone/>
            </a:pPr>
            <a:r>
              <a:rPr lang="en-US" sz="950" b="1" dirty="0">
                <a:solidFill>
                  <a:srgbClr val="241033"/>
                </a:solidFill>
                <a:latin typeface="Calibri" pitchFamily="34" charset="0"/>
                <a:ea typeface="Calibri" pitchFamily="34" charset="-122"/>
                <a:cs typeface="Calibri" pitchFamily="34" charset="-120"/>
              </a:rPr>
              <a:t>Website: </a:t>
            </a:r>
            <a:r>
              <a:rPr lang="en-US" sz="950" u="sng" dirty="0">
                <a:solidFill>
                  <a:srgbClr val="017F76"/>
                </a:solidFill>
                <a:latin typeface="Calibri" pitchFamily="34" charset="0"/>
                <a:ea typeface="Calibri" pitchFamily="34" charset="-122"/>
                <a:cs typeface="Calibri" pitchFamily="34" charset="-120"/>
              </a:rPr>
              <a:t>CSR Demo available on request</a:t>
            </a:r>
            <a:endParaRPr lang="en-US" sz="950" dirty="0"/>
          </a:p>
        </p:txBody>
      </p:sp>
      <p:sp>
        <p:nvSpPr>
          <p:cNvPr id="13" name="Text 9"/>
          <p:cNvSpPr txBox="1"/>
          <p:nvPr/>
        </p:nvSpPr>
        <p:spPr>
          <a:xfrm>
            <a:off x="0" y="6510528"/>
            <a:ext cx="11091672" cy="274320"/>
          </a:xfrm>
          <a:prstGeom prst="rect">
            <a:avLst/>
          </a:prstGeom>
          <a:noFill/>
          <a:ln/>
        </p:spPr>
        <p:txBody>
          <a:bodyPr wrap="square" lIns="0" tIns="0" rIns="0" bIns="0" rtlCol="0" anchor="ctr"/>
          <a:lstStyle/>
          <a:p>
            <a:pPr marL="0" indent="0" algn="ctr">
              <a:buNone/>
            </a:pPr>
            <a:r>
              <a:rPr lang="en-US" sz="900" dirty="0">
                <a:solidFill>
                  <a:srgbClr val="8A8398"/>
                </a:solidFill>
                <a:latin typeface="Calibri" pitchFamily="34" charset="0"/>
                <a:ea typeface="Calibri" pitchFamily="34" charset="-122"/>
                <a:cs typeface="Calibri" pitchFamily="34" charset="-120"/>
              </a:rPr>
              <a:t>Copyright © 2026 Royal Cyber. All rights reserved.</a:t>
            </a:r>
            <a:endParaRPr lang="en-US" sz="900" dirty="0"/>
          </a:p>
        </p:txBody>
      </p:sp>
      <p:sp>
        <p:nvSpPr>
          <p:cNvPr id="14" name="Text 10"/>
          <p:cNvSpPr txBox="1"/>
          <p:nvPr/>
        </p:nvSpPr>
        <p:spPr>
          <a:xfrm>
            <a:off x="228600" y="6492240"/>
            <a:ext cx="457200" cy="274320"/>
          </a:xfrm>
          <a:prstGeom prst="rect">
            <a:avLst/>
          </a:prstGeom>
          <a:noFill/>
          <a:ln/>
        </p:spPr>
        <p:txBody>
          <a:bodyPr wrap="square" lIns="0" tIns="0" rIns="0" bIns="0" rtlCol="0" anchor="ctr"/>
          <a:lstStyle/>
          <a:p>
            <a:pPr marL="0" indent="0" algn="l">
              <a:buNone/>
            </a:pPr>
            <a:r>
              <a:rPr lang="en-US" sz="900" dirty="0">
                <a:solidFill>
                  <a:srgbClr val="8A839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kQ6a6aZUPTAMoPlVbTtv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Royal Cyber 2020">
      <a:dk1>
        <a:srgbClr val="000000"/>
      </a:dk1>
      <a:lt1>
        <a:srgbClr val="FFFFFF"/>
      </a:lt1>
      <a:dk2>
        <a:srgbClr val="44546A"/>
      </a:dk2>
      <a:lt2>
        <a:srgbClr val="E7E6E6"/>
      </a:lt2>
      <a:accent1>
        <a:srgbClr val="003863"/>
      </a:accent1>
      <a:accent2>
        <a:srgbClr val="E66108"/>
      </a:accent2>
      <a:accent3>
        <a:srgbClr val="706F6F"/>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ct 27_RC InView - Webinar" id="{0DC3422C-B27F-EC48-889D-A339C6F5B8C4}" vid="{5103FC3F-30A7-1246-9805-2674F257E0F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2766</Words>
  <Application>Microsoft Office PowerPoint</Application>
  <PresentationFormat>Widescreen</PresentationFormat>
  <Paragraphs>273</Paragraphs>
  <Slides>19</Slides>
  <Notes>19</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32" baseType="lpstr">
      <vt:lpstr>Aptos</vt:lpstr>
      <vt:lpstr>Arial</vt:lpstr>
      <vt:lpstr>Calibri</vt:lpstr>
      <vt:lpstr>Century Gothic</vt:lpstr>
      <vt:lpstr>Courier New</vt:lpstr>
      <vt:lpstr>Roboto</vt:lpstr>
      <vt:lpstr>Segoe UI</vt:lpstr>
      <vt:lpstr>System Font Regular</vt:lpstr>
      <vt:lpstr>Ubuntu</vt:lpstr>
      <vt:lpstr>Wingdings</vt:lpstr>
      <vt:lpstr>Office Theme</vt:lpstr>
      <vt:lpstr>1_Office Theme</vt:lpstr>
      <vt:lpstr>think-cell Slide</vt:lpstr>
      <vt:lpstr>PowerPoint Presentation</vt:lpstr>
      <vt:lpstr>Royal Cyber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Ella Marie DelValle</cp:lastModifiedBy>
  <cp:revision>2</cp:revision>
  <dcterms:created xsi:type="dcterms:W3CDTF">2026-08-27T14:13:31Z</dcterms:created>
  <dcterms:modified xsi:type="dcterms:W3CDTF">2026-08-27T16:36:39Z</dcterms:modified>
</cp:coreProperties>
</file>